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E5AD4-FA0F-57DF-3DD8-702F728CF958}" v="309" dt="2026-06-10T16:15:28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A03FB-062C-446C-88CA-A4D8917B7F45}" type="datetimeFigureOut">
              <a:t>10/06/2026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8E878-29BD-499E-B114-83F83586A9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5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b3edbf15e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b3edbf15e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b3edbf15e_2_362:notes"/>
          <p:cNvSpPr txBox="1">
            <a:spLocks noGrp="1"/>
          </p:cNvSpPr>
          <p:nvPr>
            <p:ph type="body" idx="1"/>
          </p:nvPr>
        </p:nvSpPr>
        <p:spPr>
          <a:xfrm>
            <a:off x="685801" y="4400555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8b3edbf15e_2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20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8">
  <p:cSld name="LAYOUT 18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 w="6350" cap="flat" cmpd="sng">
            <a:solidFill>
              <a:srgbClr val="007E3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33" tIns="30467" rIns="60933" bIns="304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-1963" y="2756536"/>
            <a:ext cx="138400" cy="175160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2069603" y="2756536"/>
            <a:ext cx="138400" cy="1751600"/>
          </a:xfrm>
          <a:prstGeom prst="rect">
            <a:avLst/>
          </a:prstGeom>
          <a:solidFill>
            <a:srgbClr val="BDD248"/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0" y="2614597"/>
            <a:ext cx="121920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50" rIns="45700" bIns="22850" anchor="t" anchorCtr="0">
            <a:norm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933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5333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14856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2"/>
          </p:nvPr>
        </p:nvSpPr>
        <p:spPr>
          <a:xfrm>
            <a:off x="0" y="3523451"/>
            <a:ext cx="12192000" cy="9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50" rIns="45700" bIns="22850" anchor="t" anchorCtr="0">
            <a:normAutofit/>
          </a:bodyPr>
          <a:lstStyle>
            <a:lvl1pPr marL="609585" marR="0" lvl="0" indent="-304792" algn="ctr">
              <a:lnSpc>
                <a:spcPct val="150000"/>
              </a:lnSpc>
              <a:spcBef>
                <a:spcPts val="933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6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30479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30479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30479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30479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1485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14856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rial"/>
              <a:buChar char="•"/>
              <a:defRPr sz="1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8927" y="6339445"/>
            <a:ext cx="1193964" cy="260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529353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7"/>
          <p:cNvSpPr/>
          <p:nvPr/>
        </p:nvSpPr>
        <p:spPr>
          <a:xfrm rot="21417970">
            <a:off x="-5762780" y="-8262472"/>
            <a:ext cx="17169063" cy="17059021"/>
          </a:xfrm>
          <a:custGeom>
            <a:avLst/>
            <a:gdLst/>
            <a:ahLst/>
            <a:cxnLst/>
            <a:rect l="l" t="t" r="r" b="b"/>
            <a:pathLst>
              <a:path w="5143500" h="5049838" extrusionOk="0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>
              <a:alpha val="81180"/>
            </a:srgbClr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 rot="5860633">
            <a:off x="-8212503" y="-4151325"/>
            <a:ext cx="12577152" cy="17052217"/>
          </a:xfrm>
          <a:custGeom>
            <a:avLst/>
            <a:gdLst/>
            <a:ahLst/>
            <a:cxnLst/>
            <a:rect l="l" t="t" r="r" b="b"/>
            <a:pathLst>
              <a:path w="5143500" h="5049838" extrusionOk="0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>
            <a:srgbClr val="BDD248"/>
          </a:solidFill>
          <a:ln>
            <a:noFill/>
          </a:ln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4294967295"/>
          </p:nvPr>
        </p:nvSpPr>
        <p:spPr>
          <a:xfrm>
            <a:off x="796900" y="1765233"/>
            <a:ext cx="7015600" cy="22684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rgbClr val="274E13">
                <a:alpha val="49000"/>
              </a:srgbClr>
            </a:outerShdw>
          </a:effectLst>
        </p:spPr>
        <p:txBody>
          <a:bodyPr spcFirstLastPara="1" wrap="square" lIns="60933" tIns="30467" rIns="60933" bIns="30467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fr" sz="4667">
                <a:solidFill>
                  <a:srgbClr val="F2F2F2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Pipeline MLOps Locale et Gestion efficace des modèles de machine learning</a:t>
            </a:r>
            <a:endParaRPr sz="4533">
              <a:solidFill>
                <a:srgbClr val="F2F2F2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294967295"/>
          </p:nvPr>
        </p:nvSpPr>
        <p:spPr>
          <a:xfrm>
            <a:off x="1118876" y="5022324"/>
            <a:ext cx="6782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30467" rIns="60933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fr" sz="2100">
                <a:latin typeface="Nunito SemiBold"/>
                <a:ea typeface="Nunito SemiBold"/>
                <a:cs typeface="Nunito SemiBold"/>
                <a:sym typeface="Nunito SemiBold"/>
              </a:rPr>
              <a:t>Réalisé par : </a:t>
            </a:r>
            <a:r>
              <a:rPr lang="fr" sz="2100">
                <a:latin typeface="Nunito Black"/>
                <a:ea typeface="Nunito Black"/>
                <a:cs typeface="Nunito Black"/>
                <a:sym typeface="Nunito Black"/>
              </a:rPr>
              <a:t>Yosra </a:t>
            </a:r>
            <a:r>
              <a:rPr lang="fr" sz="2100" b="1">
                <a:latin typeface="Nunito SemiBold"/>
                <a:ea typeface="Nunito SemiBold"/>
                <a:cs typeface="Nunito SemiBold"/>
                <a:sym typeface="Nunito SemiBold"/>
              </a:rPr>
              <a:t>Ben Salha</a:t>
            </a:r>
            <a:endParaRPr lang="en-US" sz="2100" b="1">
              <a:latin typeface="Nunito SemiBold"/>
              <a:ea typeface="Nunito SemiBold"/>
              <a:cs typeface="Nunito SemiBold"/>
            </a:endParaRPr>
          </a:p>
          <a:p>
            <a:pPr marL="1523962" lvl="0" indent="30479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endParaRPr sz="2133">
              <a:latin typeface="Nunito SemiBold"/>
              <a:ea typeface="Nunito SemiBold"/>
              <a:cs typeface="Nunito SemiBold"/>
              <a:sym typeface="Nunito SemiBold"/>
            </a:endParaRPr>
          </a:p>
          <a:p>
            <a:pPr marL="0" indent="0">
              <a:lnSpc>
                <a:spcPct val="70000"/>
              </a:lnSpc>
              <a:buClr>
                <a:srgbClr val="3F3F3F"/>
              </a:buClr>
              <a:buSzPts val="3600"/>
              <a:buNone/>
            </a:pPr>
            <a:r>
              <a:rPr lang="fr" sz="2100" dirty="0">
                <a:latin typeface="Nunito SemiBold"/>
                <a:ea typeface="Nunito SemiBold"/>
                <a:cs typeface="Nunito SemiBold"/>
                <a:sym typeface="Nunito SemiBold"/>
              </a:rPr>
              <a:t>Supervisé par : Lyna Attalah et </a:t>
            </a:r>
            <a:r>
              <a:rPr lang="fr" sz="2100" dirty="0" err="1">
                <a:latin typeface="Nunito SemiBold"/>
                <a:ea typeface="Nunito SemiBold"/>
                <a:cs typeface="Nunito SemiBold"/>
                <a:sym typeface="Nunito SemiBold"/>
              </a:rPr>
              <a:t>Ibtissem</a:t>
            </a:r>
            <a:r>
              <a:rPr lang="fr" sz="2100" dirty="0">
                <a:latin typeface="Nunito SemiBold"/>
                <a:ea typeface="Nunito SemiBold"/>
                <a:cs typeface="Nunito SemiBold"/>
                <a:sym typeface="Nunito SemiBold"/>
              </a:rPr>
              <a:t> </a:t>
            </a:r>
            <a:r>
              <a:rPr lang="fr" sz="2100" dirty="0" err="1">
                <a:latin typeface="Nunito SemiBold"/>
                <a:ea typeface="Nunito SemiBold"/>
                <a:cs typeface="Nunito SemiBold"/>
                <a:sym typeface="Nunito SemiBold"/>
              </a:rPr>
              <a:t>maalouche</a:t>
            </a:r>
            <a:endParaRPr sz="2133" dirty="0" err="1">
              <a:latin typeface="Nunito SemiBold"/>
              <a:ea typeface="Nunito SemiBold"/>
              <a:cs typeface="Nunito SemiBold"/>
            </a:endParaRPr>
          </a:p>
        </p:txBody>
      </p:sp>
      <p:pic>
        <p:nvPicPr>
          <p:cNvPr id="86" name="Google Shape;86;p17" descr="Une image contenant Graphique, capture d’écran, Police, graphisme&#10;&#10;Description générée automatiquemen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52000" y="461033"/>
            <a:ext cx="2196733" cy="4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1062471" y="5000039"/>
            <a:ext cx="56400" cy="748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88" name="Google Shape;8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733">
                <a:latin typeface="Nunito Black"/>
                <a:ea typeface="Nunito Black"/>
                <a:cs typeface="Nunito Black"/>
                <a:sym typeface="Nunito Black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733"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  <p:extLst>
      <p:ext uri="{BB962C8B-B14F-4D97-AF65-F5344CB8AC3E}">
        <p14:creationId xmlns:p14="http://schemas.microsoft.com/office/powerpoint/2010/main" val="266859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539267"/>
            <a:ext cx="3012647" cy="23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SOMMAIRE</a:t>
            </a:r>
            <a:endParaRPr lang="en-US" sz="320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38088" y="260839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" name="Shape 5"/>
          <p:cNvSpPr/>
          <p:nvPr/>
        </p:nvSpPr>
        <p:spPr>
          <a:xfrm>
            <a:off x="895201" y="1982205"/>
            <a:ext cx="190500" cy="323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1333314" y="1953555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52427" y="1889373"/>
            <a:ext cx="496899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1850" b="1" kern="0" spc="-19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La </a:t>
            </a:r>
            <a:r>
              <a:rPr lang="en-US" sz="1850" b="1" kern="0" spc="-19" dirty="0" err="1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problématique</a:t>
            </a:r>
            <a:r>
              <a:rPr lang="en-US" sz="1850" b="1" kern="0" spc="-19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 &amp; </a:t>
            </a:r>
            <a:r>
              <a:rPr lang="en-US" sz="1850" b="1" kern="0" spc="-19" dirty="0" err="1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l'objectif</a:t>
            </a:r>
            <a:endParaRPr lang="en-US" sz="1875" dirty="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52427" y="2198936"/>
            <a:ext cx="4968992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fossé entre code ML et production — une plateforme MLOps générique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838088" y="3548807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10"/>
          <p:cNvSpPr/>
          <p:nvPr/>
        </p:nvSpPr>
        <p:spPr>
          <a:xfrm>
            <a:off x="895201" y="2922612"/>
            <a:ext cx="190500" cy="323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314" y="2893963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52427" y="2829781"/>
            <a:ext cx="45667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2152427" y="3139343"/>
            <a:ext cx="4566789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couches d'abstraction, 5 phases, registry, composants pluggables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838088" y="4489214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5201" y="3863020"/>
            <a:ext cx="190500" cy="323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314" y="3834371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52427" y="3770188"/>
            <a:ext cx="417550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2152427" y="4079751"/>
            <a:ext cx="4175509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contrat appliqué de bout en bout : ingestion → index → API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895201" y="4803428"/>
            <a:ext cx="190500" cy="323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2" name="Text 20"/>
          <p:cNvSpPr/>
          <p:nvPr/>
        </p:nvSpPr>
        <p:spPr>
          <a:xfrm>
            <a:off x="1333314" y="4774778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152427" y="4710596"/>
            <a:ext cx="41762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75" b="1" kern="0" spc="-1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services OPS (MLOps)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2152427" y="5020159"/>
            <a:ext cx="4176275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Tracking MLflow, monitoring Grafana, conteneurisation, CI/CD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374139" y="5977911"/>
            <a:ext cx="979773" cy="629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988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38250" cy="22860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800137" y="2286000"/>
            <a:ext cx="1238250" cy="22860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088" y="2435014"/>
            <a:ext cx="8869148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3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088" y="2880196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4500" b="1" kern="0" spc="-90" dirty="0">
                <a:solidFill>
                  <a:srgbClr val="BDD248"/>
                </a:solidFill>
                <a:latin typeface="Jost"/>
                <a:ea typeface="Jost"/>
                <a:cs typeface="Jost" pitchFamily="34" charset="-120"/>
              </a:rPr>
              <a:t>La </a:t>
            </a:r>
            <a:r>
              <a:rPr lang="en-US" sz="4500" b="1" kern="0" spc="-90" dirty="0" err="1">
                <a:solidFill>
                  <a:srgbClr val="BDD248"/>
                </a:solidFill>
                <a:latin typeface="Jost"/>
                <a:ea typeface="Jost"/>
                <a:cs typeface="Jost" pitchFamily="34" charset="-120"/>
              </a:rPr>
              <a:t>problématique</a:t>
            </a:r>
            <a:r>
              <a:rPr lang="en-US" sz="4500" b="1" kern="0" spc="-90" dirty="0">
                <a:solidFill>
                  <a:srgbClr val="BDD248"/>
                </a:solidFill>
                <a:latin typeface="Jost"/>
                <a:ea typeface="Jost"/>
                <a:cs typeface="Jost" pitchFamily="34" charset="-120"/>
              </a:rPr>
              <a:t> &amp; </a:t>
            </a:r>
            <a:r>
              <a:rPr lang="en-US" sz="4500" b="1" kern="0" spc="-90" dirty="0" err="1">
                <a:solidFill>
                  <a:srgbClr val="BDD248"/>
                </a:solidFill>
                <a:latin typeface="Jost"/>
                <a:ea typeface="Jost"/>
                <a:cs typeface="Jost" pitchFamily="34" charset="-120"/>
              </a:rPr>
              <a:t>l'objectif</a:t>
            </a:r>
            <a:endParaRPr lang="en-US" sz="4500" dirty="0" err="1">
              <a:latin typeface="Jost"/>
              <a:ea typeface="Jos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088" y="4365873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024269" y="6271694"/>
            <a:ext cx="329643" cy="335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364990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PROBLÉMATIQUE</a:t>
            </a:r>
            <a:endParaRPr lang="en-US" sz="1125" dirty="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6858327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fossé entre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production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088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330268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1059470" y="2457524"/>
            <a:ext cx="21099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DEV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059470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4208" y="2800201"/>
            <a:ext cx="399976" cy="47625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2715" y="288819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2715" y="2954796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2715" y="3021397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2715" y="3087998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9470" y="4220580"/>
            <a:ext cx="2109936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9470" y="4490889"/>
            <a:ext cx="21099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du développeur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9470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9"/>
          <p:cNvSpPr/>
          <p:nvPr/>
        </p:nvSpPr>
        <p:spPr>
          <a:xfrm>
            <a:off x="1059470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63" kern="0" spc="3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notebook.ipynb script.py · model.pkl</a:t>
            </a:r>
            <a:endParaRPr lang="en-US" sz="863" dirty="0"/>
          </a:p>
        </p:txBody>
      </p:sp>
      <p:sp>
        <p:nvSpPr>
          <p:cNvPr id="22" name="Text 20"/>
          <p:cNvSpPr/>
          <p:nvPr/>
        </p:nvSpPr>
        <p:spPr>
          <a:xfrm>
            <a:off x="3231146" y="2193354"/>
            <a:ext cx="5729708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0" b="1" kern="0" spc="-960" dirty="0">
                <a:solidFill>
                  <a:srgbClr val="E1ECB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?</a:t>
            </a:r>
            <a:endParaRPr lang="en-US" sz="24000" dirty="0"/>
          </a:p>
        </p:txBody>
      </p:sp>
      <p:sp>
        <p:nvSpPr>
          <p:cNvPr id="23" name="Shape 21"/>
          <p:cNvSpPr/>
          <p:nvPr/>
        </p:nvSpPr>
        <p:spPr>
          <a:xfrm>
            <a:off x="4093332" y="2452315"/>
            <a:ext cx="111063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57638" y="2540422"/>
            <a:ext cx="858217" cy="204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50546" y="2646722"/>
            <a:ext cx="127062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14853" y="2734828"/>
            <a:ext cx="1018208" cy="204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59584" y="4506330"/>
            <a:ext cx="1350615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23891" y="4594436"/>
            <a:ext cx="1098203" cy="204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47892" y="4765477"/>
            <a:ext cx="1750777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blurRad="19050" dist="9525" dir="5400000" algn="bl" rotWithShape="0">
              <a:srgbClr val="2A2A2A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12198" y="4853583"/>
            <a:ext cx="1498364" cy="204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 </a:t>
            </a: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77412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32" name="Shape 30"/>
          <p:cNvSpPr/>
          <p:nvPr/>
        </p:nvSpPr>
        <p:spPr>
          <a:xfrm>
            <a:off x="8877412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31"/>
          <p:cNvSpPr/>
          <p:nvPr/>
        </p:nvSpPr>
        <p:spPr>
          <a:xfrm>
            <a:off x="8877412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Shape 32"/>
          <p:cNvSpPr/>
          <p:nvPr/>
        </p:nvSpPr>
        <p:spPr>
          <a:xfrm>
            <a:off x="887741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42005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793" y="2457524"/>
            <a:ext cx="21099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PROD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9098793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38" name="Shape 36"/>
          <p:cNvSpPr/>
          <p:nvPr/>
        </p:nvSpPr>
        <p:spPr>
          <a:xfrm>
            <a:off x="9165394" y="281917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65394" y="298102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65394" y="3142878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793" y="4220580"/>
            <a:ext cx="2109936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098793" y="4490889"/>
            <a:ext cx="210993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utilisateur final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98793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793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850" kern="0" spc="35">
                <a:solidFill>
                  <a:srgbClr val="909090"/>
                </a:solidFill>
                <a:latin typeface="JetBrains Mono"/>
                <a:ea typeface="JetBrains Mono"/>
                <a:cs typeface="JetBrains Mono" pitchFamily="34" charset="-120"/>
              </a:rPr>
              <a:t>API · scale monitoring </a:t>
            </a:r>
            <a:endParaRPr lang="en-US" sz="850">
              <a:latin typeface="JetBrains Mono"/>
              <a:ea typeface="JetBrains Mono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8088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40495" y="5900849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Text 45"/>
          <p:cNvSpPr/>
          <p:nvPr/>
        </p:nvSpPr>
        <p:spPr>
          <a:xfrm>
            <a:off x="1363395" y="5893389"/>
            <a:ext cx="2911688" cy="173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Plomberie OPS refaite à chaque projet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94150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96557" y="5900849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0" name="Text 48"/>
          <p:cNvSpPr/>
          <p:nvPr/>
        </p:nvSpPr>
        <p:spPr>
          <a:xfrm>
            <a:off x="4864373" y="5902570"/>
            <a:ext cx="1989566" cy="255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de standardisation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950212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52619" y="5900849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3" name="Text 51"/>
          <p:cNvSpPr/>
          <p:nvPr/>
        </p:nvSpPr>
        <p:spPr>
          <a:xfrm>
            <a:off x="8420435" y="5893390"/>
            <a:ext cx="1931179" cy="9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250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Mise en prod fragile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9539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OBJECTIF</a:t>
            </a:r>
            <a:endParaRPr lang="en-US" sz="110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8907" y="947784"/>
            <a:ext cx="10826787" cy="1008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plateforme MLOps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as-a-service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088" y="2231492"/>
            <a:ext cx="1790588" cy="2000250"/>
          </a:xfrm>
          <a:prstGeom prst="roundRect">
            <a:avLst>
              <a:gd name="adj" fmla="val 3192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0495" y="2452874"/>
            <a:ext cx="14619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AVANT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1040495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EFF4D8"/>
          </a:solidFill>
          <a:ln/>
        </p:spPr>
      </p:sp>
      <p:sp>
        <p:nvSpPr>
          <p:cNvPr id="9" name="Shape 7"/>
          <p:cNvSpPr/>
          <p:nvPr/>
        </p:nvSpPr>
        <p:spPr>
          <a:xfrm>
            <a:off x="1116583" y="2757599"/>
            <a:ext cx="381000" cy="438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5602" y="283610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1" name="Shape 9"/>
          <p:cNvSpPr/>
          <p:nvPr/>
        </p:nvSpPr>
        <p:spPr>
          <a:xfrm>
            <a:off x="1185602" y="2893033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5602" y="2949959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602" y="3006886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4" name="Text 12"/>
          <p:cNvSpPr/>
          <p:nvPr/>
        </p:nvSpPr>
        <p:spPr>
          <a:xfrm>
            <a:off x="1040495" y="3585270"/>
            <a:ext cx="1461976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1040495" y="3836603"/>
            <a:ext cx="138577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Text 14"/>
          <p:cNvSpPr/>
          <p:nvPr/>
        </p:nvSpPr>
        <p:spPr>
          <a:xfrm>
            <a:off x="1040495" y="3905659"/>
            <a:ext cx="1461976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 · script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2761878" y="3050604"/>
            <a:ext cx="209476" cy="3618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Shape 16"/>
          <p:cNvSpPr/>
          <p:nvPr/>
        </p:nvSpPr>
        <p:spPr>
          <a:xfrm>
            <a:off x="3104741" y="2231492"/>
            <a:ext cx="5334744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Text 17"/>
          <p:cNvSpPr/>
          <p:nvPr/>
        </p:nvSpPr>
        <p:spPr>
          <a:xfrm>
            <a:off x="3409466" y="2548310"/>
            <a:ext cx="46903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PLATEFORME MLOPS · ACTIA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9466" y="2772110"/>
            <a:ext cx="46903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</a:t>
            </a:r>
            <a:r>
              <a:rPr lang="en-US" sz="2250" b="1" kern="0" spc="-22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tout l'outillage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3409466" y="3229198"/>
            <a:ext cx="1018729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5198" y="3298254"/>
            <a:ext cx="823466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4504283" y="3229198"/>
            <a:ext cx="1172208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0014" y="3298254"/>
            <a:ext cx="976945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5752579" y="3229198"/>
            <a:ext cx="1249040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88310" y="3298254"/>
            <a:ext cx="105377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3409466" y="3610012"/>
            <a:ext cx="1632831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5198" y="3679068"/>
            <a:ext cx="143756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5118385" y="3610012"/>
            <a:ext cx="1325873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4117" y="3679068"/>
            <a:ext cx="1130610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 gate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8572686" y="3050604"/>
            <a:ext cx="209476" cy="3618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30"/>
          <p:cNvSpPr/>
          <p:nvPr/>
        </p:nvSpPr>
        <p:spPr>
          <a:xfrm>
            <a:off x="8915549" y="2231492"/>
            <a:ext cx="2438363" cy="200025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8915549" y="4219835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2"/>
          <p:cNvSpPr/>
          <p:nvPr/>
        </p:nvSpPr>
        <p:spPr>
          <a:xfrm>
            <a:off x="8915549" y="2231492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15549" y="2231492"/>
            <a:ext cx="35719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42005" y="2231492"/>
            <a:ext cx="11906" cy="200025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Text 35"/>
          <p:cNvSpPr/>
          <p:nvPr/>
        </p:nvSpPr>
        <p:spPr>
          <a:xfrm>
            <a:off x="9122606" y="2452874"/>
            <a:ext cx="21050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APRÈS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9122606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D7E491"/>
          </a:solidFill>
          <a:ln/>
        </p:spPr>
      </p:sp>
      <p:sp>
        <p:nvSpPr>
          <p:cNvPr id="39" name="Shape 37"/>
          <p:cNvSpPr/>
          <p:nvPr/>
        </p:nvSpPr>
        <p:spPr>
          <a:xfrm>
            <a:off x="9160743" y="2781412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60743" y="2924101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60743" y="3066790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22606" y="3585270"/>
            <a:ext cx="2105099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ML production-ready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9122606" y="3836603"/>
            <a:ext cx="202889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2"/>
          <p:cNvSpPr/>
          <p:nvPr/>
        </p:nvSpPr>
        <p:spPr>
          <a:xfrm>
            <a:off x="9122606" y="3905659"/>
            <a:ext cx="2105099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3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gates · runs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838088" y="4691807"/>
            <a:ext cx="37951" cy="857250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46" name="Text 44"/>
          <p:cNvSpPr/>
          <p:nvPr/>
        </p:nvSpPr>
        <p:spPr>
          <a:xfrm>
            <a:off x="1104491" y="4650693"/>
            <a:ext cx="1055690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PROMESSE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4491" y="4893469"/>
            <a:ext cx="7191356" cy="73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adopte un </a:t>
            </a:r>
            <a:r>
              <a:rPr lang="en-US" sz="2250" b="1" kern="0" spc="-2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contrat→ 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il </a:t>
            </a:r>
            <a:r>
              <a:rPr lang="en-US" sz="2250" b="1" kern="0" spc="-22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2250" b="1" kern="0" spc="-22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tout l'outillage de production.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38250" cy="22860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800137" y="2286000"/>
            <a:ext cx="1238250" cy="22860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088" y="2435014"/>
            <a:ext cx="8869148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3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088" y="2880196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2743088" y="4365873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4113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 </a:t>
            </a:r>
            <a:r>
              <a:rPr lang="en-US" sz="1100" b="1" kern="0" spc="203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ARCHITECTURE</a:t>
            </a:r>
            <a:endParaRPr lang="en-US" sz="110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6286736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 couches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d'abstraction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088" y="1718035"/>
            <a:ext cx="6744146" cy="3619500"/>
          </a:xfrm>
          <a:prstGeom prst="roundRect">
            <a:avLst>
              <a:gd name="adj" fmla="val 1579"/>
            </a:avLst>
          </a:prstGeom>
          <a:ln/>
          <a:effectLst>
            <a:outerShdw blurRad="228600" dist="76200" dir="5400000" algn="bl" rotWithShape="0">
              <a:srgbClr val="2A2A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8088" y="1718035"/>
            <a:ext cx="6744146" cy="92571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2631839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718035"/>
            <a:ext cx="67441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Text 8"/>
          <p:cNvSpPr/>
          <p:nvPr/>
        </p:nvSpPr>
        <p:spPr>
          <a:xfrm>
            <a:off x="7139657" y="1895140"/>
            <a:ext cx="34743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123838" y="1967322"/>
            <a:ext cx="6357826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SERVICES OPS TRANSVERSAUX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123838" y="2232980"/>
            <a:ext cx="635782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 · Prometheus / Grafana · Docker · CI/CD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838088" y="2643746"/>
            <a:ext cx="6744146" cy="90189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088" y="3533738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8088" y="2643746"/>
            <a:ext cx="35719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Text 14"/>
          <p:cNvSpPr/>
          <p:nvPr/>
        </p:nvSpPr>
        <p:spPr>
          <a:xfrm>
            <a:off x="7170353" y="2797039"/>
            <a:ext cx="316743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159557" y="2869220"/>
            <a:ext cx="6321036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PLUGGABLES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159557" y="3134878"/>
            <a:ext cx="632103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chunkers · embedders · vector stores · generators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38088" y="3545644"/>
            <a:ext cx="6744146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088" y="4435636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56400" y="3698937"/>
            <a:ext cx="330696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123838" y="3771119"/>
            <a:ext cx="6357826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CASES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123838" y="4036777"/>
            <a:ext cx="635782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✓ · ML classique · Fine-tuning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838088" y="4447542"/>
            <a:ext cx="6744146" cy="8899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7215188" y="4600835"/>
            <a:ext cx="27190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123838" y="4673017"/>
            <a:ext cx="6357826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25" b="1" kern="0" spc="43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MOTEUR GÉNÉRIQUE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123838" y="4938675"/>
            <a:ext cx="6357826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kern="0" spc="2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phases · Registry · Context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7734598" y="1718035"/>
            <a:ext cx="1600088" cy="3619500"/>
          </a:xfrm>
          <a:prstGeom prst="roundRect">
            <a:avLst>
              <a:gd name="adj" fmla="val 3572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34598" y="1718035"/>
            <a:ext cx="1600088" cy="9078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7734598" y="2613980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Text 29"/>
          <p:cNvSpPr/>
          <p:nvPr/>
        </p:nvSpPr>
        <p:spPr>
          <a:xfrm>
            <a:off x="7886960" y="1927882"/>
            <a:ext cx="137156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7886960" y="2082664"/>
            <a:ext cx="137156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5000"/>
              </a:lnSpc>
            </a:pPr>
            <a:r>
              <a:rPr lang="en-US" sz="900" dirty="0" err="1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fournis</a:t>
            </a:r>
            <a:r>
              <a:rPr lang="en-US" sz="900" dirty="0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 </a:t>
            </a:r>
            <a:r>
              <a:rPr lang="en-US" sz="900" dirty="0" err="1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automatiquement</a:t>
            </a:r>
            <a:r>
              <a:rPr lang="en-US" sz="900" dirty="0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 par la pipeline </a:t>
            </a:r>
            <a:endParaRPr lang="en-US" sz="938" dirty="0">
              <a:latin typeface="Mulish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734598" y="2625886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7734598" y="3521832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7734598" y="2625886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Text 34"/>
          <p:cNvSpPr/>
          <p:nvPr/>
        </p:nvSpPr>
        <p:spPr>
          <a:xfrm>
            <a:off x="7910773" y="2675000"/>
            <a:ext cx="13477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7910773" y="2829781"/>
            <a:ext cx="134775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choisis dans le catalogue ou ajoutés par le dev (1 classe + 1 ligne)</a:t>
            </a:r>
            <a:endParaRPr lang="en-US" sz="938" dirty="0"/>
          </a:p>
        </p:txBody>
      </p:sp>
      <p:sp>
        <p:nvSpPr>
          <p:cNvPr id="38" name="Shape 36"/>
          <p:cNvSpPr/>
          <p:nvPr/>
        </p:nvSpPr>
        <p:spPr>
          <a:xfrm>
            <a:off x="7734598" y="3533738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7734598" y="4429683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7734598" y="3533738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Text 39"/>
          <p:cNvSpPr/>
          <p:nvPr/>
        </p:nvSpPr>
        <p:spPr>
          <a:xfrm>
            <a:off x="7910773" y="3743585"/>
            <a:ext cx="134775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7910773" y="3898367"/>
            <a:ext cx="1347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écrit par le développeur ML</a:t>
            </a:r>
            <a:endParaRPr lang="en-US" sz="938" dirty="0"/>
          </a:p>
        </p:txBody>
      </p:sp>
      <p:sp>
        <p:nvSpPr>
          <p:cNvPr id="43" name="Shape 41"/>
          <p:cNvSpPr/>
          <p:nvPr/>
        </p:nvSpPr>
        <p:spPr>
          <a:xfrm>
            <a:off x="7734598" y="4441589"/>
            <a:ext cx="1600088" cy="89594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7886960" y="4731804"/>
            <a:ext cx="137156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75" kern="0" spc="9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7886960" y="4886585"/>
            <a:ext cx="1371563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 err="1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fourni</a:t>
            </a:r>
            <a:r>
              <a:rPr lang="en-US" sz="900" dirty="0">
                <a:solidFill>
                  <a:srgbClr val="525252"/>
                </a:solidFill>
                <a:latin typeface="Mulish"/>
                <a:ea typeface="Mulish"/>
                <a:cs typeface="Mulish" pitchFamily="34" charset="-120"/>
              </a:rPr>
              <a:t> par la pipeline</a:t>
            </a:r>
            <a:endParaRPr lang="en-US" sz="938" dirty="0">
              <a:latin typeface="Mulish"/>
            </a:endParaRPr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7049" y="1718035"/>
            <a:ext cx="342863" cy="36195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963113" y="2598539"/>
            <a:ext cx="1466999" cy="189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écrit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 couche use case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(2)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et, si besoin, ajoute ses propres composants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(3)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la couche 3 est extensible. Il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gratuitement du moteur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(1) 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des services OPS </a:t>
            </a: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(4)</a:t>
            </a: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931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MOTEUR GÉNÉRIQUE</a:t>
            </a:r>
            <a:endParaRPr lang="en-US" sz="1100" dirty="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6286736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contrat universel :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088" y="1737196"/>
            <a:ext cx="1798216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3063255"/>
            <a:ext cx="179821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1737196"/>
            <a:ext cx="1798216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262439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1021333" y="1982391"/>
            <a:ext cx="150792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1333" y="2213260"/>
            <a:ext cx="150792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21333" y="2522823"/>
            <a:ext cx="143172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21333" y="2687129"/>
            <a:ext cx="1507927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données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1042" y="2263304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304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304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304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3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380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549" y="1982391"/>
            <a:ext cx="15081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549" y="2213260"/>
            <a:ext cx="15081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200549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549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features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20444" y="2263304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5196706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5196706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196706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7"/>
          <p:cNvSpPr/>
          <p:nvPr/>
        </p:nvSpPr>
        <p:spPr>
          <a:xfrm>
            <a:off x="5196706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83202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Text 29"/>
          <p:cNvSpPr/>
          <p:nvPr/>
        </p:nvSpPr>
        <p:spPr>
          <a:xfrm>
            <a:off x="5379951" y="1982391"/>
            <a:ext cx="15081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79951" y="2213260"/>
            <a:ext cx="15081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379951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Text 32"/>
          <p:cNvSpPr/>
          <p:nvPr/>
        </p:nvSpPr>
        <p:spPr>
          <a:xfrm>
            <a:off x="5379951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index · modèle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99846" y="2263304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7376108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6108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6"/>
          <p:cNvSpPr/>
          <p:nvPr/>
        </p:nvSpPr>
        <p:spPr>
          <a:xfrm>
            <a:off x="7376108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7"/>
          <p:cNvSpPr/>
          <p:nvPr/>
        </p:nvSpPr>
        <p:spPr>
          <a:xfrm>
            <a:off x="737610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626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Text 39"/>
          <p:cNvSpPr/>
          <p:nvPr/>
        </p:nvSpPr>
        <p:spPr>
          <a:xfrm>
            <a:off x="7559353" y="1982391"/>
            <a:ext cx="15081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59353" y="2213260"/>
            <a:ext cx="15081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7559353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2"/>
          <p:cNvSpPr/>
          <p:nvPr/>
        </p:nvSpPr>
        <p:spPr>
          <a:xfrm>
            <a:off x="7559353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qualité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279248" y="2263304"/>
            <a:ext cx="171338" cy="2857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44"/>
          <p:cNvSpPr/>
          <p:nvPr/>
        </p:nvSpPr>
        <p:spPr>
          <a:xfrm>
            <a:off x="9555510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47" name="Shape 45"/>
          <p:cNvSpPr/>
          <p:nvPr/>
        </p:nvSpPr>
        <p:spPr>
          <a:xfrm>
            <a:off x="9555510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6"/>
          <p:cNvSpPr/>
          <p:nvPr/>
        </p:nvSpPr>
        <p:spPr>
          <a:xfrm>
            <a:off x="9555510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7"/>
          <p:cNvSpPr/>
          <p:nvPr/>
        </p:nvSpPr>
        <p:spPr>
          <a:xfrm>
            <a:off x="955551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42005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Text 49"/>
          <p:cNvSpPr/>
          <p:nvPr/>
        </p:nvSpPr>
        <p:spPr>
          <a:xfrm>
            <a:off x="9738754" y="1982391"/>
            <a:ext cx="15081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738754" y="2213260"/>
            <a:ext cx="15081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3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9738754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4" name="Text 52"/>
          <p:cNvSpPr/>
          <p:nvPr/>
        </p:nvSpPr>
        <p:spPr>
          <a:xfrm>
            <a:off x="9738754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serving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38088" y="3303612"/>
            <a:ext cx="10515823" cy="822647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4677" y="3543598"/>
            <a:ext cx="2879824" cy="342677"/>
          </a:xfrm>
          <a:prstGeom prst="roundRect">
            <a:avLst>
              <a:gd name="adj" fmla="val 833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68983" y="3631704"/>
            <a:ext cx="2637606" cy="204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4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BasePipeline · classe abstraite</a:t>
            </a:r>
            <a:endParaRPr lang="en-US" sz="1013" dirty="0"/>
          </a:p>
        </p:txBody>
      </p:sp>
      <p:sp>
        <p:nvSpPr>
          <p:cNvPr id="58" name="Text 56"/>
          <p:cNvSpPr/>
          <p:nvPr/>
        </p:nvSpPr>
        <p:spPr>
          <a:xfrm>
            <a:off x="4251089" y="3494112"/>
            <a:ext cx="7041321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l'orchestration des 5 phases (gratuite) et n'implémente que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contenu 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chaque phase — le core ne connaît </a:t>
            </a: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aucun use case</a:t>
            </a: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38088" y="4278623"/>
            <a:ext cx="10515823" cy="774650"/>
          </a:xfrm>
          <a:prstGeom prst="roundRect">
            <a:avLst>
              <a:gd name="adj" fmla="val 7378"/>
            </a:avLst>
          </a:prstGeom>
          <a:solidFill>
            <a:schemeClr val="bg1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59470" y="4442892"/>
            <a:ext cx="37951" cy="446112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61" name="Text 59"/>
          <p:cNvSpPr/>
          <p:nvPr/>
        </p:nvSpPr>
        <p:spPr>
          <a:xfrm>
            <a:off x="1249784" y="4442892"/>
            <a:ext cx="10179228" cy="48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N'importe quel modèle ML — RAG, classification, fine-tuning — se plie au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même contrat de 5 phases 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: c'est ce qui rend la plateforme </a:t>
            </a: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</a:t>
            </a: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38" dirty="0"/>
          </a:p>
        </p:txBody>
      </p:sp>
      <p:sp>
        <p:nvSpPr>
          <p:cNvPr id="62" name="Text 60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340655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b="1" kern="0" spc="203">
                <a:solidFill>
                  <a:srgbClr val="8FA82E"/>
                </a:solidFill>
                <a:latin typeface="Jost" pitchFamily="34" charset="0"/>
                <a:ea typeface="Jost"/>
                <a:cs typeface="Jost" pitchFamily="34" charset="-120"/>
              </a:rPr>
              <a:t> </a:t>
            </a:r>
            <a:r>
              <a:rPr lang="en-US" sz="1100" b="1" kern="0" spc="203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PATTERN ARCHITECTURAL</a:t>
            </a:r>
            <a:endParaRPr lang="en-US" sz="110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5143746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Dispatch sans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if/else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38088" y="1718035"/>
            <a:ext cx="5111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 — CLÉ → CLASSE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838088" y="2032248"/>
            <a:ext cx="1409588" cy="435694"/>
          </a:xfrm>
          <a:prstGeom prst="roundRect">
            <a:avLst>
              <a:gd name="adj" fmla="val 8745"/>
            </a:avLst>
          </a:prstGeom>
          <a:solidFill>
            <a:schemeClr val="accent6">
              <a:lumMod val="40000"/>
              <a:lumOff val="60000"/>
            </a:schemeClr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445" y="2148929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42927" y="2116708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8"/>
          <p:cNvSpPr/>
          <p:nvPr/>
        </p:nvSpPr>
        <p:spPr>
          <a:xfrm>
            <a:off x="2609515" y="2038201"/>
            <a:ext cx="3190875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2609515" y="2450083"/>
            <a:ext cx="319087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9515" y="2038201"/>
            <a:ext cx="319087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9515" y="2038201"/>
            <a:ext cx="23813" cy="423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88484" y="2038201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5" name="Text 13"/>
          <p:cNvSpPr/>
          <p:nvPr/>
        </p:nvSpPr>
        <p:spPr>
          <a:xfrm>
            <a:off x="2785728" y="2154882"/>
            <a:ext cx="2946083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838088" y="2620305"/>
            <a:ext cx="1463911" cy="435694"/>
          </a:xfrm>
          <a:prstGeom prst="roundRect">
            <a:avLst>
              <a:gd name="adj" fmla="val 8745"/>
            </a:avLst>
          </a:prstGeom>
          <a:solidFill>
            <a:schemeClr val="accent6">
              <a:lumMod val="40000"/>
              <a:lumOff val="60000"/>
            </a:schemeClr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445" y="2736986"/>
            <a:ext cx="1173398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"ml_classic"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97249" y="2704765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3837" y="2626258"/>
            <a:ext cx="3136553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63837" y="3038140"/>
            <a:ext cx="313655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Shape 19"/>
          <p:cNvSpPr/>
          <p:nvPr/>
        </p:nvSpPr>
        <p:spPr>
          <a:xfrm>
            <a:off x="2663837" y="2626258"/>
            <a:ext cx="313655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2663837" y="2626258"/>
            <a:ext cx="23813" cy="423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788484" y="2626258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Text 22"/>
          <p:cNvSpPr/>
          <p:nvPr/>
        </p:nvSpPr>
        <p:spPr>
          <a:xfrm>
            <a:off x="2840050" y="2742940"/>
            <a:ext cx="2890131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MLClassicPipeline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838088" y="3208362"/>
            <a:ext cx="1409588" cy="435694"/>
          </a:xfrm>
          <a:prstGeom prst="roundRect">
            <a:avLst>
              <a:gd name="adj" fmla="val 8745"/>
            </a:avLst>
          </a:prstGeom>
          <a:solidFill>
            <a:schemeClr val="accent6">
              <a:lumMod val="40000"/>
              <a:lumOff val="60000"/>
            </a:schemeClr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1445" y="3325044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"finetune"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42927" y="3292822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609515" y="3214315"/>
            <a:ext cx="3190875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</p:sp>
      <p:sp>
        <p:nvSpPr>
          <p:cNvPr id="29" name="Shape 27"/>
          <p:cNvSpPr/>
          <p:nvPr/>
        </p:nvSpPr>
        <p:spPr>
          <a:xfrm>
            <a:off x="2609515" y="3626197"/>
            <a:ext cx="319087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2609515" y="3214315"/>
            <a:ext cx="319087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9"/>
          <p:cNvSpPr/>
          <p:nvPr/>
        </p:nvSpPr>
        <p:spPr>
          <a:xfrm>
            <a:off x="2609515" y="3214315"/>
            <a:ext cx="23813" cy="423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8484" y="3214315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Text 31"/>
          <p:cNvSpPr/>
          <p:nvPr/>
        </p:nvSpPr>
        <p:spPr>
          <a:xfrm>
            <a:off x="2785728" y="3330997"/>
            <a:ext cx="2946083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FineTunePipeline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6143253" y="1718035"/>
            <a:ext cx="5210659" cy="2458827"/>
          </a:xfrm>
          <a:prstGeom prst="roundRect">
            <a:avLst>
              <a:gd name="adj" fmla="val 2324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29003" y="2241724"/>
            <a:ext cx="4639159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29003" y="1965647"/>
            <a:ext cx="4778333" cy="180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REGISTRY.PY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429003" y="2424968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00" dirty="0">
                <a:solidFill>
                  <a:srgbClr val="E2A9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29003" y="2691557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"ml_classic"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00" dirty="0">
                <a:solidFill>
                  <a:srgbClr val="E2A9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MLClassicPipeline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29003" y="3129483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05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dispatch à l'exécution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29003" y="3396072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= </a:t>
            </a: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get_pipeline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29003" y="3662660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pipeline.</a:t>
            </a: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(ctx)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8088" y="4481587"/>
            <a:ext cx="10515823" cy="595126"/>
          </a:xfrm>
          <a:prstGeom prst="roundRect">
            <a:avLst>
              <a:gd name="adj" fmla="val 9603"/>
            </a:avLst>
          </a:prstGeom>
          <a:solidFill>
            <a:schemeClr val="bg1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9470" y="4645856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4" name="Text 42"/>
          <p:cNvSpPr/>
          <p:nvPr/>
        </p:nvSpPr>
        <p:spPr>
          <a:xfrm>
            <a:off x="1383171" y="4649969"/>
            <a:ext cx="7725931" cy="5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250" b="1" dirty="0" err="1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Ajouter</a:t>
            </a:r>
            <a:r>
              <a:rPr lang="en-US" sz="1250" b="1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 un use case = </a:t>
            </a:r>
            <a:r>
              <a:rPr lang="en-US" sz="1250" b="1" dirty="0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1 </a:t>
            </a:r>
            <a:r>
              <a:rPr lang="en-US" sz="1250" b="1" dirty="0" err="1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ligne</a:t>
            </a:r>
            <a:r>
              <a:rPr lang="en-US" sz="1250" b="1" dirty="0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 de code dans la pipeline du use case</a:t>
            </a:r>
            <a:r>
              <a:rPr lang="en-US" sz="1250" b="1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— </a:t>
            </a:r>
            <a:r>
              <a:rPr lang="en-US" sz="1250" b="1" dirty="0" err="1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zéro</a:t>
            </a:r>
            <a:r>
              <a:rPr lang="en-US" sz="1250" b="1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 </a:t>
            </a:r>
            <a:r>
              <a:rPr lang="en-US" sz="1250" b="1" dirty="0" err="1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modif</a:t>
            </a:r>
            <a:r>
              <a:rPr lang="en-US" sz="1250" b="1" dirty="0">
                <a:solidFill>
                  <a:srgbClr val="2A2A2A"/>
                </a:solidFill>
                <a:latin typeface="Jost"/>
                <a:ea typeface="Jost"/>
                <a:cs typeface="Jost" pitchFamily="34" charset="-120"/>
              </a:rPr>
              <a:t> du core</a:t>
            </a:r>
            <a:endParaRPr lang="en-US" sz="1250" dirty="0">
              <a:latin typeface="Jost"/>
              <a:ea typeface="Jost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71826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PIPELINECONTEXT</a:t>
            </a:r>
            <a:endParaRPr lang="en-US" sz="1100" dirty="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données </a:t>
            </a:r>
            <a:r>
              <a:rPr lang="en-US" sz="3300" b="1" kern="0" spc="-66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circulent </a:t>
            </a:r>
            <a:r>
              <a:rPr lang="en-US" sz="3300" b="1" kern="0" spc="-6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38088" y="2174379"/>
            <a:ext cx="1828726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2864569"/>
            <a:ext cx="182872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2174379"/>
            <a:ext cx="182872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265490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945096" y="2331393"/>
            <a:ext cx="16147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945096" y="2512219"/>
            <a:ext cx="161471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62064" y="2401528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4" name="Shape 12"/>
          <p:cNvSpPr/>
          <p:nvPr/>
        </p:nvSpPr>
        <p:spPr>
          <a:xfrm>
            <a:off x="3009677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3009677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4"/>
          <p:cNvSpPr/>
          <p:nvPr/>
        </p:nvSpPr>
        <p:spPr>
          <a:xfrm>
            <a:off x="3009677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7" name="Shape 15"/>
          <p:cNvSpPr/>
          <p:nvPr/>
        </p:nvSpPr>
        <p:spPr>
          <a:xfrm>
            <a:off x="300967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26682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7"/>
          <p:cNvSpPr/>
          <p:nvPr/>
        </p:nvSpPr>
        <p:spPr>
          <a:xfrm>
            <a:off x="3116684" y="2331393"/>
            <a:ext cx="16148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116684" y="2512219"/>
            <a:ext cx="16148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933838" y="2401528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2" name="Shape 20"/>
          <p:cNvSpPr/>
          <p:nvPr/>
        </p:nvSpPr>
        <p:spPr>
          <a:xfrm>
            <a:off x="5181451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23" name="Shape 21"/>
          <p:cNvSpPr/>
          <p:nvPr/>
        </p:nvSpPr>
        <p:spPr>
          <a:xfrm>
            <a:off x="5181451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181451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3"/>
          <p:cNvSpPr/>
          <p:nvPr/>
        </p:nvSpPr>
        <p:spPr>
          <a:xfrm>
            <a:off x="518145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845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5"/>
          <p:cNvSpPr/>
          <p:nvPr/>
        </p:nvSpPr>
        <p:spPr>
          <a:xfrm>
            <a:off x="5288459" y="2331393"/>
            <a:ext cx="16148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88459" y="2512219"/>
            <a:ext cx="16148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105613" y="2401528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0" name="Shape 28"/>
          <p:cNvSpPr/>
          <p:nvPr/>
        </p:nvSpPr>
        <p:spPr>
          <a:xfrm>
            <a:off x="7353226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7353226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3226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7353226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2"/>
          <p:cNvSpPr/>
          <p:nvPr/>
        </p:nvSpPr>
        <p:spPr>
          <a:xfrm>
            <a:off x="917023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Text 33"/>
          <p:cNvSpPr/>
          <p:nvPr/>
        </p:nvSpPr>
        <p:spPr>
          <a:xfrm>
            <a:off x="7460233" y="2331393"/>
            <a:ext cx="16148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460233" y="2512219"/>
            <a:ext cx="16148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277387" y="2401528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8" name="Shape 36"/>
          <p:cNvSpPr/>
          <p:nvPr/>
        </p:nvSpPr>
        <p:spPr>
          <a:xfrm>
            <a:off x="9525000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0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9525000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Shape 39"/>
          <p:cNvSpPr/>
          <p:nvPr/>
        </p:nvSpPr>
        <p:spPr>
          <a:xfrm>
            <a:off x="9525000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42005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3" name="Text 41"/>
          <p:cNvSpPr/>
          <p:nvPr/>
        </p:nvSpPr>
        <p:spPr>
          <a:xfrm>
            <a:off x="9632007" y="2331393"/>
            <a:ext cx="16148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9632007" y="2512219"/>
            <a:ext cx="16148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742963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44"/>
          <p:cNvSpPr/>
          <p:nvPr/>
        </p:nvSpPr>
        <p:spPr>
          <a:xfrm>
            <a:off x="3914552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Shape 45"/>
          <p:cNvSpPr/>
          <p:nvPr/>
        </p:nvSpPr>
        <p:spPr>
          <a:xfrm>
            <a:off x="6086326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01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7"/>
          <p:cNvSpPr/>
          <p:nvPr/>
        </p:nvSpPr>
        <p:spPr>
          <a:xfrm>
            <a:off x="10429875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0" name="Shape 48"/>
          <p:cNvSpPr/>
          <p:nvPr/>
        </p:nvSpPr>
        <p:spPr>
          <a:xfrm>
            <a:off x="838088" y="4000314"/>
            <a:ext cx="1828726" cy="495226"/>
          </a:xfrm>
          <a:prstGeom prst="roundRect">
            <a:avLst>
              <a:gd name="adj" fmla="val 5770"/>
            </a:avLst>
          </a:prstGeom>
          <a:solidFill>
            <a:srgbClr val="BDD248">
              <a:alpha val="1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99988" y="3790838"/>
            <a:ext cx="19049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v1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52314" y="4226533"/>
            <a:ext cx="167647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009677" y="3790838"/>
            <a:ext cx="1828912" cy="704701"/>
          </a:xfrm>
          <a:prstGeom prst="roundRect">
            <a:avLst>
              <a:gd name="adj" fmla="val 4055"/>
            </a:avLst>
          </a:prstGeom>
          <a:solidFill>
            <a:srgbClr val="BDD248">
              <a:alpha val="28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2971577" y="3581363"/>
            <a:ext cx="19051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v2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123902" y="4041986"/>
            <a:ext cx="167666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3123902" y="4226533"/>
            <a:ext cx="167666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chunks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81451" y="3581177"/>
            <a:ext cx="1828912" cy="914363"/>
          </a:xfrm>
          <a:prstGeom prst="roundRect">
            <a:avLst>
              <a:gd name="adj" fmla="val 3125"/>
            </a:avLst>
          </a:prstGeom>
          <a:solidFill>
            <a:srgbClr val="BDD248">
              <a:alpha val="46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143351" y="3371701"/>
            <a:ext cx="19051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v3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295677" y="4041986"/>
            <a:ext cx="167666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 · chunks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5295677" y="4226533"/>
            <a:ext cx="167666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index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353226" y="3390677"/>
            <a:ext cx="1828912" cy="1104863"/>
          </a:xfrm>
          <a:prstGeom prst="roundRect">
            <a:avLst>
              <a:gd name="adj" fmla="val 2586"/>
            </a:avLst>
          </a:prstGeom>
          <a:solidFill>
            <a:srgbClr val="BDD248">
              <a:alpha val="66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315126" y="3181201"/>
            <a:ext cx="19051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v4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467451" y="4041986"/>
            <a:ext cx="167666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· index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7467451" y="4226533"/>
            <a:ext cx="167666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métriques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525000" y="3181201"/>
            <a:ext cx="1828912" cy="1314338"/>
          </a:xfrm>
          <a:prstGeom prst="roundRect">
            <a:avLst>
              <a:gd name="adj" fmla="val 2174"/>
            </a:avLst>
          </a:prstGeom>
          <a:solidFill>
            <a:srgbClr val="BDD248"/>
          </a:solidFill>
          <a:ln/>
        </p:spPr>
      </p:sp>
      <p:sp>
        <p:nvSpPr>
          <p:cNvPr id="66" name="Text 64"/>
          <p:cNvSpPr/>
          <p:nvPr/>
        </p:nvSpPr>
        <p:spPr>
          <a:xfrm>
            <a:off x="9486900" y="2971726"/>
            <a:ext cx="19051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3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639226" y="4041986"/>
            <a:ext cx="1676660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· métriques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9639226" y="4226533"/>
            <a:ext cx="167666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api_config ✓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38088" y="4762128"/>
            <a:ext cx="10515823" cy="556803"/>
          </a:xfrm>
          <a:prstGeom prst="roundRect">
            <a:avLst>
              <a:gd name="adj" fmla="val 10264"/>
            </a:avLst>
          </a:prstGeom>
          <a:solidFill>
            <a:srgbClr val="F4F4F4"/>
          </a:solidFill>
          <a:ln/>
        </p:spPr>
      </p:sp>
      <p:sp>
        <p:nvSpPr>
          <p:cNvPr id="70" name="Shape 68"/>
          <p:cNvSpPr/>
          <p:nvPr/>
        </p:nvSpPr>
        <p:spPr>
          <a:xfrm>
            <a:off x="838088" y="5307025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1" name="Shape 69"/>
          <p:cNvSpPr/>
          <p:nvPr/>
        </p:nvSpPr>
        <p:spPr>
          <a:xfrm>
            <a:off x="838088" y="4762128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2" name="Shape 70"/>
          <p:cNvSpPr/>
          <p:nvPr/>
        </p:nvSpPr>
        <p:spPr>
          <a:xfrm>
            <a:off x="838088" y="4762128"/>
            <a:ext cx="35719" cy="55680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42005" y="4762128"/>
            <a:ext cx="11906" cy="55680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4" name="Shape 72"/>
          <p:cNvSpPr/>
          <p:nvPr/>
        </p:nvSpPr>
        <p:spPr>
          <a:xfrm>
            <a:off x="1064307" y="4907235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73"/>
          <p:cNvSpPr/>
          <p:nvPr/>
        </p:nvSpPr>
        <p:spPr>
          <a:xfrm>
            <a:off x="1378873" y="4911348"/>
            <a:ext cx="7536179" cy="135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Découplage total </a:t>
            </a: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76" name="Text 74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07</a:t>
            </a:r>
            <a:endParaRPr lang="en-US" sz="975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8A14DD-43A9-73F1-2BE2-0F3279903783}"/>
              </a:ext>
            </a:extLst>
          </p:cNvPr>
          <p:cNvSpPr txBox="1"/>
          <p:nvPr/>
        </p:nvSpPr>
        <p:spPr>
          <a:xfrm>
            <a:off x="9184104" y="5584658"/>
            <a:ext cx="21255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 err="1">
                <a:solidFill>
                  <a:srgbClr val="909090"/>
                </a:solidFill>
                <a:ea typeface="+mn-lt"/>
                <a:cs typeface="+mn-lt"/>
              </a:rPr>
              <a:t>Ctx</a:t>
            </a:r>
            <a:r>
              <a:rPr lang="en-US" sz="1400" b="1" dirty="0">
                <a:solidFill>
                  <a:srgbClr val="909090"/>
                </a:solidFill>
                <a:ea typeface="+mn-lt"/>
                <a:cs typeface="+mn-lt"/>
              </a:rPr>
              <a:t> = context pipeline</a:t>
            </a:r>
            <a:endParaRPr lang="en-US" sz="1400" b="1" dirty="0">
              <a:ea typeface="+mn-lt"/>
              <a:cs typeface="+mn-lt"/>
            </a:endParaRPr>
          </a:p>
        </p:txBody>
      </p:sp>
      <p:sp>
        <p:nvSpPr>
          <p:cNvPr id="80" name="TextBox 78">
            <a:extLst>
              <a:ext uri="{FF2B5EF4-FFF2-40B4-BE49-F238E27FC236}">
                <a16:creationId xmlns:a16="http://schemas.microsoft.com/office/drawing/2014/main" id="{B228BF52-5585-45D0-0BAD-E7C77344AE8E}"/>
              </a:ext>
            </a:extLst>
          </p:cNvPr>
          <p:cNvSpPr txBox="1"/>
          <p:nvPr/>
        </p:nvSpPr>
        <p:spPr>
          <a:xfrm>
            <a:off x="193040" y="3230880"/>
            <a:ext cx="2367280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/>
                </a:solidFill>
                <a:highlight>
                  <a:srgbClr val="262626"/>
                </a:highlight>
                <a:latin typeface="Consolas"/>
              </a:rPr>
              <a:t>Illustration avec le use case RAG (</a:t>
            </a:r>
            <a:r>
              <a:rPr lang="en-US" sz="1000" dirty="0" err="1">
                <a:solidFill>
                  <a:schemeClr val="bg1"/>
                </a:solidFill>
                <a:highlight>
                  <a:srgbClr val="262626"/>
                </a:highlight>
                <a:latin typeface="Consolas"/>
              </a:rPr>
              <a:t>détaillé</a:t>
            </a:r>
            <a:r>
              <a:rPr lang="en-US" sz="1000" dirty="0">
                <a:solidFill>
                  <a:schemeClr val="bg1"/>
                </a:solidFill>
                <a:highlight>
                  <a:srgbClr val="262626"/>
                </a:highlight>
                <a:latin typeface="Consolas"/>
              </a:rPr>
              <a:t> plus loin):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0395" y="-70184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62993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MÉCANISME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Chargement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à la demande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ComponentRegistry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2908" y="2875359"/>
            <a:ext cx="5543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FAISSVector Store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Qdrant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QdrantVector Store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Chroma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ChromaVector Store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80942" y="2691038"/>
            <a:ext cx="1188118" cy="970387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7666" y="2855306"/>
            <a:ext cx="770316" cy="296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Milvus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53747" y="3259757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MilvusVector Store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10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…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plug-in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5"/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Shape 27"/>
          <p:cNvSpPr/>
          <p:nvPr/>
        </p:nvSpPr>
        <p:spPr>
          <a:xfrm>
            <a:off x="7960630" y="2075222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0" name="Text 28"/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8265170" y="2461568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2"/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7960630" y="3261196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8" name="Text 36"/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un store =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676559" y="3190749"/>
            <a:ext cx="969492" cy="28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classe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8255144" y="3406911"/>
            <a:ext cx="2678411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register("faiss", FAISSVectorStore)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38250" cy="22860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800137" y="2286000"/>
            <a:ext cx="1238250" cy="22860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088" y="2435014"/>
            <a:ext cx="8869148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3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088" y="2880196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2743088" y="4365873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38694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USE CASE RAG</a:t>
            </a:r>
            <a:endParaRPr lang="en-US" sz="1100" dirty="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: le contrat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 </a:t>
            </a: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2293069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9"/>
          <p:cNvSpPr/>
          <p:nvPr/>
        </p:nvSpPr>
        <p:spPr>
          <a:xfrm>
            <a:off x="98319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939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83196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ingest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2064618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00226" y="2088803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Shape 14"/>
          <p:cNvSpPr/>
          <p:nvPr/>
        </p:nvSpPr>
        <p:spPr>
          <a:xfrm>
            <a:off x="2647838" y="1692176"/>
            <a:ext cx="1467073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2647838" y="2721136"/>
            <a:ext cx="14670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47838" y="1692176"/>
            <a:ext cx="1467073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7"/>
          <p:cNvSpPr/>
          <p:nvPr/>
        </p:nvSpPr>
        <p:spPr>
          <a:xfrm>
            <a:off x="264783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8"/>
          <p:cNvSpPr/>
          <p:nvPr/>
        </p:nvSpPr>
        <p:spPr>
          <a:xfrm>
            <a:off x="4103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Shape 19"/>
          <p:cNvSpPr/>
          <p:nvPr/>
        </p:nvSpPr>
        <p:spPr>
          <a:xfrm>
            <a:off x="279294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22" name="Text 20"/>
          <p:cNvSpPr/>
          <p:nvPr/>
        </p:nvSpPr>
        <p:spPr>
          <a:xfrm>
            <a:off x="286914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92946" y="2196517"/>
            <a:ext cx="1253058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chunking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3874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10162" y="2088803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6" name="Shape 24"/>
          <p:cNvSpPr/>
          <p:nvPr/>
        </p:nvSpPr>
        <p:spPr>
          <a:xfrm>
            <a:off x="44577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44577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6"/>
          <p:cNvSpPr/>
          <p:nvPr/>
        </p:nvSpPr>
        <p:spPr>
          <a:xfrm>
            <a:off x="44577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7"/>
          <p:cNvSpPr/>
          <p:nvPr/>
        </p:nvSpPr>
        <p:spPr>
          <a:xfrm>
            <a:off x="44577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59127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9"/>
          <p:cNvSpPr/>
          <p:nvPr/>
        </p:nvSpPr>
        <p:spPr>
          <a:xfrm>
            <a:off x="4602882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32" name="Text 30"/>
          <p:cNvSpPr/>
          <p:nvPr/>
        </p:nvSpPr>
        <p:spPr>
          <a:xfrm>
            <a:off x="4679082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028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embedding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56843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9912" y="2088803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75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37" name="Shape 35"/>
          <p:cNvSpPr/>
          <p:nvPr/>
        </p:nvSpPr>
        <p:spPr>
          <a:xfrm>
            <a:off x="62675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75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7"/>
          <p:cNvSpPr/>
          <p:nvPr/>
        </p:nvSpPr>
        <p:spPr>
          <a:xfrm>
            <a:off x="62675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77225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9"/>
          <p:cNvSpPr/>
          <p:nvPr/>
        </p:nvSpPr>
        <p:spPr>
          <a:xfrm>
            <a:off x="6412632" y="1887327"/>
            <a:ext cx="485552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42" name="Text 40"/>
          <p:cNvSpPr/>
          <p:nvPr/>
        </p:nvSpPr>
        <p:spPr>
          <a:xfrm>
            <a:off x="6488832" y="1915902"/>
            <a:ext cx="409352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126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indexing</a:t>
            </a:r>
            <a:endParaRPr lang="en-US" sz="1575" dirty="0"/>
          </a:p>
        </p:txBody>
      </p:sp>
      <p:sp>
        <p:nvSpPr>
          <p:cNvPr id="44" name="Shape 42"/>
          <p:cNvSpPr/>
          <p:nvPr/>
        </p:nvSpPr>
        <p:spPr>
          <a:xfrm>
            <a:off x="74940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29662" y="2088803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44"/>
          <p:cNvSpPr/>
          <p:nvPr/>
        </p:nvSpPr>
        <p:spPr>
          <a:xfrm>
            <a:off x="80772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47" name="Shape 45"/>
          <p:cNvSpPr/>
          <p:nvPr/>
        </p:nvSpPr>
        <p:spPr>
          <a:xfrm>
            <a:off x="80772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6"/>
          <p:cNvSpPr/>
          <p:nvPr/>
        </p:nvSpPr>
        <p:spPr>
          <a:xfrm>
            <a:off x="80772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7"/>
          <p:cNvSpPr/>
          <p:nvPr/>
        </p:nvSpPr>
        <p:spPr>
          <a:xfrm>
            <a:off x="80772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8"/>
          <p:cNvSpPr/>
          <p:nvPr/>
        </p:nvSpPr>
        <p:spPr>
          <a:xfrm>
            <a:off x="95322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Shape 49"/>
          <p:cNvSpPr/>
          <p:nvPr/>
        </p:nvSpPr>
        <p:spPr>
          <a:xfrm>
            <a:off x="8222382" y="1887327"/>
            <a:ext cx="685726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52" name="Text 50"/>
          <p:cNvSpPr/>
          <p:nvPr/>
        </p:nvSpPr>
        <p:spPr>
          <a:xfrm>
            <a:off x="8298582" y="1885824"/>
            <a:ext cx="739868" cy="176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2223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93038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639412" y="2088803"/>
            <a:ext cx="152363" cy="2476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6" name="Shape 54"/>
          <p:cNvSpPr/>
          <p:nvPr/>
        </p:nvSpPr>
        <p:spPr>
          <a:xfrm>
            <a:off x="98870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57" name="Shape 55"/>
          <p:cNvSpPr/>
          <p:nvPr/>
        </p:nvSpPr>
        <p:spPr>
          <a:xfrm>
            <a:off x="98870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Shape 56"/>
          <p:cNvSpPr/>
          <p:nvPr/>
        </p:nvSpPr>
        <p:spPr>
          <a:xfrm>
            <a:off x="98870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9" name="Shape 57"/>
          <p:cNvSpPr/>
          <p:nvPr/>
        </p:nvSpPr>
        <p:spPr>
          <a:xfrm>
            <a:off x="98870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42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032132" y="1887327"/>
            <a:ext cx="552338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62" name="Text 60"/>
          <p:cNvSpPr/>
          <p:nvPr/>
        </p:nvSpPr>
        <p:spPr>
          <a:xfrm>
            <a:off x="10108332" y="1915902"/>
            <a:ext cx="476138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00321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75" b="1" kern="0" spc="16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575" dirty="0"/>
          </a:p>
        </p:txBody>
      </p:sp>
      <p:sp>
        <p:nvSpPr>
          <p:cNvPr id="64" name="Shape 62"/>
          <p:cNvSpPr/>
          <p:nvPr/>
        </p:nvSpPr>
        <p:spPr>
          <a:xfrm>
            <a:off x="11113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blurRad="101600" dist="50800" dir="16200000" algn="bl" rotWithShape="0">
              <a:srgbClr val="BDD248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38088" y="2938983"/>
            <a:ext cx="85576" cy="85576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66" name="Text 64"/>
          <p:cNvSpPr/>
          <p:nvPr/>
        </p:nvSpPr>
        <p:spPr>
          <a:xfrm>
            <a:off x="999753" y="2904381"/>
            <a:ext cx="110497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statut : succès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19027" y="2967447"/>
            <a:ext cx="304726" cy="28463"/>
          </a:xfrm>
          <a:prstGeom prst="roundRect">
            <a:avLst>
              <a:gd name="adj" fmla="val 50001"/>
            </a:avLst>
          </a:prstGeom>
          <a:solidFill>
            <a:srgbClr val="BDD248"/>
          </a:solidFill>
          <a:ln/>
        </p:spPr>
      </p:sp>
      <p:sp>
        <p:nvSpPr>
          <p:cNvPr id="68" name="Text 66"/>
          <p:cNvSpPr/>
          <p:nvPr/>
        </p:nvSpPr>
        <p:spPr>
          <a:xfrm>
            <a:off x="2599841" y="2904381"/>
            <a:ext cx="8992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complété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38088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1" name="Text 69"/>
          <p:cNvSpPr/>
          <p:nvPr/>
        </p:nvSpPr>
        <p:spPr>
          <a:xfrm>
            <a:off x="838088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PREPARE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2686720" y="3192363"/>
            <a:ext cx="3121298" cy="11906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73" name="Text 71"/>
          <p:cNvSpPr/>
          <p:nvPr/>
        </p:nvSpPr>
        <p:spPr>
          <a:xfrm>
            <a:off x="2678000" y="3280470"/>
            <a:ext cx="3138737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PROCESS (×2)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6150880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73"/>
          <p:cNvSpPr/>
          <p:nvPr/>
        </p:nvSpPr>
        <p:spPr>
          <a:xfrm>
            <a:off x="6150880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BUILD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7999512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7" name="Text 75"/>
          <p:cNvSpPr/>
          <p:nvPr/>
        </p:nvSpPr>
        <p:spPr>
          <a:xfrm>
            <a:off x="7999512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EVALUATE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9848143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9" name="Text 77"/>
          <p:cNvSpPr/>
          <p:nvPr/>
        </p:nvSpPr>
        <p:spPr>
          <a:xfrm>
            <a:off x="9848143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5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DEPLOY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838088" y="3651684"/>
            <a:ext cx="10515823" cy="719770"/>
          </a:xfrm>
          <a:prstGeom prst="roundRect">
            <a:avLst>
              <a:gd name="adj" fmla="val 7940"/>
            </a:avLst>
          </a:prstGeom>
          <a:solidFill>
            <a:srgbClr val="2A2A2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66540" y="3846091"/>
            <a:ext cx="1076399" cy="330771"/>
          </a:xfrm>
          <a:prstGeom prst="roundRect">
            <a:avLst>
              <a:gd name="adj" fmla="val 8639"/>
            </a:avLst>
          </a:prstGeom>
          <a:solidFill>
            <a:srgbClr val="BDD248"/>
          </a:solidFill>
          <a:ln/>
        </p:spPr>
      </p:sp>
      <p:sp>
        <p:nvSpPr>
          <p:cNvPr id="82" name="Text 80"/>
          <p:cNvSpPr/>
          <p:nvPr/>
        </p:nvSpPr>
        <p:spPr>
          <a:xfrm>
            <a:off x="1209415" y="3922291"/>
            <a:ext cx="1017243" cy="246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68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RÉFÉRENCE</a:t>
            </a:r>
            <a:endParaRPr lang="en-US" sz="975" dirty="0"/>
          </a:p>
        </p:txBody>
      </p:sp>
      <p:sp>
        <p:nvSpPr>
          <p:cNvPr id="83" name="Text 81"/>
          <p:cNvSpPr/>
          <p:nvPr/>
        </p:nvSpPr>
        <p:spPr>
          <a:xfrm>
            <a:off x="2333439" y="3794559"/>
            <a:ext cx="9055782" cy="472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= implémentation de référence.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r>
              <a:rPr lang="en-US" sz="906" baseline="300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er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 complet : il prouve l'architecture de bout en bout </a:t>
            </a:r>
            <a:r>
              <a:rPr lang="en-US" sz="1088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hérite automatiquement de tout l'outillage OPS </a:t>
            </a: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(MLflow, monitoring, Docker, CI/CD). Un développeur peut s'en inspirer comme modèle pour son propre use case.</a:t>
            </a:r>
            <a:endParaRPr lang="en-US" sz="1088" dirty="0"/>
          </a:p>
        </p:txBody>
      </p:sp>
      <p:sp>
        <p:nvSpPr>
          <p:cNvPr id="84" name="Text 82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8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86" name="Text 8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6057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203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CATALOGUE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Switch en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ligne </a:t>
            </a: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YAML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692176"/>
            <a:ext cx="6333939" cy="3149575"/>
          </a:xfrm>
          <a:prstGeom prst="roundRect">
            <a:avLst>
              <a:gd name="adj" fmla="val 1815"/>
            </a:avLst>
          </a:prstGeom>
          <a:ln/>
          <a:effectLst>
            <a:outerShdw blurRad="76200" dist="19050" dir="5400000" algn="bl" rotWithShape="0">
              <a:srgbClr val="2A2A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8088" y="1692176"/>
            <a:ext cx="6333939" cy="437927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1047638" y="1816001"/>
            <a:ext cx="1085850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CATÉGORIE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76388" y="1816001"/>
            <a:ext cx="4633245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4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OPTIONS DISPONIBLES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8088" y="213010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38088" y="2656954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638" y="2244403"/>
            <a:ext cx="1085850" cy="336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6838" y="2656954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Shape 12"/>
          <p:cNvSpPr/>
          <p:nvPr/>
        </p:nvSpPr>
        <p:spPr>
          <a:xfrm>
            <a:off x="2476314" y="2263304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2995" y="2313310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3426023" y="2263304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2705" y="2313310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838088" y="2668860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088" y="3201665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638" y="2783160"/>
            <a:ext cx="1085850" cy="342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66838" y="3201665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76314" y="2808015"/>
            <a:ext cx="1050541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92995" y="2858021"/>
            <a:ext cx="8933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3574479" y="2808015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91161" y="2858021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fastembed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838088" y="3213571"/>
            <a:ext cx="6333939" cy="5447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088" y="3746376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638" y="3327871"/>
            <a:ext cx="1085850" cy="342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66838" y="3746376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2476314" y="3352726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92995" y="3402732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3128739" y="3352726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5421" y="3402732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ChromaDB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4004035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0716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4730874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7555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838088" y="3758282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7"/>
          <p:cNvSpPr/>
          <p:nvPr/>
        </p:nvSpPr>
        <p:spPr>
          <a:xfrm>
            <a:off x="838088" y="4291087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Text 38"/>
          <p:cNvSpPr/>
          <p:nvPr/>
        </p:nvSpPr>
        <p:spPr>
          <a:xfrm>
            <a:off x="1047638" y="3872582"/>
            <a:ext cx="1085850" cy="342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66838" y="4291087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40"/>
          <p:cNvSpPr/>
          <p:nvPr/>
        </p:nvSpPr>
        <p:spPr>
          <a:xfrm>
            <a:off x="2476314" y="3897437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92995" y="3947443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naive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3128739" y="3897437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5421" y="3947443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838088" y="430299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047638" y="4417293"/>
            <a:ext cx="1085850" cy="348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Reranker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76314" y="4442147"/>
            <a:ext cx="530572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92995" y="4492154"/>
            <a:ext cx="373410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3054511" y="4442147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71192" y="4492154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flashrank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7514890" y="1692176"/>
            <a:ext cx="3838835" cy="3154226"/>
          </a:xfrm>
          <a:prstGeom prst="roundRect">
            <a:avLst>
              <a:gd name="adj" fmla="val 1812"/>
            </a:avLst>
          </a:prstGeom>
          <a:solidFill>
            <a:srgbClr val="1A1A1A"/>
          </a:solidFill>
          <a:ln/>
          <a:effectLst>
            <a:outerShdw blurRad="342900" dist="114300" dir="5400000" algn="bl" rotWithShape="0">
              <a:srgbClr val="1A1A1A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762503" y="2158752"/>
            <a:ext cx="3343610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762503" y="1901651"/>
            <a:ext cx="3443918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CONFIG.YAML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7762503" y="2323021"/>
            <a:ext cx="34439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7914903" y="2580122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8067303" y="2837222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7914903" y="3094323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8067303" y="3351423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7914903" y="3608524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vector_store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7734040" y="3865625"/>
            <a:ext cx="3372073" cy="257101"/>
          </a:xfrm>
          <a:prstGeom prst="roundRect">
            <a:avLst>
              <a:gd name="adj" fmla="val 7410"/>
            </a:avLst>
          </a:prstGeom>
          <a:solidFill>
            <a:srgbClr val="BDD248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734040" y="3865625"/>
            <a:ext cx="23813" cy="2571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3" name="Text 61"/>
          <p:cNvSpPr/>
          <p:nvPr/>
        </p:nvSpPr>
        <p:spPr>
          <a:xfrm>
            <a:off x="8034077" y="3865625"/>
            <a:ext cx="317319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highlight>
                  <a:srgbClr val="BDD248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b="1" dirty="0">
                <a:solidFill>
                  <a:srgbClr val="D0E8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7914903" y="4122725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retriever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8067303" y="4379826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1125" dirty="0"/>
          </a:p>
        </p:txBody>
      </p:sp>
      <p:sp>
        <p:nvSpPr>
          <p:cNvPr id="66" name="Shape 64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8588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35745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Mécanisme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126754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33910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b="1" kern="0" spc="18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Catalogue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3264359" y="5917592"/>
            <a:ext cx="2629166" cy="223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b="1" kern="0" spc="18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 composants réellement interchangeables</a:t>
            </a:r>
            <a:endParaRPr lang="en-US" sz="975" dirty="0"/>
          </a:p>
        </p:txBody>
      </p:sp>
      <p:sp>
        <p:nvSpPr>
          <p:cNvPr id="74" name="Text 72"/>
          <p:cNvSpPr/>
          <p:nvPr/>
        </p:nvSpPr>
        <p:spPr>
          <a:xfrm>
            <a:off x="8106482" y="5931917"/>
            <a:ext cx="3148638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25" kern="0" spc="18" dirty="0">
                <a:solidFill>
                  <a:srgbClr val="FFFFFF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slide précédente : le mécanisme de chargement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38250" cy="22860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800137" y="2286000"/>
            <a:ext cx="1238250" cy="22860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" name="Text 3"/>
          <p:cNvSpPr/>
          <p:nvPr/>
        </p:nvSpPr>
        <p:spPr>
          <a:xfrm>
            <a:off x="2743088" y="2435014"/>
            <a:ext cx="8869148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33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088" y="2880196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services OPS (MLOps)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2743088" y="4365873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6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341594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b="1" kern="0" spc="203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 </a:t>
            </a:r>
            <a:r>
              <a:rPr lang="en-US" sz="1100" b="1" kern="0" spc="203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OPS · TRACKING MLFLOW</a:t>
            </a:r>
            <a:endParaRPr lang="en-US" sz="1125" dirty="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8114" y="956965"/>
            <a:ext cx="5888325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Reproductibilité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bout en bout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577764"/>
            <a:ext cx="2617143" cy="669727"/>
          </a:xfrm>
          <a:prstGeom prst="roundRect">
            <a:avLst>
              <a:gd name="adj" fmla="val 4267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223558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157776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577764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8"/>
          <p:cNvSpPr/>
          <p:nvPr/>
        </p:nvSpPr>
        <p:spPr>
          <a:xfrm>
            <a:off x="3443325" y="1577764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995102" y="1703896"/>
            <a:ext cx="239122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5102" y="1968066"/>
            <a:ext cx="2391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chunk_size · overlap · top_k</a:t>
            </a:r>
            <a:endParaRPr lang="en-US" sz="863" dirty="0"/>
          </a:p>
        </p:txBody>
      </p:sp>
      <p:sp>
        <p:nvSpPr>
          <p:cNvPr id="13" name="Shape 11"/>
          <p:cNvSpPr/>
          <p:nvPr/>
        </p:nvSpPr>
        <p:spPr>
          <a:xfrm>
            <a:off x="3569457" y="1577764"/>
            <a:ext cx="2617143" cy="669727"/>
          </a:xfrm>
          <a:prstGeom prst="roundRect">
            <a:avLst>
              <a:gd name="adj" fmla="val 4267"/>
            </a:avLst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9457" y="223558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9457" y="157776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9457" y="1577764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4693" y="1577764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Text 16"/>
          <p:cNvSpPr/>
          <p:nvPr/>
        </p:nvSpPr>
        <p:spPr>
          <a:xfrm>
            <a:off x="3726470" y="1703896"/>
            <a:ext cx="239122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Métriques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26470" y="1968066"/>
            <a:ext cx="2391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 · precision · latence</a:t>
            </a:r>
            <a:endParaRPr lang="en-US" sz="863" dirty="0"/>
          </a:p>
        </p:txBody>
      </p:sp>
      <p:sp>
        <p:nvSpPr>
          <p:cNvPr id="20" name="Shape 18"/>
          <p:cNvSpPr/>
          <p:nvPr/>
        </p:nvSpPr>
        <p:spPr>
          <a:xfrm>
            <a:off x="838088" y="2361716"/>
            <a:ext cx="2617143" cy="669727"/>
          </a:xfrm>
          <a:prstGeom prst="roundRect">
            <a:avLst>
              <a:gd name="adj" fmla="val 4267"/>
            </a:avLst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088" y="3019537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88" y="2361716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88" y="2361716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4" name="Shape 22"/>
          <p:cNvSpPr/>
          <p:nvPr/>
        </p:nvSpPr>
        <p:spPr>
          <a:xfrm>
            <a:off x="3443325" y="2361716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5" name="Text 23"/>
          <p:cNvSpPr/>
          <p:nvPr/>
        </p:nvSpPr>
        <p:spPr>
          <a:xfrm>
            <a:off x="995102" y="2487848"/>
            <a:ext cx="239122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5102" y="2752018"/>
            <a:ext cx="2391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modèles · index · configs · env</a:t>
            </a:r>
            <a:endParaRPr lang="en-US" sz="863" dirty="0"/>
          </a:p>
        </p:txBody>
      </p:sp>
      <p:sp>
        <p:nvSpPr>
          <p:cNvPr id="27" name="Shape 25"/>
          <p:cNvSpPr/>
          <p:nvPr/>
        </p:nvSpPr>
        <p:spPr>
          <a:xfrm>
            <a:off x="3569457" y="2361716"/>
            <a:ext cx="2617143" cy="669727"/>
          </a:xfrm>
          <a:prstGeom prst="roundRect">
            <a:avLst>
              <a:gd name="adj" fmla="val 4267"/>
            </a:avLst>
          </a:prstGeom>
          <a:solidFill>
            <a:srgbClr val="F4F4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569457" y="3019537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Shape 27"/>
          <p:cNvSpPr/>
          <p:nvPr/>
        </p:nvSpPr>
        <p:spPr>
          <a:xfrm>
            <a:off x="3569457" y="2361716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9457" y="2361716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74693" y="2361716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Text 30"/>
          <p:cNvSpPr/>
          <p:nvPr/>
        </p:nvSpPr>
        <p:spPr>
          <a:xfrm>
            <a:off x="3726470" y="2487848"/>
            <a:ext cx="239122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Traces · Autolog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26470" y="2752018"/>
            <a:ext cx="239122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appels LLM · spans · durées</a:t>
            </a:r>
            <a:endParaRPr lang="en-US" sz="863" dirty="0"/>
          </a:p>
        </p:txBody>
      </p:sp>
      <p:sp>
        <p:nvSpPr>
          <p:cNvPr id="34" name="Shape 32"/>
          <p:cNvSpPr/>
          <p:nvPr/>
        </p:nvSpPr>
        <p:spPr>
          <a:xfrm>
            <a:off x="838088" y="3145668"/>
            <a:ext cx="5348511" cy="669727"/>
          </a:xfrm>
          <a:prstGeom prst="roundRect">
            <a:avLst>
              <a:gd name="adj" fmla="val 4267"/>
            </a:avLst>
          </a:prstGeom>
          <a:solidFill>
            <a:srgbClr val="EFF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838088" y="3803489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34"/>
          <p:cNvSpPr/>
          <p:nvPr/>
        </p:nvSpPr>
        <p:spPr>
          <a:xfrm>
            <a:off x="838088" y="3145668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838088" y="3145668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8" name="Shape 36"/>
          <p:cNvSpPr/>
          <p:nvPr/>
        </p:nvSpPr>
        <p:spPr>
          <a:xfrm>
            <a:off x="6174693" y="3145668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Text 37"/>
          <p:cNvSpPr/>
          <p:nvPr/>
        </p:nvSpPr>
        <p:spPr>
          <a:xfrm>
            <a:off x="995102" y="3271800"/>
            <a:ext cx="5197781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Prompt versioning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5102" y="3535970"/>
            <a:ext cx="519778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templates de prompts trackés comme artifacts MLflow — comparaison inter-runs</a:t>
            </a:r>
            <a:endParaRPr lang="en-US" sz="863" dirty="0"/>
          </a:p>
        </p:txBody>
      </p:sp>
      <p:sp>
        <p:nvSpPr>
          <p:cNvPr id="41" name="Shape 39"/>
          <p:cNvSpPr/>
          <p:nvPr/>
        </p:nvSpPr>
        <p:spPr>
          <a:xfrm>
            <a:off x="838088" y="4005895"/>
            <a:ext cx="5348511" cy="878272"/>
          </a:xfrm>
          <a:prstGeom prst="roundRect">
            <a:avLst>
              <a:gd name="adj" fmla="val 6507"/>
            </a:avLst>
          </a:prstGeom>
          <a:solidFill>
            <a:srgbClr val="2A2A2A"/>
          </a:solidFill>
          <a:ln/>
        </p:spPr>
      </p:sp>
      <p:sp>
        <p:nvSpPr>
          <p:cNvPr id="42" name="Text 40"/>
          <p:cNvSpPr/>
          <p:nvPr/>
        </p:nvSpPr>
        <p:spPr>
          <a:xfrm>
            <a:off x="1236390" y="4264112"/>
            <a:ext cx="43078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235176" y="4516914"/>
            <a:ext cx="5334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>
                <a:solidFill>
                  <a:srgbClr val="9AA5B8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git </a:t>
            </a:r>
            <a:endParaRPr lang="en-US" sz="750" dirty="0">
              <a:latin typeface="JetBrains Mono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875272" y="4308016"/>
            <a:ext cx="20467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2343857" y="4264112"/>
            <a:ext cx="3191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2262657" y="4466783"/>
            <a:ext cx="76211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 digest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926928" y="4308016"/>
            <a:ext cx="20467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3225664" y="4264112"/>
            <a:ext cx="65849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Données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3978399" y="4308016"/>
            <a:ext cx="20467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328480" y="4304217"/>
            <a:ext cx="706379" cy="21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Params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4396941" y="4506888"/>
            <a:ext cx="41924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030056" y="4308016"/>
            <a:ext cx="19556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216592" y="4139096"/>
            <a:ext cx="874869" cy="52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 rejouable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12</a:t>
            </a:r>
            <a:endParaRPr lang="en-US" sz="975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4AE82EDE-ABB2-3E33-A97A-64BDC0843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528" y="1699022"/>
            <a:ext cx="5745079" cy="4402429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011E56F3-D7B8-DBDA-3889-55AF97ED7863}"/>
              </a:ext>
            </a:extLst>
          </p:cNvPr>
          <p:cNvSpPr txBox="1"/>
          <p:nvPr/>
        </p:nvSpPr>
        <p:spPr>
          <a:xfrm>
            <a:off x="7238999" y="1343525"/>
            <a:ext cx="47324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Vue </a:t>
            </a:r>
            <a:r>
              <a:rPr lang="en-US" dirty="0" err="1">
                <a:ea typeface="+mn-lt"/>
                <a:cs typeface="+mn-lt"/>
              </a:rPr>
              <a:t>d'ensemble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mlflow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ui</a:t>
            </a:r>
            <a:r>
              <a:rPr lang="en-US" dirty="0">
                <a:ea typeface="Calibri"/>
                <a:cs typeface="Calibri"/>
              </a:rPr>
              <a:t>  pour un run 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0737" y="70184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83994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 dirty="0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 OPS · MONITORING</a:t>
            </a:r>
            <a:endParaRPr lang="en-US" sz="1125" dirty="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Observabilité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production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634877"/>
            <a:ext cx="2495662" cy="1358615"/>
          </a:xfrm>
          <a:prstGeom prst="roundRect">
            <a:avLst>
              <a:gd name="adj" fmla="val 420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333" y="1799146"/>
            <a:ext cx="22053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Trafic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21333" y="2113359"/>
            <a:ext cx="2205372" cy="224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Requêtes /s · volume RAG queries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21333" y="2722625"/>
            <a:ext cx="76088" cy="106598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0" name="Shape 8"/>
          <p:cNvSpPr/>
          <p:nvPr/>
        </p:nvSpPr>
        <p:spPr>
          <a:xfrm>
            <a:off x="1125885" y="2669418"/>
            <a:ext cx="76088" cy="159804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1" name="Shape 9"/>
          <p:cNvSpPr/>
          <p:nvPr/>
        </p:nvSpPr>
        <p:spPr>
          <a:xfrm>
            <a:off x="1230437" y="2629421"/>
            <a:ext cx="76088" cy="199802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334988" y="2682627"/>
            <a:ext cx="76088" cy="146596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9540" y="2589423"/>
            <a:ext cx="76088" cy="239799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4" name="Shape 12"/>
          <p:cNvSpPr/>
          <p:nvPr/>
        </p:nvSpPr>
        <p:spPr>
          <a:xfrm>
            <a:off x="1544092" y="2642629"/>
            <a:ext cx="76088" cy="186593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6951" y="1634877"/>
            <a:ext cx="2495662" cy="1358615"/>
          </a:xfrm>
          <a:prstGeom prst="roundRect">
            <a:avLst>
              <a:gd name="adj" fmla="val 420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0196" y="1799146"/>
            <a:ext cx="22053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Latence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0196" y="2113359"/>
            <a:ext cx="2205372" cy="411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P50 / P95 / P99 — retrieval vs generation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0196" y="2749414"/>
            <a:ext cx="76088" cy="79809"/>
          </a:xfrm>
          <a:prstGeom prst="roundRect">
            <a:avLst>
              <a:gd name="adj" fmla="val 25037"/>
            </a:avLst>
          </a:prstGeom>
          <a:solidFill>
            <a:srgbClr val="E4E4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4748" y="2776017"/>
            <a:ext cx="76088" cy="53206"/>
          </a:xfrm>
          <a:prstGeom prst="roundRect">
            <a:avLst>
              <a:gd name="adj" fmla="val 35804"/>
            </a:avLst>
          </a:prstGeom>
          <a:solidFill>
            <a:srgbClr val="BDD248"/>
          </a:solidFill>
          <a:ln/>
        </p:spPr>
      </p:sp>
      <p:sp>
        <p:nvSpPr>
          <p:cNvPr id="20" name="Shape 18"/>
          <p:cNvSpPr/>
          <p:nvPr/>
        </p:nvSpPr>
        <p:spPr>
          <a:xfrm>
            <a:off x="3859299" y="2696021"/>
            <a:ext cx="76088" cy="133201"/>
          </a:xfrm>
          <a:prstGeom prst="roundRect">
            <a:avLst>
              <a:gd name="adj" fmla="val 25037"/>
            </a:avLst>
          </a:prstGeom>
          <a:solidFill>
            <a:srgbClr val="E4E4E4"/>
          </a:solidFill>
          <a:ln/>
        </p:spPr>
      </p:sp>
      <p:sp>
        <p:nvSpPr>
          <p:cNvPr id="21" name="Shape 19"/>
          <p:cNvSpPr/>
          <p:nvPr/>
        </p:nvSpPr>
        <p:spPr>
          <a:xfrm>
            <a:off x="3963851" y="2709416"/>
            <a:ext cx="76088" cy="119807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8403" y="2616026"/>
            <a:ext cx="76088" cy="213196"/>
          </a:xfrm>
          <a:prstGeom prst="roundRect">
            <a:avLst>
              <a:gd name="adj" fmla="val 25037"/>
            </a:avLst>
          </a:prstGeom>
          <a:solidFill>
            <a:srgbClr val="E4E4E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72955" y="2562634"/>
            <a:ext cx="76088" cy="266588"/>
          </a:xfrm>
          <a:prstGeom prst="roundRect">
            <a:avLst>
              <a:gd name="adj" fmla="val 25037"/>
            </a:avLst>
          </a:prstGeom>
          <a:solidFill>
            <a:srgbClr val="BDD24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088" y="3126693"/>
            <a:ext cx="2495662" cy="1322710"/>
          </a:xfrm>
          <a:prstGeom prst="roundRect">
            <a:avLst>
              <a:gd name="adj" fmla="val 4321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33" y="3290962"/>
            <a:ext cx="22053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Erreurs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21333" y="3605175"/>
            <a:ext cx="2205372" cy="411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HTTP 5xx · quality gate fails · LLM timeouts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66951" y="3126693"/>
            <a:ext cx="2495662" cy="1322710"/>
          </a:xfrm>
          <a:prstGeom prst="roundRect">
            <a:avLst>
              <a:gd name="adj" fmla="val 4321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0196" y="3290962"/>
            <a:ext cx="22053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Saturation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650196" y="3605175"/>
            <a:ext cx="2205372" cy="411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CPU / RAM / GPU memory · queue depth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0196" y="4209045"/>
            <a:ext cx="2129172" cy="76088"/>
          </a:xfrm>
          <a:prstGeom prst="roundRect">
            <a:avLst>
              <a:gd name="adj" fmla="val 50000"/>
            </a:avLst>
          </a:prstGeom>
          <a:solidFill>
            <a:srgbClr val="E4E4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0196" y="4209045"/>
            <a:ext cx="1319919" cy="76088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41" name="Text 39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13</a:t>
            </a:r>
            <a:endParaRPr lang="en-US" sz="975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9EBD2EE-B258-CE48-6E90-A9466B79C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763" y="2016292"/>
            <a:ext cx="5704473" cy="358741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88058D41-AB0E-F2BD-BDEE-1673B1D0C92E}"/>
              </a:ext>
            </a:extLst>
          </p:cNvPr>
          <p:cNvSpPr txBox="1"/>
          <p:nvPr/>
        </p:nvSpPr>
        <p:spPr>
          <a:xfrm>
            <a:off x="7078579" y="1694447"/>
            <a:ext cx="45920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</a:rPr>
              <a:t>Vue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/>
              </a:rPr>
              <a:t>d'ensemble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 du </a:t>
            </a:r>
            <a:r>
              <a:rPr lang="en-US" dirty="0" err="1">
                <a:solidFill>
                  <a:srgbClr val="000000"/>
                </a:solidFill>
                <a:latin typeface="Calibri"/>
              </a:rPr>
              <a:t>dashbo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ard Grafana</a:t>
            </a:r>
            <a:endParaRPr lang="en-US" dirty="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351213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kern="0" spc="203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OPS · CONTENEURISATION</a:t>
            </a:r>
            <a:endParaRPr lang="en-US" sz="1100">
              <a:latin typeface="Jos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once,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 anywhere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673014"/>
            <a:ext cx="7505960" cy="2971354"/>
          </a:xfrm>
          <a:prstGeom prst="roundRect">
            <a:avLst>
              <a:gd name="adj" fmla="val 1923"/>
            </a:avLst>
          </a:prstGeom>
          <a:ln/>
          <a:effectLst>
            <a:outerShdw blurRad="228600" dist="76200" dir="5400000" algn="bl" rotWithShape="0">
              <a:srgbClr val="2A2A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8088" y="1673014"/>
            <a:ext cx="7505960" cy="704701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2365809"/>
            <a:ext cx="7505960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673014"/>
            <a:ext cx="750596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Text 8"/>
          <p:cNvSpPr/>
          <p:nvPr/>
        </p:nvSpPr>
        <p:spPr>
          <a:xfrm>
            <a:off x="1104677" y="1959880"/>
            <a:ext cx="3046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333128" y="1900349"/>
            <a:ext cx="151183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MLflow Tracking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2921124" y="1904070"/>
            <a:ext cx="1380195" cy="254496"/>
          </a:xfrm>
          <a:prstGeom prst="roundRect">
            <a:avLst>
              <a:gd name="adj" fmla="val 11228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8280" y="1954076"/>
            <a:ext cx="1242082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OPS · transversal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09594" y="1953927"/>
            <a:ext cx="96786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mlflow-server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8088" y="2377715"/>
            <a:ext cx="7505960" cy="70470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088" y="3070510"/>
            <a:ext cx="7505960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8088" y="2377715"/>
            <a:ext cx="35719" cy="704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Text 16"/>
          <p:cNvSpPr/>
          <p:nvPr/>
        </p:nvSpPr>
        <p:spPr>
          <a:xfrm>
            <a:off x="1140396" y="2652675"/>
            <a:ext cx="3046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3F3F3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368847" y="2593144"/>
            <a:ext cx="193897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FastAPI · API serving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3383979" y="2596865"/>
            <a:ext cx="968871" cy="254496"/>
          </a:xfrm>
          <a:prstGeom prst="roundRect">
            <a:avLst>
              <a:gd name="adj" fmla="val 1122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1136" y="2646871"/>
            <a:ext cx="830759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api-service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8096" y="2646722"/>
            <a:ext cx="157936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09090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api_config.json → REST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8088" y="3082417"/>
            <a:ext cx="7505960" cy="7047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088" y="3775211"/>
            <a:ext cx="7505960" cy="11906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04677" y="3357376"/>
            <a:ext cx="3046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2A2A2A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333128" y="3297845"/>
            <a:ext cx="293900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pipeline-rag · pipeline-ml_classic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4338898" y="3301566"/>
            <a:ext cx="1243087" cy="254496"/>
          </a:xfrm>
          <a:prstGeom prst="roundRect">
            <a:avLst>
              <a:gd name="adj" fmla="val 11228"/>
            </a:avLst>
          </a:prstGeom>
          <a:solidFill>
            <a:srgbClr val="000000">
              <a:alpha val="12000"/>
            </a:srgbClr>
          </a:solidFill>
          <a:ln w="11906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6054" y="3351572"/>
            <a:ext cx="1104974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use-case images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731" y="3351423"/>
            <a:ext cx="131072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2A2A2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image / use case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8088" y="3787118"/>
            <a:ext cx="7505960" cy="85725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677" y="4144305"/>
            <a:ext cx="3046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333128" y="4084774"/>
            <a:ext cx="124264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29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BASE IMAGE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2651931" y="4088495"/>
            <a:ext cx="1380195" cy="254496"/>
          </a:xfrm>
          <a:prstGeom prst="roundRect">
            <a:avLst>
              <a:gd name="adj" fmla="val 11228"/>
            </a:avLst>
          </a:prstGeom>
          <a:solidFill>
            <a:srgbClr val="BDD248">
              <a:alpha val="15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59087" y="4138501"/>
            <a:ext cx="1242082" cy="192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partagée · cachée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00849" y="4138352"/>
            <a:ext cx="247661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3.11 · torch · faiss · numpy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912" y="1749103"/>
            <a:ext cx="27470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CACHING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686912" y="2082292"/>
            <a:ext cx="2667000" cy="843111"/>
          </a:xfrm>
          <a:prstGeom prst="roundRect">
            <a:avLst>
              <a:gd name="adj" fmla="val 3389"/>
            </a:avLst>
          </a:prstGeom>
          <a:solidFill>
            <a:srgbClr val="F4F4F4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6912" y="2913497"/>
            <a:ext cx="26670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Shape 37"/>
          <p:cNvSpPr/>
          <p:nvPr/>
        </p:nvSpPr>
        <p:spPr>
          <a:xfrm>
            <a:off x="8686912" y="2082292"/>
            <a:ext cx="26670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912" y="2082292"/>
            <a:ext cx="23813" cy="84311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42005" y="2082292"/>
            <a:ext cx="11906" cy="84311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Text 40"/>
          <p:cNvSpPr/>
          <p:nvPr/>
        </p:nvSpPr>
        <p:spPr>
          <a:xfrm>
            <a:off x="8863087" y="2227399"/>
            <a:ext cx="2402756" cy="22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Δ code → </a:t>
            </a:r>
            <a:r>
              <a:rPr lang="en-US" sz="112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layer 2/3/4 </a:t>
            </a:r>
            <a:r>
              <a:rPr lang="en-US" sz="112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seulement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8863087" y="2460687"/>
            <a:ext cx="2402756" cy="357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1 (BASE) : stable pas de réinstall des deps lourdes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912" y="3077766"/>
            <a:ext cx="2667000" cy="843111"/>
          </a:xfrm>
          <a:prstGeom prst="roundRect">
            <a:avLst>
              <a:gd name="adj" fmla="val 3389"/>
            </a:avLst>
          </a:prstGeom>
          <a:solidFill>
            <a:srgbClr val="F4F4F4"/>
          </a:solidFill>
          <a:ln/>
        </p:spPr>
      </p:sp>
      <p:sp>
        <p:nvSpPr>
          <p:cNvPr id="45" name="Shape 43"/>
          <p:cNvSpPr/>
          <p:nvPr/>
        </p:nvSpPr>
        <p:spPr>
          <a:xfrm>
            <a:off x="8686912" y="3908971"/>
            <a:ext cx="26670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6" name="Shape 44"/>
          <p:cNvSpPr/>
          <p:nvPr/>
        </p:nvSpPr>
        <p:spPr>
          <a:xfrm>
            <a:off x="8686912" y="3077766"/>
            <a:ext cx="26670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7" name="Shape 45"/>
          <p:cNvSpPr/>
          <p:nvPr/>
        </p:nvSpPr>
        <p:spPr>
          <a:xfrm>
            <a:off x="8686912" y="3077766"/>
            <a:ext cx="23813" cy="84311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8" name="Shape 46"/>
          <p:cNvSpPr/>
          <p:nvPr/>
        </p:nvSpPr>
        <p:spPr>
          <a:xfrm>
            <a:off x="11342005" y="3077766"/>
            <a:ext cx="11906" cy="84311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9" name="Text 47"/>
          <p:cNvSpPr/>
          <p:nvPr/>
        </p:nvSpPr>
        <p:spPr>
          <a:xfrm>
            <a:off x="8863087" y="3222873"/>
            <a:ext cx="2402756" cy="223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docker build </a:t>
            </a:r>
            <a:r>
              <a:rPr lang="en-US" sz="112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&lt; 30 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8863087" y="3456161"/>
            <a:ext cx="2402756" cy="357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seules les couches modifiées sont rebuildées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38088" y="650007"/>
            <a:ext cx="133201" cy="1332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" name="Text 2"/>
          <p:cNvSpPr/>
          <p:nvPr/>
        </p:nvSpPr>
        <p:spPr>
          <a:xfrm>
            <a:off x="1085515" y="609451"/>
            <a:ext cx="219160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100" b="1" kern="0" spc="203">
                <a:solidFill>
                  <a:srgbClr val="8FA82E"/>
                </a:solidFill>
                <a:latin typeface="Jost"/>
                <a:ea typeface="Jost"/>
                <a:cs typeface="Jost" pitchFamily="34" charset="-120"/>
              </a:rPr>
              <a:t> </a:t>
            </a:r>
            <a:r>
              <a:rPr lang="en-US" sz="1100" b="1" kern="0" spc="203">
                <a:solidFill>
                  <a:srgbClr val="8FA82E"/>
                </a:solidFill>
                <a:latin typeface="Jost"/>
                <a:ea typeface="Jost" pitchFamily="34" charset="-122"/>
                <a:cs typeface="Jost" pitchFamily="34" charset="-120"/>
              </a:rPr>
              <a:t>OPS · CI/CD</a:t>
            </a:r>
            <a:endParaRPr lang="en-US" sz="1125" dirty="0">
              <a:latin typeface="Jos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088" y="956965"/>
            <a:ext cx="10831298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000" b="1" kern="0" spc="-6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once, </a:t>
            </a:r>
            <a:r>
              <a:rPr lang="en-US" sz="3000" b="1" kern="0" spc="-6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 the tested artifact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38088" y="1788542"/>
            <a:ext cx="1894582" cy="1152674"/>
          </a:xfrm>
          <a:prstGeom prst="roundRect">
            <a:avLst>
              <a:gd name="adj" fmla="val 4958"/>
            </a:avLst>
          </a:prstGeom>
          <a:solidFill>
            <a:srgbClr val="F4F4F4"/>
          </a:solidFill>
          <a:ln/>
        </p:spPr>
      </p:sp>
      <p:sp>
        <p:nvSpPr>
          <p:cNvPr id="7" name="Shape 5"/>
          <p:cNvSpPr/>
          <p:nvPr/>
        </p:nvSpPr>
        <p:spPr>
          <a:xfrm>
            <a:off x="838088" y="292931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6"/>
          <p:cNvSpPr/>
          <p:nvPr/>
        </p:nvSpPr>
        <p:spPr>
          <a:xfrm>
            <a:off x="838088" y="1788542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7"/>
          <p:cNvSpPr/>
          <p:nvPr/>
        </p:nvSpPr>
        <p:spPr>
          <a:xfrm>
            <a:off x="838088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8"/>
          <p:cNvSpPr/>
          <p:nvPr/>
        </p:nvSpPr>
        <p:spPr>
          <a:xfrm>
            <a:off x="2720764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1002357" y="1983693"/>
            <a:ext cx="16422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02357" y="2183681"/>
            <a:ext cx="1642244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2357" y="2448409"/>
            <a:ext cx="16422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feature branch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7408" y="2250653"/>
            <a:ext cx="133201" cy="2284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5" name="Shape 13"/>
          <p:cNvSpPr/>
          <p:nvPr/>
        </p:nvSpPr>
        <p:spPr>
          <a:xfrm>
            <a:off x="3075533" y="1711151"/>
            <a:ext cx="1894582" cy="1307455"/>
          </a:xfrm>
          <a:prstGeom prst="roundRect">
            <a:avLst>
              <a:gd name="adj" fmla="val 4371"/>
            </a:avLst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075533" y="300670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5"/>
          <p:cNvSpPr/>
          <p:nvPr/>
        </p:nvSpPr>
        <p:spPr>
          <a:xfrm>
            <a:off x="3075533" y="1711151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Shape 16"/>
          <p:cNvSpPr/>
          <p:nvPr/>
        </p:nvSpPr>
        <p:spPr>
          <a:xfrm>
            <a:off x="3075533" y="1711151"/>
            <a:ext cx="11906" cy="130745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8209" y="1711151"/>
            <a:ext cx="11906" cy="130745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ext 18"/>
          <p:cNvSpPr/>
          <p:nvPr/>
        </p:nvSpPr>
        <p:spPr>
          <a:xfrm>
            <a:off x="3239802" y="1906302"/>
            <a:ext cx="16422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239802" y="2106290"/>
            <a:ext cx="1642244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Lint · Tests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39802" y="2371018"/>
            <a:ext cx="1642244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ruff · pytest unitaires + intégration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74853" y="2250653"/>
            <a:ext cx="133201" cy="2284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12978" y="1788542"/>
            <a:ext cx="1894582" cy="1152674"/>
          </a:xfrm>
          <a:prstGeom prst="roundRect">
            <a:avLst>
              <a:gd name="adj" fmla="val 4958"/>
            </a:avLst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5312978" y="292931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312978" y="1788542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7" name="Shape 25"/>
          <p:cNvSpPr/>
          <p:nvPr/>
        </p:nvSpPr>
        <p:spPr>
          <a:xfrm>
            <a:off x="5312978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6"/>
          <p:cNvSpPr/>
          <p:nvPr/>
        </p:nvSpPr>
        <p:spPr>
          <a:xfrm>
            <a:off x="7195654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Text 27"/>
          <p:cNvSpPr/>
          <p:nvPr/>
        </p:nvSpPr>
        <p:spPr>
          <a:xfrm>
            <a:off x="5477247" y="1983693"/>
            <a:ext cx="16422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477247" y="2183681"/>
            <a:ext cx="1642244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 ML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77247" y="2448409"/>
            <a:ext cx="16422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complet 5 phases (RAG)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2298" y="2250653"/>
            <a:ext cx="133201" cy="2284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Shape 31"/>
          <p:cNvSpPr/>
          <p:nvPr/>
        </p:nvSpPr>
        <p:spPr>
          <a:xfrm>
            <a:off x="7550423" y="1788542"/>
            <a:ext cx="1894582" cy="1152674"/>
          </a:xfrm>
          <a:prstGeom prst="roundRect">
            <a:avLst>
              <a:gd name="adj" fmla="val 4958"/>
            </a:avLst>
          </a:prstGeom>
          <a:solidFill>
            <a:srgbClr val="EFF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7550423" y="292931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3"/>
          <p:cNvSpPr/>
          <p:nvPr/>
        </p:nvSpPr>
        <p:spPr>
          <a:xfrm>
            <a:off x="7550423" y="1788542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7550423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Shape 35"/>
          <p:cNvSpPr/>
          <p:nvPr/>
        </p:nvSpPr>
        <p:spPr>
          <a:xfrm>
            <a:off x="9433099" y="1788542"/>
            <a:ext cx="11906" cy="115267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Text 36"/>
          <p:cNvSpPr/>
          <p:nvPr/>
        </p:nvSpPr>
        <p:spPr>
          <a:xfrm>
            <a:off x="7714692" y="1983693"/>
            <a:ext cx="16422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7714692" y="2183681"/>
            <a:ext cx="1642244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Quality Gate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714692" y="2448409"/>
            <a:ext cx="164224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≥ seuil ? exit 0 / exit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549743" y="2250653"/>
            <a:ext cx="133201" cy="2284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2" name="Shape 40"/>
          <p:cNvSpPr/>
          <p:nvPr/>
        </p:nvSpPr>
        <p:spPr>
          <a:xfrm>
            <a:off x="9787868" y="1721941"/>
            <a:ext cx="1566044" cy="595313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787868" y="2305348"/>
            <a:ext cx="156604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Shape 42"/>
          <p:cNvSpPr/>
          <p:nvPr/>
        </p:nvSpPr>
        <p:spPr>
          <a:xfrm>
            <a:off x="9787868" y="1721941"/>
            <a:ext cx="156604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5" name="Shape 43"/>
          <p:cNvSpPr/>
          <p:nvPr/>
        </p:nvSpPr>
        <p:spPr>
          <a:xfrm>
            <a:off x="9787868" y="1721941"/>
            <a:ext cx="23813" cy="5953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42005" y="1721941"/>
            <a:ext cx="11906" cy="59531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7" name="Shape 45"/>
          <p:cNvSpPr/>
          <p:nvPr/>
        </p:nvSpPr>
        <p:spPr>
          <a:xfrm>
            <a:off x="9944881" y="1913744"/>
            <a:ext cx="619125" cy="211708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/>
        </p:spPr>
      </p:sp>
      <p:sp>
        <p:nvSpPr>
          <p:cNvPr id="48" name="Text 46"/>
          <p:cNvSpPr/>
          <p:nvPr/>
        </p:nvSpPr>
        <p:spPr>
          <a:xfrm>
            <a:off x="10040131" y="1942319"/>
            <a:ext cx="504825" cy="192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59256" y="1829098"/>
            <a:ext cx="6257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 API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87868" y="2412504"/>
            <a:ext cx="1566044" cy="595313"/>
          </a:xfrm>
          <a:prstGeom prst="roundRect">
            <a:avLst>
              <a:gd name="adj" fmla="val 4800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787868" y="2995910"/>
            <a:ext cx="1566044" cy="11906"/>
          </a:xfrm>
          <a:prstGeom prst="rect">
            <a:avLst/>
          </a:prstGeom>
          <a:solidFill>
            <a:srgbClr val="E4E4E4">
              <a:alpha val="7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787868" y="2412504"/>
            <a:ext cx="1566044" cy="11906"/>
          </a:xfrm>
          <a:prstGeom prst="rect">
            <a:avLst/>
          </a:prstGeom>
          <a:solidFill>
            <a:srgbClr val="E4E4E4">
              <a:alpha val="7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787868" y="2412504"/>
            <a:ext cx="23813" cy="595313"/>
          </a:xfrm>
          <a:prstGeom prst="rect">
            <a:avLst/>
          </a:prstGeom>
          <a:solidFill>
            <a:srgbClr val="DC3545">
              <a:alpha val="7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342005" y="2412504"/>
            <a:ext cx="11906" cy="595313"/>
          </a:xfrm>
          <a:prstGeom prst="rect">
            <a:avLst/>
          </a:prstGeom>
          <a:solidFill>
            <a:srgbClr val="E4E4E4">
              <a:alpha val="7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44881" y="2604306"/>
            <a:ext cx="626938" cy="211708"/>
          </a:xfrm>
          <a:prstGeom prst="roundRect">
            <a:avLst>
              <a:gd name="adj" fmla="val 50000"/>
            </a:avLst>
          </a:prstGeom>
          <a:solidFill>
            <a:srgbClr val="FBE7E9"/>
          </a:solidFill>
          <a:ln/>
        </p:spPr>
      </p:sp>
      <p:sp>
        <p:nvSpPr>
          <p:cNvPr id="56" name="Text 54"/>
          <p:cNvSpPr/>
          <p:nvPr/>
        </p:nvSpPr>
        <p:spPr>
          <a:xfrm>
            <a:off x="10040131" y="2632881"/>
            <a:ext cx="512638" cy="192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FAIL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67070" y="2519660"/>
            <a:ext cx="6179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Bloqué — alerte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8088" y="3266219"/>
            <a:ext cx="10515823" cy="475878"/>
          </a:xfrm>
          <a:prstGeom prst="roundRect">
            <a:avLst>
              <a:gd name="adj" fmla="val 12009"/>
            </a:avLst>
          </a:prstGeom>
          <a:solidFill>
            <a:srgbClr val="F4F4F4"/>
          </a:solidFill>
          <a:ln/>
        </p:spPr>
      </p:sp>
      <p:sp>
        <p:nvSpPr>
          <p:cNvPr id="59" name="Shape 57"/>
          <p:cNvSpPr/>
          <p:nvPr/>
        </p:nvSpPr>
        <p:spPr>
          <a:xfrm>
            <a:off x="838088" y="3730191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0" name="Shape 58"/>
          <p:cNvSpPr/>
          <p:nvPr/>
        </p:nvSpPr>
        <p:spPr>
          <a:xfrm>
            <a:off x="838088" y="326621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1" name="Shape 59"/>
          <p:cNvSpPr/>
          <p:nvPr/>
        </p:nvSpPr>
        <p:spPr>
          <a:xfrm>
            <a:off x="838088" y="3266219"/>
            <a:ext cx="23813" cy="475878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342005" y="3266219"/>
            <a:ext cx="11906" cy="47587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33239" y="3392351"/>
            <a:ext cx="465832" cy="223614"/>
          </a:xfrm>
          <a:prstGeom prst="roundRect">
            <a:avLst>
              <a:gd name="adj" fmla="val 8519"/>
            </a:avLst>
          </a:prstGeom>
          <a:solidFill>
            <a:srgbClr val="F0F0F0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0396" y="3432832"/>
            <a:ext cx="327720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1613297" y="3426768"/>
            <a:ext cx="925353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Cette partie n'est pas encore implémentée — contraintes de ressources (runner CI, temps de run pipeline ML en environnement isolé).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38088" y="6417469"/>
            <a:ext cx="32743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7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"/>
          <p:cNvSpPr txBox="1">
            <a:spLocks noGrp="1"/>
          </p:cNvSpPr>
          <p:nvPr>
            <p:ph type="body" idx="1"/>
          </p:nvPr>
        </p:nvSpPr>
        <p:spPr>
          <a:xfrm>
            <a:off x="0" y="4337260"/>
            <a:ext cx="12192000" cy="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33" tIns="30467" rIns="60933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ct val="100000"/>
              <a:buNone/>
            </a:pPr>
            <a:r>
              <a:rPr lang="fr" sz="4000">
                <a:solidFill>
                  <a:schemeClr val="bg1"/>
                </a:solidFill>
              </a:rPr>
              <a:t>Merci pour votre attention</a:t>
            </a:r>
            <a:endParaRPr lang="en-US" sz="4000">
              <a:solidFill>
                <a:schemeClr val="bg1"/>
              </a:solidFill>
            </a:endParaRPr>
          </a:p>
        </p:txBody>
      </p:sp>
      <p:pic>
        <p:nvPicPr>
          <p:cNvPr id="346" name="Google Shape;346;p29" descr="Guillemet fermé avec un remplissage uni"/>
          <p:cNvPicPr preferRelativeResize="0"/>
          <p:nvPr/>
        </p:nvPicPr>
        <p:blipFill rotWithShape="1">
          <a:blip r:embed="rId3">
            <a:alphaModFix/>
          </a:blip>
          <a:srcRect b="26767"/>
          <a:stretch/>
        </p:blipFill>
        <p:spPr>
          <a:xfrm>
            <a:off x="4798300" y="1844299"/>
            <a:ext cx="2595000" cy="1900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81724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112</cp:revision>
  <dcterms:created xsi:type="dcterms:W3CDTF">2026-06-10T15:41:56Z</dcterms:created>
  <dcterms:modified xsi:type="dcterms:W3CDTF">2026-06-10T16:16:39Z</dcterms:modified>
</cp:coreProperties>
</file>