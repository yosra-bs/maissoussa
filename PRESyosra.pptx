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9"/>
  </p:notesMasterIdLst>
  <p:sldIdLst>
    <p:sldId id="256" r:id="rId5"/>
    <p:sldId id="584" r:id="rId6"/>
    <p:sldId id="257" r:id="rId7"/>
    <p:sldId id="583" r:id="rId8"/>
    <p:sldId id="582" r:id="rId9"/>
    <p:sldId id="585" r:id="rId10"/>
    <p:sldId id="474" r:id="rId11"/>
    <p:sldId id="475" r:id="rId12"/>
    <p:sldId id="476" r:id="rId13"/>
    <p:sldId id="477" r:id="rId14"/>
    <p:sldId id="586" r:id="rId15"/>
    <p:sldId id="263" r:id="rId16"/>
    <p:sldId id="286" r:id="rId17"/>
    <p:sldId id="264" r:id="rId18"/>
    <p:sldId id="478" r:id="rId19"/>
    <p:sldId id="266" r:id="rId20"/>
    <p:sldId id="479" r:id="rId21"/>
    <p:sldId id="288" r:id="rId22"/>
    <p:sldId id="267" r:id="rId23"/>
    <p:sldId id="577" r:id="rId24"/>
    <p:sldId id="578" r:id="rId25"/>
    <p:sldId id="579" r:id="rId26"/>
    <p:sldId id="580" r:id="rId27"/>
    <p:sldId id="587" r:id="rId28"/>
    <p:sldId id="269" r:id="rId29"/>
    <p:sldId id="270" r:id="rId30"/>
    <p:sldId id="588" r:id="rId31"/>
    <p:sldId id="480" r:id="rId32"/>
    <p:sldId id="576" r:id="rId33"/>
    <p:sldId id="273" r:id="rId34"/>
    <p:sldId id="274" r:id="rId35"/>
    <p:sldId id="292" r:id="rId36"/>
    <p:sldId id="275" r:id="rId37"/>
    <p:sldId id="294" r:id="rId38"/>
    <p:sldId id="276" r:id="rId39"/>
    <p:sldId id="295" r:id="rId40"/>
    <p:sldId id="278" r:id="rId41"/>
    <p:sldId id="279" r:id="rId42"/>
    <p:sldId id="296" r:id="rId43"/>
    <p:sldId id="281" r:id="rId44"/>
    <p:sldId id="282" r:id="rId45"/>
    <p:sldId id="283" r:id="rId46"/>
    <p:sldId id="284" r:id="rId47"/>
    <p:sldId id="285" r:id="rId4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D248"/>
    <a:srgbClr val="FBFBFB"/>
    <a:srgbClr val="30C1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3987" autoAdjust="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5098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8b3edbf15e_2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8b3edbf15e_2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 err="1"/>
              <a:t>Voici</a:t>
            </a:r>
            <a:r>
              <a:rPr lang="en-US" dirty="0"/>
              <a:t> le plan de la presentation</a:t>
            </a:r>
          </a:p>
          <a:p>
            <a:r>
              <a:rPr lang="en-US" dirty="0"/>
              <a:t>Je commence par le </a:t>
            </a:r>
            <a:r>
              <a:rPr lang="en-US" dirty="0" err="1"/>
              <a:t>contexte</a:t>
            </a:r>
            <a:r>
              <a:rPr lang="en-US" dirty="0"/>
              <a:t> et la </a:t>
            </a:r>
            <a:r>
              <a:rPr lang="en-US" dirty="0" err="1"/>
              <a:t>problématique</a:t>
            </a:r>
            <a:r>
              <a:rPr lang="en-US" dirty="0"/>
              <a:t>. Ensuite la </a:t>
            </a:r>
            <a:r>
              <a:rPr lang="en-US" dirty="0" err="1"/>
              <a:t>méthodologie</a:t>
            </a:r>
            <a:r>
              <a:rPr lang="en-US" dirty="0"/>
              <a:t> et la solution </a:t>
            </a:r>
            <a:r>
              <a:rPr lang="en-US" dirty="0" err="1"/>
              <a:t>proposée</a:t>
            </a:r>
            <a:r>
              <a:rPr lang="en-US" dirty="0"/>
              <a:t>.</a:t>
            </a:r>
          </a:p>
          <a:p>
            <a:r>
              <a:rPr lang="en-US" dirty="0" err="1"/>
              <a:t>Puis</a:t>
            </a:r>
            <a:r>
              <a:rPr lang="en-US" dirty="0"/>
              <a:t> je </a:t>
            </a:r>
            <a:r>
              <a:rPr lang="en-US" dirty="0" err="1"/>
              <a:t>détaille</a:t>
            </a:r>
            <a:r>
              <a:rPr lang="en-US" dirty="0"/>
              <a:t> les quatre phases </a:t>
            </a:r>
            <a:r>
              <a:rPr lang="en-US" dirty="0" err="1"/>
              <a:t>principales</a:t>
            </a:r>
            <a:r>
              <a:rPr lang="en-US" dirty="0"/>
              <a:t> du </a:t>
            </a:r>
            <a:r>
              <a:rPr lang="en-US" dirty="0" err="1"/>
              <a:t>système</a:t>
            </a:r>
            <a:r>
              <a:rPr lang="en-US" dirty="0"/>
              <a:t>.</a:t>
            </a:r>
          </a:p>
          <a:p>
            <a:r>
              <a:rPr lang="en-US" dirty="0"/>
              <a:t>Et Je </a:t>
            </a:r>
            <a:r>
              <a:rPr lang="en-US" dirty="0" err="1"/>
              <a:t>termine</a:t>
            </a:r>
            <a:r>
              <a:rPr lang="en-US" dirty="0"/>
              <a:t> par les technologies </a:t>
            </a:r>
            <a:r>
              <a:rPr lang="en-US" dirty="0" err="1"/>
              <a:t>utilisées</a:t>
            </a:r>
            <a:r>
              <a:rPr lang="en-US" dirty="0"/>
              <a:t>,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démonstration</a:t>
            </a:r>
            <a:r>
              <a:rPr lang="en-US" dirty="0"/>
              <a:t> et conclusion et perspectives.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A6F59-50F0-F395-482C-692BD5E15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98F7BF-D5CF-40FD-3F8F-32D505B40F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A68F95-261C-59BA-26F8-3DF9E78F02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4ECB6-71A9-09B1-C452-DEA251B633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454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fr-TN" dirty="0"/>
              <a:t>Avant de vous présenter ce que j'ai construit, je veux partir d'un chiffre qui résume bien l'enjeu de mon projet.</a:t>
            </a:r>
          </a:p>
          <a:p>
            <a:r>
              <a:rPr lang="fr-TN" dirty="0"/>
              <a:t>En 2019, Deborah Leff, alors CTO Data Science et IA chez IBM, citait un constat devenu emblématique dans le monde du machine </a:t>
            </a:r>
            <a:r>
              <a:rPr lang="fr-TN" dirty="0" err="1"/>
              <a:t>learning</a:t>
            </a:r>
            <a:r>
              <a:rPr lang="fr-TN" dirty="0"/>
              <a:t> : sur dix projets de data science lancés en entreprise, à peine plus d'un atteint réellement la production. Autrement dit, environ 87% des projets restent bloqués au stade de l'expérimentation.</a:t>
            </a:r>
          </a:p>
          <a:p>
            <a:r>
              <a:rPr lang="fr-TN" dirty="0"/>
              <a:t>Mon projet s'attaque directement à cet écart.</a:t>
            </a:r>
            <a:endParaRPr lang="fr-FR" dirty="0"/>
          </a:p>
          <a:p>
            <a:r>
              <a:rPr lang="fr-FR" dirty="0"/>
              <a:t>Et c</a:t>
            </a:r>
            <a:r>
              <a:rPr lang="fr-TN" dirty="0"/>
              <a:t>'est ce que je vais vous présenter aujourd'hui</a:t>
            </a:r>
          </a:p>
        </p:txBody>
      </p:sp>
    </p:spTree>
    <p:extLst>
      <p:ext uri="{BB962C8B-B14F-4D97-AF65-F5344CB8AC3E}">
        <p14:creationId xmlns:p14="http://schemas.microsoft.com/office/powerpoint/2010/main" val="13761450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01AFF-D12C-EBD1-EE09-7FDE387F6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A907E6-0C07-4AA6-29F2-1559AD20DD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75B1B7-D8A5-1746-E8AC-9F988CE1D4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5CF375-9E62-AD70-FFFC-C00177ACE9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1271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4587C-0A7E-B7E4-A9C5-711CD38BF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EF30FA-1459-24A5-A90E-1424704251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1BB2AF-BFF5-9ED2-8562-12757711D6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514858-9861-A4DA-23D8-7EC1C2CAE2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3066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2881F-EB59-4E64-A9FB-162EBAFAB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33F291-FE47-4651-7AB3-7355F97704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3B3311-E551-0F4E-DC9E-2315AC559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F263A-7B4D-ECED-11DE-C5C10B5DEE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0987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F3287-DAA8-F0CD-0A24-FE661B44A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823A38-E9A1-8079-D9E4-F52EB531E6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E64A85-08D8-22B4-9FE5-2CD9B5935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896E0-0994-9A33-5DD9-2A2902FA14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0850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6BD49-6349-3BFC-6964-9355BEA16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8A6029-35B6-E8AE-8D7B-02BDFCB8D9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B70B49-1AAC-A4E8-2C7F-15A91577DF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5B9B0-34EB-E308-8D9D-4395336012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50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BFE3F-E252-C4F5-9881-6B218E637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BEFFC8-1D2D-CC96-4D04-C6B0B4D64B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F50606-983A-9962-B265-0B633D0007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99EB81-C684-51B9-0BA4-4FC2B29DBF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45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6B168-962D-912E-6F46-5D9DA5055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32AACC-9800-C1B4-B373-0A94B39EB5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A528BE-8999-B029-1DC0-B0B3323E34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4EFC68-AACA-B3E6-D85A-254035A494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3682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4889E-EE08-A86D-80DC-BDFAF267C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BE8BA4-1FEA-27DD-DB64-F3B1C0F6A9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66256E-CDEA-961B-6347-BA343830B7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092F9-4378-8FEC-9244-C27B62D7C3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7847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88043-6514-6E0F-0C87-1A8CA8870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7254C5-01B9-D5DB-47F5-3038C5BB25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B4509B-1F3D-756B-8AB6-527C218113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A1E58-EC3C-4EBC-E616-AF495B4811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3774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AB8B6-90A5-D18F-172D-0A4E95879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72685A-DEE7-A16D-7D53-4093A6C1BF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4D7656-A279-4570-F9B1-6FFC5A9386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1F134-9557-C410-A833-CBF4860BE3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3040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A10D6-4656-02C5-0806-2AF272A63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84FC12-6A01-24C4-9053-63E78035B2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7A6AFD-1F50-9919-C592-D908406351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C576EF-2543-DABF-D024-A827AB214A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2906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7E935-47EE-FE05-3DEF-0A18C23CB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2A1AA8-4C80-4B0F-A2B6-525825CFF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D009E1-8574-178B-73B3-88D054B86D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09FDE-1524-AD5D-CF91-4E4717E240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056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8FC27-EDC9-AF54-9C03-63CAC417D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005B96-4F1B-6618-F98B-69F1F158BE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943C4F-06D1-790C-5F95-BAEAB6896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29ECF-20E0-D23E-3B69-0436A02B84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72262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1E34D-51B0-8257-1B66-2296A38A2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365BAB-9C22-0147-323E-8DD66D9356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043B2F-AA51-86B9-869E-5A2BCCE762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6483D-A62B-3A99-5B60-1FEB59B161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2319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5131A7-1D70-438C-8AFE-90D9BDC89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4E017-3D96-4783-AE0C-9BBDC8B4076A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804C7D-CE61-44B4-B46A-E011591DE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8F9C4-D35F-45F7-8CF5-C5414916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90115-0C42-4937-9B8A-1DB9EDFA283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359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8523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5.pn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1.png"/><Relationship Id="rId4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2.pn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fr-TN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0201" y="2000250"/>
            <a:ext cx="1428750" cy="2857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4750" y="2000250"/>
            <a:ext cx="1428750" cy="28575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>
            <a:alphaModFix amt="95000"/>
          </a:blip>
          <a:stretch>
            <a:fillRect/>
          </a:stretch>
        </p:blipFill>
        <p:spPr>
          <a:xfrm>
            <a:off x="838088" y="609451"/>
            <a:ext cx="325562" cy="28575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9291898" y="674936"/>
            <a:ext cx="226821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98" dirty="0">
                <a:solidFill>
                  <a:srgbClr val="BDD248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PROJET DE FIN D'ÉTUDES</a:t>
            </a:r>
            <a:endParaRPr lang="en-US" sz="90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088" y="1903140"/>
            <a:ext cx="123713" cy="171338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076027" y="1905372"/>
            <a:ext cx="3295799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9AA5B8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MLOPS · INDUSTRIALISATION ML &amp; LLM</a:t>
            </a:r>
            <a:endParaRPr lang="en-US" sz="975" dirty="0"/>
          </a:p>
        </p:txBody>
      </p:sp>
      <p:sp>
        <p:nvSpPr>
          <p:cNvPr id="9" name="Text 3"/>
          <p:cNvSpPr/>
          <p:nvPr/>
        </p:nvSpPr>
        <p:spPr>
          <a:xfrm>
            <a:off x="838088" y="2264978"/>
            <a:ext cx="7248075" cy="12659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b="1" kern="0" spc="-116" dirty="0">
                <a:solidFill>
                  <a:srgbClr val="FFFFF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Pipeline MLOps locale et </a:t>
            </a:r>
            <a:r>
              <a:rPr lang="en-US" sz="4650" b="1" kern="0" spc="-116" dirty="0">
                <a:solidFill>
                  <a:srgbClr val="BDD248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générique</a:t>
            </a:r>
            <a:endParaRPr lang="en-US" sz="4650" dirty="0"/>
          </a:p>
        </p:txBody>
      </p:sp>
      <p:sp>
        <p:nvSpPr>
          <p:cNvPr id="10" name="Shape 4"/>
          <p:cNvSpPr/>
          <p:nvPr/>
        </p:nvSpPr>
        <p:spPr>
          <a:xfrm>
            <a:off x="838088" y="3778560"/>
            <a:ext cx="762000" cy="57113"/>
          </a:xfrm>
          <a:prstGeom prst="roundRect">
            <a:avLst>
              <a:gd name="adj" fmla="val 50000"/>
            </a:avLst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1" name="Text 5"/>
          <p:cNvSpPr/>
          <p:nvPr/>
        </p:nvSpPr>
        <p:spPr>
          <a:xfrm>
            <a:off x="838088" y="4045148"/>
            <a:ext cx="5408176" cy="5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E6E9E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Un socle d'industrialisation pour modèles ML et LLM, 100 % local.</a:t>
            </a:r>
            <a:endParaRPr lang="en-US" sz="1575" dirty="0"/>
          </a:p>
        </p:txBody>
      </p:sp>
      <p:sp>
        <p:nvSpPr>
          <p:cNvPr id="12" name="Shape 6"/>
          <p:cNvSpPr/>
          <p:nvPr/>
        </p:nvSpPr>
        <p:spPr>
          <a:xfrm>
            <a:off x="838088" y="5612867"/>
            <a:ext cx="10515823" cy="11906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3" name="Text 7"/>
          <p:cNvSpPr/>
          <p:nvPr/>
        </p:nvSpPr>
        <p:spPr>
          <a:xfrm>
            <a:off x="838088" y="6081861"/>
            <a:ext cx="4787931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BDD248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Projet de Fin d'Études · ACTIA Engineering Services</a:t>
            </a: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7353226" y="5834249"/>
            <a:ext cx="1337723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kern="0" spc="105" dirty="0">
                <a:solidFill>
                  <a:srgbClr val="9AA5B8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ÉTUDIANTE</a:t>
            </a:r>
            <a:endParaRPr lang="en-US" sz="750" dirty="0"/>
          </a:p>
        </p:txBody>
      </p:sp>
      <p:sp>
        <p:nvSpPr>
          <p:cNvPr id="15" name="Text 9"/>
          <p:cNvSpPr/>
          <p:nvPr/>
        </p:nvSpPr>
        <p:spPr>
          <a:xfrm>
            <a:off x="7251626" y="5991412"/>
            <a:ext cx="1337723" cy="216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Yosra Ben Salha</a:t>
            </a:r>
            <a:endParaRPr lang="en-US" sz="1275" dirty="0"/>
          </a:p>
        </p:txBody>
      </p:sp>
      <p:sp>
        <p:nvSpPr>
          <p:cNvPr id="16" name="Text 10"/>
          <p:cNvSpPr/>
          <p:nvPr/>
        </p:nvSpPr>
        <p:spPr>
          <a:xfrm>
            <a:off x="9007450" y="5834249"/>
            <a:ext cx="162831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kern="0" spc="105" dirty="0">
                <a:solidFill>
                  <a:srgbClr val="9AA5B8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ENCADRANTE ENTREPRISE</a:t>
            </a:r>
            <a:endParaRPr lang="en-US" sz="750" dirty="0"/>
          </a:p>
        </p:txBody>
      </p:sp>
      <p:sp>
        <p:nvSpPr>
          <p:cNvPr id="17" name="Text 11"/>
          <p:cNvSpPr/>
          <p:nvPr/>
        </p:nvSpPr>
        <p:spPr>
          <a:xfrm>
            <a:off x="9007450" y="6010424"/>
            <a:ext cx="1628310" cy="216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Lyna Attalah</a:t>
            </a:r>
            <a:endParaRPr lang="en-US" sz="1275" dirty="0"/>
          </a:p>
        </p:txBody>
      </p:sp>
      <p:sp>
        <p:nvSpPr>
          <p:cNvPr id="18" name="Text 12"/>
          <p:cNvSpPr/>
          <p:nvPr/>
        </p:nvSpPr>
        <p:spPr>
          <a:xfrm>
            <a:off x="10925845" y="5834249"/>
            <a:ext cx="504267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kern="0" spc="105" dirty="0">
                <a:solidFill>
                  <a:srgbClr val="9AA5B8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ANNÉE</a:t>
            </a:r>
            <a:endParaRPr lang="en-US" sz="750" dirty="0"/>
          </a:p>
        </p:txBody>
      </p:sp>
      <p:sp>
        <p:nvSpPr>
          <p:cNvPr id="19" name="Text 13"/>
          <p:cNvSpPr/>
          <p:nvPr/>
        </p:nvSpPr>
        <p:spPr>
          <a:xfrm>
            <a:off x="10925845" y="6010424"/>
            <a:ext cx="50426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BDD248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2026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TN"/>
          </a:p>
        </p:txBody>
      </p:sp>
      <p:sp>
        <p:nvSpPr>
          <p:cNvPr id="82" name="Google Shape;82;p17"/>
          <p:cNvSpPr/>
          <p:nvPr/>
        </p:nvSpPr>
        <p:spPr>
          <a:xfrm rot="21417970">
            <a:off x="-5762780" y="-8262472"/>
            <a:ext cx="17169063" cy="17059021"/>
          </a:xfrm>
          <a:custGeom>
            <a:avLst/>
            <a:gdLst/>
            <a:ahLst/>
            <a:cxnLst/>
            <a:rect l="l" t="t" r="r" b="b"/>
            <a:pathLst>
              <a:path w="5143500" h="5049838" extrusionOk="0">
                <a:moveTo>
                  <a:pt x="0" y="5049838"/>
                </a:moveTo>
                <a:lnTo>
                  <a:pt x="3181350" y="0"/>
                </a:lnTo>
                <a:lnTo>
                  <a:pt x="5143500" y="5049838"/>
                </a:lnTo>
                <a:lnTo>
                  <a:pt x="0" y="5049838"/>
                </a:lnTo>
                <a:close/>
              </a:path>
            </a:pathLst>
          </a:custGeom>
          <a:solidFill>
            <a:srgbClr val="BDD248">
              <a:alpha val="81180"/>
            </a:srgbClr>
          </a:solidFill>
          <a:ln>
            <a:noFill/>
          </a:ln>
        </p:spPr>
        <p:txBody>
          <a:bodyPr spcFirstLastPara="1" wrap="square" lIns="60933" tIns="30467" rIns="60933" bIns="30467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7"/>
          <p:cNvSpPr/>
          <p:nvPr/>
        </p:nvSpPr>
        <p:spPr>
          <a:xfrm rot="5860633">
            <a:off x="-8212503" y="-4151325"/>
            <a:ext cx="12577152" cy="17052217"/>
          </a:xfrm>
          <a:custGeom>
            <a:avLst/>
            <a:gdLst/>
            <a:ahLst/>
            <a:cxnLst/>
            <a:rect l="l" t="t" r="r" b="b"/>
            <a:pathLst>
              <a:path w="5143500" h="5049838" extrusionOk="0">
                <a:moveTo>
                  <a:pt x="0" y="5049838"/>
                </a:moveTo>
                <a:lnTo>
                  <a:pt x="3181350" y="0"/>
                </a:lnTo>
                <a:lnTo>
                  <a:pt x="5143500" y="5049838"/>
                </a:lnTo>
                <a:lnTo>
                  <a:pt x="0" y="5049838"/>
                </a:lnTo>
                <a:close/>
              </a:path>
            </a:pathLst>
          </a:custGeom>
          <a:solidFill>
            <a:srgbClr val="BDD248"/>
          </a:solidFill>
          <a:ln>
            <a:noFill/>
          </a:ln>
        </p:spPr>
        <p:txBody>
          <a:bodyPr spcFirstLastPara="1" wrap="square" lIns="60933" tIns="30467" rIns="60933" bIns="30467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7"/>
          <p:cNvSpPr txBox="1">
            <a:spLocks noGrp="1"/>
          </p:cNvSpPr>
          <p:nvPr>
            <p:ph type="body" idx="4294967295"/>
          </p:nvPr>
        </p:nvSpPr>
        <p:spPr>
          <a:xfrm>
            <a:off x="796900" y="1765233"/>
            <a:ext cx="7015600" cy="2268400"/>
          </a:xfrm>
          <a:prstGeom prst="rect">
            <a:avLst/>
          </a:prstGeom>
          <a:noFill/>
          <a:ln>
            <a:noFill/>
          </a:ln>
          <a:effectLst>
            <a:outerShdw blurRad="142875" dist="19050" dir="5400000" algn="bl" rotWithShape="0">
              <a:srgbClr val="274E13">
                <a:alpha val="49000"/>
              </a:srgbClr>
            </a:outerShdw>
          </a:effectLst>
        </p:spPr>
        <p:txBody>
          <a:bodyPr spcFirstLastPara="1" wrap="square" lIns="60933" tIns="30467" rIns="60933" bIns="30467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None/>
            </a:pPr>
            <a:r>
              <a:rPr lang="fr" sz="4667" dirty="0">
                <a:solidFill>
                  <a:srgbClr val="F2F2F2"/>
                </a:solidFill>
                <a:latin typeface="Arial" panose="020B0604020202020204" pitchFamily="34" charset="0"/>
                <a:ea typeface="Nunito ExtraBold"/>
                <a:cs typeface="Arial" panose="020B0604020202020204" pitchFamily="34" charset="0"/>
                <a:sym typeface="Nunito ExtraBold"/>
              </a:rPr>
              <a:t>Pipeline MLOps Locale et Gestion efficace des modèles de machine learning</a:t>
            </a:r>
            <a:endParaRPr sz="4533" dirty="0">
              <a:solidFill>
                <a:srgbClr val="F2F2F2"/>
              </a:solidFill>
              <a:latin typeface="Arial" panose="020B0604020202020204" pitchFamily="34" charset="0"/>
              <a:ea typeface="Nunito ExtraBold"/>
              <a:cs typeface="Arial" panose="020B0604020202020204" pitchFamily="34" charset="0"/>
              <a:sym typeface="Nunito ExtraBold"/>
            </a:endParaRPr>
          </a:p>
        </p:txBody>
      </p:sp>
      <p:sp>
        <p:nvSpPr>
          <p:cNvPr id="85" name="Google Shape;85;p17"/>
          <p:cNvSpPr txBox="1">
            <a:spLocks noGrp="1"/>
          </p:cNvSpPr>
          <p:nvPr>
            <p:ph type="body" idx="4294967295"/>
          </p:nvPr>
        </p:nvSpPr>
        <p:spPr>
          <a:xfrm>
            <a:off x="1118876" y="5022324"/>
            <a:ext cx="6782400" cy="7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33" tIns="30467" rIns="60933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None/>
            </a:pPr>
            <a:r>
              <a:rPr lang="fr" sz="2100" dirty="0">
                <a:latin typeface="Arial" panose="020B0604020202020204" pitchFamily="34" charset="0"/>
                <a:ea typeface="Nunito SemiBold"/>
                <a:cs typeface="Arial" panose="020B0604020202020204" pitchFamily="34" charset="0"/>
                <a:sym typeface="Nunito SemiBold"/>
              </a:rPr>
              <a:t>Réalisé par : </a:t>
            </a:r>
            <a:r>
              <a:rPr lang="fr" sz="2100" dirty="0">
                <a:latin typeface="Arial" panose="020B0604020202020204" pitchFamily="34" charset="0"/>
                <a:ea typeface="Nunito Black"/>
                <a:cs typeface="Arial" panose="020B0604020202020204" pitchFamily="34" charset="0"/>
                <a:sym typeface="Nunito Black"/>
              </a:rPr>
              <a:t>Yosra </a:t>
            </a:r>
            <a:r>
              <a:rPr lang="fr" sz="2100" b="1" dirty="0">
                <a:latin typeface="Arial" panose="020B0604020202020204" pitchFamily="34" charset="0"/>
                <a:ea typeface="Nunito SemiBold"/>
                <a:cs typeface="Arial" panose="020B0604020202020204" pitchFamily="34" charset="0"/>
                <a:sym typeface="Nunito SemiBold"/>
              </a:rPr>
              <a:t>Ben Salha</a:t>
            </a:r>
            <a:endParaRPr lang="en-US" sz="2100" b="1" dirty="0">
              <a:latin typeface="Arial" panose="020B0604020202020204" pitchFamily="34" charset="0"/>
              <a:ea typeface="Nunito SemiBold"/>
              <a:cs typeface="Arial" panose="020B0604020202020204" pitchFamily="34" charset="0"/>
            </a:endParaRPr>
          </a:p>
          <a:p>
            <a:pPr marL="1523962" lvl="0" indent="304792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None/>
            </a:pPr>
            <a:endParaRPr sz="2133" dirty="0">
              <a:latin typeface="Arial" panose="020B0604020202020204" pitchFamily="34" charset="0"/>
              <a:ea typeface="Nunito SemiBold"/>
              <a:cs typeface="Arial" panose="020B0604020202020204" pitchFamily="34" charset="0"/>
              <a:sym typeface="Nunito SemiBold"/>
            </a:endParaRPr>
          </a:p>
          <a:p>
            <a:pPr marL="0" indent="0">
              <a:lnSpc>
                <a:spcPct val="70000"/>
              </a:lnSpc>
              <a:buClr>
                <a:srgbClr val="3F3F3F"/>
              </a:buClr>
              <a:buSzPts val="3600"/>
              <a:buNone/>
            </a:pPr>
            <a:r>
              <a:rPr lang="fr" sz="2100" dirty="0">
                <a:latin typeface="Arial" panose="020B0604020202020204" pitchFamily="34" charset="0"/>
                <a:ea typeface="Nunito SemiBold"/>
                <a:cs typeface="Arial" panose="020B0604020202020204" pitchFamily="34" charset="0"/>
                <a:sym typeface="Nunito SemiBold"/>
              </a:rPr>
              <a:t>Supervisé par : Lyna Attalah et </a:t>
            </a:r>
            <a:r>
              <a:rPr lang="fr" sz="2100" dirty="0" err="1">
                <a:latin typeface="Arial" panose="020B0604020202020204" pitchFamily="34" charset="0"/>
                <a:ea typeface="Nunito SemiBold"/>
                <a:cs typeface="Arial" panose="020B0604020202020204" pitchFamily="34" charset="0"/>
                <a:sym typeface="Nunito SemiBold"/>
              </a:rPr>
              <a:t>Ibtissem</a:t>
            </a:r>
            <a:r>
              <a:rPr lang="fr" sz="2100" dirty="0">
                <a:latin typeface="Arial" panose="020B0604020202020204" pitchFamily="34" charset="0"/>
                <a:ea typeface="Nunito SemiBold"/>
                <a:cs typeface="Arial" panose="020B0604020202020204" pitchFamily="34" charset="0"/>
                <a:sym typeface="Nunito SemiBold"/>
              </a:rPr>
              <a:t> </a:t>
            </a:r>
            <a:r>
              <a:rPr lang="fr" sz="2100" dirty="0" err="1">
                <a:latin typeface="Arial" panose="020B0604020202020204" pitchFamily="34" charset="0"/>
                <a:ea typeface="Nunito SemiBold"/>
                <a:cs typeface="Arial" panose="020B0604020202020204" pitchFamily="34" charset="0"/>
                <a:sym typeface="Nunito SemiBold"/>
              </a:rPr>
              <a:t>maalouche</a:t>
            </a:r>
            <a:endParaRPr sz="2133" dirty="0" err="1">
              <a:latin typeface="Arial" panose="020B0604020202020204" pitchFamily="34" charset="0"/>
              <a:ea typeface="Nunito SemiBold"/>
              <a:cs typeface="Arial" panose="020B0604020202020204" pitchFamily="34" charset="0"/>
            </a:endParaRPr>
          </a:p>
        </p:txBody>
      </p:sp>
      <p:pic>
        <p:nvPicPr>
          <p:cNvPr id="86" name="Google Shape;86;p17" descr="Une image contenant Graphique, capture d’écran, Police, graphisme&#10;&#10;Description générée automatiquemen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52000" y="461033"/>
            <a:ext cx="2196733" cy="4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/>
          <p:nvPr/>
        </p:nvSpPr>
        <p:spPr>
          <a:xfrm>
            <a:off x="1062471" y="5000039"/>
            <a:ext cx="56400" cy="7488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88" name="Google Shape;88;p1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733" dirty="0">
                <a:latin typeface="Arial" panose="020B0604020202020204" pitchFamily="34" charset="0"/>
                <a:ea typeface="Nunito Black"/>
                <a:cs typeface="Arial" panose="020B0604020202020204" pitchFamily="34" charset="0"/>
                <a:sym typeface="Nunito Black"/>
              </a:rPr>
              <a:t>1</a:t>
            </a:r>
            <a:endParaRPr sz="1733" dirty="0">
              <a:latin typeface="Arial" panose="020B0604020202020204" pitchFamily="34" charset="0"/>
              <a:ea typeface="Nunito Black"/>
              <a:cs typeface="Arial" panose="020B0604020202020204" pitchFamily="34" charset="0"/>
              <a:sym typeface="Nunito Black"/>
            </a:endParaRPr>
          </a:p>
        </p:txBody>
      </p:sp>
    </p:spTree>
    <p:extLst>
      <p:ext uri="{BB962C8B-B14F-4D97-AF65-F5344CB8AC3E}">
        <p14:creationId xmlns:p14="http://schemas.microsoft.com/office/powerpoint/2010/main" val="2668597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753363" y="1042038"/>
            <a:ext cx="4616127" cy="5371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20"/>
              </a:lnSpc>
            </a:pPr>
            <a:r>
              <a:rPr lang="en-US" sz="7200" dirty="0">
                <a:solidFill>
                  <a:schemeClr val="accent3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Plan</a:t>
            </a:r>
            <a:endParaRPr lang="en-US" sz="7200" b="1" dirty="0">
              <a:solidFill>
                <a:schemeClr val="accent3">
                  <a:lumMod val="50000"/>
                </a:schemeClr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389513" y="2443016"/>
            <a:ext cx="149492" cy="228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90"/>
              </a:lnSpc>
            </a:pPr>
            <a:r>
              <a:rPr lang="en-US" sz="1575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29149" y="2417616"/>
            <a:ext cx="2765920" cy="26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89513" y="3121526"/>
            <a:ext cx="149492" cy="228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90"/>
              </a:lnSpc>
            </a:pPr>
            <a:r>
              <a:rPr lang="en-US" sz="1575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29149" y="3096126"/>
            <a:ext cx="2765920" cy="264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Problématique</a:t>
            </a:r>
            <a:r>
              <a:rPr lang="en-US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et Objectif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89513" y="3800030"/>
            <a:ext cx="149492" cy="228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90"/>
              </a:lnSpc>
            </a:pPr>
            <a:r>
              <a:rPr lang="en-US" sz="1575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29149" y="3774630"/>
            <a:ext cx="3075006" cy="26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dirty="0" err="1">
                <a:solidFill>
                  <a:srgbClr val="3F3F3F"/>
                </a:solidFill>
                <a:latin typeface="Arial Bold"/>
                <a:ea typeface="Arial Bold"/>
                <a:cs typeface="Arial Bold"/>
                <a:sym typeface="Arial Bold"/>
              </a:rPr>
              <a:t>L’architecture</a:t>
            </a:r>
            <a:r>
              <a:rPr lang="en-US" dirty="0">
                <a:solidFill>
                  <a:srgbClr val="3F3F3F"/>
                </a:solidFill>
                <a:latin typeface="Arial Bold"/>
                <a:ea typeface="Arial Bold"/>
                <a:cs typeface="Arial Bold"/>
                <a:sym typeface="Arial Bold"/>
              </a:rPr>
              <a:t> de la solution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2555" y="4356511"/>
            <a:ext cx="149492" cy="228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90"/>
              </a:lnSpc>
            </a:pPr>
            <a:r>
              <a:rPr lang="en-US" sz="1575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78617" y="4376008"/>
            <a:ext cx="149492" cy="228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90"/>
              </a:lnSpc>
            </a:pPr>
            <a:r>
              <a:rPr lang="en-US" sz="1575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5</a:t>
            </a:r>
          </a:p>
        </p:txBody>
      </p:sp>
      <p:sp>
        <p:nvSpPr>
          <p:cNvPr id="40" name="Heptagon 39">
            <a:extLst>
              <a:ext uri="{FF2B5EF4-FFF2-40B4-BE49-F238E27FC236}">
                <a16:creationId xmlns:a16="http://schemas.microsoft.com/office/drawing/2014/main" id="{72C2E318-4417-BCC7-C12D-B3458FE7B93F}"/>
              </a:ext>
            </a:extLst>
          </p:cNvPr>
          <p:cNvSpPr/>
          <p:nvPr/>
        </p:nvSpPr>
        <p:spPr>
          <a:xfrm>
            <a:off x="1190802" y="2346121"/>
            <a:ext cx="470699" cy="468446"/>
          </a:xfrm>
          <a:prstGeom prst="heptag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</a:t>
            </a:r>
          </a:p>
        </p:txBody>
      </p:sp>
      <p:sp>
        <p:nvSpPr>
          <p:cNvPr id="41" name="Heptagon 40">
            <a:extLst>
              <a:ext uri="{FF2B5EF4-FFF2-40B4-BE49-F238E27FC236}">
                <a16:creationId xmlns:a16="http://schemas.microsoft.com/office/drawing/2014/main" id="{C2DB5898-C838-3BA5-AD46-D16D95CD54C8}"/>
              </a:ext>
            </a:extLst>
          </p:cNvPr>
          <p:cNvSpPr/>
          <p:nvPr/>
        </p:nvSpPr>
        <p:spPr>
          <a:xfrm>
            <a:off x="1182047" y="3030720"/>
            <a:ext cx="470699" cy="468446"/>
          </a:xfrm>
          <a:prstGeom prst="heptagon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2</a:t>
            </a:r>
          </a:p>
        </p:txBody>
      </p:sp>
      <p:sp>
        <p:nvSpPr>
          <p:cNvPr id="42" name="Heptagon 41">
            <a:extLst>
              <a:ext uri="{FF2B5EF4-FFF2-40B4-BE49-F238E27FC236}">
                <a16:creationId xmlns:a16="http://schemas.microsoft.com/office/drawing/2014/main" id="{EBA57F41-A9DD-C9B3-EF9F-69D207596A23}"/>
              </a:ext>
            </a:extLst>
          </p:cNvPr>
          <p:cNvSpPr/>
          <p:nvPr/>
        </p:nvSpPr>
        <p:spPr>
          <a:xfrm>
            <a:off x="1190801" y="3745025"/>
            <a:ext cx="470699" cy="468446"/>
          </a:xfrm>
          <a:prstGeom prst="heptagon">
            <a:avLst/>
          </a:prstGeom>
          <a:solidFill>
            <a:srgbClr val="BDD248"/>
          </a:solidFill>
          <a:ln>
            <a:solidFill>
              <a:srgbClr val="BDD2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3</a:t>
            </a:r>
          </a:p>
        </p:txBody>
      </p:sp>
      <p:sp>
        <p:nvSpPr>
          <p:cNvPr id="43" name="TextBox 7">
            <a:extLst>
              <a:ext uri="{FF2B5EF4-FFF2-40B4-BE49-F238E27FC236}">
                <a16:creationId xmlns:a16="http://schemas.microsoft.com/office/drawing/2014/main" id="{1609C61F-5F1C-5850-736B-D6059EDD20B7}"/>
              </a:ext>
            </a:extLst>
          </p:cNvPr>
          <p:cNvSpPr txBox="1"/>
          <p:nvPr/>
        </p:nvSpPr>
        <p:spPr>
          <a:xfrm>
            <a:off x="6445625" y="2447960"/>
            <a:ext cx="149492" cy="228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90"/>
              </a:lnSpc>
            </a:pPr>
            <a:r>
              <a:rPr lang="en-US" sz="1575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1</a:t>
            </a:r>
          </a:p>
        </p:txBody>
      </p:sp>
      <p:sp>
        <p:nvSpPr>
          <p:cNvPr id="44" name="TextBox 8">
            <a:extLst>
              <a:ext uri="{FF2B5EF4-FFF2-40B4-BE49-F238E27FC236}">
                <a16:creationId xmlns:a16="http://schemas.microsoft.com/office/drawing/2014/main" id="{6E096B42-3DDD-EB9B-8028-048324321D68}"/>
              </a:ext>
            </a:extLst>
          </p:cNvPr>
          <p:cNvSpPr txBox="1"/>
          <p:nvPr/>
        </p:nvSpPr>
        <p:spPr>
          <a:xfrm>
            <a:off x="6985261" y="2422560"/>
            <a:ext cx="3075006" cy="264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Le use case RAG </a:t>
            </a:r>
            <a:r>
              <a:rPr lang="en-US" dirty="0" err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pratique</a:t>
            </a:r>
          </a:p>
        </p:txBody>
      </p:sp>
      <p:sp>
        <p:nvSpPr>
          <p:cNvPr id="45" name="TextBox 11">
            <a:extLst>
              <a:ext uri="{FF2B5EF4-FFF2-40B4-BE49-F238E27FC236}">
                <a16:creationId xmlns:a16="http://schemas.microsoft.com/office/drawing/2014/main" id="{25B8F43D-D8CD-D2D3-B055-D79402BB13F0}"/>
              </a:ext>
            </a:extLst>
          </p:cNvPr>
          <p:cNvSpPr txBox="1"/>
          <p:nvPr/>
        </p:nvSpPr>
        <p:spPr>
          <a:xfrm>
            <a:off x="6445625" y="3126470"/>
            <a:ext cx="149492" cy="228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90"/>
              </a:lnSpc>
            </a:pPr>
            <a:r>
              <a:rPr lang="en-US" sz="1575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2</a:t>
            </a:r>
          </a:p>
        </p:txBody>
      </p:sp>
      <p:sp>
        <p:nvSpPr>
          <p:cNvPr id="46" name="TextBox 12">
            <a:extLst>
              <a:ext uri="{FF2B5EF4-FFF2-40B4-BE49-F238E27FC236}">
                <a16:creationId xmlns:a16="http://schemas.microsoft.com/office/drawing/2014/main" id="{D94CD004-6A69-0C4F-EA0B-645B2EACD988}"/>
              </a:ext>
            </a:extLst>
          </p:cNvPr>
          <p:cNvSpPr txBox="1"/>
          <p:nvPr/>
        </p:nvSpPr>
        <p:spPr>
          <a:xfrm>
            <a:off x="6985260" y="3101070"/>
            <a:ext cx="2896697" cy="264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Les services OPS (MLOPS)</a:t>
            </a:r>
          </a:p>
        </p:txBody>
      </p:sp>
      <p:sp>
        <p:nvSpPr>
          <p:cNvPr id="47" name="TextBox 15">
            <a:extLst>
              <a:ext uri="{FF2B5EF4-FFF2-40B4-BE49-F238E27FC236}">
                <a16:creationId xmlns:a16="http://schemas.microsoft.com/office/drawing/2014/main" id="{9C78F469-F34A-EC4D-51A5-D0AED2726A2F}"/>
              </a:ext>
            </a:extLst>
          </p:cNvPr>
          <p:cNvSpPr txBox="1"/>
          <p:nvPr/>
        </p:nvSpPr>
        <p:spPr>
          <a:xfrm>
            <a:off x="6445625" y="3804974"/>
            <a:ext cx="149492" cy="228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90"/>
              </a:lnSpc>
            </a:pPr>
            <a:r>
              <a:rPr lang="en-US" sz="1575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3</a:t>
            </a:r>
          </a:p>
        </p:txBody>
      </p:sp>
      <p:sp>
        <p:nvSpPr>
          <p:cNvPr id="48" name="TextBox 16">
            <a:extLst>
              <a:ext uri="{FF2B5EF4-FFF2-40B4-BE49-F238E27FC236}">
                <a16:creationId xmlns:a16="http://schemas.microsoft.com/office/drawing/2014/main" id="{92238B37-7354-6C87-F4CA-859C1D4EA6EB}"/>
              </a:ext>
            </a:extLst>
          </p:cNvPr>
          <p:cNvSpPr txBox="1"/>
          <p:nvPr/>
        </p:nvSpPr>
        <p:spPr>
          <a:xfrm>
            <a:off x="6985261" y="3779574"/>
            <a:ext cx="3075006" cy="26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dirty="0">
                <a:solidFill>
                  <a:srgbClr val="3F3F3F"/>
                </a:solidFill>
                <a:latin typeface="Arial Bold"/>
                <a:ea typeface="Arial Bold"/>
                <a:cs typeface="Arial Bold"/>
                <a:sym typeface="Arial Bold"/>
              </a:rPr>
              <a:t>Conclusion et Perspectives</a:t>
            </a:r>
          </a:p>
        </p:txBody>
      </p:sp>
      <p:sp>
        <p:nvSpPr>
          <p:cNvPr id="49" name="TextBox 19">
            <a:extLst>
              <a:ext uri="{FF2B5EF4-FFF2-40B4-BE49-F238E27FC236}">
                <a16:creationId xmlns:a16="http://schemas.microsoft.com/office/drawing/2014/main" id="{97DD9A70-E508-EB3E-4E8F-CE98B1DE54D3}"/>
              </a:ext>
            </a:extLst>
          </p:cNvPr>
          <p:cNvSpPr txBox="1"/>
          <p:nvPr/>
        </p:nvSpPr>
        <p:spPr>
          <a:xfrm>
            <a:off x="6088667" y="4361455"/>
            <a:ext cx="149492" cy="228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90"/>
              </a:lnSpc>
            </a:pPr>
            <a:r>
              <a:rPr lang="en-US" sz="1575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4</a:t>
            </a:r>
          </a:p>
        </p:txBody>
      </p:sp>
      <p:sp>
        <p:nvSpPr>
          <p:cNvPr id="50" name="TextBox 23">
            <a:extLst>
              <a:ext uri="{FF2B5EF4-FFF2-40B4-BE49-F238E27FC236}">
                <a16:creationId xmlns:a16="http://schemas.microsoft.com/office/drawing/2014/main" id="{42890B5F-2B60-138A-CC84-51F9A90AB225}"/>
              </a:ext>
            </a:extLst>
          </p:cNvPr>
          <p:cNvSpPr txBox="1"/>
          <p:nvPr/>
        </p:nvSpPr>
        <p:spPr>
          <a:xfrm>
            <a:off x="6734729" y="4380952"/>
            <a:ext cx="149492" cy="228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90"/>
              </a:lnSpc>
            </a:pPr>
            <a:r>
              <a:rPr lang="en-US" sz="1575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5</a:t>
            </a:r>
          </a:p>
        </p:txBody>
      </p:sp>
      <p:sp>
        <p:nvSpPr>
          <p:cNvPr id="51" name="Heptagon 50">
            <a:extLst>
              <a:ext uri="{FF2B5EF4-FFF2-40B4-BE49-F238E27FC236}">
                <a16:creationId xmlns:a16="http://schemas.microsoft.com/office/drawing/2014/main" id="{D5C1BA5C-9989-D718-E6AC-B944807A7E98}"/>
              </a:ext>
            </a:extLst>
          </p:cNvPr>
          <p:cNvSpPr/>
          <p:nvPr/>
        </p:nvSpPr>
        <p:spPr>
          <a:xfrm>
            <a:off x="6246914" y="2351065"/>
            <a:ext cx="470699" cy="468446"/>
          </a:xfrm>
          <a:prstGeom prst="heptagon">
            <a:avLst/>
          </a:prstGeom>
          <a:solidFill>
            <a:srgbClr val="BDD248"/>
          </a:solidFill>
          <a:ln>
            <a:solidFill>
              <a:srgbClr val="BDD2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4</a:t>
            </a:r>
          </a:p>
        </p:txBody>
      </p:sp>
      <p:sp>
        <p:nvSpPr>
          <p:cNvPr id="52" name="Heptagon 51">
            <a:extLst>
              <a:ext uri="{FF2B5EF4-FFF2-40B4-BE49-F238E27FC236}">
                <a16:creationId xmlns:a16="http://schemas.microsoft.com/office/drawing/2014/main" id="{0128E599-9CFD-2C43-7C22-D72F8DA4CEAF}"/>
              </a:ext>
            </a:extLst>
          </p:cNvPr>
          <p:cNvSpPr/>
          <p:nvPr/>
        </p:nvSpPr>
        <p:spPr>
          <a:xfrm>
            <a:off x="6238159" y="3035664"/>
            <a:ext cx="470699" cy="468446"/>
          </a:xfrm>
          <a:prstGeom prst="heptagon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5</a:t>
            </a:r>
          </a:p>
        </p:txBody>
      </p:sp>
      <p:sp>
        <p:nvSpPr>
          <p:cNvPr id="53" name="Heptagon 52">
            <a:extLst>
              <a:ext uri="{FF2B5EF4-FFF2-40B4-BE49-F238E27FC236}">
                <a16:creationId xmlns:a16="http://schemas.microsoft.com/office/drawing/2014/main" id="{10780F84-A8AE-D445-CDB5-0E71AE50E13B}"/>
              </a:ext>
            </a:extLst>
          </p:cNvPr>
          <p:cNvSpPr/>
          <p:nvPr/>
        </p:nvSpPr>
        <p:spPr>
          <a:xfrm>
            <a:off x="6246913" y="3749969"/>
            <a:ext cx="470699" cy="468446"/>
          </a:xfrm>
          <a:prstGeom prst="heptag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6</a:t>
            </a:r>
          </a:p>
        </p:txBody>
      </p:sp>
      <p:pic>
        <p:nvPicPr>
          <p:cNvPr id="54" name="Image 0" descr="preencoded.png">
            <a:extLst>
              <a:ext uri="{FF2B5EF4-FFF2-40B4-BE49-F238E27FC236}">
                <a16:creationId xmlns:a16="http://schemas.microsoft.com/office/drawing/2014/main" id="{5AA2D2C1-A9B8-A4A4-E85E-C4CF49F84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048" y="633454"/>
            <a:ext cx="448595" cy="828174"/>
          </a:xfrm>
          <a:prstGeom prst="rect">
            <a:avLst/>
          </a:prstGeom>
        </p:spPr>
      </p:pic>
      <p:pic>
        <p:nvPicPr>
          <p:cNvPr id="55" name="Image 1" descr="preencoded.png">
            <a:extLst>
              <a:ext uri="{FF2B5EF4-FFF2-40B4-BE49-F238E27FC236}">
                <a16:creationId xmlns:a16="http://schemas.microsoft.com/office/drawing/2014/main" id="{3961717B-CC9A-7AAA-C414-0F1A782636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307" y="627951"/>
            <a:ext cx="448595" cy="828174"/>
          </a:xfrm>
          <a:prstGeom prst="rect">
            <a:avLst/>
          </a:prstGeom>
        </p:spPr>
      </p:pic>
      <p:sp>
        <p:nvSpPr>
          <p:cNvPr id="56" name="Google Shape;88;p17">
            <a:extLst>
              <a:ext uri="{FF2B5EF4-FFF2-40B4-BE49-F238E27FC236}">
                <a16:creationId xmlns:a16="http://schemas.microsoft.com/office/drawing/2014/main" id="{B586DAAF-3E0B-B96F-8058-E7FDA301CD1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733" dirty="0">
                <a:latin typeface="Arial" panose="020B0604020202020204" pitchFamily="34" charset="0"/>
                <a:ea typeface="Nunito Black"/>
                <a:cs typeface="Arial" panose="020B0604020202020204" pitchFamily="34" charset="0"/>
                <a:sym typeface="Nunito Black"/>
              </a:rPr>
              <a:t>2</a:t>
            </a:r>
            <a:endParaRPr sz="1733" dirty="0">
              <a:latin typeface="Arial" panose="020B0604020202020204" pitchFamily="34" charset="0"/>
              <a:ea typeface="Nunito Black"/>
              <a:cs typeface="Arial" panose="020B0604020202020204" pitchFamily="34" charset="0"/>
              <a:sym typeface="Nunito Blac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13C9C-BDCF-17B8-8FA1-6AD99905E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7E91D10-3349-8548-91BA-8CBC9770F85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67000">
                <a:schemeClr val="accent1">
                  <a:lumMod val="5000"/>
                  <a:lumOff val="95000"/>
                </a:schemeClr>
              </a:gs>
              <a:gs pos="0">
                <a:schemeClr val="accent6">
                  <a:lumMod val="60000"/>
                  <a:lumOff val="40000"/>
                </a:schemeClr>
              </a:gs>
              <a:gs pos="88000">
                <a:schemeClr val="accent6">
                  <a:lumMod val="40000"/>
                  <a:lumOff val="60000"/>
                </a:schemeClr>
              </a:gs>
              <a:gs pos="100000">
                <a:schemeClr val="accent6">
                  <a:lumMod val="40000"/>
                  <a:lumOff val="60000"/>
                </a:schemeClr>
              </a:gs>
            </a:gsLst>
            <a:lin ang="5400000" scaled="1"/>
          </a:gra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51966E4F-D161-AD0E-C8C5-A48794B19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1238250" cy="2286000"/>
          </a:xfrm>
          <a:prstGeom prst="rect">
            <a:avLst/>
          </a:prstGeom>
        </p:spPr>
      </p:pic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E94331B1-0741-7CD7-8CDE-C44FBEBC27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37" y="2286000"/>
            <a:ext cx="1238250" cy="2286000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745DCC42-B71C-45A6-4D9B-66FBDC1848AB}"/>
              </a:ext>
            </a:extLst>
          </p:cNvPr>
          <p:cNvSpPr/>
          <p:nvPr/>
        </p:nvSpPr>
        <p:spPr>
          <a:xfrm>
            <a:off x="2743088" y="2464594"/>
            <a:ext cx="5875395" cy="1238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endParaRPr lang="en-US" sz="4500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30B5F1F3-01BC-97A0-BF70-9E8FC56BDA73}"/>
              </a:ext>
            </a:extLst>
          </p:cNvPr>
          <p:cNvSpPr/>
          <p:nvPr/>
        </p:nvSpPr>
        <p:spPr>
          <a:xfrm>
            <a:off x="2743088" y="3931109"/>
            <a:ext cx="685726" cy="57113"/>
          </a:xfrm>
          <a:prstGeom prst="roundRect">
            <a:avLst>
              <a:gd name="adj" fmla="val 50000"/>
            </a:avLst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720A48FA-150C-F9DB-1C7E-EBB06C608344}"/>
              </a:ext>
            </a:extLst>
          </p:cNvPr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F8B73F5C-5E24-396E-CA88-CDB25BCEBC6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1180341" y="6418585"/>
            <a:ext cx="173571" cy="152363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B589110C-2B9C-ADB5-231C-FBF133BCAEA5}"/>
              </a:ext>
            </a:extLst>
          </p:cNvPr>
          <p:cNvSpPr txBox="1"/>
          <p:nvPr/>
        </p:nvSpPr>
        <p:spPr>
          <a:xfrm>
            <a:off x="2038387" y="2926891"/>
            <a:ext cx="63069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fr-FR" sz="5400" dirty="0">
                <a:latin typeface="Arial Black" panose="020B0A04020102020204" pitchFamily="34" charset="0"/>
              </a:rPr>
              <a:t>Introduction </a:t>
            </a:r>
            <a:endParaRPr lang="fr-TN" sz="5400" dirty="0">
              <a:latin typeface="Arial Black" panose="020B0A04020102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8BC9107-2A92-3A41-B10E-6E73700E5C08}"/>
              </a:ext>
            </a:extLst>
          </p:cNvPr>
          <p:cNvSpPr txBox="1"/>
          <p:nvPr/>
        </p:nvSpPr>
        <p:spPr>
          <a:xfrm>
            <a:off x="8472527" y="1765245"/>
            <a:ext cx="349686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9600" b="1" dirty="0"/>
              <a:t>01</a:t>
            </a:r>
            <a:endParaRPr lang="fr-TN" sz="19600" b="1" dirty="0"/>
          </a:p>
        </p:txBody>
      </p:sp>
      <p:sp>
        <p:nvSpPr>
          <p:cNvPr id="5" name="Google Shape;88;p17">
            <a:extLst>
              <a:ext uri="{FF2B5EF4-FFF2-40B4-BE49-F238E27FC236}">
                <a16:creationId xmlns:a16="http://schemas.microsoft.com/office/drawing/2014/main" id="{62E7E0D7-D3FF-3859-82B5-ADD504857105}"/>
              </a:ext>
            </a:extLst>
          </p:cNvPr>
          <p:cNvSpPr txBox="1">
            <a:spLocks/>
          </p:cNvSpPr>
          <p:nvPr/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fr" sz="1733" dirty="0">
                <a:latin typeface="Arial" panose="020B0604020202020204" pitchFamily="34" charset="0"/>
                <a:ea typeface="Nunito Black"/>
                <a:cs typeface="Arial" panose="020B0604020202020204" pitchFamily="34" charset="0"/>
                <a:sym typeface="Nunito Black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99956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136E635B-F446-1F48-C0B0-51B3014B37F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733" dirty="0">
                <a:latin typeface="Arial" panose="020B0604020202020204" pitchFamily="34" charset="0"/>
                <a:ea typeface="Nunito Black"/>
                <a:cs typeface="Arial" panose="020B0604020202020204" pitchFamily="34" charset="0"/>
                <a:sym typeface="Nunito Black"/>
              </a:rPr>
              <a:t>4</a:t>
            </a:r>
            <a:endParaRPr sz="1733" dirty="0">
              <a:latin typeface="Arial" panose="020B0604020202020204" pitchFamily="34" charset="0"/>
              <a:ea typeface="Nunito Black"/>
              <a:cs typeface="Arial" panose="020B0604020202020204" pitchFamily="34" charset="0"/>
              <a:sym typeface="Nunito Black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3157B3-7A36-5B71-6248-0D8E7384A2F9}"/>
              </a:ext>
            </a:extLst>
          </p:cNvPr>
          <p:cNvSpPr txBox="1"/>
          <p:nvPr/>
        </p:nvSpPr>
        <p:spPr>
          <a:xfrm>
            <a:off x="1295400" y="2657751"/>
            <a:ext cx="25955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600" dirty="0">
                <a:solidFill>
                  <a:srgbClr val="BDD248"/>
                </a:solidFill>
              </a:rPr>
              <a:t>89%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FA1AFD-7D2C-2866-6EF4-CC194A6424C1}"/>
              </a:ext>
            </a:extLst>
          </p:cNvPr>
          <p:cNvSpPr txBox="1"/>
          <p:nvPr/>
        </p:nvSpPr>
        <p:spPr>
          <a:xfrm>
            <a:off x="3562350" y="3101147"/>
            <a:ext cx="79600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Des modèles machine </a:t>
            </a:r>
            <a:r>
              <a:rPr lang="fr-FR" sz="2800" dirty="0" err="1"/>
              <a:t>learning</a:t>
            </a:r>
            <a:r>
              <a:rPr lang="fr-FR" sz="2800" dirty="0"/>
              <a:t> restent bloqués au stade de l’expérimentation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0531F0-D085-DC1B-577E-10C7DF41F015}"/>
              </a:ext>
            </a:extLst>
          </p:cNvPr>
          <p:cNvSpPr txBox="1"/>
          <p:nvPr/>
        </p:nvSpPr>
        <p:spPr>
          <a:xfrm>
            <a:off x="4658670" y="404274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BDD248"/>
                </a:solidFill>
              </a:rPr>
              <a:t>	-</a:t>
            </a:r>
            <a:r>
              <a:rPr lang="fr-TN" b="1" dirty="0">
                <a:solidFill>
                  <a:srgbClr val="BDD248"/>
                </a:solidFill>
              </a:rPr>
              <a:t>Deborah Leff,  CTO</a:t>
            </a:r>
            <a:r>
              <a:rPr lang="fr-FR" b="1" dirty="0">
                <a:solidFill>
                  <a:srgbClr val="BDD248"/>
                </a:solidFill>
              </a:rPr>
              <a:t> d’IBM</a:t>
            </a:r>
            <a:endParaRPr lang="fr-TN" b="1" dirty="0">
              <a:solidFill>
                <a:srgbClr val="BDD248"/>
              </a:solidFill>
            </a:endParaRPr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DD06847F-17C9-6A9D-638C-6ABE2EDD5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048" y="633454"/>
            <a:ext cx="448595" cy="828174"/>
          </a:xfrm>
          <a:prstGeom prst="rect">
            <a:avLst/>
          </a:prstGeom>
        </p:spPr>
      </p:pic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A3390408-DF42-9FB8-B213-9C98BD0223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307" y="627951"/>
            <a:ext cx="448595" cy="828174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5580E347-BEA7-9F4B-3FD5-B791C93F8E7B}"/>
              </a:ext>
            </a:extLst>
          </p:cNvPr>
          <p:cNvGrpSpPr/>
          <p:nvPr/>
        </p:nvGrpSpPr>
        <p:grpSpPr>
          <a:xfrm>
            <a:off x="8877412" y="156681"/>
            <a:ext cx="3124836" cy="5275173"/>
            <a:chOff x="8877412" y="156681"/>
            <a:chExt cx="3124836" cy="5275173"/>
          </a:xfrm>
        </p:grpSpPr>
        <p:sp>
          <p:nvSpPr>
            <p:cNvPr id="16" name="Shape 29">
              <a:extLst>
                <a:ext uri="{FF2B5EF4-FFF2-40B4-BE49-F238E27FC236}">
                  <a16:creationId xmlns:a16="http://schemas.microsoft.com/office/drawing/2014/main" id="{18CCCB87-C6F4-4FD4-0270-AA6A212AACEF}"/>
                </a:ext>
              </a:extLst>
            </p:cNvPr>
            <p:cNvSpPr/>
            <p:nvPr/>
          </p:nvSpPr>
          <p:spPr>
            <a:xfrm>
              <a:off x="8877412" y="5419948"/>
              <a:ext cx="2476500" cy="11906"/>
            </a:xfrm>
            <a:prstGeom prst="rect">
              <a:avLst/>
            </a:prstGeom>
            <a:solidFill>
              <a:srgbClr val="E4E4E4"/>
            </a:solidFill>
            <a:ln/>
          </p:spPr>
          <p:txBody>
            <a:bodyPr/>
            <a:lstStyle/>
            <a:p>
              <a:endParaRPr lang="fr-TN"/>
            </a:p>
          </p:txBody>
        </p:sp>
        <p:pic>
          <p:nvPicPr>
            <p:cNvPr id="17" name="Image 4" descr="preencoded.png">
              <a:extLst>
                <a:ext uri="{FF2B5EF4-FFF2-40B4-BE49-F238E27FC236}">
                  <a16:creationId xmlns:a16="http://schemas.microsoft.com/office/drawing/2014/main" id="{11A7701B-0468-5AC9-A97D-E6F1603B1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80000"/>
            </a:blip>
            <a:stretch>
              <a:fillRect/>
            </a:stretch>
          </p:blipFill>
          <p:spPr>
            <a:xfrm>
              <a:off x="10960274" y="156681"/>
              <a:ext cx="1041974" cy="6238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6305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9B219-4B5D-8BDE-EC9D-237F8B6F9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77AD655-95C2-15DE-967A-6C81FA2E365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67000">
                <a:schemeClr val="accent1">
                  <a:lumMod val="5000"/>
                  <a:lumOff val="95000"/>
                </a:schemeClr>
              </a:gs>
              <a:gs pos="0">
                <a:schemeClr val="accent6">
                  <a:lumMod val="60000"/>
                  <a:lumOff val="40000"/>
                </a:schemeClr>
              </a:gs>
              <a:gs pos="88000">
                <a:schemeClr val="accent6">
                  <a:lumMod val="40000"/>
                  <a:lumOff val="60000"/>
                </a:schemeClr>
              </a:gs>
              <a:gs pos="100000">
                <a:schemeClr val="accent6">
                  <a:lumMod val="40000"/>
                  <a:lumOff val="60000"/>
                </a:schemeClr>
              </a:gs>
            </a:gsLst>
            <a:lin ang="5400000" scaled="1"/>
          </a:gra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36BD6523-7140-70CF-1F93-8D4E96F6A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1238250" cy="2286000"/>
          </a:xfrm>
          <a:prstGeom prst="rect">
            <a:avLst/>
          </a:prstGeom>
        </p:spPr>
      </p:pic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E3FE1DCE-C1A8-E358-21E2-C0E0F7C603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37" y="2286000"/>
            <a:ext cx="1238250" cy="2286000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36C553E7-8D14-CD24-A0E0-AA80EE4F614D}"/>
              </a:ext>
            </a:extLst>
          </p:cNvPr>
          <p:cNvSpPr/>
          <p:nvPr/>
        </p:nvSpPr>
        <p:spPr>
          <a:xfrm>
            <a:off x="2743088" y="2464594"/>
            <a:ext cx="5875395" cy="1238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endParaRPr lang="en-US" sz="4500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C0A897B5-A65F-5A63-6D82-316264B23BD3}"/>
              </a:ext>
            </a:extLst>
          </p:cNvPr>
          <p:cNvSpPr/>
          <p:nvPr/>
        </p:nvSpPr>
        <p:spPr>
          <a:xfrm>
            <a:off x="2743088" y="3931109"/>
            <a:ext cx="685726" cy="57113"/>
          </a:xfrm>
          <a:prstGeom prst="roundRect">
            <a:avLst>
              <a:gd name="adj" fmla="val 50000"/>
            </a:avLst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17BE6E03-DF0B-34C1-451D-835D511E521F}"/>
              </a:ext>
            </a:extLst>
          </p:cNvPr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E16B8701-819C-CF38-DDB5-36570CD34D0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1180341" y="6418585"/>
            <a:ext cx="173571" cy="152363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C30FFE3E-A767-732B-FE92-27625D022665}"/>
              </a:ext>
            </a:extLst>
          </p:cNvPr>
          <p:cNvSpPr txBox="1"/>
          <p:nvPr/>
        </p:nvSpPr>
        <p:spPr>
          <a:xfrm>
            <a:off x="2527300" y="2286000"/>
            <a:ext cx="63069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dirty="0">
                <a:latin typeface="Arial Black" panose="020B0A04020102020204" pitchFamily="34" charset="0"/>
              </a:rPr>
              <a:t>Problématique</a:t>
            </a:r>
          </a:p>
          <a:p>
            <a:r>
              <a:rPr lang="fr-FR" sz="5400" dirty="0">
                <a:latin typeface="Arial Black" panose="020B0A04020102020204" pitchFamily="34" charset="0"/>
              </a:rPr>
              <a:t>&amp; Objectif </a:t>
            </a:r>
            <a:endParaRPr lang="fr-TN" sz="5400" dirty="0">
              <a:latin typeface="Arial Black" panose="020B0A04020102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EAC20AD-DC50-539F-6978-53D09C187EBD}"/>
              </a:ext>
            </a:extLst>
          </p:cNvPr>
          <p:cNvSpPr txBox="1"/>
          <p:nvPr/>
        </p:nvSpPr>
        <p:spPr>
          <a:xfrm>
            <a:off x="8472527" y="1765245"/>
            <a:ext cx="349686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9600" b="1" dirty="0"/>
              <a:t>02</a:t>
            </a:r>
            <a:endParaRPr lang="fr-TN" sz="19600" b="1" dirty="0"/>
          </a:p>
        </p:txBody>
      </p:sp>
      <p:sp>
        <p:nvSpPr>
          <p:cNvPr id="5" name="Google Shape;88;p17">
            <a:extLst>
              <a:ext uri="{FF2B5EF4-FFF2-40B4-BE49-F238E27FC236}">
                <a16:creationId xmlns:a16="http://schemas.microsoft.com/office/drawing/2014/main" id="{73D2232B-2AC1-CF0A-CCF4-C470677C1695}"/>
              </a:ext>
            </a:extLst>
          </p:cNvPr>
          <p:cNvSpPr txBox="1">
            <a:spLocks/>
          </p:cNvSpPr>
          <p:nvPr/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fr" sz="1733" dirty="0">
                <a:latin typeface="Arial" panose="020B0604020202020204" pitchFamily="34" charset="0"/>
                <a:ea typeface="Nunito Black"/>
                <a:cs typeface="Arial" panose="020B0604020202020204" pitchFamily="34" charset="0"/>
                <a:sym typeface="Nunito Black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270668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1F5B1D-69AA-AE08-959B-5CFF592C3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C780B02-5677-1425-53F6-4700A7F7AFB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D7E5C5F-2316-E9CE-2CC2-9EC0AB9E7314}"/>
              </a:ext>
            </a:extLst>
          </p:cNvPr>
          <p:cNvSpPr/>
          <p:nvPr/>
        </p:nvSpPr>
        <p:spPr>
          <a:xfrm>
            <a:off x="838087" y="956965"/>
            <a:ext cx="9964601" cy="1027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300" b="1" kern="0" spc="-66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Le fossé entre </a:t>
            </a:r>
            <a:r>
              <a:rPr lang="en-US" sz="3300" b="1" kern="0" spc="-66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code ML </a:t>
            </a:r>
            <a:r>
              <a:rPr lang="en-US" sz="3300" b="1" kern="0" spc="-66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et production</a:t>
            </a:r>
            <a:endParaRPr lang="en-US" sz="3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E6D8F6D3-1D38-E034-3B84-36B75130E3C4}"/>
              </a:ext>
            </a:extLst>
          </p:cNvPr>
          <p:cNvSpPr/>
          <p:nvPr/>
        </p:nvSpPr>
        <p:spPr>
          <a:xfrm>
            <a:off x="838088" y="2193354"/>
            <a:ext cx="2476500" cy="3238500"/>
          </a:xfrm>
          <a:prstGeom prst="roundRect">
            <a:avLst>
              <a:gd name="adj" fmla="val 2308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FCB439FF-99CE-C290-D5C8-6AAC8E723E5D}"/>
              </a:ext>
            </a:extLst>
          </p:cNvPr>
          <p:cNvSpPr/>
          <p:nvPr/>
        </p:nvSpPr>
        <p:spPr>
          <a:xfrm>
            <a:off x="838088" y="5419948"/>
            <a:ext cx="2476500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575610B2-FB71-988C-3F4C-9678B38F540C}"/>
              </a:ext>
            </a:extLst>
          </p:cNvPr>
          <p:cNvSpPr/>
          <p:nvPr/>
        </p:nvSpPr>
        <p:spPr>
          <a:xfrm>
            <a:off x="838088" y="2193354"/>
            <a:ext cx="2476500" cy="35719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68C05677-A4F8-D433-289D-1E07816F9C4E}"/>
              </a:ext>
            </a:extLst>
          </p:cNvPr>
          <p:cNvSpPr/>
          <p:nvPr/>
        </p:nvSpPr>
        <p:spPr>
          <a:xfrm>
            <a:off x="838088" y="2193354"/>
            <a:ext cx="11906" cy="3238500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EB445066-B4EB-152A-AAA5-E69245AC6294}"/>
              </a:ext>
            </a:extLst>
          </p:cNvPr>
          <p:cNvSpPr/>
          <p:nvPr/>
        </p:nvSpPr>
        <p:spPr>
          <a:xfrm>
            <a:off x="3302682" y="2193354"/>
            <a:ext cx="11906" cy="3238500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EB3E0D0-06C9-F348-D1A1-65DD32121125}"/>
              </a:ext>
            </a:extLst>
          </p:cNvPr>
          <p:cNvSpPr/>
          <p:nvPr/>
        </p:nvSpPr>
        <p:spPr>
          <a:xfrm>
            <a:off x="949746" y="2443574"/>
            <a:ext cx="2599298" cy="2234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kern="0" spc="66" dirty="0">
                <a:latin typeface="Arial" panose="020B0604020202020204" pitchFamily="34" charset="0"/>
                <a:cs typeface="Arial" panose="020B0604020202020204" pitchFamily="34" charset="0"/>
              </a:rPr>
              <a:t>-Coté </a:t>
            </a:r>
            <a:r>
              <a:rPr lang="en-US" kern="0" spc="66" dirty="0" err="1">
                <a:latin typeface="Arial" panose="020B0604020202020204" pitchFamily="34" charset="0"/>
                <a:cs typeface="Arial" panose="020B0604020202020204" pitchFamily="34" charset="0"/>
              </a:rPr>
              <a:t>développement</a:t>
            </a:r>
            <a:r>
              <a:rPr lang="en-US" kern="0" spc="66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DB5F9F66-9BFE-A64F-91AC-5D36D921E5B9}"/>
              </a:ext>
            </a:extLst>
          </p:cNvPr>
          <p:cNvSpPr/>
          <p:nvPr/>
        </p:nvSpPr>
        <p:spPr>
          <a:xfrm>
            <a:off x="1059470" y="2733601"/>
            <a:ext cx="609451" cy="609451"/>
          </a:xfrm>
          <a:prstGeom prst="roundRect">
            <a:avLst>
              <a:gd name="adj" fmla="val 4689"/>
            </a:avLst>
          </a:prstGeom>
          <a:solidFill>
            <a:srgbClr val="EFF4D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41B0D601-4CF7-EA5F-9345-85FAF4BED4AC}"/>
              </a:ext>
            </a:extLst>
          </p:cNvPr>
          <p:cNvSpPr/>
          <p:nvPr/>
        </p:nvSpPr>
        <p:spPr>
          <a:xfrm>
            <a:off x="1164208" y="2800201"/>
            <a:ext cx="399976" cy="476250"/>
          </a:xfrm>
          <a:prstGeom prst="roundRect">
            <a:avLst>
              <a:gd name="adj" fmla="val 4763"/>
            </a:avLst>
          </a:prstGeom>
          <a:solidFill>
            <a:srgbClr val="FFFFFF"/>
          </a:solidFill>
          <a:ln w="11906">
            <a:solidFill>
              <a:srgbClr val="3F3F3F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C804F66E-4EB3-AB0A-5306-ED0ABA58D84B}"/>
              </a:ext>
            </a:extLst>
          </p:cNvPr>
          <p:cNvSpPr/>
          <p:nvPr/>
        </p:nvSpPr>
        <p:spPr>
          <a:xfrm>
            <a:off x="1242715" y="2888196"/>
            <a:ext cx="145666" cy="18976"/>
          </a:xfrm>
          <a:prstGeom prst="roundRect">
            <a:avLst>
              <a:gd name="adj" fmla="val 49999"/>
            </a:avLst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589D3ED9-E780-8080-6BCB-48173CEDC613}"/>
              </a:ext>
            </a:extLst>
          </p:cNvPr>
          <p:cNvSpPr/>
          <p:nvPr/>
        </p:nvSpPr>
        <p:spPr>
          <a:xfrm>
            <a:off x="1242715" y="2954796"/>
            <a:ext cx="242962" cy="18976"/>
          </a:xfrm>
          <a:prstGeom prst="roundRect">
            <a:avLst>
              <a:gd name="adj" fmla="val 49999"/>
            </a:avLst>
          </a:prstGeom>
          <a:solidFill>
            <a:srgbClr val="525252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5BC02817-5DED-FE70-5ACA-6C1122CD8E14}"/>
              </a:ext>
            </a:extLst>
          </p:cNvPr>
          <p:cNvSpPr/>
          <p:nvPr/>
        </p:nvSpPr>
        <p:spPr>
          <a:xfrm>
            <a:off x="1242715" y="3021397"/>
            <a:ext cx="194221" cy="18976"/>
          </a:xfrm>
          <a:prstGeom prst="roundRect">
            <a:avLst>
              <a:gd name="adj" fmla="val 49999"/>
            </a:avLst>
          </a:prstGeom>
          <a:solidFill>
            <a:srgbClr val="525252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E5F0A1A3-61FF-5C61-58EF-12FF6FD023EA}"/>
              </a:ext>
            </a:extLst>
          </p:cNvPr>
          <p:cNvSpPr/>
          <p:nvPr/>
        </p:nvSpPr>
        <p:spPr>
          <a:xfrm>
            <a:off x="1242715" y="3087998"/>
            <a:ext cx="133573" cy="18976"/>
          </a:xfrm>
          <a:prstGeom prst="roundRect">
            <a:avLst>
              <a:gd name="adj" fmla="val 49999"/>
            </a:avLst>
          </a:prstGeom>
          <a:solidFill>
            <a:srgbClr val="525252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53F1B0D5-1DF4-E5BE-A853-2F4F5CC5310A}"/>
              </a:ext>
            </a:extLst>
          </p:cNvPr>
          <p:cNvSpPr/>
          <p:nvPr/>
        </p:nvSpPr>
        <p:spPr>
          <a:xfrm>
            <a:off x="1059470" y="4220580"/>
            <a:ext cx="2599298" cy="357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kern="0" spc="-18" dirty="0"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Code ML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05DAD584-36AA-0CD5-767A-0F46C3BDB7C5}"/>
              </a:ext>
            </a:extLst>
          </p:cNvPr>
          <p:cNvSpPr/>
          <p:nvPr/>
        </p:nvSpPr>
        <p:spPr>
          <a:xfrm>
            <a:off x="1059470" y="4490889"/>
            <a:ext cx="2599298" cy="252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200" kern="0" spc="-18" dirty="0"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du développeur</a:t>
            </a:r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B813839C-5025-B578-F531-6221A890F472}"/>
              </a:ext>
            </a:extLst>
          </p:cNvPr>
          <p:cNvSpPr/>
          <p:nvPr/>
        </p:nvSpPr>
        <p:spPr>
          <a:xfrm>
            <a:off x="1059470" y="4771802"/>
            <a:ext cx="2033736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1004851E-39BC-EC23-1508-F571162EA4EB}"/>
              </a:ext>
            </a:extLst>
          </p:cNvPr>
          <p:cNvSpPr/>
          <p:nvPr/>
        </p:nvSpPr>
        <p:spPr>
          <a:xfrm>
            <a:off x="1014299" y="4787844"/>
            <a:ext cx="2451534" cy="479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00" kern="0" spc="-18" dirty="0"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notebook.ipynb script.py </a:t>
            </a:r>
            <a:r>
              <a:rPr lang="en-US" sz="1200" kern="0" spc="35" dirty="0"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·</a:t>
            </a:r>
          </a:p>
          <a:p>
            <a:pPr marL="0" indent="0" algn="l">
              <a:lnSpc>
                <a:spcPct val="160000"/>
              </a:lnSpc>
              <a:buNone/>
            </a:pPr>
            <a:r>
              <a:rPr lang="en-US" sz="1200" kern="0" spc="35" dirty="0"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 </a:t>
            </a:r>
            <a:r>
              <a:rPr lang="en-US" sz="1200" kern="0" spc="-18" dirty="0"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model.pkl</a:t>
            </a: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D1F507C2-5561-2C6F-859B-0BEB5E666207}"/>
              </a:ext>
            </a:extLst>
          </p:cNvPr>
          <p:cNvSpPr/>
          <p:nvPr/>
        </p:nvSpPr>
        <p:spPr>
          <a:xfrm>
            <a:off x="3036447" y="2193354"/>
            <a:ext cx="6119106" cy="327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0" b="1" kern="0" spc="-96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?</a:t>
            </a:r>
            <a:endParaRPr lang="en-US" sz="240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78B4E37D-5FA8-E2E7-9CAE-FFEBDFF90F6A}"/>
              </a:ext>
            </a:extLst>
          </p:cNvPr>
          <p:cNvSpPr/>
          <p:nvPr/>
        </p:nvSpPr>
        <p:spPr>
          <a:xfrm>
            <a:off x="3364136" y="2516357"/>
            <a:ext cx="1987041" cy="84927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chemeClr val="accent6">
                <a:lumMod val="75000"/>
              </a:schemeClr>
            </a:solidFill>
            <a:prstDash val="solid"/>
          </a:ln>
          <a:effectLst>
            <a:outerShdw blurRad="19050" dist="9525" dir="5400000" algn="bl" rotWithShape="0">
              <a:srgbClr val="2A2A2A">
                <a:alpha val="6000"/>
              </a:srgbClr>
            </a:outerShdw>
          </a:effectLst>
        </p:spPr>
        <p:txBody>
          <a:bodyPr/>
          <a:lstStyle/>
          <a:p>
            <a:r>
              <a:rPr lang="en-US" sz="1600" b="1" dirty="0" err="1">
                <a:highlight>
                  <a:srgbClr val="FFFFFF"/>
                </a:highlight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Reproductibilité</a:t>
            </a: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3" name="Groupe 62">
            <a:extLst>
              <a:ext uri="{FF2B5EF4-FFF2-40B4-BE49-F238E27FC236}">
                <a16:creationId xmlns:a16="http://schemas.microsoft.com/office/drawing/2014/main" id="{9DFDB111-422F-4BEF-491E-EBF533B5A4C6}"/>
              </a:ext>
            </a:extLst>
          </p:cNvPr>
          <p:cNvGrpSpPr/>
          <p:nvPr/>
        </p:nvGrpSpPr>
        <p:grpSpPr>
          <a:xfrm>
            <a:off x="6900434" y="2427181"/>
            <a:ext cx="1758007" cy="1022630"/>
            <a:chOff x="6900434" y="2427181"/>
            <a:chExt cx="1758007" cy="1022630"/>
          </a:xfrm>
        </p:grpSpPr>
        <p:sp>
          <p:nvSpPr>
            <p:cNvPr id="25" name="Shape 22">
              <a:extLst>
                <a:ext uri="{FF2B5EF4-FFF2-40B4-BE49-F238E27FC236}">
                  <a16:creationId xmlns:a16="http://schemas.microsoft.com/office/drawing/2014/main" id="{49A5B4B5-C209-90DD-7E0C-049298303798}"/>
                </a:ext>
              </a:extLst>
            </p:cNvPr>
            <p:cNvSpPr/>
            <p:nvPr/>
          </p:nvSpPr>
          <p:spPr>
            <a:xfrm>
              <a:off x="6900434" y="2427181"/>
              <a:ext cx="1617630" cy="84927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>
              <a:solidFill>
                <a:schemeClr val="accent6">
                  <a:lumMod val="75000"/>
                </a:schemeClr>
              </a:solidFill>
              <a:prstDash val="solid"/>
            </a:ln>
            <a:effectLst>
              <a:outerShdw blurRad="19050" dist="9525" dir="5400000" algn="bl" rotWithShape="0">
                <a:srgbClr val="2A2A2A">
                  <a:alpha val="6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Text 23">
              <a:extLst>
                <a:ext uri="{FF2B5EF4-FFF2-40B4-BE49-F238E27FC236}">
                  <a16:creationId xmlns:a16="http://schemas.microsoft.com/office/drawing/2014/main" id="{606AAF6E-1088-6DD2-EA55-C0AAB105750B}"/>
                </a:ext>
              </a:extLst>
            </p:cNvPr>
            <p:cNvSpPr/>
            <p:nvPr/>
          </p:nvSpPr>
          <p:spPr>
            <a:xfrm>
              <a:off x="7168979" y="2630935"/>
              <a:ext cx="1489462" cy="818876"/>
            </a:xfrm>
            <a:prstGeom prst="rect">
              <a:avLst/>
            </a:prstGeom>
            <a:noFill/>
            <a:ln/>
          </p:spPr>
          <p:txBody>
            <a:bodyPr wrap="non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Monitoring </a:t>
              </a:r>
            </a:p>
          </p:txBody>
        </p:sp>
      </p:grpSp>
      <p:grpSp>
        <p:nvGrpSpPr>
          <p:cNvPr id="62" name="Groupe 61">
            <a:extLst>
              <a:ext uri="{FF2B5EF4-FFF2-40B4-BE49-F238E27FC236}">
                <a16:creationId xmlns:a16="http://schemas.microsoft.com/office/drawing/2014/main" id="{F5FD21C4-C3DB-D7B5-92D7-189092BA6049}"/>
              </a:ext>
            </a:extLst>
          </p:cNvPr>
          <p:cNvGrpSpPr/>
          <p:nvPr/>
        </p:nvGrpSpPr>
        <p:grpSpPr>
          <a:xfrm>
            <a:off x="3698817" y="4153269"/>
            <a:ext cx="1578269" cy="849271"/>
            <a:chOff x="3698817" y="4153269"/>
            <a:chExt cx="1578269" cy="849271"/>
          </a:xfrm>
        </p:grpSpPr>
        <p:sp>
          <p:nvSpPr>
            <p:cNvPr id="27" name="Shape 24">
              <a:extLst>
                <a:ext uri="{FF2B5EF4-FFF2-40B4-BE49-F238E27FC236}">
                  <a16:creationId xmlns:a16="http://schemas.microsoft.com/office/drawing/2014/main" id="{273CC05F-0D1F-B8B2-9826-57E67B67D71E}"/>
                </a:ext>
              </a:extLst>
            </p:cNvPr>
            <p:cNvSpPr/>
            <p:nvPr/>
          </p:nvSpPr>
          <p:spPr>
            <a:xfrm>
              <a:off x="3698817" y="4153269"/>
              <a:ext cx="1578269" cy="849271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>
              <a:solidFill>
                <a:schemeClr val="accent6">
                  <a:lumMod val="75000"/>
                </a:schemeClr>
              </a:solidFill>
              <a:prstDash val="solid"/>
            </a:ln>
            <a:effectLst>
              <a:outerShdw blurRad="19050" dist="9525" dir="5400000" algn="bl" rotWithShape="0">
                <a:srgbClr val="2A2A2A">
                  <a:alpha val="6000"/>
                </a:srgbClr>
              </a:outerShdw>
            </a:effectLst>
          </p:spPr>
          <p:txBody>
            <a:bodyPr/>
            <a:lstStyle/>
            <a:p>
              <a:endParaRPr lang="fr-FR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 25">
              <a:extLst>
                <a:ext uri="{FF2B5EF4-FFF2-40B4-BE49-F238E27FC236}">
                  <a16:creationId xmlns:a16="http://schemas.microsoft.com/office/drawing/2014/main" id="{491B5077-CADA-B8A7-99C6-28CE4402CF40}"/>
                </a:ext>
              </a:extLst>
            </p:cNvPr>
            <p:cNvSpPr/>
            <p:nvPr/>
          </p:nvSpPr>
          <p:spPr>
            <a:xfrm>
              <a:off x="3849620" y="4385351"/>
              <a:ext cx="1265734" cy="567264"/>
            </a:xfrm>
            <a:prstGeom prst="rect">
              <a:avLst/>
            </a:prstGeom>
            <a:noFill/>
            <a:ln/>
          </p:spPr>
          <p:txBody>
            <a:bodyPr wrap="non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Déploiement</a:t>
              </a:r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</p:grpSp>
      <p:sp>
        <p:nvSpPr>
          <p:cNvPr id="29" name="Shape 26">
            <a:extLst>
              <a:ext uri="{FF2B5EF4-FFF2-40B4-BE49-F238E27FC236}">
                <a16:creationId xmlns:a16="http://schemas.microsoft.com/office/drawing/2014/main" id="{EF2D8B6E-2709-5E73-154E-4D129EACBD48}"/>
              </a:ext>
            </a:extLst>
          </p:cNvPr>
          <p:cNvSpPr/>
          <p:nvPr/>
        </p:nvSpPr>
        <p:spPr>
          <a:xfrm>
            <a:off x="6855560" y="4153269"/>
            <a:ext cx="1622074" cy="84927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chemeClr val="accent6">
                <a:lumMod val="75000"/>
              </a:schemeClr>
            </a:solidFill>
            <a:prstDash val="solid"/>
          </a:ln>
          <a:effectLst>
            <a:outerShdw blurRad="19050" dist="9525" dir="5400000" algn="bl" rotWithShape="0">
              <a:srgbClr val="2A2A2A">
                <a:alpha val="6000"/>
              </a:srgbClr>
            </a:outerShdw>
          </a:effectLst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Tracking</a:t>
            </a:r>
            <a:endParaRPr lang="fr-T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DD9DC2C2-CADC-A654-2905-F6EA6CD3D6C0}"/>
              </a:ext>
            </a:extLst>
          </p:cNvPr>
          <p:cNvSpPr/>
          <p:nvPr/>
        </p:nvSpPr>
        <p:spPr>
          <a:xfrm>
            <a:off x="7030154" y="4333642"/>
            <a:ext cx="2335909" cy="111198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highlight>
                  <a:srgbClr val="FFFFFF"/>
                </a:highlight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 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392943BD-CEFD-6E33-C315-245C95123F6E}"/>
              </a:ext>
            </a:extLst>
          </p:cNvPr>
          <p:cNvSpPr/>
          <p:nvPr/>
        </p:nvSpPr>
        <p:spPr>
          <a:xfrm>
            <a:off x="8877412" y="2193354"/>
            <a:ext cx="2476500" cy="3238500"/>
          </a:xfrm>
          <a:prstGeom prst="roundRect">
            <a:avLst>
              <a:gd name="adj" fmla="val 2308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18A97B8C-ACD4-0270-6C9D-1F858C366001}"/>
              </a:ext>
            </a:extLst>
          </p:cNvPr>
          <p:cNvSpPr/>
          <p:nvPr/>
        </p:nvSpPr>
        <p:spPr>
          <a:xfrm>
            <a:off x="8877412" y="2193354"/>
            <a:ext cx="2476500" cy="35719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2E78E5D7-5048-1229-C8BD-0934D17B373B}"/>
              </a:ext>
            </a:extLst>
          </p:cNvPr>
          <p:cNvSpPr/>
          <p:nvPr/>
        </p:nvSpPr>
        <p:spPr>
          <a:xfrm>
            <a:off x="8877412" y="2193354"/>
            <a:ext cx="11906" cy="3238500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09CBB210-8AD4-42A6-480E-6B8ACB234324}"/>
              </a:ext>
            </a:extLst>
          </p:cNvPr>
          <p:cNvSpPr/>
          <p:nvPr/>
        </p:nvSpPr>
        <p:spPr>
          <a:xfrm>
            <a:off x="11342005" y="2193354"/>
            <a:ext cx="11906" cy="3238500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8D0A1444-8F6A-CD4C-A2E4-78B652213A36}"/>
              </a:ext>
            </a:extLst>
          </p:cNvPr>
          <p:cNvSpPr/>
          <p:nvPr/>
        </p:nvSpPr>
        <p:spPr>
          <a:xfrm>
            <a:off x="9098793" y="2457524"/>
            <a:ext cx="2599298" cy="2234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kern="0" spc="66" dirty="0"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-Coté Production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658F0B62-CCD3-36C6-4484-03ED75A54064}"/>
              </a:ext>
            </a:extLst>
          </p:cNvPr>
          <p:cNvSpPr/>
          <p:nvPr/>
        </p:nvSpPr>
        <p:spPr>
          <a:xfrm>
            <a:off x="9098793" y="2733601"/>
            <a:ext cx="609451" cy="609451"/>
          </a:xfrm>
          <a:prstGeom prst="roundRect">
            <a:avLst>
              <a:gd name="adj" fmla="val 4689"/>
            </a:avLst>
          </a:prstGeom>
          <a:solidFill>
            <a:srgbClr val="EFF4D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DB77C377-48F3-6CA8-1606-EE5D5B81BB66}"/>
              </a:ext>
            </a:extLst>
          </p:cNvPr>
          <p:cNvSpPr/>
          <p:nvPr/>
        </p:nvSpPr>
        <p:spPr>
          <a:xfrm>
            <a:off x="9165394" y="2819177"/>
            <a:ext cx="476250" cy="114226"/>
          </a:xfrm>
          <a:prstGeom prst="roundRect">
            <a:avLst>
              <a:gd name="adj" fmla="val 16677"/>
            </a:avLst>
          </a:prstGeom>
          <a:solidFill>
            <a:srgbClr val="FFFFFF"/>
          </a:solidFill>
          <a:ln w="11906">
            <a:solidFill>
              <a:srgbClr val="3F3F3F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C8B06F0C-E215-8CA4-D678-C457F1894F83}"/>
              </a:ext>
            </a:extLst>
          </p:cNvPr>
          <p:cNvSpPr/>
          <p:nvPr/>
        </p:nvSpPr>
        <p:spPr>
          <a:xfrm>
            <a:off x="9165394" y="2981027"/>
            <a:ext cx="476250" cy="114226"/>
          </a:xfrm>
          <a:prstGeom prst="roundRect">
            <a:avLst>
              <a:gd name="adj" fmla="val 16677"/>
            </a:avLst>
          </a:prstGeom>
          <a:solidFill>
            <a:srgbClr val="FFFFFF"/>
          </a:solidFill>
          <a:ln w="11906">
            <a:solidFill>
              <a:srgbClr val="3F3F3F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0" name="Shape 37">
            <a:extLst>
              <a:ext uri="{FF2B5EF4-FFF2-40B4-BE49-F238E27FC236}">
                <a16:creationId xmlns:a16="http://schemas.microsoft.com/office/drawing/2014/main" id="{8615D254-3371-FB88-11A9-B345C2B6E18E}"/>
              </a:ext>
            </a:extLst>
          </p:cNvPr>
          <p:cNvSpPr/>
          <p:nvPr/>
        </p:nvSpPr>
        <p:spPr>
          <a:xfrm>
            <a:off x="9165394" y="3142878"/>
            <a:ext cx="476250" cy="114226"/>
          </a:xfrm>
          <a:prstGeom prst="roundRect">
            <a:avLst>
              <a:gd name="adj" fmla="val 16677"/>
            </a:avLst>
          </a:prstGeom>
          <a:solidFill>
            <a:srgbClr val="FFFFFF"/>
          </a:solidFill>
          <a:ln w="11906">
            <a:solidFill>
              <a:srgbClr val="3F3F3F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3" name="Shape 40">
            <a:extLst>
              <a:ext uri="{FF2B5EF4-FFF2-40B4-BE49-F238E27FC236}">
                <a16:creationId xmlns:a16="http://schemas.microsoft.com/office/drawing/2014/main" id="{FD5E664C-1DFA-9511-4DA7-A081E519CE4E}"/>
              </a:ext>
            </a:extLst>
          </p:cNvPr>
          <p:cNvSpPr/>
          <p:nvPr/>
        </p:nvSpPr>
        <p:spPr>
          <a:xfrm>
            <a:off x="9098793" y="4771802"/>
            <a:ext cx="2033736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890ABC2B-6EA7-204C-3B4F-E0A8BD7E62A0}"/>
              </a:ext>
            </a:extLst>
          </p:cNvPr>
          <p:cNvSpPr/>
          <p:nvPr/>
        </p:nvSpPr>
        <p:spPr>
          <a:xfrm>
            <a:off x="9098793" y="4878957"/>
            <a:ext cx="2451534" cy="479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00" kern="0" spc="-18" dirty="0"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API · scale monitoring ·</a:t>
            </a:r>
          </a:p>
        </p:txBody>
      </p:sp>
      <p:sp>
        <p:nvSpPr>
          <p:cNvPr id="54" name="Text 48">
            <a:extLst>
              <a:ext uri="{FF2B5EF4-FFF2-40B4-BE49-F238E27FC236}">
                <a16:creationId xmlns:a16="http://schemas.microsoft.com/office/drawing/2014/main" id="{132080A2-471B-C9BC-B00F-CB844B407F6C}"/>
              </a:ext>
            </a:extLst>
          </p:cNvPr>
          <p:cNvSpPr/>
          <p:nvPr/>
        </p:nvSpPr>
        <p:spPr>
          <a:xfrm>
            <a:off x="838088" y="6417469"/>
            <a:ext cx="406300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59" dirty="0"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Projet de Fin d'Études · Pipeline MLOps générique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C73FC8C4-5617-32CF-B4F8-FC0EC2C63653}"/>
              </a:ext>
            </a:extLst>
          </p:cNvPr>
          <p:cNvGrpSpPr/>
          <p:nvPr/>
        </p:nvGrpSpPr>
        <p:grpSpPr>
          <a:xfrm>
            <a:off x="8877412" y="156681"/>
            <a:ext cx="3124836" cy="5275173"/>
            <a:chOff x="8877412" y="156681"/>
            <a:chExt cx="3124836" cy="5275173"/>
          </a:xfrm>
        </p:grpSpPr>
        <p:sp>
          <p:nvSpPr>
            <p:cNvPr id="32" name="Shape 29">
              <a:extLst>
                <a:ext uri="{FF2B5EF4-FFF2-40B4-BE49-F238E27FC236}">
                  <a16:creationId xmlns:a16="http://schemas.microsoft.com/office/drawing/2014/main" id="{535EA5B5-D2C9-DA1E-DBB1-4E33FFA9BA89}"/>
                </a:ext>
              </a:extLst>
            </p:cNvPr>
            <p:cNvSpPr/>
            <p:nvPr/>
          </p:nvSpPr>
          <p:spPr>
            <a:xfrm>
              <a:off x="8877412" y="5419948"/>
              <a:ext cx="2476500" cy="11906"/>
            </a:xfrm>
            <a:prstGeom prst="rect">
              <a:avLst/>
            </a:prstGeom>
            <a:solidFill>
              <a:srgbClr val="E4E4E4"/>
            </a:solidFill>
            <a:ln/>
          </p:spPr>
          <p:txBody>
            <a:bodyPr/>
            <a:lstStyle/>
            <a:p>
              <a:endParaRPr lang="fr-TN"/>
            </a:p>
          </p:txBody>
        </p:sp>
        <p:pic>
          <p:nvPicPr>
            <p:cNvPr id="55" name="Image 4" descr="preencoded.png">
              <a:extLst>
                <a:ext uri="{FF2B5EF4-FFF2-40B4-BE49-F238E27FC236}">
                  <a16:creationId xmlns:a16="http://schemas.microsoft.com/office/drawing/2014/main" id="{F4DC6B05-3CB9-C897-DC3B-6E21E3EB87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80000"/>
            </a:blip>
            <a:stretch>
              <a:fillRect/>
            </a:stretch>
          </p:blipFill>
          <p:spPr>
            <a:xfrm>
              <a:off x="10960274" y="156681"/>
              <a:ext cx="1041974" cy="623814"/>
            </a:xfrm>
            <a:prstGeom prst="rect">
              <a:avLst/>
            </a:prstGeom>
          </p:spPr>
        </p:pic>
      </p:grpSp>
      <p:sp>
        <p:nvSpPr>
          <p:cNvPr id="61" name="Shape 20">
            <a:extLst>
              <a:ext uri="{FF2B5EF4-FFF2-40B4-BE49-F238E27FC236}">
                <a16:creationId xmlns:a16="http://schemas.microsoft.com/office/drawing/2014/main" id="{DAE7A667-D45C-6139-E984-626CAA599FBC}"/>
              </a:ext>
            </a:extLst>
          </p:cNvPr>
          <p:cNvSpPr/>
          <p:nvPr/>
        </p:nvSpPr>
        <p:spPr>
          <a:xfrm>
            <a:off x="5316022" y="1577910"/>
            <a:ext cx="1617630" cy="84927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chemeClr val="accent6">
                <a:lumMod val="75000"/>
              </a:schemeClr>
            </a:solidFill>
            <a:prstDash val="solid"/>
          </a:ln>
          <a:effectLst>
            <a:outerShdw blurRad="19050" dist="9525" dir="5400000" algn="bl" rotWithShape="0">
              <a:srgbClr val="2A2A2A">
                <a:alpha val="6000"/>
              </a:srgbClr>
            </a:outerShdw>
          </a:effectLst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Traçabilité</a:t>
            </a:r>
          </a:p>
        </p:txBody>
      </p:sp>
      <p:sp>
        <p:nvSpPr>
          <p:cNvPr id="3" name="Google Shape;88;p17">
            <a:extLst>
              <a:ext uri="{FF2B5EF4-FFF2-40B4-BE49-F238E27FC236}">
                <a16:creationId xmlns:a16="http://schemas.microsoft.com/office/drawing/2014/main" id="{EFD8C7AA-C88B-0236-5876-B8472F157EDA}"/>
              </a:ext>
            </a:extLst>
          </p:cNvPr>
          <p:cNvSpPr txBox="1">
            <a:spLocks/>
          </p:cNvSpPr>
          <p:nvPr/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fr" sz="1733" dirty="0">
                <a:latin typeface="Arial" panose="020B0604020202020204" pitchFamily="34" charset="0"/>
                <a:ea typeface="Nunito Black"/>
                <a:cs typeface="Arial" panose="020B0604020202020204" pitchFamily="34" charset="0"/>
                <a:sym typeface="Nunito Black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90190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1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9" grpId="0" animBg="1"/>
      <p:bldP spid="30" grpId="0" animBg="1"/>
      <p:bldP spid="36" grpId="0" animBg="1"/>
      <p:bldP spid="44" grpId="0" animBg="1"/>
      <p:bldP spid="6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5DD84B-4300-2320-ED44-B0D40BE02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502E0B4-030D-979A-114C-4F4E8111DC6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90010CE-721B-F438-C64F-8D8EEF339326}"/>
              </a:ext>
            </a:extLst>
          </p:cNvPr>
          <p:cNvSpPr/>
          <p:nvPr/>
        </p:nvSpPr>
        <p:spPr>
          <a:xfrm>
            <a:off x="838088" y="956965"/>
            <a:ext cx="8544451" cy="1027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800" b="1" kern="0" spc="-66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Une plateforme MLOps </a:t>
            </a:r>
            <a:r>
              <a:rPr lang="en-US" sz="2800" b="1" kern="0" spc="-66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générique </a:t>
            </a:r>
            <a:r>
              <a:rPr lang="en-US" sz="2800" b="1" kern="0" spc="-66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, as-a-service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E26CF52F-DEE8-761F-9EA2-9F5F8E193204}"/>
              </a:ext>
            </a:extLst>
          </p:cNvPr>
          <p:cNvGrpSpPr/>
          <p:nvPr/>
        </p:nvGrpSpPr>
        <p:grpSpPr>
          <a:xfrm>
            <a:off x="838088" y="2231492"/>
            <a:ext cx="1790588" cy="2000250"/>
            <a:chOff x="838088" y="2231492"/>
            <a:chExt cx="1790588" cy="2000250"/>
          </a:xfrm>
        </p:grpSpPr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E39DDA36-BD3F-ABAC-057C-266BBA299932}"/>
                </a:ext>
              </a:extLst>
            </p:cNvPr>
            <p:cNvSpPr/>
            <p:nvPr/>
          </p:nvSpPr>
          <p:spPr>
            <a:xfrm>
              <a:off x="838088" y="2231492"/>
              <a:ext cx="1790588" cy="2000250"/>
            </a:xfrm>
            <a:prstGeom prst="roundRect">
              <a:avLst>
                <a:gd name="adj" fmla="val 3192"/>
              </a:avLst>
            </a:prstGeom>
            <a:solidFill>
              <a:srgbClr val="F4F4F4"/>
            </a:solidFill>
            <a:ln w="11906">
              <a:solidFill>
                <a:srgbClr val="E4E4E4"/>
              </a:solidFill>
              <a:prstDash val="soli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fr-FR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5BF98B3E-C9AF-2BA5-3C71-0B938206F213}"/>
                </a:ext>
              </a:extLst>
            </p:cNvPr>
            <p:cNvSpPr/>
            <p:nvPr/>
          </p:nvSpPr>
          <p:spPr>
            <a:xfrm>
              <a:off x="1040495" y="2452874"/>
              <a:ext cx="1524353" cy="180975"/>
            </a:xfrm>
            <a:prstGeom prst="rect">
              <a:avLst/>
            </a:prstGeom>
            <a:noFill/>
            <a:ln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600" kern="0" spc="66" dirty="0"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rPr>
                <a:t>- Avant 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E65031EE-1E3D-25C2-005D-4A5804778786}"/>
                </a:ext>
              </a:extLst>
            </p:cNvPr>
            <p:cNvSpPr/>
            <p:nvPr/>
          </p:nvSpPr>
          <p:spPr>
            <a:xfrm>
              <a:off x="1040495" y="2709974"/>
              <a:ext cx="533363" cy="533363"/>
            </a:xfrm>
            <a:prstGeom prst="roundRect">
              <a:avLst>
                <a:gd name="adj" fmla="val 5358"/>
              </a:avLst>
            </a:prstGeom>
            <a:solidFill>
              <a:srgbClr val="EFF4D8"/>
            </a:solidFill>
            <a:ln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fr-TN"/>
            </a:p>
          </p:txBody>
        </p:sp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D095221B-CE78-2BFA-A25E-52D9EB3F0D5B}"/>
                </a:ext>
              </a:extLst>
            </p:cNvPr>
            <p:cNvSpPr/>
            <p:nvPr/>
          </p:nvSpPr>
          <p:spPr>
            <a:xfrm>
              <a:off x="1116583" y="2757599"/>
              <a:ext cx="381000" cy="438113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1906">
              <a:solidFill>
                <a:srgbClr val="3F3F3F"/>
              </a:solidFill>
              <a:prstDash val="soli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fr-TN"/>
            </a:p>
          </p:txBody>
        </p:sp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4AAE11DA-7BDD-35AA-E4E4-65F1134FF90F}"/>
                </a:ext>
              </a:extLst>
            </p:cNvPr>
            <p:cNvSpPr/>
            <p:nvPr/>
          </p:nvSpPr>
          <p:spPr>
            <a:xfrm>
              <a:off x="1185602" y="2836106"/>
              <a:ext cx="145666" cy="18976"/>
            </a:xfrm>
            <a:prstGeom prst="roundRect">
              <a:avLst>
                <a:gd name="adj" fmla="val 49999"/>
              </a:avLst>
            </a:prstGeom>
            <a:solidFill>
              <a:srgbClr val="BDD248"/>
            </a:solidFill>
            <a:ln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fr-TN"/>
            </a:p>
          </p:txBody>
        </p:sp>
        <p:sp>
          <p:nvSpPr>
            <p:cNvPr id="11" name="Shape 8">
              <a:extLst>
                <a:ext uri="{FF2B5EF4-FFF2-40B4-BE49-F238E27FC236}">
                  <a16:creationId xmlns:a16="http://schemas.microsoft.com/office/drawing/2014/main" id="{5D98B389-BD2D-9102-CEED-3706F66E1019}"/>
                </a:ext>
              </a:extLst>
            </p:cNvPr>
            <p:cNvSpPr/>
            <p:nvPr/>
          </p:nvSpPr>
          <p:spPr>
            <a:xfrm>
              <a:off x="1185602" y="2893033"/>
              <a:ext cx="242962" cy="18976"/>
            </a:xfrm>
            <a:prstGeom prst="roundRect">
              <a:avLst>
                <a:gd name="adj" fmla="val 49999"/>
              </a:avLst>
            </a:prstGeom>
            <a:solidFill>
              <a:srgbClr val="525252"/>
            </a:solidFill>
            <a:ln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fr-TN"/>
            </a:p>
          </p:txBody>
        </p:sp>
        <p:sp>
          <p:nvSpPr>
            <p:cNvPr id="12" name="Shape 9">
              <a:extLst>
                <a:ext uri="{FF2B5EF4-FFF2-40B4-BE49-F238E27FC236}">
                  <a16:creationId xmlns:a16="http://schemas.microsoft.com/office/drawing/2014/main" id="{975C6550-57D2-4828-C28E-20C2406AD8A6}"/>
                </a:ext>
              </a:extLst>
            </p:cNvPr>
            <p:cNvSpPr/>
            <p:nvPr/>
          </p:nvSpPr>
          <p:spPr>
            <a:xfrm>
              <a:off x="1185602" y="2949959"/>
              <a:ext cx="194221" cy="18976"/>
            </a:xfrm>
            <a:prstGeom prst="roundRect">
              <a:avLst>
                <a:gd name="adj" fmla="val 49999"/>
              </a:avLst>
            </a:prstGeom>
            <a:solidFill>
              <a:srgbClr val="525252"/>
            </a:solidFill>
            <a:ln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fr-TN"/>
            </a:p>
          </p:txBody>
        </p:sp>
        <p:sp>
          <p:nvSpPr>
            <p:cNvPr id="13" name="Shape 10">
              <a:extLst>
                <a:ext uri="{FF2B5EF4-FFF2-40B4-BE49-F238E27FC236}">
                  <a16:creationId xmlns:a16="http://schemas.microsoft.com/office/drawing/2014/main" id="{A6A4B501-1B90-AAEE-22C7-A681F84D1591}"/>
                </a:ext>
              </a:extLst>
            </p:cNvPr>
            <p:cNvSpPr/>
            <p:nvPr/>
          </p:nvSpPr>
          <p:spPr>
            <a:xfrm>
              <a:off x="1185602" y="3006886"/>
              <a:ext cx="133573" cy="18976"/>
            </a:xfrm>
            <a:prstGeom prst="roundRect">
              <a:avLst>
                <a:gd name="adj" fmla="val 49999"/>
              </a:avLst>
            </a:prstGeom>
            <a:solidFill>
              <a:srgbClr val="525252"/>
            </a:solidFill>
            <a:ln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fr-TN"/>
            </a:p>
          </p:txBody>
        </p:sp>
        <p:sp>
          <p:nvSpPr>
            <p:cNvPr id="14" name="Text 11">
              <a:extLst>
                <a:ext uri="{FF2B5EF4-FFF2-40B4-BE49-F238E27FC236}">
                  <a16:creationId xmlns:a16="http://schemas.microsoft.com/office/drawing/2014/main" id="{72F9D220-5E44-1DAD-52F4-7928809AEDF6}"/>
                </a:ext>
              </a:extLst>
            </p:cNvPr>
            <p:cNvSpPr/>
            <p:nvPr/>
          </p:nvSpPr>
          <p:spPr>
            <a:xfrm>
              <a:off x="1040495" y="3585270"/>
              <a:ext cx="1524353" cy="232321"/>
            </a:xfrm>
            <a:prstGeom prst="rect">
              <a:avLst/>
            </a:prstGeom>
            <a:noFill/>
            <a:ln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lnSpc>
                  <a:spcPct val="120000"/>
                </a:lnSpc>
                <a:buNone/>
              </a:pPr>
              <a:r>
                <a:rPr lang="en-US" sz="1200" b="1" dirty="0">
                  <a:solidFill>
                    <a:srgbClr val="2A2A2A"/>
                  </a:solidFill>
                  <a:latin typeface="Arial" panose="020B0604020202020204" pitchFamily="34" charset="0"/>
                  <a:ea typeface="Jost" pitchFamily="34" charset="-122"/>
                  <a:cs typeface="Arial" panose="020B0604020202020204" pitchFamily="34" charset="0"/>
                </a:rPr>
                <a:t>Code ML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Shape 12">
              <a:extLst>
                <a:ext uri="{FF2B5EF4-FFF2-40B4-BE49-F238E27FC236}">
                  <a16:creationId xmlns:a16="http://schemas.microsoft.com/office/drawing/2014/main" id="{F10E0580-CB21-31E8-CC89-BC5D94C69BC6}"/>
                </a:ext>
              </a:extLst>
            </p:cNvPr>
            <p:cNvSpPr/>
            <p:nvPr/>
          </p:nvSpPr>
          <p:spPr>
            <a:xfrm>
              <a:off x="1040495" y="3836603"/>
              <a:ext cx="1385776" cy="11906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28575">
              <a:solidFill>
                <a:schemeClr val="accent6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Text 13">
              <a:extLst>
                <a:ext uri="{FF2B5EF4-FFF2-40B4-BE49-F238E27FC236}">
                  <a16:creationId xmlns:a16="http://schemas.microsoft.com/office/drawing/2014/main" id="{2E418D9D-3CC3-7977-9E9E-C8CA72E5F1EA}"/>
                </a:ext>
              </a:extLst>
            </p:cNvPr>
            <p:cNvSpPr/>
            <p:nvPr/>
          </p:nvSpPr>
          <p:spPr>
            <a:xfrm>
              <a:off x="1040495" y="3905659"/>
              <a:ext cx="1461976" cy="180938"/>
            </a:xfrm>
            <a:prstGeom prst="rect">
              <a:avLst/>
            </a:prstGeom>
            <a:noFill/>
            <a:ln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050" kern="0" spc="33" dirty="0"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rPr>
                <a:t>notebook · script</a:t>
              </a:r>
              <a:endParaRPr lang="en-US" sz="10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31" name="Image 2" descr="preencoded.png">
            <a:extLst>
              <a:ext uri="{FF2B5EF4-FFF2-40B4-BE49-F238E27FC236}">
                <a16:creationId xmlns:a16="http://schemas.microsoft.com/office/drawing/2014/main" id="{9DE496C2-E7D1-5673-799C-91536A90B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460" y="3093579"/>
            <a:ext cx="438113" cy="276076"/>
          </a:xfrm>
          <a:prstGeom prst="rect">
            <a:avLst/>
          </a:prstGeom>
        </p:spPr>
      </p:pic>
      <p:grpSp>
        <p:nvGrpSpPr>
          <p:cNvPr id="68" name="Group 67">
            <a:extLst>
              <a:ext uri="{FF2B5EF4-FFF2-40B4-BE49-F238E27FC236}">
                <a16:creationId xmlns:a16="http://schemas.microsoft.com/office/drawing/2014/main" id="{FE8FDA19-B26B-5FB1-96EC-446FE1A944D9}"/>
              </a:ext>
            </a:extLst>
          </p:cNvPr>
          <p:cNvGrpSpPr/>
          <p:nvPr/>
        </p:nvGrpSpPr>
        <p:grpSpPr>
          <a:xfrm>
            <a:off x="8915549" y="2231492"/>
            <a:ext cx="2438846" cy="2000250"/>
            <a:chOff x="8915549" y="2231492"/>
            <a:chExt cx="2438846" cy="2000250"/>
          </a:xfrm>
        </p:grpSpPr>
        <p:sp>
          <p:nvSpPr>
            <p:cNvPr id="32" name="Shape 27">
              <a:extLst>
                <a:ext uri="{FF2B5EF4-FFF2-40B4-BE49-F238E27FC236}">
                  <a16:creationId xmlns:a16="http://schemas.microsoft.com/office/drawing/2014/main" id="{4B7A3A4F-6866-A924-E446-AB7F6B939BDD}"/>
                </a:ext>
              </a:extLst>
            </p:cNvPr>
            <p:cNvSpPr/>
            <p:nvPr/>
          </p:nvSpPr>
          <p:spPr>
            <a:xfrm>
              <a:off x="8915549" y="2231492"/>
              <a:ext cx="2438363" cy="2000250"/>
            </a:xfrm>
            <a:prstGeom prst="roundRect">
              <a:avLst>
                <a:gd name="adj" fmla="val 2857"/>
              </a:avLst>
            </a:prstGeom>
            <a:solidFill>
              <a:srgbClr val="F4F4F4"/>
            </a:solidFill>
            <a:ln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33" name="Shape 28">
              <a:extLst>
                <a:ext uri="{FF2B5EF4-FFF2-40B4-BE49-F238E27FC236}">
                  <a16:creationId xmlns:a16="http://schemas.microsoft.com/office/drawing/2014/main" id="{221183E9-7561-DEFE-45E8-BFF5B732A99B}"/>
                </a:ext>
              </a:extLst>
            </p:cNvPr>
            <p:cNvSpPr/>
            <p:nvPr/>
          </p:nvSpPr>
          <p:spPr>
            <a:xfrm>
              <a:off x="8915549" y="4219835"/>
              <a:ext cx="2438363" cy="11906"/>
            </a:xfrm>
            <a:prstGeom prst="rect">
              <a:avLst/>
            </a:prstGeom>
            <a:solidFill>
              <a:srgbClr val="E4E4E4"/>
            </a:solidFill>
            <a:ln/>
          </p:spPr>
          <p:txBody>
            <a:bodyPr/>
            <a:lstStyle/>
            <a:p>
              <a:endParaRPr lang="fr-TN"/>
            </a:p>
          </p:txBody>
        </p:sp>
        <p:sp>
          <p:nvSpPr>
            <p:cNvPr id="34" name="Shape 29">
              <a:extLst>
                <a:ext uri="{FF2B5EF4-FFF2-40B4-BE49-F238E27FC236}">
                  <a16:creationId xmlns:a16="http://schemas.microsoft.com/office/drawing/2014/main" id="{9E4895FC-2CA9-D5B9-420D-EF9F5BC24A3D}"/>
                </a:ext>
              </a:extLst>
            </p:cNvPr>
            <p:cNvSpPr/>
            <p:nvPr/>
          </p:nvSpPr>
          <p:spPr>
            <a:xfrm>
              <a:off x="8915549" y="2231492"/>
              <a:ext cx="2438363" cy="11906"/>
            </a:xfrm>
            <a:prstGeom prst="rect">
              <a:avLst/>
            </a:prstGeom>
            <a:solidFill>
              <a:srgbClr val="E4E4E4"/>
            </a:solidFill>
            <a:ln/>
          </p:spPr>
          <p:txBody>
            <a:bodyPr/>
            <a:lstStyle/>
            <a:p>
              <a:endParaRPr lang="fr-TN"/>
            </a:p>
          </p:txBody>
        </p:sp>
        <p:sp>
          <p:nvSpPr>
            <p:cNvPr id="35" name="Shape 30">
              <a:extLst>
                <a:ext uri="{FF2B5EF4-FFF2-40B4-BE49-F238E27FC236}">
                  <a16:creationId xmlns:a16="http://schemas.microsoft.com/office/drawing/2014/main" id="{AEEFDD4E-6473-3BB4-6BF3-ABA2604B34EF}"/>
                </a:ext>
              </a:extLst>
            </p:cNvPr>
            <p:cNvSpPr/>
            <p:nvPr/>
          </p:nvSpPr>
          <p:spPr>
            <a:xfrm>
              <a:off x="8915549" y="2231492"/>
              <a:ext cx="35719" cy="2000250"/>
            </a:xfrm>
            <a:prstGeom prst="rect">
              <a:avLst/>
            </a:prstGeom>
            <a:solidFill>
              <a:srgbClr val="BDD248"/>
            </a:solidFill>
            <a:ln/>
          </p:spPr>
          <p:txBody>
            <a:bodyPr/>
            <a:lstStyle/>
            <a:p>
              <a:endParaRPr lang="fr-TN"/>
            </a:p>
          </p:txBody>
        </p:sp>
        <p:sp>
          <p:nvSpPr>
            <p:cNvPr id="36" name="Shape 31">
              <a:extLst>
                <a:ext uri="{FF2B5EF4-FFF2-40B4-BE49-F238E27FC236}">
                  <a16:creationId xmlns:a16="http://schemas.microsoft.com/office/drawing/2014/main" id="{C23AD3DD-A0BF-17E3-92C6-CBA1E3359438}"/>
                </a:ext>
              </a:extLst>
            </p:cNvPr>
            <p:cNvSpPr/>
            <p:nvPr/>
          </p:nvSpPr>
          <p:spPr>
            <a:xfrm>
              <a:off x="11342005" y="2231492"/>
              <a:ext cx="11906" cy="2000250"/>
            </a:xfrm>
            <a:prstGeom prst="rect">
              <a:avLst/>
            </a:prstGeom>
            <a:solidFill>
              <a:srgbClr val="E4E4E4"/>
            </a:solidFill>
            <a:ln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fr-TN"/>
            </a:p>
          </p:txBody>
        </p:sp>
        <p:sp>
          <p:nvSpPr>
            <p:cNvPr id="37" name="Text 32">
              <a:extLst>
                <a:ext uri="{FF2B5EF4-FFF2-40B4-BE49-F238E27FC236}">
                  <a16:creationId xmlns:a16="http://schemas.microsoft.com/office/drawing/2014/main" id="{283E89ED-B203-E2DD-19C1-E168DA325831}"/>
                </a:ext>
              </a:extLst>
            </p:cNvPr>
            <p:cNvSpPr/>
            <p:nvPr/>
          </p:nvSpPr>
          <p:spPr>
            <a:xfrm>
              <a:off x="9122606" y="2390490"/>
              <a:ext cx="2231789" cy="180975"/>
            </a:xfrm>
            <a:prstGeom prst="rect">
              <a:avLst/>
            </a:prstGeom>
            <a:noFill/>
            <a:ln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600" kern="0" spc="66" dirty="0"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rPr>
                <a:t>- Après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Shape 33">
              <a:extLst>
                <a:ext uri="{FF2B5EF4-FFF2-40B4-BE49-F238E27FC236}">
                  <a16:creationId xmlns:a16="http://schemas.microsoft.com/office/drawing/2014/main" id="{E02B6066-EA35-743C-1A01-C68D39A1C75B}"/>
                </a:ext>
              </a:extLst>
            </p:cNvPr>
            <p:cNvSpPr/>
            <p:nvPr/>
          </p:nvSpPr>
          <p:spPr>
            <a:xfrm>
              <a:off x="9122606" y="2709974"/>
              <a:ext cx="533363" cy="533363"/>
            </a:xfrm>
            <a:prstGeom prst="roundRect">
              <a:avLst>
                <a:gd name="adj" fmla="val 5358"/>
              </a:avLst>
            </a:prstGeom>
            <a:solidFill>
              <a:srgbClr val="D7E491"/>
            </a:solidFill>
            <a:ln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fr-TN"/>
            </a:p>
          </p:txBody>
        </p:sp>
        <p:sp>
          <p:nvSpPr>
            <p:cNvPr id="39" name="Shape 34">
              <a:extLst>
                <a:ext uri="{FF2B5EF4-FFF2-40B4-BE49-F238E27FC236}">
                  <a16:creationId xmlns:a16="http://schemas.microsoft.com/office/drawing/2014/main" id="{ABB029B5-4CC9-3258-7F3F-D5D5A117DB11}"/>
                </a:ext>
              </a:extLst>
            </p:cNvPr>
            <p:cNvSpPr/>
            <p:nvPr/>
          </p:nvSpPr>
          <p:spPr>
            <a:xfrm>
              <a:off x="9160743" y="2781412"/>
              <a:ext cx="457088" cy="104738"/>
            </a:xfrm>
            <a:prstGeom prst="roundRect">
              <a:avLst>
                <a:gd name="adj" fmla="val 18188"/>
              </a:avLst>
            </a:prstGeom>
            <a:solidFill>
              <a:srgbClr val="FFFFFF"/>
            </a:solidFill>
            <a:ln w="11906">
              <a:solidFill>
                <a:srgbClr val="3F3F3F"/>
              </a:solidFill>
              <a:prstDash val="soli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fr-TN"/>
            </a:p>
          </p:txBody>
        </p:sp>
        <p:sp>
          <p:nvSpPr>
            <p:cNvPr id="40" name="Shape 35">
              <a:extLst>
                <a:ext uri="{FF2B5EF4-FFF2-40B4-BE49-F238E27FC236}">
                  <a16:creationId xmlns:a16="http://schemas.microsoft.com/office/drawing/2014/main" id="{E4787175-D575-6AB8-A65E-18676A851EA7}"/>
                </a:ext>
              </a:extLst>
            </p:cNvPr>
            <p:cNvSpPr/>
            <p:nvPr/>
          </p:nvSpPr>
          <p:spPr>
            <a:xfrm>
              <a:off x="9160743" y="2924101"/>
              <a:ext cx="457088" cy="104738"/>
            </a:xfrm>
            <a:prstGeom prst="roundRect">
              <a:avLst>
                <a:gd name="adj" fmla="val 18188"/>
              </a:avLst>
            </a:prstGeom>
            <a:solidFill>
              <a:srgbClr val="FFFFFF"/>
            </a:solidFill>
            <a:ln w="11906">
              <a:solidFill>
                <a:srgbClr val="3F3F3F"/>
              </a:solidFill>
              <a:prstDash val="soli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fr-TN"/>
            </a:p>
          </p:txBody>
        </p:sp>
        <p:sp>
          <p:nvSpPr>
            <p:cNvPr id="41" name="Shape 36">
              <a:extLst>
                <a:ext uri="{FF2B5EF4-FFF2-40B4-BE49-F238E27FC236}">
                  <a16:creationId xmlns:a16="http://schemas.microsoft.com/office/drawing/2014/main" id="{97E2D049-BC76-3BB2-623A-BA58E1D22E2F}"/>
                </a:ext>
              </a:extLst>
            </p:cNvPr>
            <p:cNvSpPr/>
            <p:nvPr/>
          </p:nvSpPr>
          <p:spPr>
            <a:xfrm>
              <a:off x="9160743" y="3066790"/>
              <a:ext cx="457088" cy="104738"/>
            </a:xfrm>
            <a:prstGeom prst="roundRect">
              <a:avLst>
                <a:gd name="adj" fmla="val 18188"/>
              </a:avLst>
            </a:prstGeom>
            <a:solidFill>
              <a:srgbClr val="FFFFFF"/>
            </a:solidFill>
            <a:ln w="11906">
              <a:solidFill>
                <a:srgbClr val="3F3F3F"/>
              </a:solidFill>
              <a:prstDash val="soli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fr-TN"/>
            </a:p>
          </p:txBody>
        </p:sp>
        <p:sp>
          <p:nvSpPr>
            <p:cNvPr id="42" name="Text 37">
              <a:extLst>
                <a:ext uri="{FF2B5EF4-FFF2-40B4-BE49-F238E27FC236}">
                  <a16:creationId xmlns:a16="http://schemas.microsoft.com/office/drawing/2014/main" id="{628E0FA0-1249-6C8B-0A2F-0F7D79200ECA}"/>
                </a:ext>
              </a:extLst>
            </p:cNvPr>
            <p:cNvSpPr/>
            <p:nvPr/>
          </p:nvSpPr>
          <p:spPr>
            <a:xfrm>
              <a:off x="9122606" y="3535508"/>
              <a:ext cx="2231789" cy="232321"/>
            </a:xfrm>
            <a:prstGeom prst="rect">
              <a:avLst/>
            </a:prstGeom>
            <a:noFill/>
            <a:ln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20000"/>
                </a:lnSpc>
                <a:buNone/>
              </a:pPr>
              <a:r>
                <a:rPr lang="en-US" sz="1600" b="1" dirty="0">
                  <a:solidFill>
                    <a:srgbClr val="2A2A2A"/>
                  </a:solidFill>
                  <a:latin typeface="Arial" panose="020B0604020202020204" pitchFamily="34" charset="0"/>
                  <a:ea typeface="Jost" pitchFamily="34" charset="-122"/>
                  <a:cs typeface="Arial" panose="020B0604020202020204" pitchFamily="34" charset="0"/>
                </a:rPr>
                <a:t>ML production-ready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Shape 38">
              <a:extLst>
                <a:ext uri="{FF2B5EF4-FFF2-40B4-BE49-F238E27FC236}">
                  <a16:creationId xmlns:a16="http://schemas.microsoft.com/office/drawing/2014/main" id="{799471FC-E993-4C89-77E4-DE24BD034230}"/>
                </a:ext>
              </a:extLst>
            </p:cNvPr>
            <p:cNvSpPr/>
            <p:nvPr/>
          </p:nvSpPr>
          <p:spPr>
            <a:xfrm>
              <a:off x="9122606" y="3836603"/>
              <a:ext cx="2028899" cy="11906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28575">
              <a:solidFill>
                <a:schemeClr val="accent6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44" name="Text 39">
              <a:extLst>
                <a:ext uri="{FF2B5EF4-FFF2-40B4-BE49-F238E27FC236}">
                  <a16:creationId xmlns:a16="http://schemas.microsoft.com/office/drawing/2014/main" id="{DCF9EAAE-A996-CFC9-8BCD-8845EED5DC32}"/>
                </a:ext>
              </a:extLst>
            </p:cNvPr>
            <p:cNvSpPr/>
            <p:nvPr/>
          </p:nvSpPr>
          <p:spPr>
            <a:xfrm>
              <a:off x="9122606" y="3905659"/>
              <a:ext cx="2105099" cy="180938"/>
            </a:xfrm>
            <a:prstGeom prst="rect">
              <a:avLst/>
            </a:prstGeom>
            <a:noFill/>
            <a:ln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200" kern="0" spc="33" dirty="0"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rPr>
                <a:t>API  · runs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5" name="Shape 40">
            <a:extLst>
              <a:ext uri="{FF2B5EF4-FFF2-40B4-BE49-F238E27FC236}">
                <a16:creationId xmlns:a16="http://schemas.microsoft.com/office/drawing/2014/main" id="{BE23DBD1-4DE2-7C6B-DC69-32D1A71FCF9C}"/>
              </a:ext>
            </a:extLst>
          </p:cNvPr>
          <p:cNvSpPr/>
          <p:nvPr/>
        </p:nvSpPr>
        <p:spPr>
          <a:xfrm>
            <a:off x="838088" y="5089368"/>
            <a:ext cx="37951" cy="857250"/>
          </a:xfrm>
          <a:prstGeom prst="roundRect">
            <a:avLst>
              <a:gd name="adj" fmla="val 50000"/>
            </a:avLst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6" name="Text 41">
            <a:extLst>
              <a:ext uri="{FF2B5EF4-FFF2-40B4-BE49-F238E27FC236}">
                <a16:creationId xmlns:a16="http://schemas.microsoft.com/office/drawing/2014/main" id="{4AD8D17F-1812-8639-749F-3D73FD980D52}"/>
              </a:ext>
            </a:extLst>
          </p:cNvPr>
          <p:cNvSpPr/>
          <p:nvPr/>
        </p:nvSpPr>
        <p:spPr>
          <a:xfrm>
            <a:off x="1104491" y="5048254"/>
            <a:ext cx="11274363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180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PROMESSE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 42">
            <a:extLst>
              <a:ext uri="{FF2B5EF4-FFF2-40B4-BE49-F238E27FC236}">
                <a16:creationId xmlns:a16="http://schemas.microsoft.com/office/drawing/2014/main" id="{08A6458B-1D86-B707-4C9E-D5BA4B0CB98C}"/>
              </a:ext>
            </a:extLst>
          </p:cNvPr>
          <p:cNvSpPr/>
          <p:nvPr/>
        </p:nvSpPr>
        <p:spPr>
          <a:xfrm>
            <a:off x="1040495" y="5365477"/>
            <a:ext cx="7191356" cy="734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250" b="1" kern="0" spc="-22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Le développeur adopte un </a:t>
            </a:r>
            <a:r>
              <a:rPr lang="en-US" sz="2250" b="1" kern="0" spc="-22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contrat→ </a:t>
            </a:r>
            <a:r>
              <a:rPr lang="en-US" sz="2250" b="1" kern="0" spc="-22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il </a:t>
            </a:r>
            <a:r>
              <a:rPr lang="en-US" sz="2250" b="1" kern="0" spc="-22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hérite </a:t>
            </a:r>
            <a:r>
              <a:rPr lang="en-US" sz="2250" b="1" kern="0" spc="-22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de tout l'outillage de production.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43">
            <a:extLst>
              <a:ext uri="{FF2B5EF4-FFF2-40B4-BE49-F238E27FC236}">
                <a16:creationId xmlns:a16="http://schemas.microsoft.com/office/drawing/2014/main" id="{219ED237-F896-CF29-2F89-E6FC8FC17BAB}"/>
              </a:ext>
            </a:extLst>
          </p:cNvPr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Projet de Fin d'Études · Pipeline MLOps générique</a:t>
            </a:r>
            <a:endParaRPr lang="en-US" sz="9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591704F-779B-DD26-263C-67F9E4AF6B3C}"/>
              </a:ext>
            </a:extLst>
          </p:cNvPr>
          <p:cNvGrpSpPr/>
          <p:nvPr/>
        </p:nvGrpSpPr>
        <p:grpSpPr>
          <a:xfrm>
            <a:off x="2647652" y="2231492"/>
            <a:ext cx="5770959" cy="2012156"/>
            <a:chOff x="2647652" y="2231492"/>
            <a:chExt cx="5770959" cy="2012156"/>
          </a:xfrm>
        </p:grpSpPr>
        <p:pic>
          <p:nvPicPr>
            <p:cNvPr id="17" name="Image 1" descr="preencoded.png">
              <a:extLst>
                <a:ext uri="{FF2B5EF4-FFF2-40B4-BE49-F238E27FC236}">
                  <a16:creationId xmlns:a16="http://schemas.microsoft.com/office/drawing/2014/main" id="{1E8F90B3-8F63-EC61-332A-CDA75C7723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47652" y="3093579"/>
              <a:ext cx="438113" cy="276076"/>
            </a:xfrm>
            <a:prstGeom prst="rect">
              <a:avLst/>
            </a:prstGeom>
          </p:spPr>
        </p:pic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BB0391F7-EAA0-B5ED-4EF2-02D973F90DBF}"/>
                </a:ext>
              </a:extLst>
            </p:cNvPr>
            <p:cNvSpPr/>
            <p:nvPr/>
          </p:nvSpPr>
          <p:spPr>
            <a:xfrm>
              <a:off x="3218966" y="2231492"/>
              <a:ext cx="5035776" cy="1976437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2AD216B6-A81A-818E-7B8B-1C537DF82924}"/>
                </a:ext>
              </a:extLst>
            </p:cNvPr>
            <p:cNvGrpSpPr/>
            <p:nvPr/>
          </p:nvGrpSpPr>
          <p:grpSpPr>
            <a:xfrm>
              <a:off x="3409466" y="2548310"/>
              <a:ext cx="5009145" cy="1366428"/>
              <a:chOff x="3409466" y="2548310"/>
              <a:chExt cx="5009145" cy="1366428"/>
            </a:xfrm>
          </p:grpSpPr>
          <p:sp>
            <p:nvSpPr>
              <p:cNvPr id="54" name="Text 15">
                <a:extLst>
                  <a:ext uri="{FF2B5EF4-FFF2-40B4-BE49-F238E27FC236}">
                    <a16:creationId xmlns:a16="http://schemas.microsoft.com/office/drawing/2014/main" id="{C999A3E6-B89B-D133-3C72-A95EA266C7E0}"/>
                  </a:ext>
                </a:extLst>
              </p:cNvPr>
              <p:cNvSpPr/>
              <p:nvPr/>
            </p:nvSpPr>
            <p:spPr>
              <a:xfrm>
                <a:off x="3409466" y="2548310"/>
                <a:ext cx="5009145" cy="204787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 fontScale="77500" lnSpcReduction="20000"/>
              </a:bodyPr>
              <a:lstStyle/>
              <a:p>
                <a:pPr marL="0" indent="0" algn="l">
                  <a:buNone/>
                </a:pPr>
                <a:r>
                  <a:rPr lang="en-US" sz="1600" b="1" kern="0" spc="180" dirty="0">
                    <a:solidFill>
                      <a:srgbClr val="2A2A2A"/>
                    </a:solidFill>
                    <a:latin typeface="Arial" panose="020B0604020202020204" pitchFamily="34" charset="0"/>
                    <a:ea typeface="Jost" pitchFamily="34" charset="-122"/>
                    <a:cs typeface="Arial" panose="020B0604020202020204" pitchFamily="34" charset="0"/>
                  </a:rPr>
                  <a:t>PLATEFORME MLOPS </a:t>
                </a:r>
                <a:r>
                  <a:rPr lang="en-US" sz="900" b="1" kern="0" spc="180" dirty="0">
                    <a:solidFill>
                      <a:srgbClr val="2A2A2A"/>
                    </a:solidFill>
                    <a:latin typeface="Arial" panose="020B0604020202020204" pitchFamily="34" charset="0"/>
                    <a:ea typeface="Jost" pitchFamily="34" charset="-122"/>
                    <a:cs typeface="Arial" panose="020B0604020202020204" pitchFamily="34" charset="0"/>
                  </a:rPr>
                  <a:t>:</a:t>
                </a:r>
                <a:endParaRPr lang="en-US" sz="9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" name="Text 16">
                <a:extLst>
                  <a:ext uri="{FF2B5EF4-FFF2-40B4-BE49-F238E27FC236}">
                    <a16:creationId xmlns:a16="http://schemas.microsoft.com/office/drawing/2014/main" id="{36A7F7DE-7E59-50F7-ABA5-6F49E3E710A8}"/>
                  </a:ext>
                </a:extLst>
              </p:cNvPr>
              <p:cNvSpPr/>
              <p:nvPr/>
            </p:nvSpPr>
            <p:spPr>
              <a:xfrm>
                <a:off x="3409466" y="2772110"/>
                <a:ext cx="5009145" cy="32385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 fontScale="92500" lnSpcReduction="20000"/>
              </a:bodyPr>
              <a:lstStyle/>
              <a:p>
                <a:pPr marL="0" indent="0" algn="l">
                  <a:lnSpc>
                    <a:spcPct val="100000"/>
                  </a:lnSpc>
                  <a:buNone/>
                </a:pPr>
                <a:r>
                  <a:rPr lang="en-US" sz="2250" b="1" kern="0" spc="-22" dirty="0">
                    <a:solidFill>
                      <a:srgbClr val="2A2A2A"/>
                    </a:solidFill>
                    <a:latin typeface="Arial" panose="020B0604020202020204" pitchFamily="34" charset="0"/>
                    <a:ea typeface="Jost" pitchFamily="34" charset="-122"/>
                    <a:cs typeface="Arial" panose="020B0604020202020204" pitchFamily="34" charset="0"/>
                  </a:rPr>
                  <a:t>un </a:t>
                </a:r>
                <a:r>
                  <a:rPr lang="en-US" sz="2250" b="1" kern="0" spc="-22" dirty="0">
                    <a:solidFill>
                      <a:srgbClr val="4B5A18"/>
                    </a:solidFill>
                    <a:latin typeface="Arial" panose="020B0604020202020204" pitchFamily="34" charset="0"/>
                    <a:ea typeface="Jost" pitchFamily="34" charset="-122"/>
                    <a:cs typeface="Arial" panose="020B0604020202020204" pitchFamily="34" charset="0"/>
                  </a:rPr>
                  <a:t>contrat</a:t>
                </a:r>
                <a:r>
                  <a:rPr lang="en-US" sz="2250" b="1" kern="0" spc="-22" dirty="0">
                    <a:solidFill>
                      <a:srgbClr val="2A2A2A"/>
                    </a:solidFill>
                    <a:latin typeface="Arial" panose="020B0604020202020204" pitchFamily="34" charset="0"/>
                    <a:ea typeface="Jost" pitchFamily="34" charset="-122"/>
                    <a:cs typeface="Arial" panose="020B0604020202020204" pitchFamily="34" charset="0"/>
                  </a:rPr>
                  <a:t>, tout l'outillage</a:t>
                </a:r>
                <a:endParaRPr lang="en-US" sz="22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" name="Shape 17">
                <a:extLst>
                  <a:ext uri="{FF2B5EF4-FFF2-40B4-BE49-F238E27FC236}">
                    <a16:creationId xmlns:a16="http://schemas.microsoft.com/office/drawing/2014/main" id="{D18001AD-35CC-E3F5-7DA3-C106FE473571}"/>
                  </a:ext>
                </a:extLst>
              </p:cNvPr>
              <p:cNvSpPr/>
              <p:nvPr/>
            </p:nvSpPr>
            <p:spPr>
              <a:xfrm>
                <a:off x="3409466" y="3229198"/>
                <a:ext cx="1018729" cy="304726"/>
              </a:xfrm>
              <a:prstGeom prst="roundRect">
                <a:avLst>
                  <a:gd name="adj" fmla="val 50000"/>
                </a:avLst>
              </a:prstGeom>
              <a:solidFill>
                <a:srgbClr val="FFFFFF">
                  <a:alpha val="92000"/>
                </a:srgbClr>
              </a:solidFill>
              <a:ln w="11906">
                <a:solidFill>
                  <a:srgbClr val="3F3F3F">
                    <a:alpha val="1800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fr-TN"/>
              </a:p>
            </p:txBody>
          </p:sp>
          <p:sp>
            <p:nvSpPr>
              <p:cNvPr id="57" name="Text 18">
                <a:extLst>
                  <a:ext uri="{FF2B5EF4-FFF2-40B4-BE49-F238E27FC236}">
                    <a16:creationId xmlns:a16="http://schemas.microsoft.com/office/drawing/2014/main" id="{37B48E14-297C-5E73-0034-54E4797B84B0}"/>
                  </a:ext>
                </a:extLst>
              </p:cNvPr>
              <p:cNvSpPr/>
              <p:nvPr/>
            </p:nvSpPr>
            <p:spPr>
              <a:xfrm>
                <a:off x="3545198" y="3231994"/>
                <a:ext cx="823466" cy="204713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r>
                  <a:rPr lang="en-US" sz="1400" kern="0" spc="20" dirty="0">
                    <a:solidFill>
                      <a:srgbClr val="3F3F3F"/>
                    </a:solidFill>
                    <a:highlight>
                      <a:srgbClr val="FFFFFF"/>
                    </a:highlight>
                    <a:latin typeface="Arial" panose="020B0604020202020204" pitchFamily="34" charset="0"/>
                    <a:ea typeface="JetBrains Mono" pitchFamily="34" charset="-122"/>
                    <a:cs typeface="Arial" panose="020B0604020202020204" pitchFamily="34" charset="0"/>
                  </a:rPr>
                  <a:t>tracking</a:t>
                </a:r>
              </a:p>
            </p:txBody>
          </p:sp>
          <p:sp>
            <p:nvSpPr>
              <p:cNvPr id="58" name="Shape 19">
                <a:extLst>
                  <a:ext uri="{FF2B5EF4-FFF2-40B4-BE49-F238E27FC236}">
                    <a16:creationId xmlns:a16="http://schemas.microsoft.com/office/drawing/2014/main" id="{D2496AAD-0381-CA7F-9C0A-2AE2B8D5733C}"/>
                  </a:ext>
                </a:extLst>
              </p:cNvPr>
              <p:cNvSpPr/>
              <p:nvPr/>
            </p:nvSpPr>
            <p:spPr>
              <a:xfrm>
                <a:off x="4504283" y="3229198"/>
                <a:ext cx="1172208" cy="304726"/>
              </a:xfrm>
              <a:prstGeom prst="roundRect">
                <a:avLst>
                  <a:gd name="adj" fmla="val 50000"/>
                </a:avLst>
              </a:prstGeom>
              <a:solidFill>
                <a:srgbClr val="FFFFFF">
                  <a:alpha val="92000"/>
                </a:srgbClr>
              </a:solidFill>
              <a:ln w="11906">
                <a:solidFill>
                  <a:srgbClr val="3F3F3F">
                    <a:alpha val="1800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fr-TN"/>
              </a:p>
            </p:txBody>
          </p:sp>
          <p:sp>
            <p:nvSpPr>
              <p:cNvPr id="59" name="Text 20">
                <a:extLst>
                  <a:ext uri="{FF2B5EF4-FFF2-40B4-BE49-F238E27FC236}">
                    <a16:creationId xmlns:a16="http://schemas.microsoft.com/office/drawing/2014/main" id="{3E6DB1E8-E7C7-4A12-0862-9AF634D05509}"/>
                  </a:ext>
                </a:extLst>
              </p:cNvPr>
              <p:cNvSpPr/>
              <p:nvPr/>
            </p:nvSpPr>
            <p:spPr>
              <a:xfrm>
                <a:off x="4640014" y="3231994"/>
                <a:ext cx="976945" cy="204713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indent="0">
                  <a:buNone/>
                </a:pPr>
                <a:r>
                  <a:rPr lang="en-US" sz="1400" kern="0" spc="20" dirty="0">
                    <a:solidFill>
                      <a:srgbClr val="3F3F3F"/>
                    </a:solidFill>
                    <a:highlight>
                      <a:srgbClr val="FFFFFF"/>
                    </a:highlight>
                    <a:latin typeface="Arial" panose="020B0604020202020204" pitchFamily="34" charset="0"/>
                    <a:ea typeface="JetBrains Mono" pitchFamily="34" charset="-122"/>
                    <a:cs typeface="Arial" panose="020B0604020202020204" pitchFamily="34" charset="0"/>
                  </a:rPr>
                  <a:t>monitoring</a:t>
                </a:r>
              </a:p>
            </p:txBody>
          </p:sp>
          <p:sp>
            <p:nvSpPr>
              <p:cNvPr id="60" name="Shape 21">
                <a:extLst>
                  <a:ext uri="{FF2B5EF4-FFF2-40B4-BE49-F238E27FC236}">
                    <a16:creationId xmlns:a16="http://schemas.microsoft.com/office/drawing/2014/main" id="{7D14CE94-2A7C-3BE0-3866-8D170722357C}"/>
                  </a:ext>
                </a:extLst>
              </p:cNvPr>
              <p:cNvSpPr/>
              <p:nvPr/>
            </p:nvSpPr>
            <p:spPr>
              <a:xfrm>
                <a:off x="5752579" y="3229198"/>
                <a:ext cx="1249040" cy="304726"/>
              </a:xfrm>
              <a:prstGeom prst="roundRect">
                <a:avLst>
                  <a:gd name="adj" fmla="val 50000"/>
                </a:avLst>
              </a:prstGeom>
              <a:solidFill>
                <a:srgbClr val="FFFFFF">
                  <a:alpha val="92000"/>
                </a:srgbClr>
              </a:solidFill>
              <a:ln w="11906">
                <a:solidFill>
                  <a:srgbClr val="3F3F3F">
                    <a:alpha val="1800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fr-TN"/>
              </a:p>
            </p:txBody>
          </p:sp>
          <p:sp>
            <p:nvSpPr>
              <p:cNvPr id="61" name="Text 22">
                <a:extLst>
                  <a:ext uri="{FF2B5EF4-FFF2-40B4-BE49-F238E27FC236}">
                    <a16:creationId xmlns:a16="http://schemas.microsoft.com/office/drawing/2014/main" id="{D88E2CE4-A385-7DB3-2E9F-45C7B22004C3}"/>
                  </a:ext>
                </a:extLst>
              </p:cNvPr>
              <p:cNvSpPr/>
              <p:nvPr/>
            </p:nvSpPr>
            <p:spPr>
              <a:xfrm>
                <a:off x="5888310" y="3231994"/>
                <a:ext cx="1053778" cy="204713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r>
                  <a:rPr lang="en-US" sz="1400" kern="0" spc="20" dirty="0" err="1">
                    <a:solidFill>
                      <a:srgbClr val="3F3F3F"/>
                    </a:solidFill>
                    <a:highlight>
                      <a:srgbClr val="FFFFFF"/>
                    </a:highlight>
                    <a:latin typeface="Arial" panose="020B0604020202020204" pitchFamily="34" charset="0"/>
                    <a:ea typeface="JetBrains Mono" pitchFamily="34" charset="-122"/>
                    <a:cs typeface="Arial" panose="020B0604020202020204" pitchFamily="34" charset="0"/>
                  </a:rPr>
                  <a:t>déploiement</a:t>
                </a:r>
                <a:endParaRPr lang="en-US" sz="1400" kern="0" spc="20" dirty="0">
                  <a:solidFill>
                    <a:srgbClr val="3F3F3F"/>
                  </a:solidFill>
                  <a:highlight>
                    <a:srgbClr val="FFFFFF"/>
                  </a:highlight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62" name="Shape 23">
                <a:extLst>
                  <a:ext uri="{FF2B5EF4-FFF2-40B4-BE49-F238E27FC236}">
                    <a16:creationId xmlns:a16="http://schemas.microsoft.com/office/drawing/2014/main" id="{945C4E66-0F32-3036-CC11-D39BF998F60A}"/>
                  </a:ext>
                </a:extLst>
              </p:cNvPr>
              <p:cNvSpPr/>
              <p:nvPr/>
            </p:nvSpPr>
            <p:spPr>
              <a:xfrm>
                <a:off x="3409466" y="3610012"/>
                <a:ext cx="1632831" cy="304726"/>
              </a:xfrm>
              <a:prstGeom prst="roundRect">
                <a:avLst>
                  <a:gd name="adj" fmla="val 50000"/>
                </a:avLst>
              </a:prstGeom>
              <a:solidFill>
                <a:srgbClr val="FFFFFF">
                  <a:alpha val="92000"/>
                </a:srgbClr>
              </a:solidFill>
              <a:ln w="11906">
                <a:solidFill>
                  <a:srgbClr val="3F3F3F">
                    <a:alpha val="1800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fr-TN"/>
              </a:p>
            </p:txBody>
          </p:sp>
          <p:sp>
            <p:nvSpPr>
              <p:cNvPr id="63" name="Text 24">
                <a:extLst>
                  <a:ext uri="{FF2B5EF4-FFF2-40B4-BE49-F238E27FC236}">
                    <a16:creationId xmlns:a16="http://schemas.microsoft.com/office/drawing/2014/main" id="{63348689-6AE7-9474-9B88-180DAA2D9461}"/>
                  </a:ext>
                </a:extLst>
              </p:cNvPr>
              <p:cNvSpPr/>
              <p:nvPr/>
            </p:nvSpPr>
            <p:spPr>
              <a:xfrm>
                <a:off x="3545198" y="3612808"/>
                <a:ext cx="1437568" cy="204713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buNone/>
                </a:pPr>
                <a:r>
                  <a:rPr lang="en-US" sz="1400" kern="0" spc="20" dirty="0" err="1">
                    <a:solidFill>
                      <a:srgbClr val="3F3F3F"/>
                    </a:solidFill>
                    <a:highlight>
                      <a:srgbClr val="FFFFFF"/>
                    </a:highlight>
                    <a:latin typeface="Arial" panose="020B0604020202020204" pitchFamily="34" charset="0"/>
                    <a:ea typeface="JetBrains Mono" pitchFamily="34" charset="-122"/>
                    <a:cs typeface="Arial" panose="020B0604020202020204" pitchFamily="34" charset="0"/>
                  </a:rPr>
                  <a:t>reproductibilité</a:t>
                </a:r>
                <a:endParaRPr lang="en-US" sz="1400" kern="0" spc="20" dirty="0">
                  <a:solidFill>
                    <a:srgbClr val="3F3F3F"/>
                  </a:solidFill>
                  <a:highlight>
                    <a:srgbClr val="FFFFFF"/>
                  </a:highlight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64" name="Shape 25">
                <a:extLst>
                  <a:ext uri="{FF2B5EF4-FFF2-40B4-BE49-F238E27FC236}">
                    <a16:creationId xmlns:a16="http://schemas.microsoft.com/office/drawing/2014/main" id="{09182EA0-C046-A05E-CFF3-5DE34C5B31FE}"/>
                  </a:ext>
                </a:extLst>
              </p:cNvPr>
              <p:cNvSpPr/>
              <p:nvPr/>
            </p:nvSpPr>
            <p:spPr>
              <a:xfrm>
                <a:off x="5118385" y="3610012"/>
                <a:ext cx="1325873" cy="304726"/>
              </a:xfrm>
              <a:prstGeom prst="roundRect">
                <a:avLst>
                  <a:gd name="adj" fmla="val 50000"/>
                </a:avLst>
              </a:prstGeom>
              <a:solidFill>
                <a:srgbClr val="FFFFFF">
                  <a:alpha val="92000"/>
                </a:srgbClr>
              </a:solidFill>
              <a:ln w="11906">
                <a:solidFill>
                  <a:srgbClr val="3F3F3F">
                    <a:alpha val="1800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fr-TN"/>
              </a:p>
            </p:txBody>
          </p:sp>
          <p:sp>
            <p:nvSpPr>
              <p:cNvPr id="65" name="Text 26">
                <a:extLst>
                  <a:ext uri="{FF2B5EF4-FFF2-40B4-BE49-F238E27FC236}">
                    <a16:creationId xmlns:a16="http://schemas.microsoft.com/office/drawing/2014/main" id="{2FF753F1-24EE-00AC-8F08-7E88E79A3065}"/>
                  </a:ext>
                </a:extLst>
              </p:cNvPr>
              <p:cNvSpPr/>
              <p:nvPr/>
            </p:nvSpPr>
            <p:spPr>
              <a:xfrm>
                <a:off x="5254117" y="3612808"/>
                <a:ext cx="1130610" cy="204713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buNone/>
                </a:pPr>
                <a:r>
                  <a:rPr lang="en-US" sz="1400" kern="0" spc="20" dirty="0" err="1">
                    <a:solidFill>
                      <a:srgbClr val="3F3F3F"/>
                    </a:solidFill>
                    <a:highlight>
                      <a:srgbClr val="FFFFFF"/>
                    </a:highlight>
                    <a:latin typeface="Arial" panose="020B0604020202020204" pitchFamily="34" charset="0"/>
                    <a:ea typeface="JetBrains Mono" pitchFamily="34" charset="-122"/>
                    <a:cs typeface="Arial" panose="020B0604020202020204" pitchFamily="34" charset="0"/>
                  </a:rPr>
                  <a:t>Traçabilité</a:t>
                </a:r>
                <a:r>
                  <a:rPr lang="en-US" sz="1400" kern="0" spc="20" dirty="0">
                    <a:solidFill>
                      <a:srgbClr val="3F3F3F"/>
                    </a:solidFill>
                    <a:highlight>
                      <a:srgbClr val="FFFFFF"/>
                    </a:highlight>
                    <a:latin typeface="Arial" panose="020B0604020202020204" pitchFamily="34" charset="0"/>
                    <a:ea typeface="JetBrains Mono" pitchFamily="34" charset="-122"/>
                    <a:cs typeface="Arial" panose="020B0604020202020204" pitchFamily="34" charset="0"/>
                  </a:rPr>
                  <a:t> </a:t>
                </a:r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FDE145D2-E99E-737F-A44C-C6B4240C9DF2}"/>
                </a:ext>
              </a:extLst>
            </p:cNvPr>
            <p:cNvSpPr/>
            <p:nvPr/>
          </p:nvSpPr>
          <p:spPr>
            <a:xfrm>
              <a:off x="3234691" y="2243398"/>
              <a:ext cx="5035776" cy="2000250"/>
            </a:xfrm>
            <a:prstGeom prst="roundRect">
              <a:avLst/>
            </a:prstGeom>
            <a:noFill/>
            <a:ln w="38100">
              <a:solidFill>
                <a:schemeClr val="accent6">
                  <a:lumMod val="75000"/>
                </a:schemeClr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3" name="Google Shape;88;p17">
            <a:extLst>
              <a:ext uri="{FF2B5EF4-FFF2-40B4-BE49-F238E27FC236}">
                <a16:creationId xmlns:a16="http://schemas.microsoft.com/office/drawing/2014/main" id="{F5D6243B-7887-9E61-DEED-A4C8D7FC7F38}"/>
              </a:ext>
            </a:extLst>
          </p:cNvPr>
          <p:cNvSpPr txBox="1">
            <a:spLocks/>
          </p:cNvSpPr>
          <p:nvPr/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fr" sz="1733" dirty="0">
                <a:latin typeface="Arial" panose="020B0604020202020204" pitchFamily="34" charset="0"/>
                <a:ea typeface="Nunito Black"/>
                <a:cs typeface="Arial" panose="020B0604020202020204" pitchFamily="34" charset="0"/>
                <a:sym typeface="Nunito Black"/>
              </a:rPr>
              <a:t>7</a:t>
            </a:r>
          </a:p>
        </p:txBody>
      </p:sp>
      <p:pic>
        <p:nvPicPr>
          <p:cNvPr id="4" name="Image 4" descr="preencoded.png">
            <a:extLst>
              <a:ext uri="{FF2B5EF4-FFF2-40B4-BE49-F238E27FC236}">
                <a16:creationId xmlns:a16="http://schemas.microsoft.com/office/drawing/2014/main" id="{F7D0749D-3F98-46D6-F8F4-12F1C35EAA5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0960274" y="156681"/>
            <a:ext cx="1041974" cy="62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102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6" grpId="0" animBg="1"/>
      <p:bldP spid="4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1363;p43">
            <a:extLst>
              <a:ext uri="{FF2B5EF4-FFF2-40B4-BE49-F238E27FC236}">
                <a16:creationId xmlns:a16="http://schemas.microsoft.com/office/drawing/2014/main" id="{597C3BBF-4D3D-F534-36DB-99D9081230E9}"/>
              </a:ext>
            </a:extLst>
          </p:cNvPr>
          <p:cNvSpPr/>
          <p:nvPr/>
        </p:nvSpPr>
        <p:spPr>
          <a:xfrm>
            <a:off x="1597790" y="2064338"/>
            <a:ext cx="2433259" cy="462800"/>
          </a:xfrm>
          <a:custGeom>
            <a:avLst/>
            <a:gdLst/>
            <a:ahLst/>
            <a:cxnLst/>
            <a:rect l="l" t="t" r="r" b="b"/>
            <a:pathLst>
              <a:path w="27473" h="5205" extrusionOk="0">
                <a:moveTo>
                  <a:pt x="1" y="0"/>
                </a:moveTo>
                <a:lnTo>
                  <a:pt x="4029" y="5205"/>
                </a:lnTo>
                <a:lnTo>
                  <a:pt x="24876" y="5205"/>
                </a:lnTo>
                <a:cubicBezTo>
                  <a:pt x="26307" y="5205"/>
                  <a:pt x="27473" y="4039"/>
                  <a:pt x="27473" y="2608"/>
                </a:cubicBezTo>
                <a:cubicBezTo>
                  <a:pt x="27473" y="1166"/>
                  <a:pt x="26307" y="0"/>
                  <a:pt x="24876" y="0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" name="Google Shape;1364;p43">
            <a:extLst>
              <a:ext uri="{FF2B5EF4-FFF2-40B4-BE49-F238E27FC236}">
                <a16:creationId xmlns:a16="http://schemas.microsoft.com/office/drawing/2014/main" id="{D1BC300E-35CD-53BF-37D7-97FC02C5A47F}"/>
              </a:ext>
            </a:extLst>
          </p:cNvPr>
          <p:cNvSpPr/>
          <p:nvPr/>
        </p:nvSpPr>
        <p:spPr>
          <a:xfrm>
            <a:off x="-1381394" y="1807999"/>
            <a:ext cx="4562017" cy="4418074"/>
          </a:xfrm>
          <a:custGeom>
            <a:avLst/>
            <a:gdLst/>
            <a:ahLst/>
            <a:cxnLst/>
            <a:rect l="l" t="t" r="r" b="b"/>
            <a:pathLst>
              <a:path w="51508" h="49689" extrusionOk="0">
                <a:moveTo>
                  <a:pt x="25754" y="0"/>
                </a:moveTo>
                <a:cubicBezTo>
                  <a:pt x="11533" y="0"/>
                  <a:pt x="0" y="11124"/>
                  <a:pt x="0" y="24844"/>
                </a:cubicBezTo>
                <a:cubicBezTo>
                  <a:pt x="0" y="38565"/>
                  <a:pt x="11533" y="49688"/>
                  <a:pt x="25754" y="49688"/>
                </a:cubicBezTo>
                <a:cubicBezTo>
                  <a:pt x="39986" y="49688"/>
                  <a:pt x="51508" y="38565"/>
                  <a:pt x="51508" y="24844"/>
                </a:cubicBezTo>
                <a:cubicBezTo>
                  <a:pt x="51508" y="11124"/>
                  <a:pt x="39986" y="0"/>
                  <a:pt x="2575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" name="Google Shape;1365;p43">
            <a:extLst>
              <a:ext uri="{FF2B5EF4-FFF2-40B4-BE49-F238E27FC236}">
                <a16:creationId xmlns:a16="http://schemas.microsoft.com/office/drawing/2014/main" id="{0710DB0C-8A96-8962-BB1C-D55DB80269B8}"/>
              </a:ext>
            </a:extLst>
          </p:cNvPr>
          <p:cNvSpPr/>
          <p:nvPr/>
        </p:nvSpPr>
        <p:spPr>
          <a:xfrm>
            <a:off x="3579055" y="2103459"/>
            <a:ext cx="372345" cy="373707"/>
          </a:xfrm>
          <a:custGeom>
            <a:avLst/>
            <a:gdLst/>
            <a:ahLst/>
            <a:cxnLst/>
            <a:rect l="l" t="t" r="r" b="b"/>
            <a:pathLst>
              <a:path w="4204" h="4203" extrusionOk="0">
                <a:moveTo>
                  <a:pt x="2097" y="0"/>
                </a:moveTo>
                <a:cubicBezTo>
                  <a:pt x="941" y="0"/>
                  <a:pt x="1" y="941"/>
                  <a:pt x="1" y="2107"/>
                </a:cubicBezTo>
                <a:cubicBezTo>
                  <a:pt x="1" y="3261"/>
                  <a:pt x="941" y="4202"/>
                  <a:pt x="2097" y="4202"/>
                </a:cubicBezTo>
                <a:cubicBezTo>
                  <a:pt x="3263" y="4202"/>
                  <a:pt x="4203" y="3261"/>
                  <a:pt x="4203" y="2107"/>
                </a:cubicBezTo>
                <a:cubicBezTo>
                  <a:pt x="4203" y="941"/>
                  <a:pt x="3263" y="0"/>
                  <a:pt x="2097" y="0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" name="Google Shape;1367;p43">
            <a:extLst>
              <a:ext uri="{FF2B5EF4-FFF2-40B4-BE49-F238E27FC236}">
                <a16:creationId xmlns:a16="http://schemas.microsoft.com/office/drawing/2014/main" id="{32436AF3-B3E9-C74B-733B-AD9E020AEB89}"/>
              </a:ext>
            </a:extLst>
          </p:cNvPr>
          <p:cNvGrpSpPr/>
          <p:nvPr/>
        </p:nvGrpSpPr>
        <p:grpSpPr>
          <a:xfrm>
            <a:off x="-988418" y="2187928"/>
            <a:ext cx="5019467" cy="3658122"/>
            <a:chOff x="1007323" y="1440791"/>
            <a:chExt cx="4106801" cy="2981355"/>
          </a:xfrm>
        </p:grpSpPr>
        <p:sp>
          <p:nvSpPr>
            <p:cNvPr id="22" name="Google Shape;1368;p43">
              <a:extLst>
                <a:ext uri="{FF2B5EF4-FFF2-40B4-BE49-F238E27FC236}">
                  <a16:creationId xmlns:a16="http://schemas.microsoft.com/office/drawing/2014/main" id="{7DE5E364-30C5-7329-5006-6FF7B748B772}"/>
                </a:ext>
              </a:extLst>
            </p:cNvPr>
            <p:cNvSpPr/>
            <p:nvPr/>
          </p:nvSpPr>
          <p:spPr>
            <a:xfrm>
              <a:off x="3123293" y="2007608"/>
              <a:ext cx="1990831" cy="377180"/>
            </a:xfrm>
            <a:custGeom>
              <a:avLst/>
              <a:gdLst/>
              <a:ahLst/>
              <a:cxnLst/>
              <a:rect l="l" t="t" r="r" b="b"/>
              <a:pathLst>
                <a:path w="27473" h="5205" extrusionOk="0">
                  <a:moveTo>
                    <a:pt x="1" y="1"/>
                  </a:moveTo>
                  <a:lnTo>
                    <a:pt x="4029" y="5204"/>
                  </a:lnTo>
                  <a:lnTo>
                    <a:pt x="24876" y="5204"/>
                  </a:lnTo>
                  <a:cubicBezTo>
                    <a:pt x="26307" y="5204"/>
                    <a:pt x="27473" y="4039"/>
                    <a:pt x="27473" y="2607"/>
                  </a:cubicBezTo>
                  <a:cubicBezTo>
                    <a:pt x="27473" y="1166"/>
                    <a:pt x="26307" y="1"/>
                    <a:pt x="24876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1369;p43">
              <a:extLst>
                <a:ext uri="{FF2B5EF4-FFF2-40B4-BE49-F238E27FC236}">
                  <a16:creationId xmlns:a16="http://schemas.microsoft.com/office/drawing/2014/main" id="{A8B3DA3F-0858-D56A-C180-23D02E05ECF7}"/>
                </a:ext>
              </a:extLst>
            </p:cNvPr>
            <p:cNvSpPr/>
            <p:nvPr/>
          </p:nvSpPr>
          <p:spPr>
            <a:xfrm>
              <a:off x="1007323" y="1440791"/>
              <a:ext cx="3090270" cy="2981355"/>
            </a:xfrm>
            <a:custGeom>
              <a:avLst/>
              <a:gdLst/>
              <a:ahLst/>
              <a:cxnLst/>
              <a:rect l="l" t="t" r="r" b="b"/>
              <a:pathLst>
                <a:path w="42645" h="41142" extrusionOk="0">
                  <a:moveTo>
                    <a:pt x="21317" y="1"/>
                  </a:moveTo>
                  <a:cubicBezTo>
                    <a:pt x="9549" y="1"/>
                    <a:pt x="0" y="9213"/>
                    <a:pt x="0" y="20571"/>
                  </a:cubicBezTo>
                  <a:cubicBezTo>
                    <a:pt x="0" y="31930"/>
                    <a:pt x="9549" y="41142"/>
                    <a:pt x="21317" y="41142"/>
                  </a:cubicBezTo>
                  <a:cubicBezTo>
                    <a:pt x="33095" y="41142"/>
                    <a:pt x="42644" y="31930"/>
                    <a:pt x="42644" y="20571"/>
                  </a:cubicBezTo>
                  <a:cubicBezTo>
                    <a:pt x="42644" y="9213"/>
                    <a:pt x="33095" y="1"/>
                    <a:pt x="21317" y="1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370;p43">
              <a:extLst>
                <a:ext uri="{FF2B5EF4-FFF2-40B4-BE49-F238E27FC236}">
                  <a16:creationId xmlns:a16="http://schemas.microsoft.com/office/drawing/2014/main" id="{7F26E3B0-1215-F2E4-563C-BB7ED824ECB6}"/>
                </a:ext>
              </a:extLst>
            </p:cNvPr>
            <p:cNvSpPr/>
            <p:nvPr/>
          </p:nvSpPr>
          <p:spPr>
            <a:xfrm>
              <a:off x="4744314" y="2044637"/>
              <a:ext cx="304643" cy="304570"/>
            </a:xfrm>
            <a:custGeom>
              <a:avLst/>
              <a:gdLst/>
              <a:ahLst/>
              <a:cxnLst/>
              <a:rect l="l" t="t" r="r" b="b"/>
              <a:pathLst>
                <a:path w="4204" h="4203" extrusionOk="0">
                  <a:moveTo>
                    <a:pt x="2097" y="1"/>
                  </a:moveTo>
                  <a:cubicBezTo>
                    <a:pt x="941" y="1"/>
                    <a:pt x="1" y="941"/>
                    <a:pt x="1" y="2107"/>
                  </a:cubicBezTo>
                  <a:cubicBezTo>
                    <a:pt x="1" y="3262"/>
                    <a:pt x="941" y="4202"/>
                    <a:pt x="2097" y="4202"/>
                  </a:cubicBezTo>
                  <a:cubicBezTo>
                    <a:pt x="3263" y="4202"/>
                    <a:pt x="4203" y="3262"/>
                    <a:pt x="4203" y="2107"/>
                  </a:cubicBezTo>
                  <a:cubicBezTo>
                    <a:pt x="4203" y="941"/>
                    <a:pt x="3263" y="1"/>
                    <a:pt x="2097" y="1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" name="Google Shape;1372;p43">
            <a:extLst>
              <a:ext uri="{FF2B5EF4-FFF2-40B4-BE49-F238E27FC236}">
                <a16:creationId xmlns:a16="http://schemas.microsoft.com/office/drawing/2014/main" id="{75E2E5FC-DB31-E94F-2D30-DB4712F17D6E}"/>
              </a:ext>
            </a:extLst>
          </p:cNvPr>
          <p:cNvGrpSpPr/>
          <p:nvPr/>
        </p:nvGrpSpPr>
        <p:grpSpPr>
          <a:xfrm>
            <a:off x="-584636" y="2578882"/>
            <a:ext cx="4629232" cy="2876296"/>
            <a:chOff x="1337687" y="1759417"/>
            <a:chExt cx="3787521" cy="2344170"/>
          </a:xfrm>
        </p:grpSpPr>
        <p:sp>
          <p:nvSpPr>
            <p:cNvPr id="19" name="Google Shape;1373;p43">
              <a:extLst>
                <a:ext uri="{FF2B5EF4-FFF2-40B4-BE49-F238E27FC236}">
                  <a16:creationId xmlns:a16="http://schemas.microsoft.com/office/drawing/2014/main" id="{22C871BE-3420-3F3F-ADC6-EBF1D54B4116}"/>
                </a:ext>
              </a:extLst>
            </p:cNvPr>
            <p:cNvSpPr/>
            <p:nvPr/>
          </p:nvSpPr>
          <p:spPr>
            <a:xfrm>
              <a:off x="3351482" y="2704716"/>
              <a:ext cx="1773726" cy="377253"/>
            </a:xfrm>
            <a:custGeom>
              <a:avLst/>
              <a:gdLst/>
              <a:ahLst/>
              <a:cxnLst/>
              <a:rect l="l" t="t" r="r" b="b"/>
              <a:pathLst>
                <a:path w="24477" h="5206" extrusionOk="0">
                  <a:moveTo>
                    <a:pt x="1" y="1"/>
                  </a:moveTo>
                  <a:lnTo>
                    <a:pt x="1" y="5205"/>
                  </a:lnTo>
                  <a:lnTo>
                    <a:pt x="21870" y="5205"/>
                  </a:lnTo>
                  <a:cubicBezTo>
                    <a:pt x="23311" y="5205"/>
                    <a:pt x="24477" y="4040"/>
                    <a:pt x="24477" y="2598"/>
                  </a:cubicBezTo>
                  <a:cubicBezTo>
                    <a:pt x="24477" y="1166"/>
                    <a:pt x="23311" y="1"/>
                    <a:pt x="2187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" name="Google Shape;1374;p43">
              <a:extLst>
                <a:ext uri="{FF2B5EF4-FFF2-40B4-BE49-F238E27FC236}">
                  <a16:creationId xmlns:a16="http://schemas.microsoft.com/office/drawing/2014/main" id="{E93B7481-B434-2116-CA11-F7EAFAAD8EF9}"/>
                </a:ext>
              </a:extLst>
            </p:cNvPr>
            <p:cNvSpPr/>
            <p:nvPr/>
          </p:nvSpPr>
          <p:spPr>
            <a:xfrm>
              <a:off x="1337687" y="1759417"/>
              <a:ext cx="2429462" cy="2344170"/>
            </a:xfrm>
            <a:custGeom>
              <a:avLst/>
              <a:gdLst/>
              <a:ahLst/>
              <a:cxnLst/>
              <a:rect l="l" t="t" r="r" b="b"/>
              <a:pathLst>
                <a:path w="33526" h="32349" extrusionOk="0">
                  <a:moveTo>
                    <a:pt x="16758" y="0"/>
                  </a:moveTo>
                  <a:cubicBezTo>
                    <a:pt x="7505" y="0"/>
                    <a:pt x="1" y="7239"/>
                    <a:pt x="1" y="16174"/>
                  </a:cubicBezTo>
                  <a:cubicBezTo>
                    <a:pt x="1" y="25100"/>
                    <a:pt x="7505" y="32348"/>
                    <a:pt x="16758" y="32348"/>
                  </a:cubicBezTo>
                  <a:cubicBezTo>
                    <a:pt x="26021" y="32348"/>
                    <a:pt x="33525" y="25100"/>
                    <a:pt x="33525" y="16174"/>
                  </a:cubicBezTo>
                  <a:cubicBezTo>
                    <a:pt x="33525" y="7239"/>
                    <a:pt x="26021" y="0"/>
                    <a:pt x="16758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375;p43">
              <a:extLst>
                <a:ext uri="{FF2B5EF4-FFF2-40B4-BE49-F238E27FC236}">
                  <a16:creationId xmlns:a16="http://schemas.microsoft.com/office/drawing/2014/main" id="{8F3AA79F-AC7D-9001-2CD8-EABFB565A53E}"/>
                </a:ext>
              </a:extLst>
            </p:cNvPr>
            <p:cNvSpPr/>
            <p:nvPr/>
          </p:nvSpPr>
          <p:spPr>
            <a:xfrm>
              <a:off x="4744314" y="2745514"/>
              <a:ext cx="304643" cy="304570"/>
            </a:xfrm>
            <a:custGeom>
              <a:avLst/>
              <a:gdLst/>
              <a:ahLst/>
              <a:cxnLst/>
              <a:rect l="l" t="t" r="r" b="b"/>
              <a:pathLst>
                <a:path w="4204" h="4203" extrusionOk="0">
                  <a:moveTo>
                    <a:pt x="2097" y="0"/>
                  </a:moveTo>
                  <a:cubicBezTo>
                    <a:pt x="941" y="0"/>
                    <a:pt x="1" y="941"/>
                    <a:pt x="1" y="2096"/>
                  </a:cubicBezTo>
                  <a:cubicBezTo>
                    <a:pt x="1" y="3261"/>
                    <a:pt x="941" y="4202"/>
                    <a:pt x="2097" y="4202"/>
                  </a:cubicBezTo>
                  <a:cubicBezTo>
                    <a:pt x="3263" y="4202"/>
                    <a:pt x="4203" y="3261"/>
                    <a:pt x="4203" y="2096"/>
                  </a:cubicBezTo>
                  <a:cubicBezTo>
                    <a:pt x="4203" y="941"/>
                    <a:pt x="3263" y="0"/>
                    <a:pt x="2097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" name="Google Shape;1377;p43">
            <a:extLst>
              <a:ext uri="{FF2B5EF4-FFF2-40B4-BE49-F238E27FC236}">
                <a16:creationId xmlns:a16="http://schemas.microsoft.com/office/drawing/2014/main" id="{08F68A79-A811-A269-563B-296374D0F0E1}"/>
              </a:ext>
            </a:extLst>
          </p:cNvPr>
          <p:cNvGrpSpPr/>
          <p:nvPr/>
        </p:nvGrpSpPr>
        <p:grpSpPr>
          <a:xfrm>
            <a:off x="-162610" y="2987887"/>
            <a:ext cx="4207222" cy="2058194"/>
            <a:chOff x="1682978" y="2092754"/>
            <a:chExt cx="3442243" cy="1677420"/>
          </a:xfrm>
        </p:grpSpPr>
        <p:sp>
          <p:nvSpPr>
            <p:cNvPr id="16" name="Google Shape;1378;p43">
              <a:extLst>
                <a:ext uri="{FF2B5EF4-FFF2-40B4-BE49-F238E27FC236}">
                  <a16:creationId xmlns:a16="http://schemas.microsoft.com/office/drawing/2014/main" id="{D700456B-F379-642C-2225-70B9AC1F89BB}"/>
                </a:ext>
              </a:extLst>
            </p:cNvPr>
            <p:cNvSpPr/>
            <p:nvPr/>
          </p:nvSpPr>
          <p:spPr>
            <a:xfrm>
              <a:off x="2390609" y="3378926"/>
              <a:ext cx="2734612" cy="377180"/>
            </a:xfrm>
            <a:custGeom>
              <a:avLst/>
              <a:gdLst/>
              <a:ahLst/>
              <a:cxnLst/>
              <a:rect l="l" t="t" r="r" b="b"/>
              <a:pathLst>
                <a:path w="37737" h="5205" extrusionOk="0">
                  <a:moveTo>
                    <a:pt x="4254" y="0"/>
                  </a:moveTo>
                  <a:lnTo>
                    <a:pt x="1" y="5205"/>
                  </a:lnTo>
                  <a:lnTo>
                    <a:pt x="35130" y="5205"/>
                  </a:lnTo>
                  <a:cubicBezTo>
                    <a:pt x="36571" y="5205"/>
                    <a:pt x="37737" y="4039"/>
                    <a:pt x="37737" y="2597"/>
                  </a:cubicBezTo>
                  <a:cubicBezTo>
                    <a:pt x="37737" y="1166"/>
                    <a:pt x="36571" y="0"/>
                    <a:pt x="35130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" name="Google Shape;1379;p43">
              <a:extLst>
                <a:ext uri="{FF2B5EF4-FFF2-40B4-BE49-F238E27FC236}">
                  <a16:creationId xmlns:a16="http://schemas.microsoft.com/office/drawing/2014/main" id="{BBE14131-2297-4695-39B4-E0E92D131861}"/>
                </a:ext>
              </a:extLst>
            </p:cNvPr>
            <p:cNvSpPr/>
            <p:nvPr/>
          </p:nvSpPr>
          <p:spPr>
            <a:xfrm>
              <a:off x="1682978" y="2092754"/>
              <a:ext cx="1738943" cy="1677420"/>
            </a:xfrm>
            <a:custGeom>
              <a:avLst/>
              <a:gdLst/>
              <a:ahLst/>
              <a:cxnLst/>
              <a:rect l="l" t="t" r="r" b="b"/>
              <a:pathLst>
                <a:path w="23997" h="23148" extrusionOk="0">
                  <a:moveTo>
                    <a:pt x="11993" y="1"/>
                  </a:moveTo>
                  <a:cubicBezTo>
                    <a:pt x="5368" y="1"/>
                    <a:pt x="0" y="5185"/>
                    <a:pt x="0" y="11574"/>
                  </a:cubicBezTo>
                  <a:cubicBezTo>
                    <a:pt x="0" y="17965"/>
                    <a:pt x="5368" y="23148"/>
                    <a:pt x="11993" y="23148"/>
                  </a:cubicBezTo>
                  <a:cubicBezTo>
                    <a:pt x="18618" y="23148"/>
                    <a:pt x="23996" y="17965"/>
                    <a:pt x="23996" y="11574"/>
                  </a:cubicBezTo>
                  <a:cubicBezTo>
                    <a:pt x="23996" y="5185"/>
                    <a:pt x="18618" y="1"/>
                    <a:pt x="11993" y="1"/>
                  </a:cubicBezTo>
                  <a:close/>
                </a:path>
              </a:pathLst>
            </a:custGeom>
            <a:solidFill>
              <a:srgbClr val="30C1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380;p43">
              <a:extLst>
                <a:ext uri="{FF2B5EF4-FFF2-40B4-BE49-F238E27FC236}">
                  <a16:creationId xmlns:a16="http://schemas.microsoft.com/office/drawing/2014/main" id="{34A16E57-64BA-5084-F965-92D1151F7314}"/>
                </a:ext>
              </a:extLst>
            </p:cNvPr>
            <p:cNvSpPr/>
            <p:nvPr/>
          </p:nvSpPr>
          <p:spPr>
            <a:xfrm>
              <a:off x="4744314" y="3418201"/>
              <a:ext cx="304643" cy="303846"/>
            </a:xfrm>
            <a:custGeom>
              <a:avLst/>
              <a:gdLst/>
              <a:ahLst/>
              <a:cxnLst/>
              <a:rect l="l" t="t" r="r" b="b"/>
              <a:pathLst>
                <a:path w="4204" h="4193" extrusionOk="0">
                  <a:moveTo>
                    <a:pt x="2097" y="1"/>
                  </a:moveTo>
                  <a:cubicBezTo>
                    <a:pt x="941" y="1"/>
                    <a:pt x="1" y="941"/>
                    <a:pt x="1" y="2096"/>
                  </a:cubicBezTo>
                  <a:cubicBezTo>
                    <a:pt x="1" y="3252"/>
                    <a:pt x="941" y="4193"/>
                    <a:pt x="2097" y="4193"/>
                  </a:cubicBezTo>
                  <a:cubicBezTo>
                    <a:pt x="3263" y="4193"/>
                    <a:pt x="4203" y="3252"/>
                    <a:pt x="4203" y="2096"/>
                  </a:cubicBezTo>
                  <a:cubicBezTo>
                    <a:pt x="4203" y="941"/>
                    <a:pt x="3263" y="1"/>
                    <a:pt x="2097" y="1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Google Shape;1383;p43">
            <a:extLst>
              <a:ext uri="{FF2B5EF4-FFF2-40B4-BE49-F238E27FC236}">
                <a16:creationId xmlns:a16="http://schemas.microsoft.com/office/drawing/2014/main" id="{84BF8202-CF67-B896-857F-4714C90DBBD0}"/>
              </a:ext>
            </a:extLst>
          </p:cNvPr>
          <p:cNvSpPr/>
          <p:nvPr/>
        </p:nvSpPr>
        <p:spPr>
          <a:xfrm>
            <a:off x="434161" y="3566093"/>
            <a:ext cx="931835" cy="901860"/>
          </a:xfrm>
          <a:custGeom>
            <a:avLst/>
            <a:gdLst/>
            <a:ahLst/>
            <a:cxnLst/>
            <a:rect l="l" t="t" r="r" b="b"/>
            <a:pathLst>
              <a:path w="10521" h="10143" extrusionOk="0">
                <a:moveTo>
                  <a:pt x="5255" y="0"/>
                </a:moveTo>
                <a:cubicBezTo>
                  <a:pt x="2352" y="0"/>
                  <a:pt x="0" y="2270"/>
                  <a:pt x="0" y="5071"/>
                </a:cubicBezTo>
                <a:cubicBezTo>
                  <a:pt x="0" y="7873"/>
                  <a:pt x="2352" y="10142"/>
                  <a:pt x="5255" y="10142"/>
                </a:cubicBezTo>
                <a:cubicBezTo>
                  <a:pt x="8159" y="10142"/>
                  <a:pt x="10520" y="7873"/>
                  <a:pt x="10520" y="5071"/>
                </a:cubicBezTo>
                <a:cubicBezTo>
                  <a:pt x="10520" y="2270"/>
                  <a:pt x="8159" y="0"/>
                  <a:pt x="525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384;p43">
            <a:extLst>
              <a:ext uri="{FF2B5EF4-FFF2-40B4-BE49-F238E27FC236}">
                <a16:creationId xmlns:a16="http://schemas.microsoft.com/office/drawing/2014/main" id="{5F2E42C2-9F02-4E48-A4BC-0E986C00AFE0}"/>
              </a:ext>
            </a:extLst>
          </p:cNvPr>
          <p:cNvSpPr/>
          <p:nvPr/>
        </p:nvSpPr>
        <p:spPr>
          <a:xfrm>
            <a:off x="3652192" y="3860783"/>
            <a:ext cx="229836" cy="230785"/>
          </a:xfrm>
          <a:custGeom>
            <a:avLst/>
            <a:gdLst/>
            <a:ahLst/>
            <a:cxnLst/>
            <a:rect l="l" t="t" r="r" b="b"/>
            <a:pathLst>
              <a:path w="4362" h="4363" extrusionOk="0">
                <a:moveTo>
                  <a:pt x="2181" y="446"/>
                </a:moveTo>
                <a:cubicBezTo>
                  <a:pt x="3143" y="446"/>
                  <a:pt x="3916" y="1229"/>
                  <a:pt x="3916" y="2181"/>
                </a:cubicBezTo>
                <a:cubicBezTo>
                  <a:pt x="3916" y="3142"/>
                  <a:pt x="3143" y="3916"/>
                  <a:pt x="2181" y="3916"/>
                </a:cubicBezTo>
                <a:cubicBezTo>
                  <a:pt x="1220" y="3916"/>
                  <a:pt x="447" y="3142"/>
                  <a:pt x="447" y="2181"/>
                </a:cubicBezTo>
                <a:cubicBezTo>
                  <a:pt x="447" y="1229"/>
                  <a:pt x="1220" y="446"/>
                  <a:pt x="2181" y="446"/>
                </a:cubicBezTo>
                <a:close/>
                <a:moveTo>
                  <a:pt x="2181" y="0"/>
                </a:moveTo>
                <a:cubicBezTo>
                  <a:pt x="982" y="0"/>
                  <a:pt x="0" y="981"/>
                  <a:pt x="0" y="2181"/>
                </a:cubicBezTo>
                <a:cubicBezTo>
                  <a:pt x="0" y="3391"/>
                  <a:pt x="982" y="4362"/>
                  <a:pt x="2181" y="4362"/>
                </a:cubicBezTo>
                <a:cubicBezTo>
                  <a:pt x="3381" y="4362"/>
                  <a:pt x="4362" y="3391"/>
                  <a:pt x="4362" y="2181"/>
                </a:cubicBezTo>
                <a:cubicBezTo>
                  <a:pt x="4362" y="981"/>
                  <a:pt x="3381" y="0"/>
                  <a:pt x="218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385;p43">
            <a:extLst>
              <a:ext uri="{FF2B5EF4-FFF2-40B4-BE49-F238E27FC236}">
                <a16:creationId xmlns:a16="http://schemas.microsoft.com/office/drawing/2014/main" id="{5DDD2A75-163F-132B-20FC-B0380C0F4B2F}"/>
              </a:ext>
            </a:extLst>
          </p:cNvPr>
          <p:cNvSpPr/>
          <p:nvPr/>
        </p:nvSpPr>
        <p:spPr>
          <a:xfrm>
            <a:off x="3742029" y="3925793"/>
            <a:ext cx="32405" cy="86538"/>
          </a:xfrm>
          <a:custGeom>
            <a:avLst/>
            <a:gdLst/>
            <a:ahLst/>
            <a:cxnLst/>
            <a:rect l="l" t="t" r="r" b="b"/>
            <a:pathLst>
              <a:path w="615" h="1636" extrusionOk="0">
                <a:moveTo>
                  <a:pt x="516" y="0"/>
                </a:moveTo>
                <a:cubicBezTo>
                  <a:pt x="467" y="0"/>
                  <a:pt x="417" y="50"/>
                  <a:pt x="417" y="100"/>
                </a:cubicBezTo>
                <a:lnTo>
                  <a:pt x="417" y="1081"/>
                </a:lnTo>
                <a:lnTo>
                  <a:pt x="40" y="1468"/>
                </a:lnTo>
                <a:cubicBezTo>
                  <a:pt x="0" y="1507"/>
                  <a:pt x="0" y="1567"/>
                  <a:pt x="40" y="1606"/>
                </a:cubicBezTo>
                <a:cubicBezTo>
                  <a:pt x="60" y="1626"/>
                  <a:pt x="80" y="1636"/>
                  <a:pt x="110" y="1636"/>
                </a:cubicBezTo>
                <a:cubicBezTo>
                  <a:pt x="130" y="1636"/>
                  <a:pt x="159" y="1626"/>
                  <a:pt x="179" y="1606"/>
                </a:cubicBezTo>
                <a:lnTo>
                  <a:pt x="586" y="1190"/>
                </a:lnTo>
                <a:cubicBezTo>
                  <a:pt x="605" y="1180"/>
                  <a:pt x="615" y="1150"/>
                  <a:pt x="615" y="1131"/>
                </a:cubicBezTo>
                <a:lnTo>
                  <a:pt x="615" y="100"/>
                </a:lnTo>
                <a:cubicBezTo>
                  <a:pt x="615" y="50"/>
                  <a:pt x="566" y="0"/>
                  <a:pt x="51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386;p43">
            <a:extLst>
              <a:ext uri="{FF2B5EF4-FFF2-40B4-BE49-F238E27FC236}">
                <a16:creationId xmlns:a16="http://schemas.microsoft.com/office/drawing/2014/main" id="{709827E5-F2D5-A762-EC3B-DBC733B13584}"/>
              </a:ext>
            </a:extLst>
          </p:cNvPr>
          <p:cNvSpPr/>
          <p:nvPr/>
        </p:nvSpPr>
        <p:spPr>
          <a:xfrm>
            <a:off x="3653724" y="4689018"/>
            <a:ext cx="226779" cy="227664"/>
          </a:xfrm>
          <a:custGeom>
            <a:avLst/>
            <a:gdLst/>
            <a:ahLst/>
            <a:cxnLst/>
            <a:rect l="l" t="t" r="r" b="b"/>
            <a:pathLst>
              <a:path w="4304" h="4304" extrusionOk="0">
                <a:moveTo>
                  <a:pt x="2152" y="1359"/>
                </a:moveTo>
                <a:cubicBezTo>
                  <a:pt x="2588" y="1369"/>
                  <a:pt x="2935" y="1716"/>
                  <a:pt x="2935" y="2152"/>
                </a:cubicBezTo>
                <a:cubicBezTo>
                  <a:pt x="2935" y="2588"/>
                  <a:pt x="2578" y="2935"/>
                  <a:pt x="2152" y="2935"/>
                </a:cubicBezTo>
                <a:cubicBezTo>
                  <a:pt x="1715" y="2935"/>
                  <a:pt x="1369" y="2578"/>
                  <a:pt x="1369" y="2142"/>
                </a:cubicBezTo>
                <a:cubicBezTo>
                  <a:pt x="1369" y="1716"/>
                  <a:pt x="1715" y="1359"/>
                  <a:pt x="2152" y="1359"/>
                </a:cubicBezTo>
                <a:close/>
                <a:moveTo>
                  <a:pt x="1765" y="1"/>
                </a:moveTo>
                <a:lnTo>
                  <a:pt x="1765" y="496"/>
                </a:lnTo>
                <a:cubicBezTo>
                  <a:pt x="1587" y="536"/>
                  <a:pt x="1418" y="606"/>
                  <a:pt x="1259" y="705"/>
                </a:cubicBezTo>
                <a:lnTo>
                  <a:pt x="913" y="348"/>
                </a:lnTo>
                <a:lnTo>
                  <a:pt x="358" y="893"/>
                </a:lnTo>
                <a:lnTo>
                  <a:pt x="715" y="1250"/>
                </a:lnTo>
                <a:cubicBezTo>
                  <a:pt x="615" y="1399"/>
                  <a:pt x="546" y="1577"/>
                  <a:pt x="496" y="1756"/>
                </a:cubicBezTo>
                <a:lnTo>
                  <a:pt x="1" y="1756"/>
                </a:lnTo>
                <a:lnTo>
                  <a:pt x="1" y="2529"/>
                </a:lnTo>
                <a:lnTo>
                  <a:pt x="496" y="2529"/>
                </a:lnTo>
                <a:cubicBezTo>
                  <a:pt x="536" y="2717"/>
                  <a:pt x="605" y="2886"/>
                  <a:pt x="704" y="3034"/>
                </a:cubicBezTo>
                <a:lnTo>
                  <a:pt x="347" y="3391"/>
                </a:lnTo>
                <a:lnTo>
                  <a:pt x="903" y="3937"/>
                </a:lnTo>
                <a:lnTo>
                  <a:pt x="1250" y="3589"/>
                </a:lnTo>
                <a:cubicBezTo>
                  <a:pt x="1408" y="3688"/>
                  <a:pt x="1577" y="3758"/>
                  <a:pt x="1755" y="3798"/>
                </a:cubicBezTo>
                <a:lnTo>
                  <a:pt x="1755" y="4294"/>
                </a:lnTo>
                <a:lnTo>
                  <a:pt x="2528" y="4303"/>
                </a:lnTo>
                <a:lnTo>
                  <a:pt x="2539" y="3807"/>
                </a:lnTo>
                <a:cubicBezTo>
                  <a:pt x="2717" y="3758"/>
                  <a:pt x="2885" y="3688"/>
                  <a:pt x="3044" y="3600"/>
                </a:cubicBezTo>
                <a:lnTo>
                  <a:pt x="3391" y="3946"/>
                </a:lnTo>
                <a:lnTo>
                  <a:pt x="3946" y="3401"/>
                </a:lnTo>
                <a:lnTo>
                  <a:pt x="3589" y="3045"/>
                </a:lnTo>
                <a:cubicBezTo>
                  <a:pt x="3688" y="2895"/>
                  <a:pt x="3757" y="2727"/>
                  <a:pt x="3807" y="2539"/>
                </a:cubicBezTo>
                <a:lnTo>
                  <a:pt x="4303" y="2539"/>
                </a:lnTo>
                <a:lnTo>
                  <a:pt x="4303" y="1765"/>
                </a:lnTo>
                <a:lnTo>
                  <a:pt x="3807" y="1765"/>
                </a:lnTo>
                <a:cubicBezTo>
                  <a:pt x="3768" y="1587"/>
                  <a:pt x="3698" y="1408"/>
                  <a:pt x="3599" y="1260"/>
                </a:cubicBezTo>
                <a:lnTo>
                  <a:pt x="3946" y="903"/>
                </a:lnTo>
                <a:lnTo>
                  <a:pt x="3401" y="358"/>
                </a:lnTo>
                <a:lnTo>
                  <a:pt x="3054" y="705"/>
                </a:lnTo>
                <a:cubicBezTo>
                  <a:pt x="2895" y="606"/>
                  <a:pt x="2727" y="536"/>
                  <a:pt x="2548" y="496"/>
                </a:cubicBezTo>
                <a:lnTo>
                  <a:pt x="254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387;p43">
            <a:extLst>
              <a:ext uri="{FF2B5EF4-FFF2-40B4-BE49-F238E27FC236}">
                <a16:creationId xmlns:a16="http://schemas.microsoft.com/office/drawing/2014/main" id="{F3959742-8FEE-25F7-4B6E-1AEF018F0CC7}"/>
              </a:ext>
            </a:extLst>
          </p:cNvPr>
          <p:cNvSpPr/>
          <p:nvPr/>
        </p:nvSpPr>
        <p:spPr>
          <a:xfrm>
            <a:off x="3775459" y="2182136"/>
            <a:ext cx="95107" cy="95478"/>
          </a:xfrm>
          <a:custGeom>
            <a:avLst/>
            <a:gdLst/>
            <a:ahLst/>
            <a:cxnLst/>
            <a:rect l="l" t="t" r="r" b="b"/>
            <a:pathLst>
              <a:path w="1805" h="1805" extrusionOk="0">
                <a:moveTo>
                  <a:pt x="10" y="1"/>
                </a:moveTo>
                <a:lnTo>
                  <a:pt x="0" y="1794"/>
                </a:lnTo>
                <a:lnTo>
                  <a:pt x="1804" y="1805"/>
                </a:lnTo>
                <a:cubicBezTo>
                  <a:pt x="1804" y="813"/>
                  <a:pt x="1001" y="1"/>
                  <a:pt x="1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388;p43">
            <a:extLst>
              <a:ext uri="{FF2B5EF4-FFF2-40B4-BE49-F238E27FC236}">
                <a16:creationId xmlns:a16="http://schemas.microsoft.com/office/drawing/2014/main" id="{A84E484C-19FB-24F0-3A51-824E0BB6CB91}"/>
              </a:ext>
            </a:extLst>
          </p:cNvPr>
          <p:cNvSpPr/>
          <p:nvPr/>
        </p:nvSpPr>
        <p:spPr>
          <a:xfrm>
            <a:off x="3663651" y="2198904"/>
            <a:ext cx="189633" cy="190373"/>
          </a:xfrm>
          <a:custGeom>
            <a:avLst/>
            <a:gdLst/>
            <a:ahLst/>
            <a:cxnLst/>
            <a:rect l="l" t="t" r="r" b="b"/>
            <a:pathLst>
              <a:path w="3599" h="3599" extrusionOk="0">
                <a:moveTo>
                  <a:pt x="1805" y="1"/>
                </a:moveTo>
                <a:cubicBezTo>
                  <a:pt x="814" y="1"/>
                  <a:pt x="10" y="803"/>
                  <a:pt x="1" y="1795"/>
                </a:cubicBezTo>
                <a:cubicBezTo>
                  <a:pt x="1" y="2786"/>
                  <a:pt x="803" y="3599"/>
                  <a:pt x="1795" y="3599"/>
                </a:cubicBezTo>
                <a:cubicBezTo>
                  <a:pt x="2786" y="3599"/>
                  <a:pt x="3599" y="2796"/>
                  <a:pt x="3599" y="1805"/>
                </a:cubicBezTo>
                <a:lnTo>
                  <a:pt x="1805" y="1805"/>
                </a:lnTo>
                <a:lnTo>
                  <a:pt x="180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89;p43">
            <a:extLst>
              <a:ext uri="{FF2B5EF4-FFF2-40B4-BE49-F238E27FC236}">
                <a16:creationId xmlns:a16="http://schemas.microsoft.com/office/drawing/2014/main" id="{BFAB0168-8065-DE17-5DCB-B383F0FFAF8D}"/>
              </a:ext>
            </a:extLst>
          </p:cNvPr>
          <p:cNvSpPr/>
          <p:nvPr/>
        </p:nvSpPr>
        <p:spPr>
          <a:xfrm>
            <a:off x="3717300" y="3204195"/>
            <a:ext cx="87782" cy="13699"/>
          </a:xfrm>
          <a:custGeom>
            <a:avLst/>
            <a:gdLst/>
            <a:ahLst/>
            <a:cxnLst/>
            <a:rect l="l" t="t" r="r" b="b"/>
            <a:pathLst>
              <a:path w="1666" h="259" extrusionOk="0">
                <a:moveTo>
                  <a:pt x="129" y="1"/>
                </a:moveTo>
                <a:cubicBezTo>
                  <a:pt x="50" y="1"/>
                  <a:pt x="1" y="60"/>
                  <a:pt x="1" y="130"/>
                </a:cubicBezTo>
                <a:cubicBezTo>
                  <a:pt x="1" y="199"/>
                  <a:pt x="50" y="259"/>
                  <a:pt x="129" y="259"/>
                </a:cubicBezTo>
                <a:lnTo>
                  <a:pt x="1537" y="259"/>
                </a:lnTo>
                <a:cubicBezTo>
                  <a:pt x="1606" y="259"/>
                  <a:pt x="1666" y="199"/>
                  <a:pt x="1666" y="130"/>
                </a:cubicBezTo>
                <a:cubicBezTo>
                  <a:pt x="1666" y="60"/>
                  <a:pt x="1606" y="1"/>
                  <a:pt x="153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390;p43">
            <a:extLst>
              <a:ext uri="{FF2B5EF4-FFF2-40B4-BE49-F238E27FC236}">
                <a16:creationId xmlns:a16="http://schemas.microsoft.com/office/drawing/2014/main" id="{9CF75DD3-ADB9-6711-C9FF-7C55D4ED0B8C}"/>
              </a:ext>
            </a:extLst>
          </p:cNvPr>
          <p:cNvSpPr/>
          <p:nvPr/>
        </p:nvSpPr>
        <p:spPr>
          <a:xfrm>
            <a:off x="3726152" y="3223608"/>
            <a:ext cx="67971" cy="13699"/>
          </a:xfrm>
          <a:custGeom>
            <a:avLst/>
            <a:gdLst/>
            <a:ahLst/>
            <a:cxnLst/>
            <a:rect l="l" t="t" r="r" b="b"/>
            <a:pathLst>
              <a:path w="1290" h="259" extrusionOk="0">
                <a:moveTo>
                  <a:pt x="130" y="1"/>
                </a:moveTo>
                <a:cubicBezTo>
                  <a:pt x="51" y="1"/>
                  <a:pt x="1" y="60"/>
                  <a:pt x="1" y="129"/>
                </a:cubicBezTo>
                <a:cubicBezTo>
                  <a:pt x="1" y="199"/>
                  <a:pt x="51" y="259"/>
                  <a:pt x="130" y="259"/>
                </a:cubicBezTo>
                <a:lnTo>
                  <a:pt x="1161" y="259"/>
                </a:lnTo>
                <a:cubicBezTo>
                  <a:pt x="1230" y="259"/>
                  <a:pt x="1289" y="199"/>
                  <a:pt x="1289" y="129"/>
                </a:cubicBezTo>
                <a:cubicBezTo>
                  <a:pt x="1289" y="60"/>
                  <a:pt x="1230" y="1"/>
                  <a:pt x="116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391;p43">
            <a:extLst>
              <a:ext uri="{FF2B5EF4-FFF2-40B4-BE49-F238E27FC236}">
                <a16:creationId xmlns:a16="http://schemas.microsoft.com/office/drawing/2014/main" id="{E4EB8BBE-9C8D-035C-14DA-9F5B6B77170A}"/>
              </a:ext>
            </a:extLst>
          </p:cNvPr>
          <p:cNvSpPr/>
          <p:nvPr/>
        </p:nvSpPr>
        <p:spPr>
          <a:xfrm>
            <a:off x="3670775" y="2999750"/>
            <a:ext cx="179727" cy="194022"/>
          </a:xfrm>
          <a:custGeom>
            <a:avLst/>
            <a:gdLst/>
            <a:ahLst/>
            <a:cxnLst/>
            <a:rect l="l" t="t" r="r" b="b"/>
            <a:pathLst>
              <a:path w="3411" h="3668" extrusionOk="0">
                <a:moveTo>
                  <a:pt x="2252" y="1454"/>
                </a:moveTo>
                <a:cubicBezTo>
                  <a:pt x="2266" y="1454"/>
                  <a:pt x="2281" y="1462"/>
                  <a:pt x="2291" y="1477"/>
                </a:cubicBezTo>
                <a:cubicBezTo>
                  <a:pt x="2321" y="1497"/>
                  <a:pt x="2321" y="1537"/>
                  <a:pt x="2291" y="1556"/>
                </a:cubicBezTo>
                <a:lnTo>
                  <a:pt x="1587" y="2260"/>
                </a:lnTo>
                <a:cubicBezTo>
                  <a:pt x="1577" y="2270"/>
                  <a:pt x="1567" y="2280"/>
                  <a:pt x="1547" y="2280"/>
                </a:cubicBezTo>
                <a:cubicBezTo>
                  <a:pt x="1538" y="2280"/>
                  <a:pt x="1518" y="2270"/>
                  <a:pt x="1508" y="2260"/>
                </a:cubicBezTo>
                <a:lnTo>
                  <a:pt x="1161" y="1913"/>
                </a:lnTo>
                <a:cubicBezTo>
                  <a:pt x="1141" y="1893"/>
                  <a:pt x="1141" y="1854"/>
                  <a:pt x="1161" y="1834"/>
                </a:cubicBezTo>
                <a:cubicBezTo>
                  <a:pt x="1171" y="1819"/>
                  <a:pt x="1186" y="1811"/>
                  <a:pt x="1201" y="1811"/>
                </a:cubicBezTo>
                <a:cubicBezTo>
                  <a:pt x="1216" y="1811"/>
                  <a:pt x="1231" y="1819"/>
                  <a:pt x="1240" y="1834"/>
                </a:cubicBezTo>
                <a:lnTo>
                  <a:pt x="1547" y="2141"/>
                </a:lnTo>
                <a:lnTo>
                  <a:pt x="2212" y="1477"/>
                </a:lnTo>
                <a:cubicBezTo>
                  <a:pt x="2222" y="1462"/>
                  <a:pt x="2237" y="1454"/>
                  <a:pt x="2252" y="1454"/>
                </a:cubicBezTo>
                <a:close/>
                <a:moveTo>
                  <a:pt x="1722" y="0"/>
                </a:moveTo>
                <a:cubicBezTo>
                  <a:pt x="1661" y="0"/>
                  <a:pt x="1599" y="4"/>
                  <a:pt x="1538" y="10"/>
                </a:cubicBezTo>
                <a:cubicBezTo>
                  <a:pt x="784" y="89"/>
                  <a:pt x="170" y="704"/>
                  <a:pt x="71" y="1457"/>
                </a:cubicBezTo>
                <a:cubicBezTo>
                  <a:pt x="1" y="2002"/>
                  <a:pt x="190" y="2537"/>
                  <a:pt x="596" y="2905"/>
                </a:cubicBezTo>
                <a:cubicBezTo>
                  <a:pt x="794" y="3083"/>
                  <a:pt x="864" y="3231"/>
                  <a:pt x="864" y="3430"/>
                </a:cubicBezTo>
                <a:lnTo>
                  <a:pt x="864" y="3489"/>
                </a:lnTo>
                <a:cubicBezTo>
                  <a:pt x="864" y="3588"/>
                  <a:pt x="953" y="3668"/>
                  <a:pt x="1052" y="3668"/>
                </a:cubicBezTo>
                <a:lnTo>
                  <a:pt x="2410" y="3668"/>
                </a:lnTo>
                <a:cubicBezTo>
                  <a:pt x="2519" y="3668"/>
                  <a:pt x="2598" y="3588"/>
                  <a:pt x="2598" y="3489"/>
                </a:cubicBezTo>
                <a:lnTo>
                  <a:pt x="2598" y="3430"/>
                </a:lnTo>
                <a:cubicBezTo>
                  <a:pt x="2598" y="3231"/>
                  <a:pt x="2677" y="3083"/>
                  <a:pt x="2866" y="2905"/>
                </a:cubicBezTo>
                <a:cubicBezTo>
                  <a:pt x="3213" y="2587"/>
                  <a:pt x="3411" y="2141"/>
                  <a:pt x="3411" y="1675"/>
                </a:cubicBezTo>
                <a:cubicBezTo>
                  <a:pt x="3411" y="1200"/>
                  <a:pt x="3203" y="744"/>
                  <a:pt x="2846" y="426"/>
                </a:cubicBezTo>
                <a:cubicBezTo>
                  <a:pt x="2543" y="149"/>
                  <a:pt x="2142" y="0"/>
                  <a:pt x="172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FA1945BD-E451-63D1-731B-31C0D38CD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88" y="1205182"/>
            <a:ext cx="133201" cy="133201"/>
          </a:xfrm>
          <a:prstGeom prst="rect">
            <a:avLst/>
          </a:prstGeom>
        </p:spPr>
      </p:pic>
      <p:sp>
        <p:nvSpPr>
          <p:cNvPr id="29" name="Text 1">
            <a:extLst>
              <a:ext uri="{FF2B5EF4-FFF2-40B4-BE49-F238E27FC236}">
                <a16:creationId xmlns:a16="http://schemas.microsoft.com/office/drawing/2014/main" id="{6040A4F5-90D2-116F-5E72-3C5FEF5EB470}"/>
              </a:ext>
            </a:extLst>
          </p:cNvPr>
          <p:cNvSpPr/>
          <p:nvPr/>
        </p:nvSpPr>
        <p:spPr>
          <a:xfrm>
            <a:off x="1085515" y="108707"/>
            <a:ext cx="377790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BLOC 01 · CADRAGE · POSITIONNEMENT</a:t>
            </a:r>
            <a:endParaRPr lang="en-US" sz="11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77FFFA61-21D8-A710-E54D-D50E2072EB8E}"/>
              </a:ext>
            </a:extLst>
          </p:cNvPr>
          <p:cNvSpPr/>
          <p:nvPr/>
        </p:nvSpPr>
        <p:spPr>
          <a:xfrm>
            <a:off x="838088" y="456221"/>
            <a:ext cx="11567406" cy="465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850" b="1" kern="0" spc="-57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Pourquoi pas une </a:t>
            </a:r>
            <a:r>
              <a:rPr lang="en-US" sz="2850" b="1" kern="0" spc="-57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plateforme existante </a:t>
            </a:r>
            <a:r>
              <a:rPr lang="en-US" sz="2850" b="1" kern="0" spc="-57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?</a:t>
            </a:r>
            <a:endParaRPr lang="en-US" sz="2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8A5E1785-4CA3-0164-BD23-B29257D1397A}"/>
              </a:ext>
            </a:extLst>
          </p:cNvPr>
          <p:cNvSpPr/>
          <p:nvPr/>
        </p:nvSpPr>
        <p:spPr>
          <a:xfrm>
            <a:off x="5076706" y="1806699"/>
            <a:ext cx="3612488" cy="4784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400" b="1" kern="0" spc="-16" dirty="0"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Les plateformes du marché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 5">
            <a:extLst>
              <a:ext uri="{FF2B5EF4-FFF2-40B4-BE49-F238E27FC236}">
                <a16:creationId xmlns:a16="http://schemas.microsoft.com/office/drawing/2014/main" id="{1DCEAE45-3676-BF80-F453-B7F26C0A7F84}"/>
              </a:ext>
            </a:extLst>
          </p:cNvPr>
          <p:cNvSpPr/>
          <p:nvPr/>
        </p:nvSpPr>
        <p:spPr>
          <a:xfrm>
            <a:off x="9891259" y="2021944"/>
            <a:ext cx="2765832" cy="26738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00" kern="0" spc="17" dirty="0"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Kubeflow · ZenML · Databricks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Shape 6">
            <a:extLst>
              <a:ext uri="{FF2B5EF4-FFF2-40B4-BE49-F238E27FC236}">
                <a16:creationId xmlns:a16="http://schemas.microsoft.com/office/drawing/2014/main" id="{B46034D7-1292-4297-FC82-516E3CFA867E}"/>
              </a:ext>
            </a:extLst>
          </p:cNvPr>
          <p:cNvSpPr/>
          <p:nvPr/>
        </p:nvSpPr>
        <p:spPr>
          <a:xfrm>
            <a:off x="5076706" y="2425687"/>
            <a:ext cx="6197469" cy="14073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FR" sz="3200"/>
          </a:p>
        </p:txBody>
      </p:sp>
      <p:sp>
        <p:nvSpPr>
          <p:cNvPr id="47" name="Shape 7">
            <a:extLst>
              <a:ext uri="{FF2B5EF4-FFF2-40B4-BE49-F238E27FC236}">
                <a16:creationId xmlns:a16="http://schemas.microsoft.com/office/drawing/2014/main" id="{F053672A-B5DA-2FA7-E3C8-22C60F75096D}"/>
              </a:ext>
            </a:extLst>
          </p:cNvPr>
          <p:cNvSpPr/>
          <p:nvPr/>
        </p:nvSpPr>
        <p:spPr>
          <a:xfrm>
            <a:off x="5076706" y="3110642"/>
            <a:ext cx="6197469" cy="17591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FR" sz="3200"/>
          </a:p>
        </p:txBody>
      </p:sp>
      <p:sp>
        <p:nvSpPr>
          <p:cNvPr id="48" name="Shape 8">
            <a:extLst>
              <a:ext uri="{FF2B5EF4-FFF2-40B4-BE49-F238E27FC236}">
                <a16:creationId xmlns:a16="http://schemas.microsoft.com/office/drawing/2014/main" id="{DECD3011-5563-62C3-8113-E5F8E44C603B}"/>
              </a:ext>
            </a:extLst>
          </p:cNvPr>
          <p:cNvSpPr/>
          <p:nvPr/>
        </p:nvSpPr>
        <p:spPr>
          <a:xfrm>
            <a:off x="5076706" y="2678560"/>
            <a:ext cx="165110" cy="18278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1906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fr-FR" sz="3200"/>
          </a:p>
        </p:txBody>
      </p:sp>
      <p:sp>
        <p:nvSpPr>
          <p:cNvPr id="49" name="Text 9">
            <a:extLst>
              <a:ext uri="{FF2B5EF4-FFF2-40B4-BE49-F238E27FC236}">
                <a16:creationId xmlns:a16="http://schemas.microsoft.com/office/drawing/2014/main" id="{8C744ED2-4360-69BD-8433-4BA75F5D5915}"/>
              </a:ext>
            </a:extLst>
          </p:cNvPr>
          <p:cNvSpPr/>
          <p:nvPr/>
        </p:nvSpPr>
        <p:spPr>
          <a:xfrm>
            <a:off x="5470488" y="2636505"/>
            <a:ext cx="6384055" cy="361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b="1" dirty="0"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Cloud-first </a:t>
            </a:r>
            <a:r>
              <a:rPr lang="en-US" dirty="0"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ou Kubernetes requis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Shape 10">
            <a:extLst>
              <a:ext uri="{FF2B5EF4-FFF2-40B4-BE49-F238E27FC236}">
                <a16:creationId xmlns:a16="http://schemas.microsoft.com/office/drawing/2014/main" id="{A5592C6F-4A12-DB61-2098-2DB7B28DC6D9}"/>
              </a:ext>
            </a:extLst>
          </p:cNvPr>
          <p:cNvSpPr/>
          <p:nvPr/>
        </p:nvSpPr>
        <p:spPr>
          <a:xfrm>
            <a:off x="5076706" y="3771133"/>
            <a:ext cx="6197469" cy="17591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FR" sz="3200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ACB0A79-3376-9040-9E6D-FB0A02F2668F}"/>
              </a:ext>
            </a:extLst>
          </p:cNvPr>
          <p:cNvSpPr/>
          <p:nvPr/>
        </p:nvSpPr>
        <p:spPr>
          <a:xfrm>
            <a:off x="5076706" y="3339051"/>
            <a:ext cx="165110" cy="182782"/>
          </a:xfrm>
          <a:prstGeom prst="ellipse">
            <a:avLst/>
          </a:prstGeom>
          <a:ln w="11906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fr-FR" sz="3200"/>
          </a:p>
        </p:txBody>
      </p:sp>
      <p:sp>
        <p:nvSpPr>
          <p:cNvPr id="52" name="Text 12">
            <a:extLst>
              <a:ext uri="{FF2B5EF4-FFF2-40B4-BE49-F238E27FC236}">
                <a16:creationId xmlns:a16="http://schemas.microsoft.com/office/drawing/2014/main" id="{045E7340-DF48-590C-8D99-7FAFFF2DAD60}"/>
              </a:ext>
            </a:extLst>
          </p:cNvPr>
          <p:cNvSpPr/>
          <p:nvPr/>
        </p:nvSpPr>
        <p:spPr>
          <a:xfrm>
            <a:off x="5470488" y="3296998"/>
            <a:ext cx="6384055" cy="361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dirty="0"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Infrastructure </a:t>
            </a:r>
            <a:r>
              <a:rPr lang="en-US" b="1" dirty="0"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lourde </a:t>
            </a:r>
            <a:r>
              <a:rPr lang="en-US" dirty="0"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à déployer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Shape 13">
            <a:extLst>
              <a:ext uri="{FF2B5EF4-FFF2-40B4-BE49-F238E27FC236}">
                <a16:creationId xmlns:a16="http://schemas.microsoft.com/office/drawing/2014/main" id="{4F9C8388-6149-BD18-C137-8A30665B19E5}"/>
              </a:ext>
            </a:extLst>
          </p:cNvPr>
          <p:cNvSpPr/>
          <p:nvPr/>
        </p:nvSpPr>
        <p:spPr>
          <a:xfrm>
            <a:off x="5076706" y="4431625"/>
            <a:ext cx="6197469" cy="17591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FR" sz="3200"/>
          </a:p>
        </p:txBody>
      </p:sp>
      <p:sp>
        <p:nvSpPr>
          <p:cNvPr id="54" name="Shape 14">
            <a:extLst>
              <a:ext uri="{FF2B5EF4-FFF2-40B4-BE49-F238E27FC236}">
                <a16:creationId xmlns:a16="http://schemas.microsoft.com/office/drawing/2014/main" id="{E5685E61-CBDC-617D-A154-C2E9566BFB8A}"/>
              </a:ext>
            </a:extLst>
          </p:cNvPr>
          <p:cNvSpPr/>
          <p:nvPr/>
        </p:nvSpPr>
        <p:spPr>
          <a:xfrm>
            <a:off x="5076706" y="3999543"/>
            <a:ext cx="165110" cy="18278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1906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fr-FR" sz="3200"/>
          </a:p>
        </p:txBody>
      </p:sp>
      <p:sp>
        <p:nvSpPr>
          <p:cNvPr id="55" name="Text 15">
            <a:extLst>
              <a:ext uri="{FF2B5EF4-FFF2-40B4-BE49-F238E27FC236}">
                <a16:creationId xmlns:a16="http://schemas.microsoft.com/office/drawing/2014/main" id="{82E278EF-410F-678F-897B-BF43AB94A9E8}"/>
              </a:ext>
            </a:extLst>
          </p:cNvPr>
          <p:cNvSpPr/>
          <p:nvPr/>
        </p:nvSpPr>
        <p:spPr>
          <a:xfrm>
            <a:off x="5470488" y="3957489"/>
            <a:ext cx="6384055" cy="361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dirty="0"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Une </a:t>
            </a:r>
            <a:r>
              <a:rPr lang="en-US" b="1" dirty="0"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équipe DevOps </a:t>
            </a:r>
            <a:r>
              <a:rPr lang="en-US" dirty="0"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nécessaire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Shape 17">
            <a:extLst>
              <a:ext uri="{FF2B5EF4-FFF2-40B4-BE49-F238E27FC236}">
                <a16:creationId xmlns:a16="http://schemas.microsoft.com/office/drawing/2014/main" id="{9CDBA859-8677-B5A1-DEC3-B25EB24685E1}"/>
              </a:ext>
            </a:extLst>
          </p:cNvPr>
          <p:cNvSpPr/>
          <p:nvPr/>
        </p:nvSpPr>
        <p:spPr>
          <a:xfrm>
            <a:off x="5090943" y="4769620"/>
            <a:ext cx="165110" cy="182782"/>
          </a:xfrm>
          <a:prstGeom prst="ellipse">
            <a:avLst/>
          </a:prstGeom>
          <a:ln w="11906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fr-FR" sz="3200"/>
          </a:p>
        </p:txBody>
      </p:sp>
      <p:sp>
        <p:nvSpPr>
          <p:cNvPr id="58" name="Text 18">
            <a:extLst>
              <a:ext uri="{FF2B5EF4-FFF2-40B4-BE49-F238E27FC236}">
                <a16:creationId xmlns:a16="http://schemas.microsoft.com/office/drawing/2014/main" id="{25518CEF-6493-21DC-C893-245A23C676A6}"/>
              </a:ext>
            </a:extLst>
          </p:cNvPr>
          <p:cNvSpPr/>
          <p:nvPr/>
        </p:nvSpPr>
        <p:spPr>
          <a:xfrm>
            <a:off x="5470488" y="4617981"/>
            <a:ext cx="6384055" cy="361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dirty="0"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Données souvent </a:t>
            </a:r>
            <a:r>
              <a:rPr lang="en-US" b="1" dirty="0"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dans le cloud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2278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12" grpId="0" animBg="1"/>
      <p:bldP spid="29" grpId="0" animBg="1"/>
      <p:bldP spid="30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7" grpId="0" animBg="1"/>
      <p:bldP spid="5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94A9C56-EC48-08B3-ED2D-DA0ECA5DD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1363;p43">
            <a:extLst>
              <a:ext uri="{FF2B5EF4-FFF2-40B4-BE49-F238E27FC236}">
                <a16:creationId xmlns:a16="http://schemas.microsoft.com/office/drawing/2014/main" id="{1E4007AA-17D8-ACEA-9D89-EAD5F3AD5A6D}"/>
              </a:ext>
            </a:extLst>
          </p:cNvPr>
          <p:cNvSpPr/>
          <p:nvPr/>
        </p:nvSpPr>
        <p:spPr>
          <a:xfrm rot="10800000">
            <a:off x="8702757" y="4666318"/>
            <a:ext cx="2433259" cy="462800"/>
          </a:xfrm>
          <a:custGeom>
            <a:avLst/>
            <a:gdLst/>
            <a:ahLst/>
            <a:cxnLst/>
            <a:rect l="l" t="t" r="r" b="b"/>
            <a:pathLst>
              <a:path w="27473" h="5205" extrusionOk="0">
                <a:moveTo>
                  <a:pt x="1" y="0"/>
                </a:moveTo>
                <a:lnTo>
                  <a:pt x="4029" y="5205"/>
                </a:lnTo>
                <a:lnTo>
                  <a:pt x="24876" y="5205"/>
                </a:lnTo>
                <a:cubicBezTo>
                  <a:pt x="26307" y="5205"/>
                  <a:pt x="27473" y="4039"/>
                  <a:pt x="27473" y="2608"/>
                </a:cubicBezTo>
                <a:cubicBezTo>
                  <a:pt x="27473" y="1166"/>
                  <a:pt x="26307" y="0"/>
                  <a:pt x="24876" y="0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" name="Google Shape;1364;p43">
            <a:extLst>
              <a:ext uri="{FF2B5EF4-FFF2-40B4-BE49-F238E27FC236}">
                <a16:creationId xmlns:a16="http://schemas.microsoft.com/office/drawing/2014/main" id="{D29D2D61-F960-9258-4E74-84E03EA7E9C0}"/>
              </a:ext>
            </a:extLst>
          </p:cNvPr>
          <p:cNvSpPr/>
          <p:nvPr/>
        </p:nvSpPr>
        <p:spPr>
          <a:xfrm rot="10800000">
            <a:off x="9553183" y="967383"/>
            <a:ext cx="4562017" cy="4418074"/>
          </a:xfrm>
          <a:custGeom>
            <a:avLst/>
            <a:gdLst/>
            <a:ahLst/>
            <a:cxnLst/>
            <a:rect l="l" t="t" r="r" b="b"/>
            <a:pathLst>
              <a:path w="51508" h="49689" extrusionOk="0">
                <a:moveTo>
                  <a:pt x="25754" y="0"/>
                </a:moveTo>
                <a:cubicBezTo>
                  <a:pt x="11533" y="0"/>
                  <a:pt x="0" y="11124"/>
                  <a:pt x="0" y="24844"/>
                </a:cubicBezTo>
                <a:cubicBezTo>
                  <a:pt x="0" y="38565"/>
                  <a:pt x="11533" y="49688"/>
                  <a:pt x="25754" y="49688"/>
                </a:cubicBezTo>
                <a:cubicBezTo>
                  <a:pt x="39986" y="49688"/>
                  <a:pt x="51508" y="38565"/>
                  <a:pt x="51508" y="24844"/>
                </a:cubicBezTo>
                <a:cubicBezTo>
                  <a:pt x="51508" y="11124"/>
                  <a:pt x="39986" y="0"/>
                  <a:pt x="2575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" name="Google Shape;1365;p43">
            <a:extLst>
              <a:ext uri="{FF2B5EF4-FFF2-40B4-BE49-F238E27FC236}">
                <a16:creationId xmlns:a16="http://schemas.microsoft.com/office/drawing/2014/main" id="{608EA27D-465F-7E34-5E8A-5E5CB170AAE7}"/>
              </a:ext>
            </a:extLst>
          </p:cNvPr>
          <p:cNvSpPr/>
          <p:nvPr/>
        </p:nvSpPr>
        <p:spPr>
          <a:xfrm rot="10800000">
            <a:off x="8782406" y="4716290"/>
            <a:ext cx="372345" cy="373707"/>
          </a:xfrm>
          <a:custGeom>
            <a:avLst/>
            <a:gdLst/>
            <a:ahLst/>
            <a:cxnLst/>
            <a:rect l="l" t="t" r="r" b="b"/>
            <a:pathLst>
              <a:path w="4204" h="4203" extrusionOk="0">
                <a:moveTo>
                  <a:pt x="2097" y="0"/>
                </a:moveTo>
                <a:cubicBezTo>
                  <a:pt x="941" y="0"/>
                  <a:pt x="1" y="941"/>
                  <a:pt x="1" y="2107"/>
                </a:cubicBezTo>
                <a:cubicBezTo>
                  <a:pt x="1" y="3261"/>
                  <a:pt x="941" y="4202"/>
                  <a:pt x="2097" y="4202"/>
                </a:cubicBezTo>
                <a:cubicBezTo>
                  <a:pt x="3263" y="4202"/>
                  <a:pt x="4203" y="3261"/>
                  <a:pt x="4203" y="2107"/>
                </a:cubicBezTo>
                <a:cubicBezTo>
                  <a:pt x="4203" y="941"/>
                  <a:pt x="3263" y="0"/>
                  <a:pt x="2097" y="0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" name="Google Shape;1367;p43">
            <a:extLst>
              <a:ext uri="{FF2B5EF4-FFF2-40B4-BE49-F238E27FC236}">
                <a16:creationId xmlns:a16="http://schemas.microsoft.com/office/drawing/2014/main" id="{E953B377-99B6-7E96-8B82-30F97A2C652B}"/>
              </a:ext>
            </a:extLst>
          </p:cNvPr>
          <p:cNvGrpSpPr/>
          <p:nvPr/>
        </p:nvGrpSpPr>
        <p:grpSpPr>
          <a:xfrm rot="10800000">
            <a:off x="8702757" y="1347406"/>
            <a:ext cx="5019467" cy="3658122"/>
            <a:chOff x="1007323" y="1440791"/>
            <a:chExt cx="4106801" cy="2981355"/>
          </a:xfrm>
        </p:grpSpPr>
        <p:sp>
          <p:nvSpPr>
            <p:cNvPr id="22" name="Google Shape;1368;p43">
              <a:extLst>
                <a:ext uri="{FF2B5EF4-FFF2-40B4-BE49-F238E27FC236}">
                  <a16:creationId xmlns:a16="http://schemas.microsoft.com/office/drawing/2014/main" id="{2948999C-D711-AF99-ADAD-677AFB6BC67C}"/>
                </a:ext>
              </a:extLst>
            </p:cNvPr>
            <p:cNvSpPr/>
            <p:nvPr/>
          </p:nvSpPr>
          <p:spPr>
            <a:xfrm>
              <a:off x="3123293" y="2007608"/>
              <a:ext cx="1990831" cy="377180"/>
            </a:xfrm>
            <a:custGeom>
              <a:avLst/>
              <a:gdLst/>
              <a:ahLst/>
              <a:cxnLst/>
              <a:rect l="l" t="t" r="r" b="b"/>
              <a:pathLst>
                <a:path w="27473" h="5205" extrusionOk="0">
                  <a:moveTo>
                    <a:pt x="1" y="1"/>
                  </a:moveTo>
                  <a:lnTo>
                    <a:pt x="4029" y="5204"/>
                  </a:lnTo>
                  <a:lnTo>
                    <a:pt x="24876" y="5204"/>
                  </a:lnTo>
                  <a:cubicBezTo>
                    <a:pt x="26307" y="5204"/>
                    <a:pt x="27473" y="4039"/>
                    <a:pt x="27473" y="2607"/>
                  </a:cubicBezTo>
                  <a:cubicBezTo>
                    <a:pt x="27473" y="1166"/>
                    <a:pt x="26307" y="1"/>
                    <a:pt x="24876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1369;p43">
              <a:extLst>
                <a:ext uri="{FF2B5EF4-FFF2-40B4-BE49-F238E27FC236}">
                  <a16:creationId xmlns:a16="http://schemas.microsoft.com/office/drawing/2014/main" id="{566D0835-78A1-E19B-783F-F3489FA5AA7A}"/>
                </a:ext>
              </a:extLst>
            </p:cNvPr>
            <p:cNvSpPr/>
            <p:nvPr/>
          </p:nvSpPr>
          <p:spPr>
            <a:xfrm>
              <a:off x="1007323" y="1440791"/>
              <a:ext cx="3090270" cy="2981355"/>
            </a:xfrm>
            <a:custGeom>
              <a:avLst/>
              <a:gdLst/>
              <a:ahLst/>
              <a:cxnLst/>
              <a:rect l="l" t="t" r="r" b="b"/>
              <a:pathLst>
                <a:path w="42645" h="41142" extrusionOk="0">
                  <a:moveTo>
                    <a:pt x="21317" y="1"/>
                  </a:moveTo>
                  <a:cubicBezTo>
                    <a:pt x="9549" y="1"/>
                    <a:pt x="0" y="9213"/>
                    <a:pt x="0" y="20571"/>
                  </a:cubicBezTo>
                  <a:cubicBezTo>
                    <a:pt x="0" y="31930"/>
                    <a:pt x="9549" y="41142"/>
                    <a:pt x="21317" y="41142"/>
                  </a:cubicBezTo>
                  <a:cubicBezTo>
                    <a:pt x="33095" y="41142"/>
                    <a:pt x="42644" y="31930"/>
                    <a:pt x="42644" y="20571"/>
                  </a:cubicBezTo>
                  <a:cubicBezTo>
                    <a:pt x="42644" y="9213"/>
                    <a:pt x="33095" y="1"/>
                    <a:pt x="21317" y="1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370;p43">
              <a:extLst>
                <a:ext uri="{FF2B5EF4-FFF2-40B4-BE49-F238E27FC236}">
                  <a16:creationId xmlns:a16="http://schemas.microsoft.com/office/drawing/2014/main" id="{876F003F-9C84-5A5B-CB1F-37D868BE8D9A}"/>
                </a:ext>
              </a:extLst>
            </p:cNvPr>
            <p:cNvSpPr/>
            <p:nvPr/>
          </p:nvSpPr>
          <p:spPr>
            <a:xfrm>
              <a:off x="4744314" y="2044637"/>
              <a:ext cx="304643" cy="304570"/>
            </a:xfrm>
            <a:custGeom>
              <a:avLst/>
              <a:gdLst/>
              <a:ahLst/>
              <a:cxnLst/>
              <a:rect l="l" t="t" r="r" b="b"/>
              <a:pathLst>
                <a:path w="4204" h="4203" extrusionOk="0">
                  <a:moveTo>
                    <a:pt x="2097" y="1"/>
                  </a:moveTo>
                  <a:cubicBezTo>
                    <a:pt x="941" y="1"/>
                    <a:pt x="1" y="941"/>
                    <a:pt x="1" y="2107"/>
                  </a:cubicBezTo>
                  <a:cubicBezTo>
                    <a:pt x="1" y="3262"/>
                    <a:pt x="941" y="4202"/>
                    <a:pt x="2097" y="4202"/>
                  </a:cubicBezTo>
                  <a:cubicBezTo>
                    <a:pt x="3263" y="4202"/>
                    <a:pt x="4203" y="3262"/>
                    <a:pt x="4203" y="2107"/>
                  </a:cubicBezTo>
                  <a:cubicBezTo>
                    <a:pt x="4203" y="941"/>
                    <a:pt x="3263" y="1"/>
                    <a:pt x="2097" y="1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" name="Google Shape;1372;p43">
            <a:extLst>
              <a:ext uri="{FF2B5EF4-FFF2-40B4-BE49-F238E27FC236}">
                <a16:creationId xmlns:a16="http://schemas.microsoft.com/office/drawing/2014/main" id="{80C43BA0-6B44-1B45-04E0-D8DA47207A89}"/>
              </a:ext>
            </a:extLst>
          </p:cNvPr>
          <p:cNvGrpSpPr/>
          <p:nvPr/>
        </p:nvGrpSpPr>
        <p:grpSpPr>
          <a:xfrm rot="10800000">
            <a:off x="8689210" y="1738278"/>
            <a:ext cx="4629232" cy="2876296"/>
            <a:chOff x="1337687" y="1759417"/>
            <a:chExt cx="3787521" cy="2344170"/>
          </a:xfrm>
        </p:grpSpPr>
        <p:sp>
          <p:nvSpPr>
            <p:cNvPr id="19" name="Google Shape;1373;p43">
              <a:extLst>
                <a:ext uri="{FF2B5EF4-FFF2-40B4-BE49-F238E27FC236}">
                  <a16:creationId xmlns:a16="http://schemas.microsoft.com/office/drawing/2014/main" id="{E1F9212A-99E9-92FD-D4D9-60F127034F9D}"/>
                </a:ext>
              </a:extLst>
            </p:cNvPr>
            <p:cNvSpPr/>
            <p:nvPr/>
          </p:nvSpPr>
          <p:spPr>
            <a:xfrm>
              <a:off x="3351482" y="2704716"/>
              <a:ext cx="1773726" cy="377253"/>
            </a:xfrm>
            <a:custGeom>
              <a:avLst/>
              <a:gdLst/>
              <a:ahLst/>
              <a:cxnLst/>
              <a:rect l="l" t="t" r="r" b="b"/>
              <a:pathLst>
                <a:path w="24477" h="5206" extrusionOk="0">
                  <a:moveTo>
                    <a:pt x="1" y="1"/>
                  </a:moveTo>
                  <a:lnTo>
                    <a:pt x="1" y="5205"/>
                  </a:lnTo>
                  <a:lnTo>
                    <a:pt x="21870" y="5205"/>
                  </a:lnTo>
                  <a:cubicBezTo>
                    <a:pt x="23311" y="5205"/>
                    <a:pt x="24477" y="4040"/>
                    <a:pt x="24477" y="2598"/>
                  </a:cubicBezTo>
                  <a:cubicBezTo>
                    <a:pt x="24477" y="1166"/>
                    <a:pt x="23311" y="1"/>
                    <a:pt x="2187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" name="Google Shape;1374;p43">
              <a:extLst>
                <a:ext uri="{FF2B5EF4-FFF2-40B4-BE49-F238E27FC236}">
                  <a16:creationId xmlns:a16="http://schemas.microsoft.com/office/drawing/2014/main" id="{018753DD-D9FE-5AF6-B1F4-3C6FC2B3F4E6}"/>
                </a:ext>
              </a:extLst>
            </p:cNvPr>
            <p:cNvSpPr/>
            <p:nvPr/>
          </p:nvSpPr>
          <p:spPr>
            <a:xfrm>
              <a:off x="1337687" y="1759417"/>
              <a:ext cx="2429462" cy="2344170"/>
            </a:xfrm>
            <a:custGeom>
              <a:avLst/>
              <a:gdLst/>
              <a:ahLst/>
              <a:cxnLst/>
              <a:rect l="l" t="t" r="r" b="b"/>
              <a:pathLst>
                <a:path w="33526" h="32349" extrusionOk="0">
                  <a:moveTo>
                    <a:pt x="16758" y="0"/>
                  </a:moveTo>
                  <a:cubicBezTo>
                    <a:pt x="7505" y="0"/>
                    <a:pt x="1" y="7239"/>
                    <a:pt x="1" y="16174"/>
                  </a:cubicBezTo>
                  <a:cubicBezTo>
                    <a:pt x="1" y="25100"/>
                    <a:pt x="7505" y="32348"/>
                    <a:pt x="16758" y="32348"/>
                  </a:cubicBezTo>
                  <a:cubicBezTo>
                    <a:pt x="26021" y="32348"/>
                    <a:pt x="33525" y="25100"/>
                    <a:pt x="33525" y="16174"/>
                  </a:cubicBezTo>
                  <a:cubicBezTo>
                    <a:pt x="33525" y="7239"/>
                    <a:pt x="26021" y="0"/>
                    <a:pt x="16758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375;p43">
              <a:extLst>
                <a:ext uri="{FF2B5EF4-FFF2-40B4-BE49-F238E27FC236}">
                  <a16:creationId xmlns:a16="http://schemas.microsoft.com/office/drawing/2014/main" id="{B1562F82-39BA-6F50-9F69-28F65890BC50}"/>
                </a:ext>
              </a:extLst>
            </p:cNvPr>
            <p:cNvSpPr/>
            <p:nvPr/>
          </p:nvSpPr>
          <p:spPr>
            <a:xfrm>
              <a:off x="4744314" y="2745514"/>
              <a:ext cx="304643" cy="304570"/>
            </a:xfrm>
            <a:custGeom>
              <a:avLst/>
              <a:gdLst/>
              <a:ahLst/>
              <a:cxnLst/>
              <a:rect l="l" t="t" r="r" b="b"/>
              <a:pathLst>
                <a:path w="4204" h="4203" extrusionOk="0">
                  <a:moveTo>
                    <a:pt x="2097" y="0"/>
                  </a:moveTo>
                  <a:cubicBezTo>
                    <a:pt x="941" y="0"/>
                    <a:pt x="1" y="941"/>
                    <a:pt x="1" y="2096"/>
                  </a:cubicBezTo>
                  <a:cubicBezTo>
                    <a:pt x="1" y="3261"/>
                    <a:pt x="941" y="4202"/>
                    <a:pt x="2097" y="4202"/>
                  </a:cubicBezTo>
                  <a:cubicBezTo>
                    <a:pt x="3263" y="4202"/>
                    <a:pt x="4203" y="3261"/>
                    <a:pt x="4203" y="2096"/>
                  </a:cubicBezTo>
                  <a:cubicBezTo>
                    <a:pt x="4203" y="941"/>
                    <a:pt x="3263" y="0"/>
                    <a:pt x="2097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378;p43">
            <a:extLst>
              <a:ext uri="{FF2B5EF4-FFF2-40B4-BE49-F238E27FC236}">
                <a16:creationId xmlns:a16="http://schemas.microsoft.com/office/drawing/2014/main" id="{07FBD782-C054-DB4B-6CA9-E14C43F7C489}"/>
              </a:ext>
            </a:extLst>
          </p:cNvPr>
          <p:cNvSpPr/>
          <p:nvPr/>
        </p:nvSpPr>
        <p:spPr>
          <a:xfrm rot="10800000">
            <a:off x="8689194" y="2164636"/>
            <a:ext cx="3342332" cy="462800"/>
          </a:xfrm>
          <a:custGeom>
            <a:avLst/>
            <a:gdLst/>
            <a:ahLst/>
            <a:cxnLst/>
            <a:rect l="l" t="t" r="r" b="b"/>
            <a:pathLst>
              <a:path w="37737" h="5205" extrusionOk="0">
                <a:moveTo>
                  <a:pt x="4254" y="0"/>
                </a:moveTo>
                <a:lnTo>
                  <a:pt x="1" y="5205"/>
                </a:lnTo>
                <a:lnTo>
                  <a:pt x="35130" y="5205"/>
                </a:lnTo>
                <a:cubicBezTo>
                  <a:pt x="36571" y="5205"/>
                  <a:pt x="37737" y="4039"/>
                  <a:pt x="37737" y="2597"/>
                </a:cubicBezTo>
                <a:cubicBezTo>
                  <a:pt x="37737" y="1166"/>
                  <a:pt x="36571" y="0"/>
                  <a:pt x="35130" y="0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" name="Google Shape;1379;p43">
            <a:extLst>
              <a:ext uri="{FF2B5EF4-FFF2-40B4-BE49-F238E27FC236}">
                <a16:creationId xmlns:a16="http://schemas.microsoft.com/office/drawing/2014/main" id="{94D0F3BB-DD0B-926D-7785-B2B4D103A079}"/>
              </a:ext>
            </a:extLst>
          </p:cNvPr>
          <p:cNvSpPr/>
          <p:nvPr/>
        </p:nvSpPr>
        <p:spPr>
          <a:xfrm rot="10800000">
            <a:off x="10771023" y="2147375"/>
            <a:ext cx="2125393" cy="2058194"/>
          </a:xfrm>
          <a:custGeom>
            <a:avLst/>
            <a:gdLst/>
            <a:ahLst/>
            <a:cxnLst/>
            <a:rect l="l" t="t" r="r" b="b"/>
            <a:pathLst>
              <a:path w="23997" h="23148" extrusionOk="0">
                <a:moveTo>
                  <a:pt x="11993" y="1"/>
                </a:moveTo>
                <a:cubicBezTo>
                  <a:pt x="5368" y="1"/>
                  <a:pt x="0" y="5185"/>
                  <a:pt x="0" y="11574"/>
                </a:cubicBezTo>
                <a:cubicBezTo>
                  <a:pt x="0" y="17965"/>
                  <a:pt x="5368" y="23148"/>
                  <a:pt x="11993" y="23148"/>
                </a:cubicBezTo>
                <a:cubicBezTo>
                  <a:pt x="18618" y="23148"/>
                  <a:pt x="23996" y="17965"/>
                  <a:pt x="23996" y="11574"/>
                </a:cubicBezTo>
                <a:cubicBezTo>
                  <a:pt x="23996" y="5185"/>
                  <a:pt x="18618" y="1"/>
                  <a:pt x="11993" y="1"/>
                </a:cubicBezTo>
                <a:close/>
              </a:path>
            </a:pathLst>
          </a:custGeom>
          <a:solidFill>
            <a:srgbClr val="30C1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380;p43">
            <a:extLst>
              <a:ext uri="{FF2B5EF4-FFF2-40B4-BE49-F238E27FC236}">
                <a16:creationId xmlns:a16="http://schemas.microsoft.com/office/drawing/2014/main" id="{BDAF2924-AC12-BE8B-E7AF-3D2B362EF55D}"/>
              </a:ext>
            </a:extLst>
          </p:cNvPr>
          <p:cNvSpPr/>
          <p:nvPr/>
        </p:nvSpPr>
        <p:spPr>
          <a:xfrm rot="10800000">
            <a:off x="8782406" y="2206427"/>
            <a:ext cx="372345" cy="372819"/>
          </a:xfrm>
          <a:custGeom>
            <a:avLst/>
            <a:gdLst/>
            <a:ahLst/>
            <a:cxnLst/>
            <a:rect l="l" t="t" r="r" b="b"/>
            <a:pathLst>
              <a:path w="4204" h="4193" extrusionOk="0">
                <a:moveTo>
                  <a:pt x="2097" y="1"/>
                </a:moveTo>
                <a:cubicBezTo>
                  <a:pt x="941" y="1"/>
                  <a:pt x="1" y="941"/>
                  <a:pt x="1" y="2096"/>
                </a:cubicBezTo>
                <a:cubicBezTo>
                  <a:pt x="1" y="3252"/>
                  <a:pt x="941" y="4193"/>
                  <a:pt x="2097" y="4193"/>
                </a:cubicBezTo>
                <a:cubicBezTo>
                  <a:pt x="3263" y="4193"/>
                  <a:pt x="4203" y="3252"/>
                  <a:pt x="4203" y="2096"/>
                </a:cubicBezTo>
                <a:cubicBezTo>
                  <a:pt x="4203" y="941"/>
                  <a:pt x="3263" y="1"/>
                  <a:pt x="2097" y="1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383;p43">
            <a:extLst>
              <a:ext uri="{FF2B5EF4-FFF2-40B4-BE49-F238E27FC236}">
                <a16:creationId xmlns:a16="http://schemas.microsoft.com/office/drawing/2014/main" id="{9E6271F1-5864-7DF2-29BD-266D44949241}"/>
              </a:ext>
            </a:extLst>
          </p:cNvPr>
          <p:cNvSpPr/>
          <p:nvPr/>
        </p:nvSpPr>
        <p:spPr>
          <a:xfrm rot="10800000">
            <a:off x="11367810" y="2725503"/>
            <a:ext cx="931835" cy="901860"/>
          </a:xfrm>
          <a:custGeom>
            <a:avLst/>
            <a:gdLst/>
            <a:ahLst/>
            <a:cxnLst/>
            <a:rect l="l" t="t" r="r" b="b"/>
            <a:pathLst>
              <a:path w="10521" h="10143" extrusionOk="0">
                <a:moveTo>
                  <a:pt x="5255" y="0"/>
                </a:moveTo>
                <a:cubicBezTo>
                  <a:pt x="2352" y="0"/>
                  <a:pt x="0" y="2270"/>
                  <a:pt x="0" y="5071"/>
                </a:cubicBezTo>
                <a:cubicBezTo>
                  <a:pt x="0" y="7873"/>
                  <a:pt x="2352" y="10142"/>
                  <a:pt x="5255" y="10142"/>
                </a:cubicBezTo>
                <a:cubicBezTo>
                  <a:pt x="8159" y="10142"/>
                  <a:pt x="10520" y="7873"/>
                  <a:pt x="10520" y="5071"/>
                </a:cubicBezTo>
                <a:cubicBezTo>
                  <a:pt x="10520" y="2270"/>
                  <a:pt x="8159" y="0"/>
                  <a:pt x="525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384;p43">
            <a:extLst>
              <a:ext uri="{FF2B5EF4-FFF2-40B4-BE49-F238E27FC236}">
                <a16:creationId xmlns:a16="http://schemas.microsoft.com/office/drawing/2014/main" id="{A47604F6-D1F4-27A3-E939-46E8C7DEDCA0}"/>
              </a:ext>
            </a:extLst>
          </p:cNvPr>
          <p:cNvSpPr/>
          <p:nvPr/>
        </p:nvSpPr>
        <p:spPr>
          <a:xfrm rot="10800000">
            <a:off x="8851778" y="3101888"/>
            <a:ext cx="229836" cy="230785"/>
          </a:xfrm>
          <a:custGeom>
            <a:avLst/>
            <a:gdLst/>
            <a:ahLst/>
            <a:cxnLst/>
            <a:rect l="l" t="t" r="r" b="b"/>
            <a:pathLst>
              <a:path w="4362" h="4363" extrusionOk="0">
                <a:moveTo>
                  <a:pt x="2181" y="446"/>
                </a:moveTo>
                <a:cubicBezTo>
                  <a:pt x="3143" y="446"/>
                  <a:pt x="3916" y="1229"/>
                  <a:pt x="3916" y="2181"/>
                </a:cubicBezTo>
                <a:cubicBezTo>
                  <a:pt x="3916" y="3142"/>
                  <a:pt x="3143" y="3916"/>
                  <a:pt x="2181" y="3916"/>
                </a:cubicBezTo>
                <a:cubicBezTo>
                  <a:pt x="1220" y="3916"/>
                  <a:pt x="447" y="3142"/>
                  <a:pt x="447" y="2181"/>
                </a:cubicBezTo>
                <a:cubicBezTo>
                  <a:pt x="447" y="1229"/>
                  <a:pt x="1220" y="446"/>
                  <a:pt x="2181" y="446"/>
                </a:cubicBezTo>
                <a:close/>
                <a:moveTo>
                  <a:pt x="2181" y="0"/>
                </a:moveTo>
                <a:cubicBezTo>
                  <a:pt x="982" y="0"/>
                  <a:pt x="0" y="981"/>
                  <a:pt x="0" y="2181"/>
                </a:cubicBezTo>
                <a:cubicBezTo>
                  <a:pt x="0" y="3391"/>
                  <a:pt x="982" y="4362"/>
                  <a:pt x="2181" y="4362"/>
                </a:cubicBezTo>
                <a:cubicBezTo>
                  <a:pt x="3381" y="4362"/>
                  <a:pt x="4362" y="3391"/>
                  <a:pt x="4362" y="2181"/>
                </a:cubicBezTo>
                <a:cubicBezTo>
                  <a:pt x="4362" y="981"/>
                  <a:pt x="3381" y="0"/>
                  <a:pt x="218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385;p43">
            <a:extLst>
              <a:ext uri="{FF2B5EF4-FFF2-40B4-BE49-F238E27FC236}">
                <a16:creationId xmlns:a16="http://schemas.microsoft.com/office/drawing/2014/main" id="{E6ABAB9D-7C7C-EEFE-A4D9-5418988366BB}"/>
              </a:ext>
            </a:extLst>
          </p:cNvPr>
          <p:cNvSpPr/>
          <p:nvPr/>
        </p:nvSpPr>
        <p:spPr>
          <a:xfrm rot="10800000">
            <a:off x="8959372" y="3181125"/>
            <a:ext cx="32405" cy="86538"/>
          </a:xfrm>
          <a:custGeom>
            <a:avLst/>
            <a:gdLst/>
            <a:ahLst/>
            <a:cxnLst/>
            <a:rect l="l" t="t" r="r" b="b"/>
            <a:pathLst>
              <a:path w="615" h="1636" extrusionOk="0">
                <a:moveTo>
                  <a:pt x="516" y="0"/>
                </a:moveTo>
                <a:cubicBezTo>
                  <a:pt x="467" y="0"/>
                  <a:pt x="417" y="50"/>
                  <a:pt x="417" y="100"/>
                </a:cubicBezTo>
                <a:lnTo>
                  <a:pt x="417" y="1081"/>
                </a:lnTo>
                <a:lnTo>
                  <a:pt x="40" y="1468"/>
                </a:lnTo>
                <a:cubicBezTo>
                  <a:pt x="0" y="1507"/>
                  <a:pt x="0" y="1567"/>
                  <a:pt x="40" y="1606"/>
                </a:cubicBezTo>
                <a:cubicBezTo>
                  <a:pt x="60" y="1626"/>
                  <a:pt x="80" y="1636"/>
                  <a:pt x="110" y="1636"/>
                </a:cubicBezTo>
                <a:cubicBezTo>
                  <a:pt x="130" y="1636"/>
                  <a:pt x="159" y="1626"/>
                  <a:pt x="179" y="1606"/>
                </a:cubicBezTo>
                <a:lnTo>
                  <a:pt x="586" y="1190"/>
                </a:lnTo>
                <a:cubicBezTo>
                  <a:pt x="605" y="1180"/>
                  <a:pt x="615" y="1150"/>
                  <a:pt x="615" y="1131"/>
                </a:cubicBezTo>
                <a:lnTo>
                  <a:pt x="615" y="100"/>
                </a:lnTo>
                <a:cubicBezTo>
                  <a:pt x="615" y="50"/>
                  <a:pt x="566" y="0"/>
                  <a:pt x="51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386;p43">
            <a:extLst>
              <a:ext uri="{FF2B5EF4-FFF2-40B4-BE49-F238E27FC236}">
                <a16:creationId xmlns:a16="http://schemas.microsoft.com/office/drawing/2014/main" id="{D7370307-EA95-4E59-3068-EA603C0E7852}"/>
              </a:ext>
            </a:extLst>
          </p:cNvPr>
          <p:cNvSpPr/>
          <p:nvPr/>
        </p:nvSpPr>
        <p:spPr>
          <a:xfrm rot="10800000">
            <a:off x="8853303" y="2276774"/>
            <a:ext cx="226779" cy="227664"/>
          </a:xfrm>
          <a:custGeom>
            <a:avLst/>
            <a:gdLst/>
            <a:ahLst/>
            <a:cxnLst/>
            <a:rect l="l" t="t" r="r" b="b"/>
            <a:pathLst>
              <a:path w="4304" h="4304" extrusionOk="0">
                <a:moveTo>
                  <a:pt x="2152" y="1359"/>
                </a:moveTo>
                <a:cubicBezTo>
                  <a:pt x="2588" y="1369"/>
                  <a:pt x="2935" y="1716"/>
                  <a:pt x="2935" y="2152"/>
                </a:cubicBezTo>
                <a:cubicBezTo>
                  <a:pt x="2935" y="2588"/>
                  <a:pt x="2578" y="2935"/>
                  <a:pt x="2152" y="2935"/>
                </a:cubicBezTo>
                <a:cubicBezTo>
                  <a:pt x="1715" y="2935"/>
                  <a:pt x="1369" y="2578"/>
                  <a:pt x="1369" y="2142"/>
                </a:cubicBezTo>
                <a:cubicBezTo>
                  <a:pt x="1369" y="1716"/>
                  <a:pt x="1715" y="1359"/>
                  <a:pt x="2152" y="1359"/>
                </a:cubicBezTo>
                <a:close/>
                <a:moveTo>
                  <a:pt x="1765" y="1"/>
                </a:moveTo>
                <a:lnTo>
                  <a:pt x="1765" y="496"/>
                </a:lnTo>
                <a:cubicBezTo>
                  <a:pt x="1587" y="536"/>
                  <a:pt x="1418" y="606"/>
                  <a:pt x="1259" y="705"/>
                </a:cubicBezTo>
                <a:lnTo>
                  <a:pt x="913" y="348"/>
                </a:lnTo>
                <a:lnTo>
                  <a:pt x="358" y="893"/>
                </a:lnTo>
                <a:lnTo>
                  <a:pt x="715" y="1250"/>
                </a:lnTo>
                <a:cubicBezTo>
                  <a:pt x="615" y="1399"/>
                  <a:pt x="546" y="1577"/>
                  <a:pt x="496" y="1756"/>
                </a:cubicBezTo>
                <a:lnTo>
                  <a:pt x="1" y="1756"/>
                </a:lnTo>
                <a:lnTo>
                  <a:pt x="1" y="2529"/>
                </a:lnTo>
                <a:lnTo>
                  <a:pt x="496" y="2529"/>
                </a:lnTo>
                <a:cubicBezTo>
                  <a:pt x="536" y="2717"/>
                  <a:pt x="605" y="2886"/>
                  <a:pt x="704" y="3034"/>
                </a:cubicBezTo>
                <a:lnTo>
                  <a:pt x="347" y="3391"/>
                </a:lnTo>
                <a:lnTo>
                  <a:pt x="903" y="3937"/>
                </a:lnTo>
                <a:lnTo>
                  <a:pt x="1250" y="3589"/>
                </a:lnTo>
                <a:cubicBezTo>
                  <a:pt x="1408" y="3688"/>
                  <a:pt x="1577" y="3758"/>
                  <a:pt x="1755" y="3798"/>
                </a:cubicBezTo>
                <a:lnTo>
                  <a:pt x="1755" y="4294"/>
                </a:lnTo>
                <a:lnTo>
                  <a:pt x="2528" y="4303"/>
                </a:lnTo>
                <a:lnTo>
                  <a:pt x="2539" y="3807"/>
                </a:lnTo>
                <a:cubicBezTo>
                  <a:pt x="2717" y="3758"/>
                  <a:pt x="2885" y="3688"/>
                  <a:pt x="3044" y="3600"/>
                </a:cubicBezTo>
                <a:lnTo>
                  <a:pt x="3391" y="3946"/>
                </a:lnTo>
                <a:lnTo>
                  <a:pt x="3946" y="3401"/>
                </a:lnTo>
                <a:lnTo>
                  <a:pt x="3589" y="3045"/>
                </a:lnTo>
                <a:cubicBezTo>
                  <a:pt x="3688" y="2895"/>
                  <a:pt x="3757" y="2727"/>
                  <a:pt x="3807" y="2539"/>
                </a:cubicBezTo>
                <a:lnTo>
                  <a:pt x="4303" y="2539"/>
                </a:lnTo>
                <a:lnTo>
                  <a:pt x="4303" y="1765"/>
                </a:lnTo>
                <a:lnTo>
                  <a:pt x="3807" y="1765"/>
                </a:lnTo>
                <a:cubicBezTo>
                  <a:pt x="3768" y="1587"/>
                  <a:pt x="3698" y="1408"/>
                  <a:pt x="3599" y="1260"/>
                </a:cubicBezTo>
                <a:lnTo>
                  <a:pt x="3946" y="903"/>
                </a:lnTo>
                <a:lnTo>
                  <a:pt x="3401" y="358"/>
                </a:lnTo>
                <a:lnTo>
                  <a:pt x="3054" y="705"/>
                </a:lnTo>
                <a:cubicBezTo>
                  <a:pt x="2895" y="606"/>
                  <a:pt x="2727" y="536"/>
                  <a:pt x="2548" y="496"/>
                </a:cubicBezTo>
                <a:lnTo>
                  <a:pt x="254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387;p43">
            <a:extLst>
              <a:ext uri="{FF2B5EF4-FFF2-40B4-BE49-F238E27FC236}">
                <a16:creationId xmlns:a16="http://schemas.microsoft.com/office/drawing/2014/main" id="{45E580DD-0881-5860-C61C-883FE99F0142}"/>
              </a:ext>
            </a:extLst>
          </p:cNvPr>
          <p:cNvSpPr/>
          <p:nvPr/>
        </p:nvSpPr>
        <p:spPr>
          <a:xfrm rot="1703077">
            <a:off x="9008755" y="4820593"/>
            <a:ext cx="95107" cy="95478"/>
          </a:xfrm>
          <a:custGeom>
            <a:avLst/>
            <a:gdLst/>
            <a:ahLst/>
            <a:cxnLst/>
            <a:rect l="l" t="t" r="r" b="b"/>
            <a:pathLst>
              <a:path w="1805" h="1805" extrusionOk="0">
                <a:moveTo>
                  <a:pt x="10" y="1"/>
                </a:moveTo>
                <a:lnTo>
                  <a:pt x="0" y="1794"/>
                </a:lnTo>
                <a:lnTo>
                  <a:pt x="1804" y="1805"/>
                </a:lnTo>
                <a:cubicBezTo>
                  <a:pt x="1804" y="813"/>
                  <a:pt x="1001" y="1"/>
                  <a:pt x="1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388;p43">
            <a:extLst>
              <a:ext uri="{FF2B5EF4-FFF2-40B4-BE49-F238E27FC236}">
                <a16:creationId xmlns:a16="http://schemas.microsoft.com/office/drawing/2014/main" id="{4D76AE17-70D0-0933-9EE5-D76245839613}"/>
              </a:ext>
            </a:extLst>
          </p:cNvPr>
          <p:cNvSpPr/>
          <p:nvPr/>
        </p:nvSpPr>
        <p:spPr>
          <a:xfrm rot="1615990">
            <a:off x="8880522" y="4804179"/>
            <a:ext cx="189633" cy="190373"/>
          </a:xfrm>
          <a:custGeom>
            <a:avLst/>
            <a:gdLst/>
            <a:ahLst/>
            <a:cxnLst/>
            <a:rect l="l" t="t" r="r" b="b"/>
            <a:pathLst>
              <a:path w="3599" h="3599" extrusionOk="0">
                <a:moveTo>
                  <a:pt x="1805" y="1"/>
                </a:moveTo>
                <a:cubicBezTo>
                  <a:pt x="814" y="1"/>
                  <a:pt x="10" y="803"/>
                  <a:pt x="1" y="1795"/>
                </a:cubicBezTo>
                <a:cubicBezTo>
                  <a:pt x="1" y="2786"/>
                  <a:pt x="803" y="3599"/>
                  <a:pt x="1795" y="3599"/>
                </a:cubicBezTo>
                <a:cubicBezTo>
                  <a:pt x="2786" y="3599"/>
                  <a:pt x="3599" y="2796"/>
                  <a:pt x="3599" y="1805"/>
                </a:cubicBezTo>
                <a:lnTo>
                  <a:pt x="1805" y="1805"/>
                </a:lnTo>
                <a:lnTo>
                  <a:pt x="180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89;p43">
            <a:extLst>
              <a:ext uri="{FF2B5EF4-FFF2-40B4-BE49-F238E27FC236}">
                <a16:creationId xmlns:a16="http://schemas.microsoft.com/office/drawing/2014/main" id="{2BC6B6B9-D18A-348D-3AE5-9169271D7627}"/>
              </a:ext>
            </a:extLst>
          </p:cNvPr>
          <p:cNvSpPr/>
          <p:nvPr/>
        </p:nvSpPr>
        <p:spPr>
          <a:xfrm>
            <a:off x="8928724" y="3975562"/>
            <a:ext cx="87782" cy="13699"/>
          </a:xfrm>
          <a:custGeom>
            <a:avLst/>
            <a:gdLst/>
            <a:ahLst/>
            <a:cxnLst/>
            <a:rect l="l" t="t" r="r" b="b"/>
            <a:pathLst>
              <a:path w="1666" h="259" extrusionOk="0">
                <a:moveTo>
                  <a:pt x="129" y="1"/>
                </a:moveTo>
                <a:cubicBezTo>
                  <a:pt x="50" y="1"/>
                  <a:pt x="1" y="60"/>
                  <a:pt x="1" y="130"/>
                </a:cubicBezTo>
                <a:cubicBezTo>
                  <a:pt x="1" y="199"/>
                  <a:pt x="50" y="259"/>
                  <a:pt x="129" y="259"/>
                </a:cubicBezTo>
                <a:lnTo>
                  <a:pt x="1537" y="259"/>
                </a:lnTo>
                <a:cubicBezTo>
                  <a:pt x="1606" y="259"/>
                  <a:pt x="1666" y="199"/>
                  <a:pt x="1666" y="130"/>
                </a:cubicBezTo>
                <a:cubicBezTo>
                  <a:pt x="1666" y="60"/>
                  <a:pt x="1606" y="1"/>
                  <a:pt x="153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390;p43">
            <a:extLst>
              <a:ext uri="{FF2B5EF4-FFF2-40B4-BE49-F238E27FC236}">
                <a16:creationId xmlns:a16="http://schemas.microsoft.com/office/drawing/2014/main" id="{092A2F3D-4451-BF91-14F3-931820702354}"/>
              </a:ext>
            </a:extLst>
          </p:cNvPr>
          <p:cNvSpPr/>
          <p:nvPr/>
        </p:nvSpPr>
        <p:spPr>
          <a:xfrm>
            <a:off x="8939683" y="3956149"/>
            <a:ext cx="67971" cy="13699"/>
          </a:xfrm>
          <a:custGeom>
            <a:avLst/>
            <a:gdLst/>
            <a:ahLst/>
            <a:cxnLst/>
            <a:rect l="l" t="t" r="r" b="b"/>
            <a:pathLst>
              <a:path w="1290" h="259" extrusionOk="0">
                <a:moveTo>
                  <a:pt x="130" y="1"/>
                </a:moveTo>
                <a:cubicBezTo>
                  <a:pt x="51" y="1"/>
                  <a:pt x="1" y="60"/>
                  <a:pt x="1" y="129"/>
                </a:cubicBezTo>
                <a:cubicBezTo>
                  <a:pt x="1" y="199"/>
                  <a:pt x="51" y="259"/>
                  <a:pt x="130" y="259"/>
                </a:cubicBezTo>
                <a:lnTo>
                  <a:pt x="1161" y="259"/>
                </a:lnTo>
                <a:cubicBezTo>
                  <a:pt x="1230" y="259"/>
                  <a:pt x="1289" y="199"/>
                  <a:pt x="1289" y="129"/>
                </a:cubicBezTo>
                <a:cubicBezTo>
                  <a:pt x="1289" y="60"/>
                  <a:pt x="1230" y="1"/>
                  <a:pt x="116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391;p43">
            <a:extLst>
              <a:ext uri="{FF2B5EF4-FFF2-40B4-BE49-F238E27FC236}">
                <a16:creationId xmlns:a16="http://schemas.microsoft.com/office/drawing/2014/main" id="{FDF3CFC4-3257-3B7D-48F9-A9FBF87444B2}"/>
              </a:ext>
            </a:extLst>
          </p:cNvPr>
          <p:cNvSpPr/>
          <p:nvPr/>
        </p:nvSpPr>
        <p:spPr>
          <a:xfrm>
            <a:off x="8883304" y="3999684"/>
            <a:ext cx="179727" cy="194022"/>
          </a:xfrm>
          <a:custGeom>
            <a:avLst/>
            <a:gdLst/>
            <a:ahLst/>
            <a:cxnLst/>
            <a:rect l="l" t="t" r="r" b="b"/>
            <a:pathLst>
              <a:path w="3411" h="3668" extrusionOk="0">
                <a:moveTo>
                  <a:pt x="2252" y="1454"/>
                </a:moveTo>
                <a:cubicBezTo>
                  <a:pt x="2266" y="1454"/>
                  <a:pt x="2281" y="1462"/>
                  <a:pt x="2291" y="1477"/>
                </a:cubicBezTo>
                <a:cubicBezTo>
                  <a:pt x="2321" y="1497"/>
                  <a:pt x="2321" y="1537"/>
                  <a:pt x="2291" y="1556"/>
                </a:cubicBezTo>
                <a:lnTo>
                  <a:pt x="1587" y="2260"/>
                </a:lnTo>
                <a:cubicBezTo>
                  <a:pt x="1577" y="2270"/>
                  <a:pt x="1567" y="2280"/>
                  <a:pt x="1547" y="2280"/>
                </a:cubicBezTo>
                <a:cubicBezTo>
                  <a:pt x="1538" y="2280"/>
                  <a:pt x="1518" y="2270"/>
                  <a:pt x="1508" y="2260"/>
                </a:cubicBezTo>
                <a:lnTo>
                  <a:pt x="1161" y="1913"/>
                </a:lnTo>
                <a:cubicBezTo>
                  <a:pt x="1141" y="1893"/>
                  <a:pt x="1141" y="1854"/>
                  <a:pt x="1161" y="1834"/>
                </a:cubicBezTo>
                <a:cubicBezTo>
                  <a:pt x="1171" y="1819"/>
                  <a:pt x="1186" y="1811"/>
                  <a:pt x="1201" y="1811"/>
                </a:cubicBezTo>
                <a:cubicBezTo>
                  <a:pt x="1216" y="1811"/>
                  <a:pt x="1231" y="1819"/>
                  <a:pt x="1240" y="1834"/>
                </a:cubicBezTo>
                <a:lnTo>
                  <a:pt x="1547" y="2141"/>
                </a:lnTo>
                <a:lnTo>
                  <a:pt x="2212" y="1477"/>
                </a:lnTo>
                <a:cubicBezTo>
                  <a:pt x="2222" y="1462"/>
                  <a:pt x="2237" y="1454"/>
                  <a:pt x="2252" y="1454"/>
                </a:cubicBezTo>
                <a:close/>
                <a:moveTo>
                  <a:pt x="1722" y="0"/>
                </a:moveTo>
                <a:cubicBezTo>
                  <a:pt x="1661" y="0"/>
                  <a:pt x="1599" y="4"/>
                  <a:pt x="1538" y="10"/>
                </a:cubicBezTo>
                <a:cubicBezTo>
                  <a:pt x="784" y="89"/>
                  <a:pt x="170" y="704"/>
                  <a:pt x="71" y="1457"/>
                </a:cubicBezTo>
                <a:cubicBezTo>
                  <a:pt x="1" y="2002"/>
                  <a:pt x="190" y="2537"/>
                  <a:pt x="596" y="2905"/>
                </a:cubicBezTo>
                <a:cubicBezTo>
                  <a:pt x="794" y="3083"/>
                  <a:pt x="864" y="3231"/>
                  <a:pt x="864" y="3430"/>
                </a:cubicBezTo>
                <a:lnTo>
                  <a:pt x="864" y="3489"/>
                </a:lnTo>
                <a:cubicBezTo>
                  <a:pt x="864" y="3588"/>
                  <a:pt x="953" y="3668"/>
                  <a:pt x="1052" y="3668"/>
                </a:cubicBezTo>
                <a:lnTo>
                  <a:pt x="2410" y="3668"/>
                </a:lnTo>
                <a:cubicBezTo>
                  <a:pt x="2519" y="3668"/>
                  <a:pt x="2598" y="3588"/>
                  <a:pt x="2598" y="3489"/>
                </a:cubicBezTo>
                <a:lnTo>
                  <a:pt x="2598" y="3430"/>
                </a:lnTo>
                <a:cubicBezTo>
                  <a:pt x="2598" y="3231"/>
                  <a:pt x="2677" y="3083"/>
                  <a:pt x="2866" y="2905"/>
                </a:cubicBezTo>
                <a:cubicBezTo>
                  <a:pt x="3213" y="2587"/>
                  <a:pt x="3411" y="2141"/>
                  <a:pt x="3411" y="1675"/>
                </a:cubicBezTo>
                <a:cubicBezTo>
                  <a:pt x="3411" y="1200"/>
                  <a:pt x="3203" y="744"/>
                  <a:pt x="2846" y="426"/>
                </a:cubicBezTo>
                <a:cubicBezTo>
                  <a:pt x="2543" y="149"/>
                  <a:pt x="2142" y="0"/>
                  <a:pt x="172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D9B50538-1C03-337F-206E-950B58D6B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762517" y="5855073"/>
            <a:ext cx="133201" cy="133201"/>
          </a:xfrm>
          <a:prstGeom prst="rect">
            <a:avLst/>
          </a:prstGeom>
        </p:spPr>
      </p:pic>
      <p:sp>
        <p:nvSpPr>
          <p:cNvPr id="29" name="Text 1">
            <a:extLst>
              <a:ext uri="{FF2B5EF4-FFF2-40B4-BE49-F238E27FC236}">
                <a16:creationId xmlns:a16="http://schemas.microsoft.com/office/drawing/2014/main" id="{9015A48C-AE60-6312-2826-7F825CA79E80}"/>
              </a:ext>
            </a:extLst>
          </p:cNvPr>
          <p:cNvSpPr/>
          <p:nvPr/>
        </p:nvSpPr>
        <p:spPr>
          <a:xfrm>
            <a:off x="1085515" y="108707"/>
            <a:ext cx="377790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BLOC 01 · CADRAGE · POSITIONNEMENT</a:t>
            </a:r>
            <a:endParaRPr lang="en-US" sz="11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FB82E454-56D6-A518-292E-E9FE7E3A7153}"/>
              </a:ext>
            </a:extLst>
          </p:cNvPr>
          <p:cNvSpPr/>
          <p:nvPr/>
        </p:nvSpPr>
        <p:spPr>
          <a:xfrm>
            <a:off x="838088" y="456221"/>
            <a:ext cx="11567406" cy="465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850" b="1" kern="0" spc="-57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Pourquoi pas une </a:t>
            </a:r>
            <a:r>
              <a:rPr lang="en-US" sz="2850" b="1" kern="0" spc="-57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plateforme existante </a:t>
            </a:r>
            <a:r>
              <a:rPr lang="en-US" sz="2850" b="1" kern="0" spc="-57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?</a:t>
            </a:r>
            <a:endParaRPr lang="en-US" sz="2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9">
            <a:extLst>
              <a:ext uri="{FF2B5EF4-FFF2-40B4-BE49-F238E27FC236}">
                <a16:creationId xmlns:a16="http://schemas.microsoft.com/office/drawing/2014/main" id="{25F358D5-6BB9-9404-31F3-71266A0BAE5B}"/>
              </a:ext>
            </a:extLst>
          </p:cNvPr>
          <p:cNvSpPr/>
          <p:nvPr/>
        </p:nvSpPr>
        <p:spPr>
          <a:xfrm>
            <a:off x="1134930" y="1528248"/>
            <a:ext cx="6794024" cy="4187877"/>
          </a:xfrm>
          <a:prstGeom prst="roundRect">
            <a:avLst>
              <a:gd name="adj" fmla="val 2149"/>
            </a:avLst>
          </a:prstGeom>
          <a:noFill/>
          <a:ln/>
        </p:spPr>
        <p:txBody>
          <a:bodyPr/>
          <a:lstStyle/>
          <a:p>
            <a:endParaRPr lang="fr-FR" sz="3600" dirty="0"/>
          </a:p>
        </p:txBody>
      </p:sp>
      <p:sp>
        <p:nvSpPr>
          <p:cNvPr id="31" name="Shape 20">
            <a:extLst>
              <a:ext uri="{FF2B5EF4-FFF2-40B4-BE49-F238E27FC236}">
                <a16:creationId xmlns:a16="http://schemas.microsoft.com/office/drawing/2014/main" id="{2B3F503A-287C-CD40-0720-68A9F99222B1}"/>
              </a:ext>
            </a:extLst>
          </p:cNvPr>
          <p:cNvSpPr/>
          <p:nvPr/>
        </p:nvSpPr>
        <p:spPr>
          <a:xfrm>
            <a:off x="1134930" y="1528248"/>
            <a:ext cx="6794024" cy="37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fr-TN"/>
          </a:p>
        </p:txBody>
      </p:sp>
      <p:sp>
        <p:nvSpPr>
          <p:cNvPr id="32" name="Text 21">
            <a:extLst>
              <a:ext uri="{FF2B5EF4-FFF2-40B4-BE49-F238E27FC236}">
                <a16:creationId xmlns:a16="http://schemas.microsoft.com/office/drawing/2014/main" id="{4848F55A-4AED-16F8-7973-1781A95D3CAA}"/>
              </a:ext>
            </a:extLst>
          </p:cNvPr>
          <p:cNvSpPr/>
          <p:nvPr/>
        </p:nvSpPr>
        <p:spPr>
          <a:xfrm>
            <a:off x="1460787" y="1895621"/>
            <a:ext cx="1879821" cy="509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kern="0" spc="-16" dirty="0"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Ce socle</a:t>
            </a:r>
            <a:endParaRPr lang="en-US" sz="280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950AC111-14B4-316E-5F26-B24BC77CAFB5}"/>
              </a:ext>
            </a:extLst>
          </p:cNvPr>
          <p:cNvSpPr/>
          <p:nvPr/>
        </p:nvSpPr>
        <p:spPr>
          <a:xfrm>
            <a:off x="6662495" y="2064368"/>
            <a:ext cx="1040880" cy="28499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7" dirty="0"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Local-first</a:t>
            </a:r>
            <a:endParaRPr lang="en-US" sz="1200" dirty="0"/>
          </a:p>
        </p:txBody>
      </p:sp>
      <p:sp>
        <p:nvSpPr>
          <p:cNvPr id="34" name="Shape 23">
            <a:extLst>
              <a:ext uri="{FF2B5EF4-FFF2-40B4-BE49-F238E27FC236}">
                <a16:creationId xmlns:a16="http://schemas.microsoft.com/office/drawing/2014/main" id="{6ECE2211-8F7A-2CBE-04FE-79114D737DF6}"/>
              </a:ext>
            </a:extLst>
          </p:cNvPr>
          <p:cNvSpPr/>
          <p:nvPr/>
        </p:nvSpPr>
        <p:spPr>
          <a:xfrm>
            <a:off x="1460787" y="2555370"/>
            <a:ext cx="6142310" cy="1500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endParaRPr lang="fr-FR" dirty="0"/>
          </a:p>
        </p:txBody>
      </p:sp>
      <p:sp>
        <p:nvSpPr>
          <p:cNvPr id="35" name="Shape 24">
            <a:extLst>
              <a:ext uri="{FF2B5EF4-FFF2-40B4-BE49-F238E27FC236}">
                <a16:creationId xmlns:a16="http://schemas.microsoft.com/office/drawing/2014/main" id="{C87AC97F-17E7-DDFD-266C-0DFE53D38770}"/>
              </a:ext>
            </a:extLst>
          </p:cNvPr>
          <p:cNvSpPr/>
          <p:nvPr/>
        </p:nvSpPr>
        <p:spPr>
          <a:xfrm>
            <a:off x="1460787" y="3285428"/>
            <a:ext cx="6142310" cy="1874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endParaRPr lang="fr-TN"/>
          </a:p>
        </p:txBody>
      </p:sp>
      <p:sp>
        <p:nvSpPr>
          <p:cNvPr id="36" name="Shape 25">
            <a:extLst>
              <a:ext uri="{FF2B5EF4-FFF2-40B4-BE49-F238E27FC236}">
                <a16:creationId xmlns:a16="http://schemas.microsoft.com/office/drawing/2014/main" id="{2F5FC994-EEB6-5808-0EDD-580A8218FAE8}"/>
              </a:ext>
            </a:extLst>
          </p:cNvPr>
          <p:cNvSpPr/>
          <p:nvPr/>
        </p:nvSpPr>
        <p:spPr>
          <a:xfrm>
            <a:off x="1460787" y="2809952"/>
            <a:ext cx="150321" cy="269816"/>
          </a:xfrm>
          <a:prstGeom prst="rect">
            <a:avLst/>
          </a:prstGeom>
          <a:noFill/>
          <a:ln/>
        </p:spPr>
        <p:txBody>
          <a:bodyPr/>
          <a:lstStyle/>
          <a:p>
            <a:endParaRPr lang="fr-TN"/>
          </a:p>
        </p:txBody>
      </p:sp>
      <p:sp>
        <p:nvSpPr>
          <p:cNvPr id="37" name="Text 26">
            <a:extLst>
              <a:ext uri="{FF2B5EF4-FFF2-40B4-BE49-F238E27FC236}">
                <a16:creationId xmlns:a16="http://schemas.microsoft.com/office/drawing/2014/main" id="{3F4BF5D4-D938-2734-DAB9-F21EEC6A3E37}"/>
              </a:ext>
            </a:extLst>
          </p:cNvPr>
          <p:cNvSpPr/>
          <p:nvPr/>
        </p:nvSpPr>
        <p:spPr>
          <a:xfrm>
            <a:off x="1849073" y="2780071"/>
            <a:ext cx="6329427" cy="385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b="1" dirty="0"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100 % local </a:t>
            </a:r>
            <a:r>
              <a:rPr lang="en-US" sz="2000" dirty="0"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— aucun cloud requis</a:t>
            </a:r>
            <a:endParaRPr lang="en-US" sz="2000" dirty="0"/>
          </a:p>
        </p:txBody>
      </p:sp>
      <p:sp>
        <p:nvSpPr>
          <p:cNvPr id="38" name="Shape 27">
            <a:extLst>
              <a:ext uri="{FF2B5EF4-FFF2-40B4-BE49-F238E27FC236}">
                <a16:creationId xmlns:a16="http://schemas.microsoft.com/office/drawing/2014/main" id="{168A9EDB-14CA-9F1D-D02C-93E4242FF0B3}"/>
              </a:ext>
            </a:extLst>
          </p:cNvPr>
          <p:cNvSpPr/>
          <p:nvPr/>
        </p:nvSpPr>
        <p:spPr>
          <a:xfrm>
            <a:off x="1460787" y="3989414"/>
            <a:ext cx="6142310" cy="1874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28">
            <a:extLst>
              <a:ext uri="{FF2B5EF4-FFF2-40B4-BE49-F238E27FC236}">
                <a16:creationId xmlns:a16="http://schemas.microsoft.com/office/drawing/2014/main" id="{14E3ADBF-E0FE-91AC-2740-BCDD24259EA2}"/>
              </a:ext>
            </a:extLst>
          </p:cNvPr>
          <p:cNvSpPr/>
          <p:nvPr/>
        </p:nvSpPr>
        <p:spPr>
          <a:xfrm>
            <a:off x="1460787" y="3513938"/>
            <a:ext cx="150321" cy="269816"/>
          </a:xfrm>
          <a:prstGeom prst="rect">
            <a:avLst/>
          </a:prstGeom>
          <a:noFill/>
          <a:ln/>
        </p:spPr>
        <p:txBody>
          <a:bodyPr/>
          <a:lstStyle/>
          <a:p>
            <a:endParaRPr lang="fr-TN"/>
          </a:p>
        </p:txBody>
      </p:sp>
      <p:sp>
        <p:nvSpPr>
          <p:cNvPr id="40" name="Text 29">
            <a:extLst>
              <a:ext uri="{FF2B5EF4-FFF2-40B4-BE49-F238E27FC236}">
                <a16:creationId xmlns:a16="http://schemas.microsoft.com/office/drawing/2014/main" id="{8B9218BB-877F-51EC-4DF3-C9548CCBFFBA}"/>
              </a:ext>
            </a:extLst>
          </p:cNvPr>
          <p:cNvSpPr/>
          <p:nvPr/>
        </p:nvSpPr>
        <p:spPr>
          <a:xfrm>
            <a:off x="1849073" y="3484056"/>
            <a:ext cx="6329427" cy="385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b="1" dirty="0"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Souverain </a:t>
            </a:r>
            <a:r>
              <a:rPr lang="en-US" sz="2000" dirty="0"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— les données ne quittent pas l'entreprise</a:t>
            </a:r>
            <a:endParaRPr lang="en-US" sz="2000" dirty="0"/>
          </a:p>
        </p:txBody>
      </p:sp>
      <p:sp>
        <p:nvSpPr>
          <p:cNvPr id="41" name="Shape 30">
            <a:extLst>
              <a:ext uri="{FF2B5EF4-FFF2-40B4-BE49-F238E27FC236}">
                <a16:creationId xmlns:a16="http://schemas.microsoft.com/office/drawing/2014/main" id="{80752EBB-C590-FCBE-32A0-9BE92B75F0FC}"/>
              </a:ext>
            </a:extLst>
          </p:cNvPr>
          <p:cNvSpPr/>
          <p:nvPr/>
        </p:nvSpPr>
        <p:spPr>
          <a:xfrm>
            <a:off x="1460787" y="4828747"/>
            <a:ext cx="6142310" cy="1874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42" name="Shape 31">
            <a:extLst>
              <a:ext uri="{FF2B5EF4-FFF2-40B4-BE49-F238E27FC236}">
                <a16:creationId xmlns:a16="http://schemas.microsoft.com/office/drawing/2014/main" id="{6FC45728-CB05-D146-1C04-DAFE9786BADD}"/>
              </a:ext>
            </a:extLst>
          </p:cNvPr>
          <p:cNvSpPr/>
          <p:nvPr/>
        </p:nvSpPr>
        <p:spPr>
          <a:xfrm>
            <a:off x="1460787" y="4217923"/>
            <a:ext cx="150321" cy="269816"/>
          </a:xfrm>
          <a:prstGeom prst="rect">
            <a:avLst/>
          </a:prstGeom>
          <a:noFill/>
          <a:ln/>
        </p:spPr>
        <p:txBody>
          <a:bodyPr/>
          <a:lstStyle/>
          <a:p>
            <a:endParaRPr lang="fr-TN"/>
          </a:p>
        </p:txBody>
      </p:sp>
      <p:sp>
        <p:nvSpPr>
          <p:cNvPr id="43" name="Text 32">
            <a:extLst>
              <a:ext uri="{FF2B5EF4-FFF2-40B4-BE49-F238E27FC236}">
                <a16:creationId xmlns:a16="http://schemas.microsoft.com/office/drawing/2014/main" id="{FC2F5366-A1C1-2A30-3C1D-DEAF1A528354}"/>
              </a:ext>
            </a:extLst>
          </p:cNvPr>
          <p:cNvSpPr/>
          <p:nvPr/>
        </p:nvSpPr>
        <p:spPr>
          <a:xfrm>
            <a:off x="1849073" y="4188041"/>
            <a:ext cx="6329427" cy="385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b="1" dirty="0"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Léger </a:t>
            </a:r>
            <a:r>
              <a:rPr lang="en-US" sz="2000" dirty="0"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— tourne sur un laptop</a:t>
            </a:r>
            <a:endParaRPr lang="en-US" sz="2000" dirty="0"/>
          </a:p>
        </p:txBody>
      </p:sp>
      <p:sp>
        <p:nvSpPr>
          <p:cNvPr id="56" name="Shape 33">
            <a:extLst>
              <a:ext uri="{FF2B5EF4-FFF2-40B4-BE49-F238E27FC236}">
                <a16:creationId xmlns:a16="http://schemas.microsoft.com/office/drawing/2014/main" id="{589547D7-98D1-340D-46A0-2A77AC25B127}"/>
              </a:ext>
            </a:extLst>
          </p:cNvPr>
          <p:cNvSpPr/>
          <p:nvPr/>
        </p:nvSpPr>
        <p:spPr>
          <a:xfrm>
            <a:off x="1460787" y="5410859"/>
            <a:ext cx="6142310" cy="1874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59" name="Shape 34">
            <a:extLst>
              <a:ext uri="{FF2B5EF4-FFF2-40B4-BE49-F238E27FC236}">
                <a16:creationId xmlns:a16="http://schemas.microsoft.com/office/drawing/2014/main" id="{6418B5A2-2914-5C15-BEC3-497A794AA432}"/>
              </a:ext>
            </a:extLst>
          </p:cNvPr>
          <p:cNvSpPr/>
          <p:nvPr/>
        </p:nvSpPr>
        <p:spPr>
          <a:xfrm>
            <a:off x="1460787" y="4921908"/>
            <a:ext cx="150321" cy="269816"/>
          </a:xfrm>
          <a:prstGeom prst="rect">
            <a:avLst/>
          </a:prstGeom>
          <a:noFill/>
          <a:ln/>
        </p:spPr>
        <p:txBody>
          <a:bodyPr/>
          <a:lstStyle/>
          <a:p>
            <a:endParaRPr lang="fr-TN"/>
          </a:p>
        </p:txBody>
      </p:sp>
      <p:sp>
        <p:nvSpPr>
          <p:cNvPr id="60" name="Text 35">
            <a:extLst>
              <a:ext uri="{FF2B5EF4-FFF2-40B4-BE49-F238E27FC236}">
                <a16:creationId xmlns:a16="http://schemas.microsoft.com/office/drawing/2014/main" id="{0F850277-B7DF-CB72-83DD-445B6D9A5CD5}"/>
              </a:ext>
            </a:extLst>
          </p:cNvPr>
          <p:cNvSpPr/>
          <p:nvPr/>
        </p:nvSpPr>
        <p:spPr>
          <a:xfrm>
            <a:off x="1849073" y="4892026"/>
            <a:ext cx="6329427" cy="385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b="1" dirty="0"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Maîtrisable </a:t>
            </a:r>
            <a:r>
              <a:rPr lang="en-US" sz="2000" dirty="0"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par un seul développeur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114606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7" grpId="0" animBg="1"/>
      <p:bldP spid="16" grpId="0" animBg="1"/>
      <p:bldP spid="18" grpId="0" animBg="1"/>
      <p:bldP spid="10" grpId="0" animBg="1"/>
      <p:bldP spid="11" grpId="0" animBg="1"/>
      <p:bldP spid="12" grpId="0" animBg="1"/>
      <p:bldP spid="29" grpId="0" animBg="1"/>
      <p:bldP spid="30" grpId="0" animBg="1"/>
      <p:bldP spid="32" grpId="0" animBg="1"/>
      <p:bldP spid="33" grpId="0" animBg="1"/>
      <p:bldP spid="34" grpId="0" animBg="1"/>
      <p:bldP spid="37" grpId="0" animBg="1"/>
      <p:bldP spid="38" grpId="0" animBg="1"/>
      <p:bldP spid="40" grpId="0" animBg="1"/>
      <p:bldP spid="41" grpId="0" animBg="1"/>
      <p:bldP spid="43" grpId="0" animBg="1"/>
      <p:bldP spid="56" grpId="0" animBg="1"/>
      <p:bldP spid="6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6FFC1-0EB1-5E75-B7DC-8D3D587AA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73DA38E-348A-8F65-E5FF-58854B6215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67000">
                <a:schemeClr val="accent1">
                  <a:lumMod val="5000"/>
                  <a:lumOff val="95000"/>
                </a:schemeClr>
              </a:gs>
              <a:gs pos="0">
                <a:schemeClr val="accent6">
                  <a:lumMod val="60000"/>
                  <a:lumOff val="40000"/>
                </a:schemeClr>
              </a:gs>
              <a:gs pos="88000">
                <a:schemeClr val="accent6">
                  <a:lumMod val="40000"/>
                  <a:lumOff val="60000"/>
                </a:schemeClr>
              </a:gs>
              <a:gs pos="100000">
                <a:schemeClr val="accent6">
                  <a:lumMod val="40000"/>
                  <a:lumOff val="60000"/>
                </a:schemeClr>
              </a:gs>
            </a:gsLst>
            <a:lin ang="5400000" scaled="1"/>
          </a:gra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A51FC5D5-8619-734C-2CF4-AAC77D8D7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1238250" cy="2286000"/>
          </a:xfrm>
          <a:prstGeom prst="rect">
            <a:avLst/>
          </a:prstGeom>
        </p:spPr>
      </p:pic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6ECB97F0-F806-AEF5-04B6-5AA1071A7E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37" y="2286000"/>
            <a:ext cx="1238250" cy="2286000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A11490B6-BB6F-63A1-7B4A-9B694BEEC214}"/>
              </a:ext>
            </a:extLst>
          </p:cNvPr>
          <p:cNvSpPr/>
          <p:nvPr/>
        </p:nvSpPr>
        <p:spPr>
          <a:xfrm>
            <a:off x="2743088" y="2464594"/>
            <a:ext cx="5875395" cy="1238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endParaRPr lang="en-US" sz="4500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838F360D-2746-D8EA-6308-31B39439B8F6}"/>
              </a:ext>
            </a:extLst>
          </p:cNvPr>
          <p:cNvSpPr/>
          <p:nvPr/>
        </p:nvSpPr>
        <p:spPr>
          <a:xfrm>
            <a:off x="2743088" y="3931109"/>
            <a:ext cx="685726" cy="57113"/>
          </a:xfrm>
          <a:prstGeom prst="roundRect">
            <a:avLst>
              <a:gd name="adj" fmla="val 50000"/>
            </a:avLst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A04B0CA8-3740-4AF9-CB2F-A47E0BA274DE}"/>
              </a:ext>
            </a:extLst>
          </p:cNvPr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F7120FAA-6C55-7B36-6914-B0DD34976F9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1180341" y="6418585"/>
            <a:ext cx="173571" cy="152363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54A3B4AB-AB1B-B45E-5EB3-3E08D3B9E037}"/>
              </a:ext>
            </a:extLst>
          </p:cNvPr>
          <p:cNvSpPr txBox="1"/>
          <p:nvPr/>
        </p:nvSpPr>
        <p:spPr>
          <a:xfrm>
            <a:off x="1942951" y="2331572"/>
            <a:ext cx="63069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fr-FR" sz="5400" dirty="0">
                <a:latin typeface="Arial Black" panose="020B0A04020102020204" pitchFamily="34" charset="0"/>
              </a:rPr>
              <a:t>L’Architecture </a:t>
            </a:r>
          </a:p>
          <a:p>
            <a:pPr lvl="1"/>
            <a:r>
              <a:rPr lang="fr-FR" sz="5400" dirty="0">
                <a:latin typeface="Arial Black" panose="020B0A04020102020204" pitchFamily="34" charset="0"/>
              </a:rPr>
              <a:t>Générique </a:t>
            </a:r>
            <a:endParaRPr lang="fr-TN" sz="5400" dirty="0">
              <a:latin typeface="Arial Black" panose="020B0A04020102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C8A97EF-91C8-4998-A399-49A76EDDEF76}"/>
              </a:ext>
            </a:extLst>
          </p:cNvPr>
          <p:cNvSpPr txBox="1"/>
          <p:nvPr/>
        </p:nvSpPr>
        <p:spPr>
          <a:xfrm>
            <a:off x="8472527" y="1765245"/>
            <a:ext cx="349686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9600" b="1" dirty="0"/>
              <a:t>02</a:t>
            </a:r>
            <a:endParaRPr lang="fr-TN" sz="19600" b="1" dirty="0"/>
          </a:p>
        </p:txBody>
      </p:sp>
      <p:sp>
        <p:nvSpPr>
          <p:cNvPr id="5" name="Google Shape;88;p17">
            <a:extLst>
              <a:ext uri="{FF2B5EF4-FFF2-40B4-BE49-F238E27FC236}">
                <a16:creationId xmlns:a16="http://schemas.microsoft.com/office/drawing/2014/main" id="{7C8D5A34-16D1-D424-CE0A-B35851C8605C}"/>
              </a:ext>
            </a:extLst>
          </p:cNvPr>
          <p:cNvSpPr txBox="1">
            <a:spLocks/>
          </p:cNvSpPr>
          <p:nvPr/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fr" sz="1733" dirty="0">
                <a:latin typeface="Arial" panose="020B0604020202020204" pitchFamily="34" charset="0"/>
                <a:ea typeface="Nunito Black"/>
                <a:cs typeface="Arial" panose="020B0604020202020204" pitchFamily="34" charset="0"/>
                <a:sym typeface="Nunito Black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28464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2411313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BLOC 02 · ARCHITECTURE</a:t>
            </a:r>
            <a:endParaRPr lang="en-US" sz="11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6713990" cy="5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300" b="1" kern="0" spc="-66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4 couches </a:t>
            </a:r>
            <a:r>
              <a:rPr lang="en-US" sz="3300" b="1" kern="0" spc="-66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d'abstraction</a:t>
            </a:r>
            <a:endParaRPr lang="en-US" sz="3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838088" y="1718035"/>
            <a:ext cx="6744146" cy="3619500"/>
          </a:xfrm>
          <a:prstGeom prst="roundRect">
            <a:avLst>
              <a:gd name="adj" fmla="val 1579"/>
            </a:avLst>
          </a:prstGeom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8" name="Shape 5"/>
          <p:cNvSpPr/>
          <p:nvPr/>
        </p:nvSpPr>
        <p:spPr>
          <a:xfrm>
            <a:off x="838088" y="2631839"/>
            <a:ext cx="6744146" cy="11906"/>
          </a:xfrm>
          <a:prstGeom prst="rect">
            <a:avLst/>
          </a:prstGeom>
          <a:solidFill>
            <a:srgbClr val="FFFFFF">
              <a:alpha val="7000"/>
            </a:srgbClr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9" name="Shape 6"/>
          <p:cNvSpPr/>
          <p:nvPr/>
        </p:nvSpPr>
        <p:spPr>
          <a:xfrm>
            <a:off x="838088" y="1718035"/>
            <a:ext cx="6744146" cy="23813"/>
          </a:xfrm>
          <a:prstGeom prst="rect">
            <a:avLst/>
          </a:prstGeom>
          <a:solidFill>
            <a:srgbClr val="BDD248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fr-TN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1B748EE-6962-6CCE-0C79-2742AA2AFE5F}"/>
              </a:ext>
            </a:extLst>
          </p:cNvPr>
          <p:cNvGrpSpPr/>
          <p:nvPr/>
        </p:nvGrpSpPr>
        <p:grpSpPr>
          <a:xfrm>
            <a:off x="838088" y="1718035"/>
            <a:ext cx="7075661" cy="925711"/>
            <a:chOff x="838088" y="1718035"/>
            <a:chExt cx="7075661" cy="925711"/>
          </a:xfrm>
        </p:grpSpPr>
        <p:sp>
          <p:nvSpPr>
            <p:cNvPr id="7" name="Shape 4"/>
            <p:cNvSpPr/>
            <p:nvPr/>
          </p:nvSpPr>
          <p:spPr>
            <a:xfrm>
              <a:off x="838088" y="1718035"/>
              <a:ext cx="6744146" cy="925711"/>
            </a:xfrm>
            <a:prstGeom prst="rect">
              <a:avLst/>
            </a:prstGeom>
            <a:solidFill>
              <a:srgbClr val="2A2A2A"/>
            </a:solidFill>
            <a:ln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 7"/>
            <p:cNvSpPr/>
            <p:nvPr/>
          </p:nvSpPr>
          <p:spPr>
            <a:xfrm>
              <a:off x="7139657" y="1895140"/>
              <a:ext cx="347439" cy="621506"/>
            </a:xfrm>
            <a:prstGeom prst="rect">
              <a:avLst/>
            </a:prstGeom>
            <a:noFill/>
            <a:ln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3150" b="1" kern="0" spc="-63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Jost" pitchFamily="34" charset="-122"/>
                  <a:cs typeface="Arial" panose="020B0604020202020204" pitchFamily="34" charset="0"/>
                </a:rPr>
                <a:t>4</a:t>
              </a:r>
              <a:endParaRPr lang="en-US" sz="315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 8"/>
            <p:cNvSpPr/>
            <p:nvPr/>
          </p:nvSpPr>
          <p:spPr>
            <a:xfrm>
              <a:off x="1123838" y="1967322"/>
              <a:ext cx="6789911" cy="2371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10000"/>
                </a:lnSpc>
                <a:buNone/>
              </a:pPr>
              <a:r>
                <a:rPr lang="en-US" sz="1425" b="1" kern="0" spc="43" dirty="0">
                  <a:solidFill>
                    <a:srgbClr val="FFFFFF"/>
                  </a:solidFill>
                  <a:latin typeface="Arial" panose="020B0604020202020204" pitchFamily="34" charset="0"/>
                  <a:ea typeface="Jost" pitchFamily="34" charset="-122"/>
                  <a:cs typeface="Arial" panose="020B0604020202020204" pitchFamily="34" charset="0"/>
                </a:rPr>
                <a:t>SERVICES OPS TRANSVERSAUX</a:t>
              </a:r>
              <a:endParaRPr lang="en-US" sz="1425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Text 9"/>
            <p:cNvSpPr/>
            <p:nvPr/>
          </p:nvSpPr>
          <p:spPr>
            <a:xfrm>
              <a:off x="1123838" y="2232980"/>
              <a:ext cx="6789911" cy="21148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40000"/>
                </a:lnSpc>
                <a:buNone/>
              </a:pPr>
              <a:r>
                <a:rPr lang="en-US" sz="1050" kern="0" spc="20" dirty="0">
                  <a:solidFill>
                    <a:srgbClr val="BDD248"/>
                  </a:solidFill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rPr>
                <a:t>MLflow · Prometheus / Grafana · Docker · CI/CT</a:t>
              </a:r>
              <a:endParaRPr lang="en-US" sz="10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86DA24E-DC10-9893-967A-E63913D1EA0A}"/>
              </a:ext>
            </a:extLst>
          </p:cNvPr>
          <p:cNvGrpSpPr/>
          <p:nvPr/>
        </p:nvGrpSpPr>
        <p:grpSpPr>
          <a:xfrm>
            <a:off x="841659" y="2631840"/>
            <a:ext cx="7072090" cy="901898"/>
            <a:chOff x="838088" y="2643746"/>
            <a:chExt cx="7072090" cy="901898"/>
          </a:xfrm>
        </p:grpSpPr>
        <p:sp>
          <p:nvSpPr>
            <p:cNvPr id="13" name="Shape 10"/>
            <p:cNvSpPr/>
            <p:nvPr/>
          </p:nvSpPr>
          <p:spPr>
            <a:xfrm>
              <a:off x="838088" y="2643746"/>
              <a:ext cx="6744146" cy="901898"/>
            </a:xfrm>
            <a:prstGeom prst="rect">
              <a:avLst/>
            </a:prstGeom>
            <a:solidFill>
              <a:srgbClr val="F4F4F4"/>
            </a:solidFill>
            <a:ln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Text 13"/>
            <p:cNvSpPr/>
            <p:nvPr/>
          </p:nvSpPr>
          <p:spPr>
            <a:xfrm>
              <a:off x="7170353" y="2797039"/>
              <a:ext cx="316743" cy="621506"/>
            </a:xfrm>
            <a:prstGeom prst="rect">
              <a:avLst/>
            </a:prstGeom>
            <a:noFill/>
            <a:ln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3150" b="1" kern="0" spc="-63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ea typeface="Jost" pitchFamily="34" charset="-122"/>
                  <a:cs typeface="Arial" panose="020B0604020202020204" pitchFamily="34" charset="0"/>
                </a:rPr>
                <a:t>3</a:t>
              </a:r>
              <a:endParaRPr lang="en-US" sz="315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Text 14"/>
            <p:cNvSpPr/>
            <p:nvPr/>
          </p:nvSpPr>
          <p:spPr>
            <a:xfrm>
              <a:off x="1159557" y="2869220"/>
              <a:ext cx="6750621" cy="2371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10000"/>
                </a:lnSpc>
                <a:buNone/>
              </a:pPr>
              <a:r>
                <a:rPr lang="en-US" sz="1425" b="1" kern="0" spc="43" dirty="0">
                  <a:solidFill>
                    <a:srgbClr val="2A2A2A"/>
                  </a:solidFill>
                  <a:latin typeface="Arial" panose="020B0604020202020204" pitchFamily="34" charset="0"/>
                  <a:ea typeface="Jost" pitchFamily="34" charset="-122"/>
                  <a:cs typeface="Arial" panose="020B0604020202020204" pitchFamily="34" charset="0"/>
                </a:rPr>
                <a:t>COMPOSANTS PLUGGABLES</a:t>
              </a:r>
              <a:endParaRPr lang="en-US" sz="1425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 15"/>
            <p:cNvSpPr/>
            <p:nvPr/>
          </p:nvSpPr>
          <p:spPr>
            <a:xfrm>
              <a:off x="1159557" y="3134878"/>
              <a:ext cx="6750621" cy="21148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40000"/>
                </a:lnSpc>
                <a:buNone/>
              </a:pPr>
              <a:r>
                <a:rPr lang="en-US" sz="1050" kern="0" spc="20" dirty="0">
                  <a:solidFill>
                    <a:srgbClr val="525252"/>
                  </a:solidFill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rPr>
                <a:t>chunkers · embedders · vector stores · generators</a:t>
              </a:r>
              <a:endParaRPr lang="en-US" sz="10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694986E-2793-1FA9-DA0C-4972F87BB1C5}"/>
              </a:ext>
            </a:extLst>
          </p:cNvPr>
          <p:cNvGrpSpPr/>
          <p:nvPr/>
        </p:nvGrpSpPr>
        <p:grpSpPr>
          <a:xfrm>
            <a:off x="835257" y="3533738"/>
            <a:ext cx="6744146" cy="913804"/>
            <a:chOff x="838088" y="3533738"/>
            <a:chExt cx="6744146" cy="913804"/>
          </a:xfrm>
        </p:grpSpPr>
        <p:sp>
          <p:nvSpPr>
            <p:cNvPr id="14" name="Shape 11"/>
            <p:cNvSpPr/>
            <p:nvPr/>
          </p:nvSpPr>
          <p:spPr>
            <a:xfrm>
              <a:off x="838088" y="3533738"/>
              <a:ext cx="6744146" cy="11906"/>
            </a:xfrm>
            <a:prstGeom prst="rect">
              <a:avLst/>
            </a:prstGeom>
            <a:solidFill>
              <a:srgbClr val="FFFFFF">
                <a:alpha val="7000"/>
              </a:srgbClr>
            </a:solidFill>
            <a:ln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fr-TN"/>
            </a:p>
          </p:txBody>
        </p:sp>
        <p:sp>
          <p:nvSpPr>
            <p:cNvPr id="19" name="Shape 16"/>
            <p:cNvSpPr/>
            <p:nvPr/>
          </p:nvSpPr>
          <p:spPr>
            <a:xfrm>
              <a:off x="838088" y="3545644"/>
              <a:ext cx="6744146" cy="901898"/>
            </a:xfrm>
            <a:prstGeom prst="rect">
              <a:avLst/>
            </a:prstGeom>
            <a:solidFill>
              <a:srgbClr val="BDD248"/>
            </a:solidFill>
            <a:ln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Shape 17"/>
            <p:cNvSpPr/>
            <p:nvPr/>
          </p:nvSpPr>
          <p:spPr>
            <a:xfrm>
              <a:off x="838088" y="4435636"/>
              <a:ext cx="6744146" cy="11906"/>
            </a:xfrm>
            <a:prstGeom prst="rect">
              <a:avLst/>
            </a:prstGeom>
            <a:solidFill>
              <a:srgbClr val="FFFFFF">
                <a:alpha val="7000"/>
              </a:srgbClr>
            </a:solidFill>
            <a:ln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fr-TN"/>
            </a:p>
          </p:txBody>
        </p:sp>
        <p:sp>
          <p:nvSpPr>
            <p:cNvPr id="21" name="Text 18"/>
            <p:cNvSpPr/>
            <p:nvPr/>
          </p:nvSpPr>
          <p:spPr>
            <a:xfrm>
              <a:off x="7156400" y="3698937"/>
              <a:ext cx="330696" cy="621506"/>
            </a:xfrm>
            <a:prstGeom prst="rect">
              <a:avLst/>
            </a:prstGeom>
            <a:noFill/>
            <a:ln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3150" b="1" kern="0" spc="-63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ea typeface="Jost" pitchFamily="34" charset="-122"/>
                  <a:cs typeface="Arial" panose="020B0604020202020204" pitchFamily="34" charset="0"/>
                </a:rPr>
                <a:t>2</a:t>
              </a:r>
              <a:endParaRPr lang="en-US" sz="315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Text 20"/>
            <p:cNvSpPr/>
            <p:nvPr/>
          </p:nvSpPr>
          <p:spPr>
            <a:xfrm>
              <a:off x="1123838" y="4036591"/>
              <a:ext cx="306698" cy="211485"/>
            </a:xfrm>
            <a:prstGeom prst="rect">
              <a:avLst/>
            </a:prstGeom>
            <a:noFill/>
            <a:ln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lnSpc>
                  <a:spcPct val="140000"/>
                </a:lnSpc>
                <a:buNone/>
              </a:pPr>
              <a:r>
                <a:rPr lang="en-US" sz="1000" kern="0" spc="20" dirty="0">
                  <a:solidFill>
                    <a:srgbClr val="3F3F3F"/>
                  </a:solidFill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rPr>
                <a:t>RAG</a:t>
              </a:r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Shape 21"/>
            <p:cNvSpPr/>
            <p:nvPr/>
          </p:nvSpPr>
          <p:spPr>
            <a:xfrm>
              <a:off x="1485880" y="4097383"/>
              <a:ext cx="690563" cy="157944"/>
            </a:xfrm>
            <a:prstGeom prst="roundRect">
              <a:avLst>
                <a:gd name="adj" fmla="val 50000"/>
              </a:avLst>
            </a:prstGeom>
            <a:solidFill>
              <a:srgbClr val="2A2A2A"/>
            </a:solidFill>
            <a:ln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Text 22"/>
            <p:cNvSpPr/>
            <p:nvPr/>
          </p:nvSpPr>
          <p:spPr>
            <a:xfrm>
              <a:off x="1533467" y="4095058"/>
              <a:ext cx="633413" cy="157944"/>
            </a:xfrm>
            <a:prstGeom prst="rect">
              <a:avLst/>
            </a:prstGeom>
            <a:noFill/>
            <a:ln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lnSpc>
                  <a:spcPct val="140000"/>
                </a:lnSpc>
                <a:buNone/>
              </a:pPr>
              <a:r>
                <a:rPr lang="en-US" sz="700" b="1" kern="0" spc="34" dirty="0">
                  <a:solidFill>
                    <a:srgbClr val="BDD248"/>
                  </a:solidFill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rPr>
                <a:t>IMPLÉMENTÉ</a:t>
              </a:r>
              <a:endParaRPr lang="en-US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ext 23"/>
            <p:cNvSpPr/>
            <p:nvPr/>
          </p:nvSpPr>
          <p:spPr>
            <a:xfrm>
              <a:off x="2168612" y="4036591"/>
              <a:ext cx="153033" cy="211485"/>
            </a:xfrm>
            <a:prstGeom prst="rect">
              <a:avLst/>
            </a:prstGeom>
            <a:noFill/>
            <a:ln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lnSpc>
                  <a:spcPct val="140000"/>
                </a:lnSpc>
                <a:buNone/>
              </a:pPr>
              <a:r>
                <a:rPr lang="en-US" sz="975" kern="0" spc="20" dirty="0">
                  <a:solidFill>
                    <a:srgbClr val="1C1C1C">
                      <a:alpha val="32000"/>
                    </a:srgbClr>
                  </a:solidFill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rPr>
                <a:t>·</a:t>
              </a:r>
              <a:endParaRPr lang="en-US" sz="975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 24"/>
            <p:cNvSpPr/>
            <p:nvPr/>
          </p:nvSpPr>
          <p:spPr>
            <a:xfrm>
              <a:off x="2312045" y="4036591"/>
              <a:ext cx="997632" cy="211485"/>
            </a:xfrm>
            <a:prstGeom prst="rect">
              <a:avLst/>
            </a:prstGeom>
            <a:noFill/>
            <a:ln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lnSpc>
                  <a:spcPct val="140000"/>
                </a:lnSpc>
                <a:buNone/>
              </a:pPr>
              <a:r>
                <a:rPr lang="en-US" sz="1000" kern="0" spc="20" dirty="0">
                  <a:solidFill>
                    <a:srgbClr val="1C1C1C">
                      <a:alpha val="50000"/>
                    </a:srgbClr>
                  </a:solidFill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rPr>
                <a:t>ML classique</a:t>
              </a:r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Shape 25"/>
            <p:cNvSpPr/>
            <p:nvPr/>
          </p:nvSpPr>
          <p:spPr>
            <a:xfrm>
              <a:off x="3290590" y="4032497"/>
              <a:ext cx="670843" cy="237157"/>
            </a:xfrm>
            <a:prstGeom prst="roundRect">
              <a:avLst>
                <a:gd name="adj" fmla="val 50000"/>
              </a:avLst>
            </a:prstGeom>
            <a:ln w="11906">
              <a:solidFill>
                <a:srgbClr val="1C1C1C">
                  <a:alpha val="50000"/>
                </a:srgbClr>
              </a:solidFill>
              <a:prstDash val="dash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Text 26"/>
            <p:cNvSpPr/>
            <p:nvPr/>
          </p:nvSpPr>
          <p:spPr>
            <a:xfrm>
              <a:off x="3369171" y="4063454"/>
              <a:ext cx="466167" cy="157944"/>
            </a:xfrm>
            <a:prstGeom prst="rect">
              <a:avLst/>
            </a:prstGeom>
            <a:noFill/>
            <a:ln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40000"/>
                </a:lnSpc>
                <a:buNone/>
              </a:pPr>
              <a:r>
                <a:rPr lang="en-US" sz="800" b="1" kern="0" spc="34" dirty="0">
                  <a:solidFill>
                    <a:srgbClr val="1C1C1C">
                      <a:alpha val="62000"/>
                    </a:srgbClr>
                  </a:solidFill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rPr>
                <a:t>EXEMPLE</a:t>
              </a:r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Text 27"/>
            <p:cNvSpPr/>
            <p:nvPr/>
          </p:nvSpPr>
          <p:spPr>
            <a:xfrm>
              <a:off x="3904320" y="4036591"/>
              <a:ext cx="153033" cy="211485"/>
            </a:xfrm>
            <a:prstGeom prst="rect">
              <a:avLst/>
            </a:prstGeom>
            <a:noFill/>
            <a:ln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lnSpc>
                  <a:spcPct val="140000"/>
                </a:lnSpc>
                <a:buNone/>
              </a:pPr>
              <a:r>
                <a:rPr lang="en-US" sz="975" kern="0" spc="20" dirty="0">
                  <a:solidFill>
                    <a:srgbClr val="1C1C1C">
                      <a:alpha val="32000"/>
                    </a:srgbClr>
                  </a:solidFill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rPr>
                <a:t>·</a:t>
              </a:r>
              <a:endParaRPr lang="en-US" sz="975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Text 28"/>
            <p:cNvSpPr/>
            <p:nvPr/>
          </p:nvSpPr>
          <p:spPr>
            <a:xfrm>
              <a:off x="4047753" y="4036591"/>
              <a:ext cx="920800" cy="211485"/>
            </a:xfrm>
            <a:prstGeom prst="rect">
              <a:avLst/>
            </a:prstGeom>
            <a:noFill/>
            <a:ln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lnSpc>
                  <a:spcPct val="140000"/>
                </a:lnSpc>
                <a:buNone/>
              </a:pPr>
              <a:r>
                <a:rPr lang="en-US" sz="1000" kern="0" spc="20" dirty="0">
                  <a:solidFill>
                    <a:srgbClr val="1C1C1C">
                      <a:alpha val="50000"/>
                    </a:srgbClr>
                  </a:solidFill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rPr>
                <a:t>Fine-tuning</a:t>
              </a:r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Shape 29"/>
            <p:cNvSpPr/>
            <p:nvPr/>
          </p:nvSpPr>
          <p:spPr>
            <a:xfrm>
              <a:off x="4949465" y="4032497"/>
              <a:ext cx="770074" cy="249845"/>
            </a:xfrm>
            <a:prstGeom prst="roundRect">
              <a:avLst>
                <a:gd name="adj" fmla="val 50000"/>
              </a:avLst>
            </a:prstGeom>
            <a:ln w="11906">
              <a:solidFill>
                <a:srgbClr val="1C1C1C">
                  <a:alpha val="50000"/>
                </a:srgbClr>
              </a:solidFill>
              <a:prstDash val="dash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Text 30"/>
            <p:cNvSpPr/>
            <p:nvPr/>
          </p:nvSpPr>
          <p:spPr>
            <a:xfrm>
              <a:off x="5028047" y="4063454"/>
              <a:ext cx="466167" cy="157944"/>
            </a:xfrm>
            <a:prstGeom prst="rect">
              <a:avLst/>
            </a:prstGeom>
            <a:noFill/>
            <a:ln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40000"/>
                </a:lnSpc>
                <a:buNone/>
              </a:pPr>
              <a:r>
                <a:rPr lang="en-US" sz="800" b="1" kern="0" spc="34" dirty="0">
                  <a:solidFill>
                    <a:srgbClr val="1C1C1C">
                      <a:alpha val="62000"/>
                    </a:srgbClr>
                  </a:solidFill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rPr>
                <a:t>EXEMPLE</a:t>
              </a:r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00AFA88-2AA1-9AA6-338C-84D5FA9BAE3E}"/>
              </a:ext>
            </a:extLst>
          </p:cNvPr>
          <p:cNvGrpSpPr/>
          <p:nvPr/>
        </p:nvGrpSpPr>
        <p:grpSpPr>
          <a:xfrm>
            <a:off x="838088" y="4447542"/>
            <a:ext cx="7075661" cy="889992"/>
            <a:chOff x="838088" y="4447542"/>
            <a:chExt cx="7075661" cy="889992"/>
          </a:xfrm>
        </p:grpSpPr>
        <p:sp>
          <p:nvSpPr>
            <p:cNvPr id="34" name="Shape 31"/>
            <p:cNvSpPr/>
            <p:nvPr/>
          </p:nvSpPr>
          <p:spPr>
            <a:xfrm>
              <a:off x="838088" y="4447542"/>
              <a:ext cx="6744146" cy="889992"/>
            </a:xfrm>
            <a:prstGeom prst="rect">
              <a:avLst/>
            </a:prstGeom>
            <a:solidFill>
              <a:srgbClr val="1C1C1C"/>
            </a:solidFill>
            <a:ln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Text 32"/>
            <p:cNvSpPr/>
            <p:nvPr/>
          </p:nvSpPr>
          <p:spPr>
            <a:xfrm>
              <a:off x="7215188" y="4600835"/>
              <a:ext cx="271909" cy="621506"/>
            </a:xfrm>
            <a:prstGeom prst="rect">
              <a:avLst/>
            </a:prstGeom>
            <a:noFill/>
            <a:ln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3150" b="1" kern="0" spc="-63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ea typeface="Jost" pitchFamily="34" charset="-122"/>
                  <a:cs typeface="Arial" panose="020B0604020202020204" pitchFamily="34" charset="0"/>
                </a:rPr>
                <a:t>1</a:t>
              </a:r>
              <a:endParaRPr lang="en-US" sz="315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Text 33"/>
            <p:cNvSpPr/>
            <p:nvPr/>
          </p:nvSpPr>
          <p:spPr>
            <a:xfrm>
              <a:off x="1123838" y="4673017"/>
              <a:ext cx="6789911" cy="2371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10000"/>
                </a:lnSpc>
                <a:buNone/>
              </a:pPr>
              <a:r>
                <a:rPr lang="en-US" sz="1425" b="1" kern="0" spc="43" dirty="0">
                  <a:solidFill>
                    <a:srgbClr val="FFFFFF"/>
                  </a:solidFill>
                  <a:latin typeface="Arial" panose="020B0604020202020204" pitchFamily="34" charset="0"/>
                  <a:ea typeface="Jost" pitchFamily="34" charset="-122"/>
                  <a:cs typeface="Arial" panose="020B0604020202020204" pitchFamily="34" charset="0"/>
                </a:rPr>
                <a:t>MOTEUR GÉNÉRIQUE</a:t>
              </a:r>
              <a:endParaRPr lang="en-US" sz="1425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Text 34"/>
            <p:cNvSpPr/>
            <p:nvPr/>
          </p:nvSpPr>
          <p:spPr>
            <a:xfrm>
              <a:off x="1123838" y="4938675"/>
              <a:ext cx="6789911" cy="21148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lnSpc>
                  <a:spcPct val="140000"/>
                </a:lnSpc>
                <a:buNone/>
              </a:pPr>
              <a:r>
                <a:rPr lang="en-US" sz="975" kern="0" spc="20" dirty="0">
                  <a:solidFill>
                    <a:srgbClr val="9AA5B8"/>
                  </a:solidFill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rPr>
                <a:t>5 phases · Registry · Context</a:t>
              </a:r>
              <a:endParaRPr lang="en-US" sz="975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8" name="Shape 35"/>
          <p:cNvSpPr/>
          <p:nvPr/>
        </p:nvSpPr>
        <p:spPr>
          <a:xfrm>
            <a:off x="7734598" y="1718035"/>
            <a:ext cx="1600088" cy="3619500"/>
          </a:xfrm>
          <a:prstGeom prst="roundRect">
            <a:avLst>
              <a:gd name="adj" fmla="val 3572"/>
            </a:avLst>
          </a:prstGeom>
          <a:ln/>
          <a:effectLst>
            <a:outerShdw blurRad="76200" dist="19050" dir="5400000" algn="bl" rotWithShape="0">
              <a:srgbClr val="2A2A2A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B6BF8B4-AC1E-A39D-DD3A-357732D2C8B2}"/>
              </a:ext>
            </a:extLst>
          </p:cNvPr>
          <p:cNvGrpSpPr/>
          <p:nvPr/>
        </p:nvGrpSpPr>
        <p:grpSpPr>
          <a:xfrm>
            <a:off x="7798874" y="1707840"/>
            <a:ext cx="1600088" cy="907852"/>
            <a:chOff x="7734598" y="1718035"/>
            <a:chExt cx="1600088" cy="90785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9" name="Shape 36"/>
            <p:cNvSpPr/>
            <p:nvPr/>
          </p:nvSpPr>
          <p:spPr>
            <a:xfrm>
              <a:off x="7734598" y="1718035"/>
              <a:ext cx="1600088" cy="907852"/>
            </a:xfrm>
            <a:prstGeom prst="rect">
              <a:avLst/>
            </a:prstGeom>
            <a:solidFill>
              <a:srgbClr val="F4F4F4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41" name="Text 38"/>
            <p:cNvSpPr/>
            <p:nvPr/>
          </p:nvSpPr>
          <p:spPr>
            <a:xfrm>
              <a:off x="7886960" y="1927882"/>
              <a:ext cx="1424899" cy="14525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675" kern="0" spc="95" dirty="0">
                  <a:solidFill>
                    <a:srgbClr val="909090"/>
                  </a:solidFill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rPr>
                <a:t>QUI ?</a:t>
              </a:r>
              <a:endParaRPr lang="en-US" sz="675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Text 39"/>
            <p:cNvSpPr/>
            <p:nvPr/>
          </p:nvSpPr>
          <p:spPr>
            <a:xfrm>
              <a:off x="7886960" y="2082664"/>
              <a:ext cx="1371563" cy="3595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/>
            </a:bodyPr>
            <a:lstStyle/>
            <a:p>
              <a:pPr marL="0" indent="0" algn="l">
                <a:lnSpc>
                  <a:spcPct val="135000"/>
                </a:lnSpc>
                <a:buNone/>
              </a:pPr>
              <a:r>
                <a:rPr lang="en-US" sz="938" dirty="0">
                  <a:solidFill>
                    <a:srgbClr val="525252"/>
                  </a:solidFill>
                  <a:latin typeface="Arial" panose="020B0604020202020204" pitchFamily="34" charset="0"/>
                  <a:ea typeface="Mulish" pitchFamily="34" charset="-122"/>
                  <a:cs typeface="Arial" panose="020B0604020202020204" pitchFamily="34" charset="0"/>
                </a:rPr>
                <a:t>fournis automatiquement</a:t>
              </a:r>
              <a:endParaRPr lang="en-US" sz="938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3EE3BA6D-39AF-D2B2-CB82-7158E1CA45DA}"/>
              </a:ext>
            </a:extLst>
          </p:cNvPr>
          <p:cNvGrpSpPr/>
          <p:nvPr/>
        </p:nvGrpSpPr>
        <p:grpSpPr>
          <a:xfrm>
            <a:off x="7798874" y="2720420"/>
            <a:ext cx="1600088" cy="907852"/>
            <a:chOff x="7734598" y="2625886"/>
            <a:chExt cx="1600088" cy="90785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43" name="Shape 40"/>
            <p:cNvSpPr/>
            <p:nvPr/>
          </p:nvSpPr>
          <p:spPr>
            <a:xfrm>
              <a:off x="7734598" y="2625886"/>
              <a:ext cx="1600088" cy="907852"/>
            </a:xfrm>
            <a:prstGeom prst="rect">
              <a:avLst/>
            </a:prstGeom>
            <a:solidFill>
              <a:srgbClr val="EFF4D8"/>
            </a:solidFill>
            <a:ln/>
          </p:spPr>
          <p:txBody>
            <a:bodyPr/>
            <a:lstStyle/>
            <a:p>
              <a:endParaRPr lang="fr-TN"/>
            </a:p>
          </p:txBody>
        </p:sp>
        <p:sp>
          <p:nvSpPr>
            <p:cNvPr id="46" name="Text 43"/>
            <p:cNvSpPr/>
            <p:nvPr/>
          </p:nvSpPr>
          <p:spPr>
            <a:xfrm>
              <a:off x="7910773" y="2675000"/>
              <a:ext cx="1398705" cy="14525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675" kern="0" spc="95" dirty="0">
                  <a:solidFill>
                    <a:srgbClr val="8FA82E">
                      <a:alpha val="80000"/>
                    </a:srgbClr>
                  </a:solidFill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rPr>
                <a:t>QUI ?</a:t>
              </a:r>
              <a:endParaRPr lang="en-US" sz="675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Text 44"/>
            <p:cNvSpPr/>
            <p:nvPr/>
          </p:nvSpPr>
          <p:spPr>
            <a:xfrm>
              <a:off x="7910773" y="2829781"/>
              <a:ext cx="1347750" cy="68103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35000"/>
                </a:lnSpc>
                <a:buNone/>
              </a:pPr>
              <a:r>
                <a:rPr lang="en-US" sz="938" b="1" dirty="0">
                  <a:solidFill>
                    <a:srgbClr val="8FA82E"/>
                  </a:solidFill>
                  <a:latin typeface="Arial" panose="020B0604020202020204" pitchFamily="34" charset="0"/>
                  <a:ea typeface="Mulish" pitchFamily="34" charset="-122"/>
                  <a:cs typeface="Arial" panose="020B0604020202020204" pitchFamily="34" charset="0"/>
                </a:rPr>
                <a:t>choisis dans le catalogue ou ajoutés par le dev (1 classe + 1 ligne)</a:t>
              </a:r>
              <a:endParaRPr lang="en-US" sz="938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369F156-F034-487A-3665-A2AA1C122414}"/>
              </a:ext>
            </a:extLst>
          </p:cNvPr>
          <p:cNvGrpSpPr/>
          <p:nvPr/>
        </p:nvGrpSpPr>
        <p:grpSpPr>
          <a:xfrm>
            <a:off x="7782826" y="3725986"/>
            <a:ext cx="1600088" cy="907852"/>
            <a:chOff x="7734598" y="3533738"/>
            <a:chExt cx="1600088" cy="90785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48" name="Shape 45"/>
            <p:cNvSpPr/>
            <p:nvPr/>
          </p:nvSpPr>
          <p:spPr>
            <a:xfrm>
              <a:off x="7734598" y="3533738"/>
              <a:ext cx="1600088" cy="907852"/>
            </a:xfrm>
            <a:prstGeom prst="rect">
              <a:avLst/>
            </a:prstGeom>
            <a:solidFill>
              <a:srgbClr val="EFF4D8"/>
            </a:solidFill>
            <a:ln/>
          </p:spPr>
          <p:txBody>
            <a:bodyPr/>
            <a:lstStyle/>
            <a:p>
              <a:endParaRPr lang="fr-FR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Text 48"/>
            <p:cNvSpPr/>
            <p:nvPr/>
          </p:nvSpPr>
          <p:spPr>
            <a:xfrm>
              <a:off x="7910773" y="3743585"/>
              <a:ext cx="1398705" cy="14525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675" kern="0" spc="95" dirty="0">
                  <a:solidFill>
                    <a:srgbClr val="8FA82E">
                      <a:alpha val="80000"/>
                    </a:srgbClr>
                  </a:solidFill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rPr>
                <a:t>QUI ?</a:t>
              </a:r>
              <a:endParaRPr lang="en-US" sz="675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Text 49"/>
            <p:cNvSpPr/>
            <p:nvPr/>
          </p:nvSpPr>
          <p:spPr>
            <a:xfrm>
              <a:off x="7910773" y="3898367"/>
              <a:ext cx="1347750" cy="3595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35000"/>
                </a:lnSpc>
                <a:buNone/>
              </a:pPr>
              <a:r>
                <a:rPr lang="en-US" sz="938" b="1" dirty="0">
                  <a:solidFill>
                    <a:srgbClr val="8FA82E"/>
                  </a:solidFill>
                  <a:latin typeface="Arial" panose="020B0604020202020204" pitchFamily="34" charset="0"/>
                  <a:ea typeface="Mulish" pitchFamily="34" charset="-122"/>
                  <a:cs typeface="Arial" panose="020B0604020202020204" pitchFamily="34" charset="0"/>
                </a:rPr>
                <a:t>écrit par le développeur ML</a:t>
              </a:r>
              <a:endParaRPr lang="en-US" sz="938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C04108B8-3988-C072-923C-120AE1ECDAE5}"/>
              </a:ext>
            </a:extLst>
          </p:cNvPr>
          <p:cNvGrpSpPr/>
          <p:nvPr/>
        </p:nvGrpSpPr>
        <p:grpSpPr>
          <a:xfrm>
            <a:off x="7798874" y="4756510"/>
            <a:ext cx="1600088" cy="895945"/>
            <a:chOff x="7734598" y="4441589"/>
            <a:chExt cx="1600088" cy="895945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3" name="Shape 50"/>
            <p:cNvSpPr/>
            <p:nvPr/>
          </p:nvSpPr>
          <p:spPr>
            <a:xfrm>
              <a:off x="7734598" y="4441589"/>
              <a:ext cx="1600088" cy="895945"/>
            </a:xfrm>
            <a:prstGeom prst="rect">
              <a:avLst/>
            </a:prstGeom>
            <a:solidFill>
              <a:srgbClr val="F4F4F4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54" name="Text 51"/>
            <p:cNvSpPr/>
            <p:nvPr/>
          </p:nvSpPr>
          <p:spPr>
            <a:xfrm>
              <a:off x="7886960" y="4731804"/>
              <a:ext cx="1424899" cy="14525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675" kern="0" spc="95" dirty="0">
                  <a:solidFill>
                    <a:srgbClr val="909090"/>
                  </a:solidFill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rPr>
                <a:t>QUI ?</a:t>
              </a:r>
              <a:endParaRPr lang="en-US" sz="675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Text 52"/>
            <p:cNvSpPr/>
            <p:nvPr/>
          </p:nvSpPr>
          <p:spPr>
            <a:xfrm>
              <a:off x="7886960" y="4886585"/>
              <a:ext cx="1424899" cy="19883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35000"/>
                </a:lnSpc>
                <a:buNone/>
              </a:pPr>
              <a:r>
                <a:rPr lang="en-US" sz="938" dirty="0">
                  <a:solidFill>
                    <a:srgbClr val="525252"/>
                  </a:solidFill>
                  <a:latin typeface="Arial" panose="020B0604020202020204" pitchFamily="34" charset="0"/>
                  <a:ea typeface="Mulish" pitchFamily="34" charset="-122"/>
                  <a:cs typeface="Arial" panose="020B0604020202020204" pitchFamily="34" charset="0"/>
                </a:rPr>
                <a:t>fourni par la plateforme</a:t>
              </a:r>
              <a:endParaRPr lang="en-US" sz="938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5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87049" y="1718035"/>
            <a:ext cx="342863" cy="3619500"/>
          </a:xfrm>
          <a:prstGeom prst="rect">
            <a:avLst/>
          </a:prstGeom>
        </p:spPr>
      </p:pic>
      <p:sp>
        <p:nvSpPr>
          <p:cNvPr id="57" name="Text 53"/>
          <p:cNvSpPr/>
          <p:nvPr/>
        </p:nvSpPr>
        <p:spPr>
          <a:xfrm>
            <a:off x="9963113" y="2598539"/>
            <a:ext cx="2074738" cy="1896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Le développeur </a:t>
            </a:r>
            <a:r>
              <a:rPr lang="en-US" sz="1200" b="1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écrit </a:t>
            </a:r>
            <a:r>
              <a:rPr lang="en-US" sz="1200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sa couche use case </a:t>
            </a:r>
            <a:r>
              <a:rPr lang="en-US" sz="1200" b="1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(2) </a:t>
            </a:r>
            <a:r>
              <a:rPr lang="en-US" sz="1200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et, si besoin, ajoute ses propres composants </a:t>
            </a:r>
            <a:r>
              <a:rPr lang="en-US" sz="1200" b="1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(3) </a:t>
            </a:r>
            <a:r>
              <a:rPr lang="en-US" sz="1200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— la couche 3 est extensible. Il </a:t>
            </a:r>
            <a:r>
              <a:rPr lang="en-US" sz="1200" b="1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hérite </a:t>
            </a:r>
            <a:r>
              <a:rPr lang="en-US" sz="1200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gratuitement du moteur </a:t>
            </a:r>
            <a:r>
              <a:rPr lang="en-US" sz="1200" b="1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(1) </a:t>
            </a:r>
            <a:r>
              <a:rPr lang="en-US" sz="1200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et des services OPS </a:t>
            </a:r>
            <a:r>
              <a:rPr lang="en-US" sz="1200" b="1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(4)</a:t>
            </a:r>
            <a:r>
              <a:rPr lang="en-US" sz="1200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 54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Projet de Fin d'Études · Pipeline MLOps générique</a:t>
            </a:r>
            <a:endParaRPr lang="en-US" sz="9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Text 19"/>
          <p:cNvSpPr/>
          <p:nvPr/>
        </p:nvSpPr>
        <p:spPr>
          <a:xfrm>
            <a:off x="1123838" y="3766840"/>
            <a:ext cx="6789911" cy="237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25" b="1" kern="0" spc="43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USE CASES</a:t>
            </a:r>
            <a:endParaRPr lang="en-US" sz="14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DB1DF3BE-2F12-ADE4-D80A-371CCA97ED97}"/>
              </a:ext>
            </a:extLst>
          </p:cNvPr>
          <p:cNvSpPr txBox="1">
            <a:spLocks/>
          </p:cNvSpPr>
          <p:nvPr/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fr" sz="1733" dirty="0">
                <a:latin typeface="Arial" panose="020B0604020202020204" pitchFamily="34" charset="0"/>
                <a:ea typeface="Nunito Black"/>
                <a:cs typeface="Arial" panose="020B0604020202020204" pitchFamily="34" charset="0"/>
                <a:sym typeface="Nunito Black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7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7958"/>
            <a:ext cx="12192000" cy="11906"/>
          </a:xfrm>
          <a:prstGeom prst="rect">
            <a:avLst/>
          </a:prstGeom>
          <a:solidFill>
            <a:srgbClr val="546472">
              <a:alpha val="12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" name="Text 3"/>
          <p:cNvSpPr/>
          <p:nvPr/>
        </p:nvSpPr>
        <p:spPr>
          <a:xfrm>
            <a:off x="8643938" y="171338"/>
            <a:ext cx="3358121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couches </a:t>
            </a:r>
            <a:r>
              <a:rPr lang="en-US" sz="2400" b="1" kern="0" spc="-48" dirty="0">
                <a:solidFill>
                  <a:srgbClr val="BDD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d'abstraction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699864"/>
            <a:ext cx="12192000" cy="1450702"/>
          </a:xfrm>
          <a:prstGeom prst="rect">
            <a:avLst/>
          </a:prstGeom>
          <a:solidFill>
            <a:srgbClr val="1C1C2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7" name="Shape 5"/>
          <p:cNvSpPr/>
          <p:nvPr/>
        </p:nvSpPr>
        <p:spPr>
          <a:xfrm>
            <a:off x="0" y="699864"/>
            <a:ext cx="12192000" cy="23813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0" name="Text 8"/>
          <p:cNvSpPr/>
          <p:nvPr/>
        </p:nvSpPr>
        <p:spPr>
          <a:xfrm>
            <a:off x="8768469" y="1364720"/>
            <a:ext cx="1729830" cy="2047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90" dirty="0">
                <a:solidFill>
                  <a:srgbClr val="BDD248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FOURNI AUTO.</a:t>
            </a:r>
            <a:endParaRPr lang="en-US" sz="1200" b="1" dirty="0"/>
          </a:p>
        </p:txBody>
      </p:sp>
      <p:sp>
        <p:nvSpPr>
          <p:cNvPr id="11" name="Text 9"/>
          <p:cNvSpPr/>
          <p:nvPr/>
        </p:nvSpPr>
        <p:spPr>
          <a:xfrm>
            <a:off x="1743335" y="1254798"/>
            <a:ext cx="3759417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OPS TRANSVERSAUX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1777655" y="1570603"/>
            <a:ext cx="375941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BDD248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MLflow · Prometheus / Grafana · Docker · CI/CT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2150566"/>
            <a:ext cx="12192000" cy="14508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TN" dirty="0"/>
          </a:p>
        </p:txBody>
      </p:sp>
      <p:sp>
        <p:nvSpPr>
          <p:cNvPr id="14" name="Shape 12"/>
          <p:cNvSpPr/>
          <p:nvPr/>
        </p:nvSpPr>
        <p:spPr>
          <a:xfrm>
            <a:off x="0" y="2150566"/>
            <a:ext cx="12192000" cy="23813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5" name="Shape 13"/>
          <p:cNvSpPr/>
          <p:nvPr/>
        </p:nvSpPr>
        <p:spPr>
          <a:xfrm>
            <a:off x="0" y="2150566"/>
            <a:ext cx="35719" cy="1450888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8" name="Text 16"/>
          <p:cNvSpPr/>
          <p:nvPr/>
        </p:nvSpPr>
        <p:spPr>
          <a:xfrm>
            <a:off x="8842171" y="2857982"/>
            <a:ext cx="1036179" cy="1571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90" dirty="0">
                <a:solidFill>
                  <a:srgbClr val="8FA82E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EXTENSIBLE DEV</a:t>
            </a:r>
            <a:endParaRPr lang="en-US" sz="1200" b="1" dirty="0"/>
          </a:p>
        </p:txBody>
      </p:sp>
      <p:sp>
        <p:nvSpPr>
          <p:cNvPr id="19" name="Text 17"/>
          <p:cNvSpPr/>
          <p:nvPr/>
        </p:nvSpPr>
        <p:spPr>
          <a:xfrm>
            <a:off x="1933835" y="2696208"/>
            <a:ext cx="4004574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COMPOSANTS PLUGGABLES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1933835" y="2912752"/>
            <a:ext cx="4004574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46472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chunkers · embedders · vector stores · generators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3601455"/>
            <a:ext cx="12192000" cy="1427076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4" name="Text 22"/>
          <p:cNvSpPr/>
          <p:nvPr/>
        </p:nvSpPr>
        <p:spPr>
          <a:xfrm>
            <a:off x="8740247" y="4270740"/>
            <a:ext cx="1379227" cy="1571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90" dirty="0">
                <a:solidFill>
                  <a:srgbClr val="1C1C24">
                    <a:alpha val="60000"/>
                  </a:srgbClr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ÉCRIT PAR LE DEV ML</a:t>
            </a:r>
            <a:endParaRPr lang="en-US" sz="1200" b="1" dirty="0"/>
          </a:p>
        </p:txBody>
      </p:sp>
      <p:sp>
        <p:nvSpPr>
          <p:cNvPr id="25" name="Text 23"/>
          <p:cNvSpPr/>
          <p:nvPr/>
        </p:nvSpPr>
        <p:spPr>
          <a:xfrm>
            <a:off x="2037253" y="4225603"/>
            <a:ext cx="1183313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: </a:t>
            </a:r>
            <a:endParaRPr lang="en-US" sz="1275" dirty="0"/>
          </a:p>
        </p:txBody>
      </p:sp>
      <p:sp>
        <p:nvSpPr>
          <p:cNvPr id="26" name="Text 24"/>
          <p:cNvSpPr/>
          <p:nvPr/>
        </p:nvSpPr>
        <p:spPr>
          <a:xfrm>
            <a:off x="3058384" y="4289680"/>
            <a:ext cx="459564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1C24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RAG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52398" y="4217602"/>
            <a:ext cx="1021561" cy="252154"/>
          </a:xfrm>
          <a:prstGeom prst="roundRect">
            <a:avLst>
              <a:gd name="adj" fmla="val 50000"/>
            </a:avLst>
          </a:prstGeom>
          <a:solidFill>
            <a:srgbClr val="1C1C2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8" name="Text 26"/>
          <p:cNvSpPr/>
          <p:nvPr/>
        </p:nvSpPr>
        <p:spPr>
          <a:xfrm>
            <a:off x="3490579" y="4225603"/>
            <a:ext cx="971474" cy="202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BDD248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implémenté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42174" y="4247238"/>
            <a:ext cx="899220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1C24">
                    <a:alpha val="50000"/>
                  </a:srgbClr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ML classique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49342" y="4236392"/>
            <a:ext cx="829608" cy="233363"/>
          </a:xfrm>
          <a:prstGeom prst="roundRect">
            <a:avLst>
              <a:gd name="adj" fmla="val 50000"/>
            </a:avLst>
          </a:prstGeom>
          <a:ln w="11906">
            <a:solidFill>
              <a:srgbClr val="1C1C24">
                <a:alpha val="40000"/>
              </a:srgbClr>
            </a:solidFill>
            <a:prstDash val="dash"/>
          </a:ln>
        </p:spPr>
        <p:txBody>
          <a:bodyPr/>
          <a:lstStyle/>
          <a:p>
            <a:endParaRPr lang="fr-TN"/>
          </a:p>
        </p:txBody>
      </p:sp>
      <p:sp>
        <p:nvSpPr>
          <p:cNvPr id="31" name="Text 29"/>
          <p:cNvSpPr/>
          <p:nvPr/>
        </p:nvSpPr>
        <p:spPr>
          <a:xfrm>
            <a:off x="5537448" y="4267349"/>
            <a:ext cx="979329" cy="2024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24">
                    <a:alpha val="55000"/>
                  </a:srgbClr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exemple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5028530"/>
            <a:ext cx="12192000" cy="1427076"/>
          </a:xfrm>
          <a:prstGeom prst="rect">
            <a:avLst/>
          </a:prstGeom>
          <a:solidFill>
            <a:srgbClr val="2A2A35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8" name="Text 36"/>
          <p:cNvSpPr/>
          <p:nvPr/>
        </p:nvSpPr>
        <p:spPr>
          <a:xfrm>
            <a:off x="8499215" y="5493280"/>
            <a:ext cx="1722090" cy="1571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90" dirty="0">
                <a:solidFill>
                  <a:srgbClr val="FFFFFF">
                    <a:alpha val="40000"/>
                  </a:srgbClr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FOURNI PAR LA PLATEFORME</a:t>
            </a:r>
            <a:endParaRPr lang="en-US" sz="1200" b="1" dirty="0"/>
          </a:p>
        </p:txBody>
      </p:sp>
      <p:sp>
        <p:nvSpPr>
          <p:cNvPr id="39" name="Text 37"/>
          <p:cNvSpPr/>
          <p:nvPr/>
        </p:nvSpPr>
        <p:spPr>
          <a:xfrm>
            <a:off x="2037253" y="5525374"/>
            <a:ext cx="2370125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MOTEUR GÉNÉRIQUE</a:t>
            </a:r>
            <a:endParaRPr lang="en-US" sz="1275" dirty="0"/>
          </a:p>
        </p:txBody>
      </p:sp>
      <p:sp>
        <p:nvSpPr>
          <p:cNvPr id="40" name="Text 38"/>
          <p:cNvSpPr/>
          <p:nvPr/>
        </p:nvSpPr>
        <p:spPr>
          <a:xfrm>
            <a:off x="2103834" y="5787095"/>
            <a:ext cx="237012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55000"/>
                  </a:srgbClr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5 phases · Registry · Context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6455606"/>
            <a:ext cx="12192000" cy="11906"/>
          </a:xfrm>
          <a:prstGeom prst="rect">
            <a:avLst/>
          </a:prstGeom>
          <a:solidFill>
            <a:srgbClr val="546472">
              <a:alpha val="14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2" name="Text 40"/>
          <p:cNvSpPr/>
          <p:nvPr/>
        </p:nvSpPr>
        <p:spPr>
          <a:xfrm>
            <a:off x="495226" y="6591226"/>
            <a:ext cx="35425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63" dirty="0">
                <a:solidFill>
                  <a:srgbClr val="546472">
                    <a:alpha val="70000"/>
                  </a:srgbClr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Projet de Fin d'Études · Pipeline MLOps générique</a:t>
            </a:r>
            <a:endParaRPr lang="en-US" sz="863" dirty="0"/>
          </a:p>
        </p:txBody>
      </p:sp>
      <p:sp>
        <p:nvSpPr>
          <p:cNvPr id="44" name="Text 41"/>
          <p:cNvSpPr/>
          <p:nvPr/>
        </p:nvSpPr>
        <p:spPr>
          <a:xfrm>
            <a:off x="11558922" y="6597179"/>
            <a:ext cx="214052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endParaRPr lang="en-US" sz="975" dirty="0"/>
          </a:p>
        </p:txBody>
      </p:sp>
      <p:pic>
        <p:nvPicPr>
          <p:cNvPr id="50" name="Image 49">
            <a:extLst>
              <a:ext uri="{FF2B5EF4-FFF2-40B4-BE49-F238E27FC236}">
                <a16:creationId xmlns:a16="http://schemas.microsoft.com/office/drawing/2014/main" id="{5044C506-6D42-64FB-D647-6196DA0CC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9284" y="5103390"/>
            <a:ext cx="1831090" cy="1487836"/>
          </a:xfrm>
          <a:prstGeom prst="rect">
            <a:avLst/>
          </a:prstGeom>
        </p:spPr>
      </p:pic>
      <p:sp>
        <p:nvSpPr>
          <p:cNvPr id="52" name="Text 18">
            <a:extLst>
              <a:ext uri="{FF2B5EF4-FFF2-40B4-BE49-F238E27FC236}">
                <a16:creationId xmlns:a16="http://schemas.microsoft.com/office/drawing/2014/main" id="{DC678196-A7D2-A870-936B-64569600B9E5}"/>
              </a:ext>
            </a:extLst>
          </p:cNvPr>
          <p:cNvSpPr/>
          <p:nvPr/>
        </p:nvSpPr>
        <p:spPr>
          <a:xfrm>
            <a:off x="11582474" y="3906366"/>
            <a:ext cx="1334473" cy="852748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6600" b="1" kern="0" spc="-63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2</a:t>
            </a:r>
            <a:endParaRPr lang="en-US" sz="66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851565B2-C8A4-E108-DD2E-524E4BD4B1BB}"/>
              </a:ext>
            </a:extLst>
          </p:cNvPr>
          <p:cNvSpPr/>
          <p:nvPr/>
        </p:nvSpPr>
        <p:spPr>
          <a:xfrm>
            <a:off x="11558922" y="2461449"/>
            <a:ext cx="1334473" cy="852748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6600" b="1" kern="0" spc="-63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3</a:t>
            </a:r>
            <a:endParaRPr lang="en-US" sz="66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 18">
            <a:extLst>
              <a:ext uri="{FF2B5EF4-FFF2-40B4-BE49-F238E27FC236}">
                <a16:creationId xmlns:a16="http://schemas.microsoft.com/office/drawing/2014/main" id="{5654D8FC-04B4-1247-D835-44DE9F923BD1}"/>
              </a:ext>
            </a:extLst>
          </p:cNvPr>
          <p:cNvSpPr/>
          <p:nvPr/>
        </p:nvSpPr>
        <p:spPr>
          <a:xfrm>
            <a:off x="11549767" y="980927"/>
            <a:ext cx="1334473" cy="852748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6600" b="1" kern="0" spc="-63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4</a:t>
            </a:r>
            <a:endParaRPr lang="en-US" sz="66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Google Shape;88;p17">
            <a:extLst>
              <a:ext uri="{FF2B5EF4-FFF2-40B4-BE49-F238E27FC236}">
                <a16:creationId xmlns:a16="http://schemas.microsoft.com/office/drawing/2014/main" id="{ED274F09-1D4C-6503-EA9D-1BA984F1FCD8}"/>
              </a:ext>
            </a:extLst>
          </p:cNvPr>
          <p:cNvSpPr txBox="1">
            <a:spLocks/>
          </p:cNvSpPr>
          <p:nvPr/>
        </p:nvSpPr>
        <p:spPr>
          <a:xfrm>
            <a:off x="11330974" y="6403685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fr" sz="1733" dirty="0">
                <a:latin typeface="Arial" panose="020B0604020202020204" pitchFamily="34" charset="0"/>
                <a:ea typeface="Nunito Black"/>
                <a:cs typeface="Arial" panose="020B0604020202020204" pitchFamily="34" charset="0"/>
                <a:sym typeface="Nunito Black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92908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1" grpId="0" animBg="1"/>
      <p:bldP spid="12" grpId="0" animBg="1"/>
      <p:bldP spid="13" grpId="0" animBg="1"/>
      <p:bldP spid="18" grpId="0" animBg="1"/>
      <p:bldP spid="19" grpId="0" animBg="1"/>
      <p:bldP spid="20" grpId="0" animBg="1"/>
      <p:bldP spid="21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5" grpId="0" animBg="1"/>
      <p:bldP spid="39" grpId="0" animBg="1"/>
      <p:bldP spid="40" grpId="0" animBg="1"/>
      <p:bldP spid="52" grpId="0" animBg="1"/>
      <p:bldP spid="54" grpId="0" animBg="1"/>
      <p:bldP spid="5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8088" y="956965"/>
            <a:ext cx="6713990" cy="5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300" b="1" kern="0" spc="-66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Un contrat universel : </a:t>
            </a:r>
            <a:r>
              <a:rPr lang="en-US" sz="3300" b="1" kern="0" spc="-66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5 phases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38088" y="1737196"/>
            <a:ext cx="1798216" cy="1337965"/>
          </a:xfrm>
          <a:prstGeom prst="roundRect">
            <a:avLst>
              <a:gd name="adj" fmla="val 4271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7" name="Shape 4"/>
          <p:cNvSpPr/>
          <p:nvPr/>
        </p:nvSpPr>
        <p:spPr>
          <a:xfrm>
            <a:off x="838088" y="3063255"/>
            <a:ext cx="1798216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8" name="Shape 5"/>
          <p:cNvSpPr/>
          <p:nvPr/>
        </p:nvSpPr>
        <p:spPr>
          <a:xfrm>
            <a:off x="838088" y="1737196"/>
            <a:ext cx="1798216" cy="35719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9" name="Shape 6"/>
          <p:cNvSpPr/>
          <p:nvPr/>
        </p:nvSpPr>
        <p:spPr>
          <a:xfrm>
            <a:off x="838088" y="1737196"/>
            <a:ext cx="11906" cy="133796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0" name="Shape 7"/>
          <p:cNvSpPr/>
          <p:nvPr/>
        </p:nvSpPr>
        <p:spPr>
          <a:xfrm>
            <a:off x="2624398" y="1737196"/>
            <a:ext cx="11906" cy="133796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1" name="Text 8"/>
          <p:cNvSpPr/>
          <p:nvPr/>
        </p:nvSpPr>
        <p:spPr>
          <a:xfrm>
            <a:off x="1021333" y="1982391"/>
            <a:ext cx="1574899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54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01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21333" y="2213260"/>
            <a:ext cx="157489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3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PREPARE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1021333" y="2522823"/>
            <a:ext cx="1431727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4" name="Text 11"/>
          <p:cNvSpPr/>
          <p:nvPr/>
        </p:nvSpPr>
        <p:spPr>
          <a:xfrm>
            <a:off x="1021333" y="2687129"/>
            <a:ext cx="1507927" cy="204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25252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données</a:t>
            </a:r>
            <a:endParaRPr lang="en-US" sz="10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5792" y="2291953"/>
            <a:ext cx="361838" cy="228451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017304" y="1737196"/>
            <a:ext cx="1798402" cy="1337965"/>
          </a:xfrm>
          <a:prstGeom prst="roundRect">
            <a:avLst>
              <a:gd name="adj" fmla="val 4271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7" name="Shape 13"/>
          <p:cNvSpPr/>
          <p:nvPr/>
        </p:nvSpPr>
        <p:spPr>
          <a:xfrm>
            <a:off x="3017304" y="3063255"/>
            <a:ext cx="1798402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8" name="Shape 14"/>
          <p:cNvSpPr/>
          <p:nvPr/>
        </p:nvSpPr>
        <p:spPr>
          <a:xfrm>
            <a:off x="3017304" y="1737196"/>
            <a:ext cx="1798402" cy="35719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9" name="Shape 15"/>
          <p:cNvSpPr/>
          <p:nvPr/>
        </p:nvSpPr>
        <p:spPr>
          <a:xfrm>
            <a:off x="3017304" y="1737196"/>
            <a:ext cx="11906" cy="133796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0" name="Shape 16"/>
          <p:cNvSpPr/>
          <p:nvPr/>
        </p:nvSpPr>
        <p:spPr>
          <a:xfrm>
            <a:off x="4803800" y="1737196"/>
            <a:ext cx="11906" cy="133796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1" name="Text 17"/>
          <p:cNvSpPr/>
          <p:nvPr/>
        </p:nvSpPr>
        <p:spPr>
          <a:xfrm>
            <a:off x="3200549" y="1982391"/>
            <a:ext cx="1575104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54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02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3200549" y="2213260"/>
            <a:ext cx="157510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3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PROCESS</a:t>
            </a:r>
            <a:endParaRPr lang="en-US" sz="1650" dirty="0"/>
          </a:p>
        </p:txBody>
      </p:sp>
      <p:sp>
        <p:nvSpPr>
          <p:cNvPr id="23" name="Shape 19"/>
          <p:cNvSpPr/>
          <p:nvPr/>
        </p:nvSpPr>
        <p:spPr>
          <a:xfrm>
            <a:off x="3200549" y="2522823"/>
            <a:ext cx="1431913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4" name="Text 20"/>
          <p:cNvSpPr/>
          <p:nvPr/>
        </p:nvSpPr>
        <p:spPr>
          <a:xfrm>
            <a:off x="3200549" y="2687129"/>
            <a:ext cx="1508113" cy="204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25252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features</a:t>
            </a:r>
            <a:endParaRPr lang="en-US" sz="105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5194" y="2291953"/>
            <a:ext cx="361838" cy="228451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5196706" y="1737196"/>
            <a:ext cx="1798402" cy="1337965"/>
          </a:xfrm>
          <a:prstGeom prst="roundRect">
            <a:avLst>
              <a:gd name="adj" fmla="val 4271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7" name="Shape 22"/>
          <p:cNvSpPr/>
          <p:nvPr/>
        </p:nvSpPr>
        <p:spPr>
          <a:xfrm>
            <a:off x="5196706" y="3063255"/>
            <a:ext cx="1798402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8" name="Shape 23"/>
          <p:cNvSpPr/>
          <p:nvPr/>
        </p:nvSpPr>
        <p:spPr>
          <a:xfrm>
            <a:off x="5196706" y="1737196"/>
            <a:ext cx="1798402" cy="35719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9" name="Shape 24"/>
          <p:cNvSpPr/>
          <p:nvPr/>
        </p:nvSpPr>
        <p:spPr>
          <a:xfrm>
            <a:off x="5196706" y="1737196"/>
            <a:ext cx="11906" cy="133796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0" name="Shape 25"/>
          <p:cNvSpPr/>
          <p:nvPr/>
        </p:nvSpPr>
        <p:spPr>
          <a:xfrm>
            <a:off x="6983202" y="1737196"/>
            <a:ext cx="11906" cy="133796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1" name="Text 26"/>
          <p:cNvSpPr/>
          <p:nvPr/>
        </p:nvSpPr>
        <p:spPr>
          <a:xfrm>
            <a:off x="5379951" y="1982391"/>
            <a:ext cx="1575104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54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03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5379951" y="2213260"/>
            <a:ext cx="157510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3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BUILD</a:t>
            </a:r>
            <a:endParaRPr lang="en-US" sz="1650" dirty="0"/>
          </a:p>
        </p:txBody>
      </p:sp>
      <p:sp>
        <p:nvSpPr>
          <p:cNvPr id="33" name="Shape 28"/>
          <p:cNvSpPr/>
          <p:nvPr/>
        </p:nvSpPr>
        <p:spPr>
          <a:xfrm>
            <a:off x="5379951" y="2522823"/>
            <a:ext cx="1431913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4" name="Text 29"/>
          <p:cNvSpPr/>
          <p:nvPr/>
        </p:nvSpPr>
        <p:spPr>
          <a:xfrm>
            <a:off x="5379951" y="2687129"/>
            <a:ext cx="1508113" cy="204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25252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index · modèle</a:t>
            </a:r>
            <a:endParaRPr lang="en-US" sz="1050" dirty="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596" y="2291953"/>
            <a:ext cx="361838" cy="228451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7376108" y="1737196"/>
            <a:ext cx="1798402" cy="1337965"/>
          </a:xfrm>
          <a:prstGeom prst="roundRect">
            <a:avLst>
              <a:gd name="adj" fmla="val 4271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7" name="Shape 31"/>
          <p:cNvSpPr/>
          <p:nvPr/>
        </p:nvSpPr>
        <p:spPr>
          <a:xfrm>
            <a:off x="7376108" y="3063255"/>
            <a:ext cx="1798402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8" name="Shape 32"/>
          <p:cNvSpPr/>
          <p:nvPr/>
        </p:nvSpPr>
        <p:spPr>
          <a:xfrm>
            <a:off x="7376108" y="1737196"/>
            <a:ext cx="1798402" cy="35719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9" name="Shape 33"/>
          <p:cNvSpPr/>
          <p:nvPr/>
        </p:nvSpPr>
        <p:spPr>
          <a:xfrm>
            <a:off x="7376108" y="1737196"/>
            <a:ext cx="11906" cy="133796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0" name="Shape 34"/>
          <p:cNvSpPr/>
          <p:nvPr/>
        </p:nvSpPr>
        <p:spPr>
          <a:xfrm>
            <a:off x="9162604" y="1737196"/>
            <a:ext cx="11906" cy="133796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1" name="Text 35"/>
          <p:cNvSpPr/>
          <p:nvPr/>
        </p:nvSpPr>
        <p:spPr>
          <a:xfrm>
            <a:off x="7559353" y="1982391"/>
            <a:ext cx="1575104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54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04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7559353" y="2213260"/>
            <a:ext cx="157510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3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EVALUATE</a:t>
            </a:r>
            <a:endParaRPr lang="en-US" sz="1650" dirty="0"/>
          </a:p>
        </p:txBody>
      </p:sp>
      <p:sp>
        <p:nvSpPr>
          <p:cNvPr id="43" name="Shape 37"/>
          <p:cNvSpPr/>
          <p:nvPr/>
        </p:nvSpPr>
        <p:spPr>
          <a:xfrm>
            <a:off x="7559353" y="2522823"/>
            <a:ext cx="1431913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4" name="Text 38"/>
          <p:cNvSpPr/>
          <p:nvPr/>
        </p:nvSpPr>
        <p:spPr>
          <a:xfrm>
            <a:off x="7559353" y="2687129"/>
            <a:ext cx="1508113" cy="204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25252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qualité</a:t>
            </a:r>
            <a:endParaRPr lang="en-US" sz="1050" dirty="0"/>
          </a:p>
        </p:txBody>
      </p:sp>
      <p:pic>
        <p:nvPicPr>
          <p:cNvPr id="4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3998" y="2291953"/>
            <a:ext cx="361838" cy="228451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9555510" y="1737196"/>
            <a:ext cx="1798402" cy="1337965"/>
          </a:xfrm>
          <a:prstGeom prst="roundRect">
            <a:avLst>
              <a:gd name="adj" fmla="val 4271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7" name="Shape 40"/>
          <p:cNvSpPr/>
          <p:nvPr/>
        </p:nvSpPr>
        <p:spPr>
          <a:xfrm>
            <a:off x="9555510" y="3063255"/>
            <a:ext cx="1798402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8" name="Shape 41"/>
          <p:cNvSpPr/>
          <p:nvPr/>
        </p:nvSpPr>
        <p:spPr>
          <a:xfrm>
            <a:off x="9555510" y="1737196"/>
            <a:ext cx="1798402" cy="35719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9" name="Shape 42"/>
          <p:cNvSpPr/>
          <p:nvPr/>
        </p:nvSpPr>
        <p:spPr>
          <a:xfrm>
            <a:off x="9555510" y="1737196"/>
            <a:ext cx="11906" cy="133796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0" name="Shape 43"/>
          <p:cNvSpPr/>
          <p:nvPr/>
        </p:nvSpPr>
        <p:spPr>
          <a:xfrm>
            <a:off x="11342005" y="1737196"/>
            <a:ext cx="11906" cy="133796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1" name="Text 44"/>
          <p:cNvSpPr/>
          <p:nvPr/>
        </p:nvSpPr>
        <p:spPr>
          <a:xfrm>
            <a:off x="9738754" y="1982391"/>
            <a:ext cx="1575104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54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05</a:t>
            </a:r>
            <a:endParaRPr lang="en-US" sz="900" dirty="0"/>
          </a:p>
        </p:txBody>
      </p:sp>
      <p:sp>
        <p:nvSpPr>
          <p:cNvPr id="52" name="Text 45"/>
          <p:cNvSpPr/>
          <p:nvPr/>
        </p:nvSpPr>
        <p:spPr>
          <a:xfrm>
            <a:off x="9738754" y="2213260"/>
            <a:ext cx="157510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3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DEPLOY</a:t>
            </a:r>
            <a:endParaRPr lang="en-US" sz="1650" dirty="0"/>
          </a:p>
        </p:txBody>
      </p:sp>
      <p:sp>
        <p:nvSpPr>
          <p:cNvPr id="53" name="Shape 46"/>
          <p:cNvSpPr/>
          <p:nvPr/>
        </p:nvSpPr>
        <p:spPr>
          <a:xfrm>
            <a:off x="9738754" y="2522823"/>
            <a:ext cx="1431913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4" name="Text 47"/>
          <p:cNvSpPr/>
          <p:nvPr/>
        </p:nvSpPr>
        <p:spPr>
          <a:xfrm>
            <a:off x="9738754" y="2687129"/>
            <a:ext cx="1508113" cy="204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25252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serving</a:t>
            </a:r>
            <a:endParaRPr lang="en-US" sz="1050" dirty="0"/>
          </a:p>
        </p:txBody>
      </p:sp>
      <p:sp>
        <p:nvSpPr>
          <p:cNvPr id="55" name="Shape 48"/>
          <p:cNvSpPr/>
          <p:nvPr/>
        </p:nvSpPr>
        <p:spPr>
          <a:xfrm>
            <a:off x="838088" y="3303612"/>
            <a:ext cx="10515823" cy="822647"/>
          </a:xfrm>
          <a:prstGeom prst="roundRect">
            <a:avLst>
              <a:gd name="adj" fmla="val 6947"/>
            </a:avLst>
          </a:prstGeom>
          <a:solidFill>
            <a:srgbClr val="2A2A2A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6" name="Shape 49"/>
          <p:cNvSpPr/>
          <p:nvPr/>
        </p:nvSpPr>
        <p:spPr>
          <a:xfrm>
            <a:off x="1104677" y="3543598"/>
            <a:ext cx="2879824" cy="342677"/>
          </a:xfrm>
          <a:prstGeom prst="roundRect">
            <a:avLst>
              <a:gd name="adj" fmla="val 8339"/>
            </a:avLst>
          </a:prstGeom>
          <a:ln w="11906">
            <a:solidFill>
              <a:srgbClr val="BDD24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7" name="Text 50"/>
          <p:cNvSpPr/>
          <p:nvPr/>
        </p:nvSpPr>
        <p:spPr>
          <a:xfrm>
            <a:off x="1268983" y="3631704"/>
            <a:ext cx="2637606" cy="20456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13" kern="0" spc="41" dirty="0">
                <a:solidFill>
                  <a:srgbClr val="BDD248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BasePipeline · classe abstraite</a:t>
            </a:r>
            <a:endParaRPr lang="en-US" sz="1013" dirty="0"/>
          </a:p>
        </p:txBody>
      </p:sp>
      <p:sp>
        <p:nvSpPr>
          <p:cNvPr id="58" name="Text 51"/>
          <p:cNvSpPr/>
          <p:nvPr/>
        </p:nvSpPr>
        <p:spPr>
          <a:xfrm>
            <a:off x="4251089" y="3494112"/>
            <a:ext cx="7041321" cy="479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9AA5B8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Le développeur </a:t>
            </a: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hérite </a:t>
            </a:r>
            <a:r>
              <a:rPr lang="en-US" sz="1200" dirty="0">
                <a:solidFill>
                  <a:srgbClr val="9AA5B8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de l'orchestration des 5 phases (gratuite) et n'implémente que </a:t>
            </a: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le contenu </a:t>
            </a:r>
            <a:r>
              <a:rPr lang="en-US" sz="1200" dirty="0">
                <a:solidFill>
                  <a:srgbClr val="9AA5B8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de chaque phase — le core ne connaît </a:t>
            </a: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aucun use case</a:t>
            </a:r>
            <a:r>
              <a:rPr lang="en-US" sz="1200" dirty="0">
                <a:solidFill>
                  <a:srgbClr val="9AA5B8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.</a:t>
            </a:r>
            <a:endParaRPr lang="en-US" sz="1200" dirty="0"/>
          </a:p>
        </p:txBody>
      </p:sp>
      <p:sp>
        <p:nvSpPr>
          <p:cNvPr id="59" name="Shape 52"/>
          <p:cNvSpPr/>
          <p:nvPr/>
        </p:nvSpPr>
        <p:spPr>
          <a:xfrm>
            <a:off x="838088" y="4278623"/>
            <a:ext cx="10515823" cy="774650"/>
          </a:xfrm>
          <a:prstGeom prst="roundRect">
            <a:avLst>
              <a:gd name="adj" fmla="val 7378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0" name="Shape 53"/>
          <p:cNvSpPr/>
          <p:nvPr/>
        </p:nvSpPr>
        <p:spPr>
          <a:xfrm>
            <a:off x="1059470" y="4442892"/>
            <a:ext cx="37951" cy="446112"/>
          </a:xfrm>
          <a:prstGeom prst="roundRect">
            <a:avLst>
              <a:gd name="adj" fmla="val 50000"/>
            </a:avLst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61" name="Text 54"/>
          <p:cNvSpPr/>
          <p:nvPr/>
        </p:nvSpPr>
        <p:spPr>
          <a:xfrm>
            <a:off x="1249784" y="4442892"/>
            <a:ext cx="10179228" cy="484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238" b="1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N'importe quel modèle ML — RAG, classification, fine-tuning — se plie au </a:t>
            </a:r>
            <a:r>
              <a:rPr lang="en-US" sz="1238" b="1" dirty="0">
                <a:solidFill>
                  <a:srgbClr val="4B5A18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même contrat de 5 phases </a:t>
            </a:r>
            <a:r>
              <a:rPr lang="en-US" sz="1238" b="1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: c'est ce qui rend la plateforme </a:t>
            </a:r>
            <a:r>
              <a:rPr lang="en-US" sz="1238" b="1" dirty="0">
                <a:solidFill>
                  <a:srgbClr val="4B5A18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générique</a:t>
            </a:r>
            <a:r>
              <a:rPr lang="en-US" sz="1238" b="1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.</a:t>
            </a:r>
            <a:endParaRPr lang="en-US" sz="1238" dirty="0"/>
          </a:p>
        </p:txBody>
      </p:sp>
      <p:sp>
        <p:nvSpPr>
          <p:cNvPr id="62" name="Text 55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63" name="Image 5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64" name="Text 56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3F3F3F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05</a:t>
            </a:r>
            <a:endParaRPr lang="en-US" sz="9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D7DCE9-8FBB-E4A0-69D9-87A58F562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C1F8FB4D-9873-14CD-293F-F4493F805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7F28BEE3-B4C9-9415-4CDA-1969BB55D552}"/>
              </a:ext>
            </a:extLst>
          </p:cNvPr>
          <p:cNvSpPr/>
          <p:nvPr/>
        </p:nvSpPr>
        <p:spPr>
          <a:xfrm>
            <a:off x="838088" y="956965"/>
            <a:ext cx="6713990" cy="5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300" b="1" kern="0" spc="-66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Un contrat universel : </a:t>
            </a:r>
            <a:r>
              <a:rPr lang="en-US" sz="3300" b="1" kern="0" spc="-66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5 phases</a:t>
            </a:r>
            <a:endParaRPr lang="en-US" sz="3300" dirty="0"/>
          </a:p>
        </p:txBody>
      </p:sp>
      <p:sp>
        <p:nvSpPr>
          <p:cNvPr id="55" name="Shape 48">
            <a:extLst>
              <a:ext uri="{FF2B5EF4-FFF2-40B4-BE49-F238E27FC236}">
                <a16:creationId xmlns:a16="http://schemas.microsoft.com/office/drawing/2014/main" id="{11A0FEBC-4D65-4E2D-21E4-9D775485AFBB}"/>
              </a:ext>
            </a:extLst>
          </p:cNvPr>
          <p:cNvSpPr/>
          <p:nvPr/>
        </p:nvSpPr>
        <p:spPr>
          <a:xfrm>
            <a:off x="838088" y="4398771"/>
            <a:ext cx="10515823" cy="822647"/>
          </a:xfrm>
          <a:prstGeom prst="roundRect">
            <a:avLst>
              <a:gd name="adj" fmla="val 6947"/>
            </a:avLst>
          </a:prstGeom>
          <a:solidFill>
            <a:srgbClr val="2A2A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Shape 49">
            <a:extLst>
              <a:ext uri="{FF2B5EF4-FFF2-40B4-BE49-F238E27FC236}">
                <a16:creationId xmlns:a16="http://schemas.microsoft.com/office/drawing/2014/main" id="{ACF25351-4CD4-9B7A-2792-CCB1D27C7F24}"/>
              </a:ext>
            </a:extLst>
          </p:cNvPr>
          <p:cNvSpPr/>
          <p:nvPr/>
        </p:nvSpPr>
        <p:spPr>
          <a:xfrm>
            <a:off x="1104677" y="4638757"/>
            <a:ext cx="2879824" cy="342677"/>
          </a:xfrm>
          <a:prstGeom prst="roundRect">
            <a:avLst>
              <a:gd name="adj" fmla="val 8339"/>
            </a:avLst>
          </a:prstGeom>
          <a:ln w="11906">
            <a:solidFill>
              <a:srgbClr val="BDD24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7" name="Text 50">
            <a:extLst>
              <a:ext uri="{FF2B5EF4-FFF2-40B4-BE49-F238E27FC236}">
                <a16:creationId xmlns:a16="http://schemas.microsoft.com/office/drawing/2014/main" id="{FDCAE65F-1A83-C346-628A-3DD1525A7662}"/>
              </a:ext>
            </a:extLst>
          </p:cNvPr>
          <p:cNvSpPr/>
          <p:nvPr/>
        </p:nvSpPr>
        <p:spPr>
          <a:xfrm>
            <a:off x="1268983" y="4726863"/>
            <a:ext cx="2637606" cy="2626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41" dirty="0">
                <a:solidFill>
                  <a:srgbClr val="BDD248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BasePipeline · classe abstraite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 51">
            <a:extLst>
              <a:ext uri="{FF2B5EF4-FFF2-40B4-BE49-F238E27FC236}">
                <a16:creationId xmlns:a16="http://schemas.microsoft.com/office/drawing/2014/main" id="{F232EE30-9ABB-6C3B-5FD2-AAA85F473507}"/>
              </a:ext>
            </a:extLst>
          </p:cNvPr>
          <p:cNvSpPr/>
          <p:nvPr/>
        </p:nvSpPr>
        <p:spPr>
          <a:xfrm>
            <a:off x="4251089" y="4589271"/>
            <a:ext cx="7041321" cy="61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9AA5B8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Le développeur </a:t>
            </a: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hérite </a:t>
            </a:r>
            <a:r>
              <a:rPr lang="en-US" sz="1200" dirty="0">
                <a:solidFill>
                  <a:srgbClr val="9AA5B8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de l'orchestration des 5 phases (gratuite) et n'implémente que </a:t>
            </a: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le contenu </a:t>
            </a:r>
            <a:r>
              <a:rPr lang="en-US" sz="1200" dirty="0">
                <a:solidFill>
                  <a:srgbClr val="9AA5B8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de chaque phase — le core ne connaît </a:t>
            </a: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aucun use case</a:t>
            </a:r>
            <a:r>
              <a:rPr lang="en-US" sz="1200" dirty="0">
                <a:solidFill>
                  <a:srgbClr val="9AA5B8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Shape 52">
            <a:extLst>
              <a:ext uri="{FF2B5EF4-FFF2-40B4-BE49-F238E27FC236}">
                <a16:creationId xmlns:a16="http://schemas.microsoft.com/office/drawing/2014/main" id="{BB10042A-EDCA-8BDC-48DC-9AB02F2343EF}"/>
              </a:ext>
            </a:extLst>
          </p:cNvPr>
          <p:cNvSpPr/>
          <p:nvPr/>
        </p:nvSpPr>
        <p:spPr>
          <a:xfrm>
            <a:off x="838088" y="5373782"/>
            <a:ext cx="10515823" cy="774650"/>
          </a:xfrm>
          <a:prstGeom prst="roundRect">
            <a:avLst>
              <a:gd name="adj" fmla="val 7378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0" name="Shape 53">
            <a:extLst>
              <a:ext uri="{FF2B5EF4-FFF2-40B4-BE49-F238E27FC236}">
                <a16:creationId xmlns:a16="http://schemas.microsoft.com/office/drawing/2014/main" id="{D69B85C7-02BC-3EF4-4842-FF1CB8DEDE10}"/>
              </a:ext>
            </a:extLst>
          </p:cNvPr>
          <p:cNvSpPr/>
          <p:nvPr/>
        </p:nvSpPr>
        <p:spPr>
          <a:xfrm>
            <a:off x="1059470" y="5538051"/>
            <a:ext cx="37951" cy="446112"/>
          </a:xfrm>
          <a:prstGeom prst="roundRect">
            <a:avLst>
              <a:gd name="adj" fmla="val 50000"/>
            </a:avLst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61" name="Text 54">
            <a:extLst>
              <a:ext uri="{FF2B5EF4-FFF2-40B4-BE49-F238E27FC236}">
                <a16:creationId xmlns:a16="http://schemas.microsoft.com/office/drawing/2014/main" id="{2641BBBE-5ADF-B4E6-E77C-C84C2282CE53}"/>
              </a:ext>
            </a:extLst>
          </p:cNvPr>
          <p:cNvSpPr/>
          <p:nvPr/>
        </p:nvSpPr>
        <p:spPr>
          <a:xfrm>
            <a:off x="1174683" y="5499951"/>
            <a:ext cx="10179228" cy="484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400" b="1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N'importe quel modèle ML — RAG, classification, fine-tuning — se plie au </a:t>
            </a:r>
            <a:r>
              <a:rPr lang="en-US" sz="1400" b="1" dirty="0">
                <a:solidFill>
                  <a:srgbClr val="4B5A18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même contrat de 5 phases </a:t>
            </a:r>
            <a:r>
              <a:rPr lang="en-US" sz="1400" b="1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: c'est ce qui rend la plateforme </a:t>
            </a:r>
            <a:r>
              <a:rPr lang="en-US" sz="1400" b="1" dirty="0">
                <a:solidFill>
                  <a:srgbClr val="4B5A18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générique</a:t>
            </a:r>
            <a:r>
              <a:rPr lang="en-US" sz="1400" b="1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 55">
            <a:extLst>
              <a:ext uri="{FF2B5EF4-FFF2-40B4-BE49-F238E27FC236}">
                <a16:creationId xmlns:a16="http://schemas.microsoft.com/office/drawing/2014/main" id="{410F09E8-FC12-43CF-0AC8-3FF5A6E79623}"/>
              </a:ext>
            </a:extLst>
          </p:cNvPr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Projet de Fin d'Études · Pipeline MLOps générique</a:t>
            </a:r>
            <a:endParaRPr lang="en-US" sz="975" dirty="0"/>
          </a:p>
        </p:txBody>
      </p:sp>
      <p:sp>
        <p:nvSpPr>
          <p:cNvPr id="65" name="Shape 3">
            <a:extLst>
              <a:ext uri="{FF2B5EF4-FFF2-40B4-BE49-F238E27FC236}">
                <a16:creationId xmlns:a16="http://schemas.microsoft.com/office/drawing/2014/main" id="{1ADFAC3A-DB08-CDB5-2342-6F643F04B642}"/>
              </a:ext>
            </a:extLst>
          </p:cNvPr>
          <p:cNvSpPr/>
          <p:nvPr/>
        </p:nvSpPr>
        <p:spPr>
          <a:xfrm>
            <a:off x="2050031" y="1523650"/>
            <a:ext cx="1508760" cy="2560320"/>
          </a:xfrm>
          <a:prstGeom prst="roundRect">
            <a:avLst>
              <a:gd name="adj" fmla="val 7273"/>
            </a:avLst>
          </a:prstGeom>
          <a:solidFill>
            <a:schemeClr val="accent6">
              <a:lumMod val="60000"/>
              <a:lumOff val="40000"/>
            </a:scheme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1BC3DFE5-4E04-A935-5B97-5CDE3D71417D}"/>
              </a:ext>
            </a:extLst>
          </p:cNvPr>
          <p:cNvSpPr/>
          <p:nvPr/>
        </p:nvSpPr>
        <p:spPr>
          <a:xfrm>
            <a:off x="2461511" y="1980850"/>
            <a:ext cx="685800" cy="68580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7" name="Image 0" descr="preencoded.png">
            <a:extLst>
              <a:ext uri="{FF2B5EF4-FFF2-40B4-BE49-F238E27FC236}">
                <a16:creationId xmlns:a16="http://schemas.microsoft.com/office/drawing/2014/main" id="{644BC526-7A9F-80E1-3BE2-4428B8D811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0383" y="2081434"/>
            <a:ext cx="457200" cy="457200"/>
          </a:xfrm>
          <a:prstGeom prst="rect">
            <a:avLst/>
          </a:prstGeom>
        </p:spPr>
      </p:pic>
      <p:sp>
        <p:nvSpPr>
          <p:cNvPr id="69" name="Shape 7">
            <a:extLst>
              <a:ext uri="{FF2B5EF4-FFF2-40B4-BE49-F238E27FC236}">
                <a16:creationId xmlns:a16="http://schemas.microsoft.com/office/drawing/2014/main" id="{496BDC3E-F71B-F08C-709A-C64C40D3E3EF}"/>
              </a:ext>
            </a:extLst>
          </p:cNvPr>
          <p:cNvSpPr/>
          <p:nvPr/>
        </p:nvSpPr>
        <p:spPr>
          <a:xfrm>
            <a:off x="3558791" y="2666650"/>
            <a:ext cx="201168" cy="548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0" name="Shape 8">
            <a:extLst>
              <a:ext uri="{FF2B5EF4-FFF2-40B4-BE49-F238E27FC236}">
                <a16:creationId xmlns:a16="http://schemas.microsoft.com/office/drawing/2014/main" id="{612856DB-F9E2-DA19-6331-B62803439D1F}"/>
              </a:ext>
            </a:extLst>
          </p:cNvPr>
          <p:cNvSpPr/>
          <p:nvPr/>
        </p:nvSpPr>
        <p:spPr>
          <a:xfrm>
            <a:off x="3769103" y="1523650"/>
            <a:ext cx="1508760" cy="2560320"/>
          </a:xfrm>
          <a:prstGeom prst="roundRect">
            <a:avLst>
              <a:gd name="adj" fmla="val 7273"/>
            </a:avLst>
          </a:prstGeom>
          <a:solidFill>
            <a:schemeClr val="accent6">
              <a:lumMod val="40000"/>
              <a:lumOff val="60000"/>
            </a:scheme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Shape 10">
            <a:extLst>
              <a:ext uri="{FF2B5EF4-FFF2-40B4-BE49-F238E27FC236}">
                <a16:creationId xmlns:a16="http://schemas.microsoft.com/office/drawing/2014/main" id="{BD50DE11-2BA7-2270-8CB8-F7B3809BE500}"/>
              </a:ext>
            </a:extLst>
          </p:cNvPr>
          <p:cNvSpPr/>
          <p:nvPr/>
        </p:nvSpPr>
        <p:spPr>
          <a:xfrm>
            <a:off x="4180583" y="1980850"/>
            <a:ext cx="685800" cy="68580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72" name="Image 1" descr="preencoded.png">
            <a:extLst>
              <a:ext uri="{FF2B5EF4-FFF2-40B4-BE49-F238E27FC236}">
                <a16:creationId xmlns:a16="http://schemas.microsoft.com/office/drawing/2014/main" id="{D6A9133D-E640-34F2-A607-53ADA95DCA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9455" y="2081434"/>
            <a:ext cx="457200" cy="457200"/>
          </a:xfrm>
          <a:prstGeom prst="rect">
            <a:avLst/>
          </a:prstGeom>
        </p:spPr>
      </p:pic>
      <p:sp>
        <p:nvSpPr>
          <p:cNvPr id="74" name="Shape 12">
            <a:extLst>
              <a:ext uri="{FF2B5EF4-FFF2-40B4-BE49-F238E27FC236}">
                <a16:creationId xmlns:a16="http://schemas.microsoft.com/office/drawing/2014/main" id="{22441324-C481-40D6-5298-CBF8FEEA0372}"/>
              </a:ext>
            </a:extLst>
          </p:cNvPr>
          <p:cNvSpPr/>
          <p:nvPr/>
        </p:nvSpPr>
        <p:spPr>
          <a:xfrm>
            <a:off x="5277863" y="2666650"/>
            <a:ext cx="201168" cy="548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5" name="Shape 13">
            <a:extLst>
              <a:ext uri="{FF2B5EF4-FFF2-40B4-BE49-F238E27FC236}">
                <a16:creationId xmlns:a16="http://schemas.microsoft.com/office/drawing/2014/main" id="{3DAA6AFA-0E7A-F468-18C1-28A6A212D520}"/>
              </a:ext>
            </a:extLst>
          </p:cNvPr>
          <p:cNvSpPr/>
          <p:nvPr/>
        </p:nvSpPr>
        <p:spPr>
          <a:xfrm>
            <a:off x="5488175" y="1523650"/>
            <a:ext cx="1508760" cy="256032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Shape 15">
            <a:extLst>
              <a:ext uri="{FF2B5EF4-FFF2-40B4-BE49-F238E27FC236}">
                <a16:creationId xmlns:a16="http://schemas.microsoft.com/office/drawing/2014/main" id="{E303924C-23BC-1564-5DD3-431D8B3F6ED3}"/>
              </a:ext>
            </a:extLst>
          </p:cNvPr>
          <p:cNvSpPr/>
          <p:nvPr/>
        </p:nvSpPr>
        <p:spPr>
          <a:xfrm>
            <a:off x="5899655" y="1980850"/>
            <a:ext cx="685800" cy="68580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B3B16126-1537-5508-5D25-33D36B5DCE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8527" y="2081434"/>
            <a:ext cx="457200" cy="457200"/>
          </a:xfrm>
          <a:prstGeom prst="rect">
            <a:avLst/>
          </a:prstGeom>
        </p:spPr>
      </p:pic>
      <p:sp>
        <p:nvSpPr>
          <p:cNvPr id="79" name="Shape 17">
            <a:extLst>
              <a:ext uri="{FF2B5EF4-FFF2-40B4-BE49-F238E27FC236}">
                <a16:creationId xmlns:a16="http://schemas.microsoft.com/office/drawing/2014/main" id="{5207019F-A3F9-8A3D-2A75-87401CDEF585}"/>
              </a:ext>
            </a:extLst>
          </p:cNvPr>
          <p:cNvSpPr/>
          <p:nvPr/>
        </p:nvSpPr>
        <p:spPr>
          <a:xfrm>
            <a:off x="6996935" y="2666650"/>
            <a:ext cx="201168" cy="548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0" name="Shape 18">
            <a:extLst>
              <a:ext uri="{FF2B5EF4-FFF2-40B4-BE49-F238E27FC236}">
                <a16:creationId xmlns:a16="http://schemas.microsoft.com/office/drawing/2014/main" id="{B54674FA-CB68-FDC6-27D3-A84867419958}"/>
              </a:ext>
            </a:extLst>
          </p:cNvPr>
          <p:cNvSpPr/>
          <p:nvPr/>
        </p:nvSpPr>
        <p:spPr>
          <a:xfrm>
            <a:off x="7207247" y="1523650"/>
            <a:ext cx="1508760" cy="2560320"/>
          </a:xfrm>
          <a:prstGeom prst="roundRect">
            <a:avLst>
              <a:gd name="adj" fmla="val 7273"/>
            </a:avLst>
          </a:prstGeom>
          <a:solidFill>
            <a:schemeClr val="bg2">
              <a:lumMod val="9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Shape 20">
            <a:extLst>
              <a:ext uri="{FF2B5EF4-FFF2-40B4-BE49-F238E27FC236}">
                <a16:creationId xmlns:a16="http://schemas.microsoft.com/office/drawing/2014/main" id="{B6005189-1D79-2DB0-944B-D6684023A768}"/>
              </a:ext>
            </a:extLst>
          </p:cNvPr>
          <p:cNvSpPr/>
          <p:nvPr/>
        </p:nvSpPr>
        <p:spPr>
          <a:xfrm>
            <a:off x="7618727" y="1980850"/>
            <a:ext cx="685800" cy="68580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2" name="Image 3" descr="preencoded.png">
            <a:extLst>
              <a:ext uri="{FF2B5EF4-FFF2-40B4-BE49-F238E27FC236}">
                <a16:creationId xmlns:a16="http://schemas.microsoft.com/office/drawing/2014/main" id="{82B06DBF-08A1-FD42-5852-385B11650E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7599" y="2081434"/>
            <a:ext cx="457200" cy="457200"/>
          </a:xfrm>
          <a:prstGeom prst="rect">
            <a:avLst/>
          </a:prstGeom>
        </p:spPr>
      </p:pic>
      <p:sp>
        <p:nvSpPr>
          <p:cNvPr id="84" name="Shape 22">
            <a:extLst>
              <a:ext uri="{FF2B5EF4-FFF2-40B4-BE49-F238E27FC236}">
                <a16:creationId xmlns:a16="http://schemas.microsoft.com/office/drawing/2014/main" id="{51E3681E-3415-2BDB-D4CB-556CC26CE420}"/>
              </a:ext>
            </a:extLst>
          </p:cNvPr>
          <p:cNvSpPr/>
          <p:nvPr/>
        </p:nvSpPr>
        <p:spPr>
          <a:xfrm>
            <a:off x="8716007" y="2666650"/>
            <a:ext cx="201168" cy="548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5" name="Shape 23">
            <a:extLst>
              <a:ext uri="{FF2B5EF4-FFF2-40B4-BE49-F238E27FC236}">
                <a16:creationId xmlns:a16="http://schemas.microsoft.com/office/drawing/2014/main" id="{EC26EFA2-087C-C3D7-06DF-C6122AA4DB95}"/>
              </a:ext>
            </a:extLst>
          </p:cNvPr>
          <p:cNvSpPr/>
          <p:nvPr/>
        </p:nvSpPr>
        <p:spPr>
          <a:xfrm>
            <a:off x="8926319" y="1523650"/>
            <a:ext cx="1508760" cy="2560320"/>
          </a:xfrm>
          <a:prstGeom prst="roundRect">
            <a:avLst>
              <a:gd name="adj" fmla="val 7273"/>
            </a:avLst>
          </a:prstGeom>
          <a:solidFill>
            <a:srgbClr val="30C125"/>
          </a:solidFill>
          <a:ln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Shape 25">
            <a:extLst>
              <a:ext uri="{FF2B5EF4-FFF2-40B4-BE49-F238E27FC236}">
                <a16:creationId xmlns:a16="http://schemas.microsoft.com/office/drawing/2014/main" id="{8E9ED9EB-5CF4-7226-70F3-E0A40FE4167C}"/>
              </a:ext>
            </a:extLst>
          </p:cNvPr>
          <p:cNvSpPr/>
          <p:nvPr/>
        </p:nvSpPr>
        <p:spPr>
          <a:xfrm>
            <a:off x="9337799" y="1980850"/>
            <a:ext cx="685800" cy="68580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7" name="Image 4" descr="preencoded.png">
            <a:extLst>
              <a:ext uri="{FF2B5EF4-FFF2-40B4-BE49-F238E27FC236}">
                <a16:creationId xmlns:a16="http://schemas.microsoft.com/office/drawing/2014/main" id="{3FDC6E21-3ABD-66F8-57FA-C82F72873E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56671" y="2081434"/>
            <a:ext cx="457200" cy="457200"/>
          </a:xfrm>
          <a:prstGeom prst="rect">
            <a:avLst/>
          </a:prstGeom>
        </p:spPr>
      </p:pic>
      <p:sp>
        <p:nvSpPr>
          <p:cNvPr id="91" name="Text 9">
            <a:extLst>
              <a:ext uri="{FF2B5EF4-FFF2-40B4-BE49-F238E27FC236}">
                <a16:creationId xmlns:a16="http://schemas.microsoft.com/office/drawing/2014/main" id="{DA463E20-072C-371B-9249-8EBCB21A17D3}"/>
              </a:ext>
            </a:extLst>
          </p:cNvPr>
          <p:cNvSpPr/>
          <p:nvPr/>
        </p:nvSpPr>
        <p:spPr>
          <a:xfrm>
            <a:off x="2250550" y="3065863"/>
            <a:ext cx="157489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00" b="1" kern="0" spc="33" dirty="0">
                <a:solidFill>
                  <a:schemeClr val="bg1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PREPARE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Text 11">
            <a:extLst>
              <a:ext uri="{FF2B5EF4-FFF2-40B4-BE49-F238E27FC236}">
                <a16:creationId xmlns:a16="http://schemas.microsoft.com/office/drawing/2014/main" id="{8BE5EC0E-DC5A-6840-1EA6-188BEAC3D97C}"/>
              </a:ext>
            </a:extLst>
          </p:cNvPr>
          <p:cNvSpPr/>
          <p:nvPr/>
        </p:nvSpPr>
        <p:spPr>
          <a:xfrm>
            <a:off x="2250550" y="3539732"/>
            <a:ext cx="1507927" cy="204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données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Text 18">
            <a:extLst>
              <a:ext uri="{FF2B5EF4-FFF2-40B4-BE49-F238E27FC236}">
                <a16:creationId xmlns:a16="http://schemas.microsoft.com/office/drawing/2014/main" id="{BAFCBE34-2916-E679-A249-F4E71CDDD71B}"/>
              </a:ext>
            </a:extLst>
          </p:cNvPr>
          <p:cNvSpPr/>
          <p:nvPr/>
        </p:nvSpPr>
        <p:spPr>
          <a:xfrm>
            <a:off x="3958996" y="3023125"/>
            <a:ext cx="157510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3" dirty="0">
                <a:solidFill>
                  <a:schemeClr val="bg1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PROCESS</a:t>
            </a:r>
            <a:endParaRPr lang="en-US" sz="16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Text 20">
            <a:extLst>
              <a:ext uri="{FF2B5EF4-FFF2-40B4-BE49-F238E27FC236}">
                <a16:creationId xmlns:a16="http://schemas.microsoft.com/office/drawing/2014/main" id="{637224A9-238D-B1B2-E046-1BF151EB392B}"/>
              </a:ext>
            </a:extLst>
          </p:cNvPr>
          <p:cNvSpPr/>
          <p:nvPr/>
        </p:nvSpPr>
        <p:spPr>
          <a:xfrm>
            <a:off x="3958996" y="3496994"/>
            <a:ext cx="1508113" cy="204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i="1" dirty="0">
                <a:solidFill>
                  <a:schemeClr val="bg1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features</a:t>
            </a:r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Shape 0">
            <a:extLst>
              <a:ext uri="{FF2B5EF4-FFF2-40B4-BE49-F238E27FC236}">
                <a16:creationId xmlns:a16="http://schemas.microsoft.com/office/drawing/2014/main" id="{A1C9429E-2382-D481-AAD5-84D54DDD510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fr-FR"/>
          </a:p>
        </p:txBody>
      </p:sp>
      <p:sp>
        <p:nvSpPr>
          <p:cNvPr id="102" name="Text 27">
            <a:extLst>
              <a:ext uri="{FF2B5EF4-FFF2-40B4-BE49-F238E27FC236}">
                <a16:creationId xmlns:a16="http://schemas.microsoft.com/office/drawing/2014/main" id="{D852440D-08C0-2BE6-5E33-2E4B71079331}"/>
              </a:ext>
            </a:extLst>
          </p:cNvPr>
          <p:cNvSpPr/>
          <p:nvPr/>
        </p:nvSpPr>
        <p:spPr>
          <a:xfrm>
            <a:off x="5709562" y="3010712"/>
            <a:ext cx="157510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3" dirty="0">
                <a:solidFill>
                  <a:schemeClr val="bg1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BUILD</a:t>
            </a:r>
            <a:endParaRPr lang="en-US" sz="16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Text 29">
            <a:extLst>
              <a:ext uri="{FF2B5EF4-FFF2-40B4-BE49-F238E27FC236}">
                <a16:creationId xmlns:a16="http://schemas.microsoft.com/office/drawing/2014/main" id="{CA1BB9C6-D264-1805-FB29-7EADF3C12725}"/>
              </a:ext>
            </a:extLst>
          </p:cNvPr>
          <p:cNvSpPr/>
          <p:nvPr/>
        </p:nvSpPr>
        <p:spPr>
          <a:xfrm>
            <a:off x="5709562" y="3484581"/>
            <a:ext cx="1508113" cy="204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i="1" dirty="0">
                <a:solidFill>
                  <a:schemeClr val="bg1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index · modèle</a:t>
            </a:r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Text 36">
            <a:extLst>
              <a:ext uri="{FF2B5EF4-FFF2-40B4-BE49-F238E27FC236}">
                <a16:creationId xmlns:a16="http://schemas.microsoft.com/office/drawing/2014/main" id="{BD0222EE-0DCE-9C11-8852-7F6E5C496188}"/>
              </a:ext>
            </a:extLst>
          </p:cNvPr>
          <p:cNvSpPr/>
          <p:nvPr/>
        </p:nvSpPr>
        <p:spPr>
          <a:xfrm>
            <a:off x="7457189" y="2992137"/>
            <a:ext cx="157510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3" dirty="0">
                <a:solidFill>
                  <a:schemeClr val="bg1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EVALUATE</a:t>
            </a:r>
            <a:endParaRPr lang="en-US" sz="16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Text 38">
            <a:extLst>
              <a:ext uri="{FF2B5EF4-FFF2-40B4-BE49-F238E27FC236}">
                <a16:creationId xmlns:a16="http://schemas.microsoft.com/office/drawing/2014/main" id="{40737906-775C-2B54-9959-26CEAF3A7578}"/>
              </a:ext>
            </a:extLst>
          </p:cNvPr>
          <p:cNvSpPr/>
          <p:nvPr/>
        </p:nvSpPr>
        <p:spPr>
          <a:xfrm>
            <a:off x="7457189" y="3466006"/>
            <a:ext cx="1508113" cy="204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i="1" dirty="0">
                <a:solidFill>
                  <a:schemeClr val="bg1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qualité</a:t>
            </a:r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Text 45">
            <a:extLst>
              <a:ext uri="{FF2B5EF4-FFF2-40B4-BE49-F238E27FC236}">
                <a16:creationId xmlns:a16="http://schemas.microsoft.com/office/drawing/2014/main" id="{EAB5EFB0-813E-3CE9-4172-350B3E6B41DD}"/>
              </a:ext>
            </a:extLst>
          </p:cNvPr>
          <p:cNvSpPr/>
          <p:nvPr/>
        </p:nvSpPr>
        <p:spPr>
          <a:xfrm>
            <a:off x="9153898" y="2992137"/>
            <a:ext cx="157510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3" dirty="0">
                <a:solidFill>
                  <a:schemeClr val="bg1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DEPLOY</a:t>
            </a:r>
            <a:endParaRPr lang="en-US" sz="1650" dirty="0">
              <a:solidFill>
                <a:schemeClr val="bg1"/>
              </a:solidFill>
            </a:endParaRPr>
          </a:p>
        </p:txBody>
      </p:sp>
      <p:sp>
        <p:nvSpPr>
          <p:cNvPr id="107" name="Text 47">
            <a:extLst>
              <a:ext uri="{FF2B5EF4-FFF2-40B4-BE49-F238E27FC236}">
                <a16:creationId xmlns:a16="http://schemas.microsoft.com/office/drawing/2014/main" id="{72920BAA-4E6D-D958-1C85-4C1A06BBF0F4}"/>
              </a:ext>
            </a:extLst>
          </p:cNvPr>
          <p:cNvSpPr/>
          <p:nvPr/>
        </p:nvSpPr>
        <p:spPr>
          <a:xfrm>
            <a:off x="9153898" y="3466006"/>
            <a:ext cx="1508113" cy="204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i="1" dirty="0">
                <a:solidFill>
                  <a:schemeClr val="bg1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serving</a:t>
            </a:r>
            <a:endParaRPr lang="en-US" sz="1050" dirty="0">
              <a:solidFill>
                <a:schemeClr val="bg1"/>
              </a:solidFill>
            </a:endParaRPr>
          </a:p>
        </p:txBody>
      </p:sp>
      <p:grpSp>
        <p:nvGrpSpPr>
          <p:cNvPr id="2" name="Arrow circle">
            <a:extLst>
              <a:ext uri="{FF2B5EF4-FFF2-40B4-BE49-F238E27FC236}">
                <a16:creationId xmlns:a16="http://schemas.microsoft.com/office/drawing/2014/main" id="{DE6BA8F8-4871-137B-8D18-E72A7C7952C1}"/>
              </a:ext>
            </a:extLst>
          </p:cNvPr>
          <p:cNvGrpSpPr/>
          <p:nvPr/>
        </p:nvGrpSpPr>
        <p:grpSpPr>
          <a:xfrm>
            <a:off x="3542171" y="2542022"/>
            <a:ext cx="297610" cy="297643"/>
            <a:chOff x="3554173" y="2102693"/>
            <a:chExt cx="446562" cy="446612"/>
          </a:xfrm>
        </p:grpSpPr>
        <p:sp>
          <p:nvSpPr>
            <p:cNvPr id="6" name="White circle">
              <a:extLst>
                <a:ext uri="{FF2B5EF4-FFF2-40B4-BE49-F238E27FC236}">
                  <a16:creationId xmlns:a16="http://schemas.microsoft.com/office/drawing/2014/main" id="{BA96B23A-7D3C-4026-3373-966437FE2E19}"/>
                </a:ext>
              </a:extLst>
            </p:cNvPr>
            <p:cNvSpPr/>
            <p:nvPr/>
          </p:nvSpPr>
          <p:spPr>
            <a:xfrm>
              <a:off x="3554173" y="2102693"/>
              <a:ext cx="446562" cy="446612"/>
            </a:xfrm>
            <a:custGeom>
              <a:avLst/>
              <a:gdLst/>
              <a:ahLst/>
              <a:cxnLst/>
              <a:rect l="0" t="0" r="0" b="0"/>
              <a:pathLst>
                <a:path w="595312" h="595299">
                  <a:moveTo>
                    <a:pt x="0" y="297649"/>
                  </a:moveTo>
                  <a:cubicBezTo>
                    <a:pt x="0" y="133273"/>
                    <a:pt x="133273" y="0"/>
                    <a:pt x="297649" y="0"/>
                  </a:cubicBezTo>
                  <a:cubicBezTo>
                    <a:pt x="462038" y="0"/>
                    <a:pt x="595312" y="133273"/>
                    <a:pt x="595312" y="297649"/>
                  </a:cubicBezTo>
                  <a:cubicBezTo>
                    <a:pt x="595312" y="462025"/>
                    <a:pt x="462038" y="595299"/>
                    <a:pt x="297649" y="595299"/>
                  </a:cubicBezTo>
                  <a:cubicBezTo>
                    <a:pt x="133273" y="595299"/>
                    <a:pt x="0" y="462025"/>
                    <a:pt x="0" y="297649"/>
                  </a:cubicBezTo>
                  <a:close/>
                </a:path>
              </a:pathLst>
            </a:custGeom>
            <a:gradFill>
              <a:gsLst>
                <a:gs pos="0">
                  <a:srgbClr val="F7F7F7"/>
                </a:gs>
                <a:gs pos="100000">
                  <a:srgbClr val="FEFFFF"/>
                </a:gs>
              </a:gsLst>
              <a:lin ang="13500000" scaled="1"/>
            </a:gradFill>
            <a:ln w="12700" cmpd="sng">
              <a:noFill/>
              <a:prstDash val="solid"/>
            </a:ln>
            <a:effectLst>
              <a:outerShdw blurRad="254000" dist="127000" dir="2700000" algn="tl" rotWithShape="0">
                <a:prstClr val="black">
                  <a:alpha val="60000"/>
                </a:prstClr>
              </a:outerShdw>
            </a:effectLst>
          </p:spPr>
          <p:txBody>
            <a:bodyPr wrap="square" lIns="45710" tIns="22855" rIns="45710" bIns="22855" anchor="ctr">
              <a:spAutoFit/>
            </a:bodyPr>
            <a:lstStyle>
              <a:defPPr>
                <a:defRPr lang="en-US"/>
              </a:defPPr>
              <a:lvl1pPr marL="0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/>
            </a:p>
          </p:txBody>
        </p:sp>
        <p:sp>
          <p:nvSpPr>
            <p:cNvPr id="7" name="Arrow">
              <a:extLst>
                <a:ext uri="{FF2B5EF4-FFF2-40B4-BE49-F238E27FC236}">
                  <a16:creationId xmlns:a16="http://schemas.microsoft.com/office/drawing/2014/main" id="{D8C91639-D6A2-356E-5AA2-E5E68C61754B}"/>
                </a:ext>
              </a:extLst>
            </p:cNvPr>
            <p:cNvSpPr/>
            <p:nvPr/>
          </p:nvSpPr>
          <p:spPr>
            <a:xfrm>
              <a:off x="3720925" y="2227499"/>
              <a:ext cx="133859" cy="197000"/>
            </a:xfrm>
            <a:custGeom>
              <a:avLst/>
              <a:gdLst/>
              <a:ahLst/>
              <a:cxnLst/>
              <a:rect l="0" t="0" r="0" b="0"/>
              <a:pathLst>
                <a:path w="178447" h="262585">
                  <a:moveTo>
                    <a:pt x="47155" y="262585"/>
                  </a:moveTo>
                  <a:lnTo>
                    <a:pt x="0" y="215430"/>
                  </a:lnTo>
                  <a:lnTo>
                    <a:pt x="84124" y="131292"/>
                  </a:lnTo>
                  <a:lnTo>
                    <a:pt x="0" y="47155"/>
                  </a:lnTo>
                  <a:lnTo>
                    <a:pt x="47155" y="0"/>
                  </a:lnTo>
                  <a:lnTo>
                    <a:pt x="178447" y="131292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  <a:ln w="12700" cap="flat" cmpd="sng">
              <a:noFill/>
              <a:prstDash val="solid"/>
              <a:miter lim="800000"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marL="0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/>
            </a:p>
          </p:txBody>
        </p:sp>
      </p:grpSp>
      <p:grpSp>
        <p:nvGrpSpPr>
          <p:cNvPr id="8" name="Arrow circle">
            <a:extLst>
              <a:ext uri="{FF2B5EF4-FFF2-40B4-BE49-F238E27FC236}">
                <a16:creationId xmlns:a16="http://schemas.microsoft.com/office/drawing/2014/main" id="{DE6BA8F8-4871-137B-8D18-E72A7C7952C1}"/>
              </a:ext>
            </a:extLst>
          </p:cNvPr>
          <p:cNvGrpSpPr/>
          <p:nvPr/>
        </p:nvGrpSpPr>
        <p:grpSpPr>
          <a:xfrm>
            <a:off x="5242524" y="2585055"/>
            <a:ext cx="297610" cy="297643"/>
            <a:chOff x="3554173" y="2102693"/>
            <a:chExt cx="446562" cy="446612"/>
          </a:xfrm>
        </p:grpSpPr>
        <p:sp>
          <p:nvSpPr>
            <p:cNvPr id="9" name="White circle">
              <a:extLst>
                <a:ext uri="{FF2B5EF4-FFF2-40B4-BE49-F238E27FC236}">
                  <a16:creationId xmlns:a16="http://schemas.microsoft.com/office/drawing/2014/main" id="{BA96B23A-7D3C-4026-3373-966437FE2E19}"/>
                </a:ext>
              </a:extLst>
            </p:cNvPr>
            <p:cNvSpPr/>
            <p:nvPr/>
          </p:nvSpPr>
          <p:spPr>
            <a:xfrm>
              <a:off x="3554173" y="2102693"/>
              <a:ext cx="446562" cy="446612"/>
            </a:xfrm>
            <a:custGeom>
              <a:avLst/>
              <a:gdLst/>
              <a:ahLst/>
              <a:cxnLst/>
              <a:rect l="0" t="0" r="0" b="0"/>
              <a:pathLst>
                <a:path w="595312" h="595299">
                  <a:moveTo>
                    <a:pt x="0" y="297649"/>
                  </a:moveTo>
                  <a:cubicBezTo>
                    <a:pt x="0" y="133273"/>
                    <a:pt x="133273" y="0"/>
                    <a:pt x="297649" y="0"/>
                  </a:cubicBezTo>
                  <a:cubicBezTo>
                    <a:pt x="462038" y="0"/>
                    <a:pt x="595312" y="133273"/>
                    <a:pt x="595312" y="297649"/>
                  </a:cubicBezTo>
                  <a:cubicBezTo>
                    <a:pt x="595312" y="462025"/>
                    <a:pt x="462038" y="595299"/>
                    <a:pt x="297649" y="595299"/>
                  </a:cubicBezTo>
                  <a:cubicBezTo>
                    <a:pt x="133273" y="595299"/>
                    <a:pt x="0" y="462025"/>
                    <a:pt x="0" y="297649"/>
                  </a:cubicBezTo>
                  <a:close/>
                </a:path>
              </a:pathLst>
            </a:custGeom>
            <a:gradFill>
              <a:gsLst>
                <a:gs pos="0">
                  <a:srgbClr val="F7F7F7"/>
                </a:gs>
                <a:gs pos="100000">
                  <a:srgbClr val="FEFFFF"/>
                </a:gs>
              </a:gsLst>
              <a:lin ang="13500000" scaled="1"/>
            </a:gradFill>
            <a:ln w="12700" cmpd="sng">
              <a:noFill/>
              <a:prstDash val="solid"/>
            </a:ln>
            <a:effectLst>
              <a:outerShdw blurRad="254000" dist="127000" dir="2700000" algn="tl" rotWithShape="0">
                <a:prstClr val="black">
                  <a:alpha val="60000"/>
                </a:prstClr>
              </a:outerShdw>
            </a:effectLst>
          </p:spPr>
          <p:txBody>
            <a:bodyPr wrap="square" lIns="45710" tIns="22855" rIns="45710" bIns="22855" anchor="ctr">
              <a:spAutoFit/>
            </a:bodyPr>
            <a:lstStyle>
              <a:defPPr>
                <a:defRPr lang="en-US"/>
              </a:defPPr>
              <a:lvl1pPr marL="0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/>
            </a:p>
          </p:txBody>
        </p:sp>
        <p:sp>
          <p:nvSpPr>
            <p:cNvPr id="10" name="Arrow">
              <a:extLst>
                <a:ext uri="{FF2B5EF4-FFF2-40B4-BE49-F238E27FC236}">
                  <a16:creationId xmlns:a16="http://schemas.microsoft.com/office/drawing/2014/main" id="{D8C91639-D6A2-356E-5AA2-E5E68C61754B}"/>
                </a:ext>
              </a:extLst>
            </p:cNvPr>
            <p:cNvSpPr/>
            <p:nvPr/>
          </p:nvSpPr>
          <p:spPr>
            <a:xfrm>
              <a:off x="3720925" y="2227499"/>
              <a:ext cx="133859" cy="197000"/>
            </a:xfrm>
            <a:custGeom>
              <a:avLst/>
              <a:gdLst/>
              <a:ahLst/>
              <a:cxnLst/>
              <a:rect l="0" t="0" r="0" b="0"/>
              <a:pathLst>
                <a:path w="178447" h="262585">
                  <a:moveTo>
                    <a:pt x="47155" y="262585"/>
                  </a:moveTo>
                  <a:lnTo>
                    <a:pt x="0" y="215430"/>
                  </a:lnTo>
                  <a:lnTo>
                    <a:pt x="84124" y="131292"/>
                  </a:lnTo>
                  <a:lnTo>
                    <a:pt x="0" y="47155"/>
                  </a:lnTo>
                  <a:lnTo>
                    <a:pt x="47155" y="0"/>
                  </a:lnTo>
                  <a:lnTo>
                    <a:pt x="178447" y="131292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  <a:ln w="12700" cap="flat" cmpd="sng">
              <a:noFill/>
              <a:prstDash val="solid"/>
              <a:miter lim="800000"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marL="0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/>
            </a:p>
          </p:txBody>
        </p:sp>
      </p:grpSp>
      <p:grpSp>
        <p:nvGrpSpPr>
          <p:cNvPr id="11" name="Arrow circle">
            <a:extLst>
              <a:ext uri="{FF2B5EF4-FFF2-40B4-BE49-F238E27FC236}">
                <a16:creationId xmlns:a16="http://schemas.microsoft.com/office/drawing/2014/main" id="{DE6BA8F8-4871-137B-8D18-E72A7C7952C1}"/>
              </a:ext>
            </a:extLst>
          </p:cNvPr>
          <p:cNvGrpSpPr/>
          <p:nvPr/>
        </p:nvGrpSpPr>
        <p:grpSpPr>
          <a:xfrm>
            <a:off x="6988379" y="2558983"/>
            <a:ext cx="297610" cy="297643"/>
            <a:chOff x="3554173" y="2102693"/>
            <a:chExt cx="446562" cy="446612"/>
          </a:xfrm>
        </p:grpSpPr>
        <p:sp>
          <p:nvSpPr>
            <p:cNvPr id="12" name="White circle">
              <a:extLst>
                <a:ext uri="{FF2B5EF4-FFF2-40B4-BE49-F238E27FC236}">
                  <a16:creationId xmlns:a16="http://schemas.microsoft.com/office/drawing/2014/main" id="{BA96B23A-7D3C-4026-3373-966437FE2E19}"/>
                </a:ext>
              </a:extLst>
            </p:cNvPr>
            <p:cNvSpPr/>
            <p:nvPr/>
          </p:nvSpPr>
          <p:spPr>
            <a:xfrm>
              <a:off x="3554173" y="2102693"/>
              <a:ext cx="446562" cy="446612"/>
            </a:xfrm>
            <a:custGeom>
              <a:avLst/>
              <a:gdLst/>
              <a:ahLst/>
              <a:cxnLst/>
              <a:rect l="0" t="0" r="0" b="0"/>
              <a:pathLst>
                <a:path w="595312" h="595299">
                  <a:moveTo>
                    <a:pt x="0" y="297649"/>
                  </a:moveTo>
                  <a:cubicBezTo>
                    <a:pt x="0" y="133273"/>
                    <a:pt x="133273" y="0"/>
                    <a:pt x="297649" y="0"/>
                  </a:cubicBezTo>
                  <a:cubicBezTo>
                    <a:pt x="462038" y="0"/>
                    <a:pt x="595312" y="133273"/>
                    <a:pt x="595312" y="297649"/>
                  </a:cubicBezTo>
                  <a:cubicBezTo>
                    <a:pt x="595312" y="462025"/>
                    <a:pt x="462038" y="595299"/>
                    <a:pt x="297649" y="595299"/>
                  </a:cubicBezTo>
                  <a:cubicBezTo>
                    <a:pt x="133273" y="595299"/>
                    <a:pt x="0" y="462025"/>
                    <a:pt x="0" y="297649"/>
                  </a:cubicBezTo>
                  <a:close/>
                </a:path>
              </a:pathLst>
            </a:custGeom>
            <a:gradFill>
              <a:gsLst>
                <a:gs pos="0">
                  <a:srgbClr val="F7F7F7"/>
                </a:gs>
                <a:gs pos="100000">
                  <a:srgbClr val="FEFFFF"/>
                </a:gs>
              </a:gsLst>
              <a:lin ang="13500000" scaled="1"/>
            </a:gradFill>
            <a:ln w="12700" cmpd="sng">
              <a:noFill/>
              <a:prstDash val="solid"/>
            </a:ln>
            <a:effectLst>
              <a:outerShdw blurRad="254000" dist="127000" dir="2700000" algn="tl" rotWithShape="0">
                <a:prstClr val="black">
                  <a:alpha val="60000"/>
                </a:prstClr>
              </a:outerShdw>
            </a:effectLst>
          </p:spPr>
          <p:txBody>
            <a:bodyPr wrap="square" lIns="45710" tIns="22855" rIns="45710" bIns="22855" anchor="ctr">
              <a:spAutoFit/>
            </a:bodyPr>
            <a:lstStyle>
              <a:defPPr>
                <a:defRPr lang="en-US"/>
              </a:defPPr>
              <a:lvl1pPr marL="0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/>
            </a:p>
          </p:txBody>
        </p:sp>
        <p:sp>
          <p:nvSpPr>
            <p:cNvPr id="13" name="Arrow">
              <a:extLst>
                <a:ext uri="{FF2B5EF4-FFF2-40B4-BE49-F238E27FC236}">
                  <a16:creationId xmlns:a16="http://schemas.microsoft.com/office/drawing/2014/main" id="{D8C91639-D6A2-356E-5AA2-E5E68C61754B}"/>
                </a:ext>
              </a:extLst>
            </p:cNvPr>
            <p:cNvSpPr/>
            <p:nvPr/>
          </p:nvSpPr>
          <p:spPr>
            <a:xfrm>
              <a:off x="3720925" y="2227499"/>
              <a:ext cx="133859" cy="197000"/>
            </a:xfrm>
            <a:custGeom>
              <a:avLst/>
              <a:gdLst/>
              <a:ahLst/>
              <a:cxnLst/>
              <a:rect l="0" t="0" r="0" b="0"/>
              <a:pathLst>
                <a:path w="178447" h="262585">
                  <a:moveTo>
                    <a:pt x="47155" y="262585"/>
                  </a:moveTo>
                  <a:lnTo>
                    <a:pt x="0" y="215430"/>
                  </a:lnTo>
                  <a:lnTo>
                    <a:pt x="84124" y="131292"/>
                  </a:lnTo>
                  <a:lnTo>
                    <a:pt x="0" y="47155"/>
                  </a:lnTo>
                  <a:lnTo>
                    <a:pt x="47155" y="0"/>
                  </a:lnTo>
                  <a:lnTo>
                    <a:pt x="178447" y="131292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  <a:ln w="12700" cap="flat" cmpd="sng">
              <a:noFill/>
              <a:prstDash val="solid"/>
              <a:miter lim="800000"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marL="0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/>
            </a:p>
          </p:txBody>
        </p:sp>
      </p:grpSp>
      <p:grpSp>
        <p:nvGrpSpPr>
          <p:cNvPr id="14" name="Arrow circle">
            <a:extLst>
              <a:ext uri="{FF2B5EF4-FFF2-40B4-BE49-F238E27FC236}">
                <a16:creationId xmlns:a16="http://schemas.microsoft.com/office/drawing/2014/main" id="{DE6BA8F8-4871-137B-8D18-E72A7C7952C1}"/>
              </a:ext>
            </a:extLst>
          </p:cNvPr>
          <p:cNvGrpSpPr/>
          <p:nvPr/>
        </p:nvGrpSpPr>
        <p:grpSpPr>
          <a:xfrm>
            <a:off x="8686074" y="2526919"/>
            <a:ext cx="297610" cy="297643"/>
            <a:chOff x="3554173" y="2102693"/>
            <a:chExt cx="446562" cy="446612"/>
          </a:xfrm>
        </p:grpSpPr>
        <p:sp>
          <p:nvSpPr>
            <p:cNvPr id="15" name="White circle">
              <a:extLst>
                <a:ext uri="{FF2B5EF4-FFF2-40B4-BE49-F238E27FC236}">
                  <a16:creationId xmlns:a16="http://schemas.microsoft.com/office/drawing/2014/main" id="{BA96B23A-7D3C-4026-3373-966437FE2E19}"/>
                </a:ext>
              </a:extLst>
            </p:cNvPr>
            <p:cNvSpPr/>
            <p:nvPr/>
          </p:nvSpPr>
          <p:spPr>
            <a:xfrm>
              <a:off x="3554173" y="2102693"/>
              <a:ext cx="446562" cy="446612"/>
            </a:xfrm>
            <a:custGeom>
              <a:avLst/>
              <a:gdLst/>
              <a:ahLst/>
              <a:cxnLst/>
              <a:rect l="0" t="0" r="0" b="0"/>
              <a:pathLst>
                <a:path w="595312" h="595299">
                  <a:moveTo>
                    <a:pt x="0" y="297649"/>
                  </a:moveTo>
                  <a:cubicBezTo>
                    <a:pt x="0" y="133273"/>
                    <a:pt x="133273" y="0"/>
                    <a:pt x="297649" y="0"/>
                  </a:cubicBezTo>
                  <a:cubicBezTo>
                    <a:pt x="462038" y="0"/>
                    <a:pt x="595312" y="133273"/>
                    <a:pt x="595312" y="297649"/>
                  </a:cubicBezTo>
                  <a:cubicBezTo>
                    <a:pt x="595312" y="462025"/>
                    <a:pt x="462038" y="595299"/>
                    <a:pt x="297649" y="595299"/>
                  </a:cubicBezTo>
                  <a:cubicBezTo>
                    <a:pt x="133273" y="595299"/>
                    <a:pt x="0" y="462025"/>
                    <a:pt x="0" y="297649"/>
                  </a:cubicBezTo>
                  <a:close/>
                </a:path>
              </a:pathLst>
            </a:custGeom>
            <a:gradFill>
              <a:gsLst>
                <a:gs pos="0">
                  <a:srgbClr val="F7F7F7"/>
                </a:gs>
                <a:gs pos="100000">
                  <a:srgbClr val="FEFFFF"/>
                </a:gs>
              </a:gsLst>
              <a:lin ang="13500000" scaled="1"/>
            </a:gradFill>
            <a:ln w="12700" cmpd="sng">
              <a:noFill/>
              <a:prstDash val="solid"/>
            </a:ln>
            <a:effectLst>
              <a:outerShdw blurRad="254000" dist="127000" dir="2700000" algn="tl" rotWithShape="0">
                <a:prstClr val="black">
                  <a:alpha val="60000"/>
                </a:prstClr>
              </a:outerShdw>
            </a:effectLst>
          </p:spPr>
          <p:txBody>
            <a:bodyPr wrap="square" lIns="45710" tIns="22855" rIns="45710" bIns="22855" anchor="ctr">
              <a:spAutoFit/>
            </a:bodyPr>
            <a:lstStyle>
              <a:defPPr>
                <a:defRPr lang="en-US"/>
              </a:defPPr>
              <a:lvl1pPr marL="0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/>
            </a:p>
          </p:txBody>
        </p:sp>
        <p:sp>
          <p:nvSpPr>
            <p:cNvPr id="16" name="Arrow">
              <a:extLst>
                <a:ext uri="{FF2B5EF4-FFF2-40B4-BE49-F238E27FC236}">
                  <a16:creationId xmlns:a16="http://schemas.microsoft.com/office/drawing/2014/main" id="{D8C91639-D6A2-356E-5AA2-E5E68C61754B}"/>
                </a:ext>
              </a:extLst>
            </p:cNvPr>
            <p:cNvSpPr/>
            <p:nvPr/>
          </p:nvSpPr>
          <p:spPr>
            <a:xfrm>
              <a:off x="3720925" y="2227499"/>
              <a:ext cx="133859" cy="197000"/>
            </a:xfrm>
            <a:custGeom>
              <a:avLst/>
              <a:gdLst/>
              <a:ahLst/>
              <a:cxnLst/>
              <a:rect l="0" t="0" r="0" b="0"/>
              <a:pathLst>
                <a:path w="178447" h="262585">
                  <a:moveTo>
                    <a:pt x="47155" y="262585"/>
                  </a:moveTo>
                  <a:lnTo>
                    <a:pt x="0" y="215430"/>
                  </a:lnTo>
                  <a:lnTo>
                    <a:pt x="84124" y="131292"/>
                  </a:lnTo>
                  <a:lnTo>
                    <a:pt x="0" y="47155"/>
                  </a:lnTo>
                  <a:lnTo>
                    <a:pt x="47155" y="0"/>
                  </a:lnTo>
                  <a:lnTo>
                    <a:pt x="178447" y="131292"/>
                  </a:lnTo>
                  <a:close/>
                </a:path>
              </a:pathLst>
            </a:custGeom>
            <a:solidFill>
              <a:srgbClr val="444444">
                <a:alpha val="100000"/>
              </a:srgbClr>
            </a:solidFill>
            <a:ln w="12700" cap="flat" cmpd="sng">
              <a:noFill/>
              <a:prstDash val="solid"/>
              <a:miter lim="800000"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marL="0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304770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/>
            </a:p>
          </p:txBody>
        </p:sp>
      </p:grpSp>
      <p:sp>
        <p:nvSpPr>
          <p:cNvPr id="4" name="Google Shape;88;p17">
            <a:extLst>
              <a:ext uri="{FF2B5EF4-FFF2-40B4-BE49-F238E27FC236}">
                <a16:creationId xmlns:a16="http://schemas.microsoft.com/office/drawing/2014/main" id="{325C689E-2F71-63FE-0610-59FFEA76D7BA}"/>
              </a:ext>
            </a:extLst>
          </p:cNvPr>
          <p:cNvSpPr txBox="1">
            <a:spLocks/>
          </p:cNvSpPr>
          <p:nvPr/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fr" sz="1733" dirty="0">
                <a:latin typeface="Arial" panose="020B0604020202020204" pitchFamily="34" charset="0"/>
                <a:ea typeface="Nunito Black"/>
                <a:cs typeface="Arial" panose="020B0604020202020204" pitchFamily="34" charset="0"/>
                <a:sym typeface="Nunito Black"/>
              </a:rPr>
              <a:t>10</a:t>
            </a:r>
          </a:p>
        </p:txBody>
      </p:sp>
      <p:pic>
        <p:nvPicPr>
          <p:cNvPr id="17" name="Image 4" descr="preencoded.png">
            <a:extLst>
              <a:ext uri="{FF2B5EF4-FFF2-40B4-BE49-F238E27FC236}">
                <a16:creationId xmlns:a16="http://schemas.microsoft.com/office/drawing/2014/main" id="{933A176C-176D-33D0-B959-2290D0211678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80000"/>
          </a:blip>
          <a:stretch>
            <a:fillRect/>
          </a:stretch>
        </p:blipFill>
        <p:spPr>
          <a:xfrm>
            <a:off x="10960274" y="156681"/>
            <a:ext cx="1041974" cy="62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5" grpId="0" animBg="1"/>
      <p:bldP spid="57" grpId="0" animBg="1"/>
      <p:bldP spid="58" grpId="0" animBg="1"/>
      <p:bldP spid="61" grpId="0" animBg="1"/>
      <p:bldP spid="65" grpId="0" animBg="1"/>
      <p:bldP spid="66" grpId="0" animBg="1"/>
      <p:bldP spid="69" grpId="0" animBg="1"/>
      <p:bldP spid="70" grpId="0" animBg="1"/>
      <p:bldP spid="71" grpId="0" animBg="1"/>
      <p:bldP spid="75" grpId="0" animBg="1"/>
      <p:bldP spid="76" grpId="0" animBg="1"/>
      <p:bldP spid="80" grpId="0" animBg="1"/>
      <p:bldP spid="81" grpId="0" animBg="1"/>
      <p:bldP spid="85" grpId="0" animBg="1"/>
      <p:bldP spid="86" grpId="0" animBg="1"/>
      <p:bldP spid="91" grpId="0" animBg="1"/>
      <p:bldP spid="93" grpId="0" animBg="1"/>
      <p:bldP spid="94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02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7429919" cy="1027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300" b="1" kern="0" spc="-66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Les données </a:t>
            </a:r>
            <a:r>
              <a:rPr lang="en-US" sz="3300" b="1" kern="0" spc="-66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circulent </a:t>
            </a:r>
            <a:r>
              <a:rPr lang="en-US" sz="3300" b="1" kern="0" spc="-66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entre les phases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38088" y="2174379"/>
            <a:ext cx="1828726" cy="702097"/>
          </a:xfrm>
          <a:prstGeom prst="roundRect">
            <a:avLst>
              <a:gd name="adj" fmla="val 814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7" name="Shape 4"/>
          <p:cNvSpPr/>
          <p:nvPr/>
        </p:nvSpPr>
        <p:spPr>
          <a:xfrm>
            <a:off x="838088" y="2864569"/>
            <a:ext cx="1828726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8" name="Shape 5"/>
          <p:cNvSpPr/>
          <p:nvPr/>
        </p:nvSpPr>
        <p:spPr>
          <a:xfrm>
            <a:off x="838088" y="2174379"/>
            <a:ext cx="1828726" cy="23813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9" name="Shape 6"/>
          <p:cNvSpPr/>
          <p:nvPr/>
        </p:nvSpPr>
        <p:spPr>
          <a:xfrm>
            <a:off x="838088" y="2174379"/>
            <a:ext cx="11906" cy="702097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0" name="Shape 7"/>
          <p:cNvSpPr/>
          <p:nvPr/>
        </p:nvSpPr>
        <p:spPr>
          <a:xfrm>
            <a:off x="2654908" y="2174379"/>
            <a:ext cx="11906" cy="702097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1" name="Text 8"/>
          <p:cNvSpPr/>
          <p:nvPr/>
        </p:nvSpPr>
        <p:spPr>
          <a:xfrm>
            <a:off x="906270" y="2331393"/>
            <a:ext cx="169236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01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906270" y="2512219"/>
            <a:ext cx="169236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kern="0" spc="27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PREPARE</a:t>
            </a:r>
            <a:endParaRPr lang="en-US" sz="13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6814" y="2411202"/>
            <a:ext cx="361838" cy="228451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009677" y="2174379"/>
            <a:ext cx="1828912" cy="702097"/>
          </a:xfrm>
          <a:prstGeom prst="roundRect">
            <a:avLst>
              <a:gd name="adj" fmla="val 814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5" name="Shape 11"/>
          <p:cNvSpPr/>
          <p:nvPr/>
        </p:nvSpPr>
        <p:spPr>
          <a:xfrm>
            <a:off x="3009677" y="2864569"/>
            <a:ext cx="1828912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6" name="Shape 12"/>
          <p:cNvSpPr/>
          <p:nvPr/>
        </p:nvSpPr>
        <p:spPr>
          <a:xfrm>
            <a:off x="3009677" y="2174379"/>
            <a:ext cx="1828912" cy="23813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7" name="Shape 13"/>
          <p:cNvSpPr/>
          <p:nvPr/>
        </p:nvSpPr>
        <p:spPr>
          <a:xfrm>
            <a:off x="3009677" y="2174379"/>
            <a:ext cx="11906" cy="702097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8" name="Shape 14"/>
          <p:cNvSpPr/>
          <p:nvPr/>
        </p:nvSpPr>
        <p:spPr>
          <a:xfrm>
            <a:off x="4826682" y="2174379"/>
            <a:ext cx="11906" cy="702097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9" name="Text 15"/>
          <p:cNvSpPr/>
          <p:nvPr/>
        </p:nvSpPr>
        <p:spPr>
          <a:xfrm>
            <a:off x="3077849" y="2331393"/>
            <a:ext cx="169256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02</a:t>
            </a:r>
            <a:endParaRPr lang="en-US" sz="825" dirty="0"/>
          </a:p>
        </p:txBody>
      </p:sp>
      <p:sp>
        <p:nvSpPr>
          <p:cNvPr id="20" name="Text 16"/>
          <p:cNvSpPr/>
          <p:nvPr/>
        </p:nvSpPr>
        <p:spPr>
          <a:xfrm>
            <a:off x="3077849" y="2512219"/>
            <a:ext cx="169256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kern="0" spc="27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PROCESS</a:t>
            </a:r>
            <a:endParaRPr lang="en-US" sz="135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588" y="2411202"/>
            <a:ext cx="361838" cy="228451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181451" y="2174379"/>
            <a:ext cx="1828912" cy="702097"/>
          </a:xfrm>
          <a:prstGeom prst="roundRect">
            <a:avLst>
              <a:gd name="adj" fmla="val 814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3" name="Shape 18"/>
          <p:cNvSpPr/>
          <p:nvPr/>
        </p:nvSpPr>
        <p:spPr>
          <a:xfrm>
            <a:off x="5181451" y="2864569"/>
            <a:ext cx="1828912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4" name="Shape 19"/>
          <p:cNvSpPr/>
          <p:nvPr/>
        </p:nvSpPr>
        <p:spPr>
          <a:xfrm>
            <a:off x="5181451" y="2174379"/>
            <a:ext cx="1828912" cy="23813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5" name="Shape 20"/>
          <p:cNvSpPr/>
          <p:nvPr/>
        </p:nvSpPr>
        <p:spPr>
          <a:xfrm>
            <a:off x="5181451" y="2174379"/>
            <a:ext cx="11906" cy="702097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6" name="Shape 21"/>
          <p:cNvSpPr/>
          <p:nvPr/>
        </p:nvSpPr>
        <p:spPr>
          <a:xfrm>
            <a:off x="6998457" y="2174379"/>
            <a:ext cx="11906" cy="702097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7" name="Text 22"/>
          <p:cNvSpPr/>
          <p:nvPr/>
        </p:nvSpPr>
        <p:spPr>
          <a:xfrm>
            <a:off x="5249624" y="2331393"/>
            <a:ext cx="169256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03</a:t>
            </a:r>
            <a:endParaRPr lang="en-US" sz="825" dirty="0"/>
          </a:p>
        </p:txBody>
      </p:sp>
      <p:sp>
        <p:nvSpPr>
          <p:cNvPr id="28" name="Text 23"/>
          <p:cNvSpPr/>
          <p:nvPr/>
        </p:nvSpPr>
        <p:spPr>
          <a:xfrm>
            <a:off x="5249624" y="2512219"/>
            <a:ext cx="169256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kern="0" spc="27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BUILD</a:t>
            </a:r>
            <a:endParaRPr lang="en-US" sz="135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363" y="2411202"/>
            <a:ext cx="361838" cy="228451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7353226" y="2174379"/>
            <a:ext cx="1828912" cy="702097"/>
          </a:xfrm>
          <a:prstGeom prst="roundRect">
            <a:avLst>
              <a:gd name="adj" fmla="val 814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1" name="Shape 25"/>
          <p:cNvSpPr/>
          <p:nvPr/>
        </p:nvSpPr>
        <p:spPr>
          <a:xfrm>
            <a:off x="7353226" y="2864569"/>
            <a:ext cx="1828912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2" name="Shape 26"/>
          <p:cNvSpPr/>
          <p:nvPr/>
        </p:nvSpPr>
        <p:spPr>
          <a:xfrm>
            <a:off x="7353226" y="2174379"/>
            <a:ext cx="1828912" cy="23813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3" name="Shape 27"/>
          <p:cNvSpPr/>
          <p:nvPr/>
        </p:nvSpPr>
        <p:spPr>
          <a:xfrm>
            <a:off x="7353226" y="2174379"/>
            <a:ext cx="11906" cy="702097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4" name="Shape 28"/>
          <p:cNvSpPr/>
          <p:nvPr/>
        </p:nvSpPr>
        <p:spPr>
          <a:xfrm>
            <a:off x="9170231" y="2174379"/>
            <a:ext cx="11906" cy="702097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5" name="Text 29"/>
          <p:cNvSpPr/>
          <p:nvPr/>
        </p:nvSpPr>
        <p:spPr>
          <a:xfrm>
            <a:off x="7421398" y="2331393"/>
            <a:ext cx="169256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04</a:t>
            </a:r>
            <a:endParaRPr lang="en-US" sz="825" dirty="0"/>
          </a:p>
        </p:txBody>
      </p:sp>
      <p:sp>
        <p:nvSpPr>
          <p:cNvPr id="36" name="Text 30"/>
          <p:cNvSpPr/>
          <p:nvPr/>
        </p:nvSpPr>
        <p:spPr>
          <a:xfrm>
            <a:off x="7421398" y="2512219"/>
            <a:ext cx="169256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kern="0" spc="27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EVALUATE</a:t>
            </a:r>
            <a:endParaRPr lang="en-US" sz="1350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2137" y="2411202"/>
            <a:ext cx="361838" cy="228451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9525000" y="2174379"/>
            <a:ext cx="1828912" cy="702097"/>
          </a:xfrm>
          <a:prstGeom prst="roundRect">
            <a:avLst>
              <a:gd name="adj" fmla="val 814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9" name="Shape 32"/>
          <p:cNvSpPr/>
          <p:nvPr/>
        </p:nvSpPr>
        <p:spPr>
          <a:xfrm>
            <a:off x="9525000" y="2864569"/>
            <a:ext cx="1828912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0" name="Shape 33"/>
          <p:cNvSpPr/>
          <p:nvPr/>
        </p:nvSpPr>
        <p:spPr>
          <a:xfrm>
            <a:off x="9525000" y="2174379"/>
            <a:ext cx="1828912" cy="23813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1" name="Shape 34"/>
          <p:cNvSpPr/>
          <p:nvPr/>
        </p:nvSpPr>
        <p:spPr>
          <a:xfrm>
            <a:off x="9525000" y="2174379"/>
            <a:ext cx="11906" cy="702097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2" name="Shape 35"/>
          <p:cNvSpPr/>
          <p:nvPr/>
        </p:nvSpPr>
        <p:spPr>
          <a:xfrm>
            <a:off x="11342005" y="2174379"/>
            <a:ext cx="11906" cy="702097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3" name="Text 36"/>
          <p:cNvSpPr/>
          <p:nvPr/>
        </p:nvSpPr>
        <p:spPr>
          <a:xfrm>
            <a:off x="9593173" y="2331393"/>
            <a:ext cx="169256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05</a:t>
            </a:r>
            <a:endParaRPr lang="en-US" sz="825" dirty="0"/>
          </a:p>
        </p:txBody>
      </p:sp>
      <p:sp>
        <p:nvSpPr>
          <p:cNvPr id="44" name="Text 37"/>
          <p:cNvSpPr/>
          <p:nvPr/>
        </p:nvSpPr>
        <p:spPr>
          <a:xfrm>
            <a:off x="9593173" y="2512219"/>
            <a:ext cx="169256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kern="0" spc="27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DEPLOY</a:t>
            </a:r>
            <a:endParaRPr lang="en-US" sz="1350" dirty="0"/>
          </a:p>
        </p:txBody>
      </p:sp>
      <p:sp>
        <p:nvSpPr>
          <p:cNvPr id="45" name="Shape 38"/>
          <p:cNvSpPr/>
          <p:nvPr/>
        </p:nvSpPr>
        <p:spPr>
          <a:xfrm>
            <a:off x="1742963" y="2933588"/>
            <a:ext cx="18976" cy="190500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6" name="Shape 39"/>
          <p:cNvSpPr/>
          <p:nvPr/>
        </p:nvSpPr>
        <p:spPr>
          <a:xfrm>
            <a:off x="3914552" y="2933588"/>
            <a:ext cx="18976" cy="190500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7" name="Shape 40"/>
          <p:cNvSpPr/>
          <p:nvPr/>
        </p:nvSpPr>
        <p:spPr>
          <a:xfrm>
            <a:off x="6086326" y="2933588"/>
            <a:ext cx="18976" cy="190500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8" name="Shape 41"/>
          <p:cNvSpPr/>
          <p:nvPr/>
        </p:nvSpPr>
        <p:spPr>
          <a:xfrm>
            <a:off x="8258101" y="2933588"/>
            <a:ext cx="18976" cy="190500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9" name="Shape 42"/>
          <p:cNvSpPr/>
          <p:nvPr/>
        </p:nvSpPr>
        <p:spPr>
          <a:xfrm>
            <a:off x="10429875" y="2933588"/>
            <a:ext cx="18976" cy="190500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0" name="Shape 43"/>
          <p:cNvSpPr/>
          <p:nvPr/>
        </p:nvSpPr>
        <p:spPr>
          <a:xfrm>
            <a:off x="838088" y="4000314"/>
            <a:ext cx="1828726" cy="495226"/>
          </a:xfrm>
          <a:prstGeom prst="roundRect">
            <a:avLst>
              <a:gd name="adj" fmla="val 5770"/>
            </a:avLst>
          </a:prstGeom>
          <a:solidFill>
            <a:srgbClr val="BDD248">
              <a:alpha val="14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1" name="Text 44"/>
          <p:cNvSpPr/>
          <p:nvPr/>
        </p:nvSpPr>
        <p:spPr>
          <a:xfrm>
            <a:off x="746652" y="3790838"/>
            <a:ext cx="2011598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50" kern="0" spc="30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ctx v1</a:t>
            </a:r>
            <a:endParaRPr lang="en-US" sz="750" dirty="0"/>
          </a:p>
        </p:txBody>
      </p:sp>
      <p:sp>
        <p:nvSpPr>
          <p:cNvPr id="52" name="Text 45"/>
          <p:cNvSpPr/>
          <p:nvPr/>
        </p:nvSpPr>
        <p:spPr>
          <a:xfrm>
            <a:off x="952314" y="4226533"/>
            <a:ext cx="1760302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2A2A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raw_docs</a:t>
            </a:r>
            <a:endParaRPr lang="en-US" sz="900" dirty="0"/>
          </a:p>
        </p:txBody>
      </p:sp>
      <p:sp>
        <p:nvSpPr>
          <p:cNvPr id="53" name="Shape 46"/>
          <p:cNvSpPr/>
          <p:nvPr/>
        </p:nvSpPr>
        <p:spPr>
          <a:xfrm>
            <a:off x="3009677" y="3790838"/>
            <a:ext cx="1828912" cy="704701"/>
          </a:xfrm>
          <a:prstGeom prst="roundRect">
            <a:avLst>
              <a:gd name="adj" fmla="val 4055"/>
            </a:avLst>
          </a:prstGeom>
          <a:solidFill>
            <a:srgbClr val="BDD248">
              <a:alpha val="28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4" name="Text 47"/>
          <p:cNvSpPr/>
          <p:nvPr/>
        </p:nvSpPr>
        <p:spPr>
          <a:xfrm>
            <a:off x="2918231" y="3581363"/>
            <a:ext cx="2011803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50" kern="0" spc="30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ctx v2</a:t>
            </a:r>
            <a:endParaRPr lang="en-US" sz="750" dirty="0"/>
          </a:p>
        </p:txBody>
      </p:sp>
      <p:sp>
        <p:nvSpPr>
          <p:cNvPr id="55" name="Text 48"/>
          <p:cNvSpPr/>
          <p:nvPr/>
        </p:nvSpPr>
        <p:spPr>
          <a:xfrm>
            <a:off x="3123902" y="4041986"/>
            <a:ext cx="1760506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25" dirty="0">
                <a:solidFill>
                  <a:srgbClr val="3F3F3F">
                    <a:alpha val="40000"/>
                  </a:srgbClr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raw_docs</a:t>
            </a:r>
            <a:endParaRPr lang="en-US" sz="825" dirty="0"/>
          </a:p>
        </p:txBody>
      </p:sp>
      <p:sp>
        <p:nvSpPr>
          <p:cNvPr id="56" name="Text 49"/>
          <p:cNvSpPr/>
          <p:nvPr/>
        </p:nvSpPr>
        <p:spPr>
          <a:xfrm>
            <a:off x="3123902" y="4226533"/>
            <a:ext cx="176050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2A2A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+ chunks</a:t>
            </a:r>
            <a:endParaRPr lang="en-US" sz="900" dirty="0"/>
          </a:p>
        </p:txBody>
      </p:sp>
      <p:sp>
        <p:nvSpPr>
          <p:cNvPr id="57" name="Shape 50"/>
          <p:cNvSpPr/>
          <p:nvPr/>
        </p:nvSpPr>
        <p:spPr>
          <a:xfrm>
            <a:off x="5181451" y="3581177"/>
            <a:ext cx="1828912" cy="914363"/>
          </a:xfrm>
          <a:prstGeom prst="roundRect">
            <a:avLst>
              <a:gd name="adj" fmla="val 3125"/>
            </a:avLst>
          </a:prstGeom>
          <a:solidFill>
            <a:srgbClr val="BDD248">
              <a:alpha val="46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8" name="Text 51"/>
          <p:cNvSpPr/>
          <p:nvPr/>
        </p:nvSpPr>
        <p:spPr>
          <a:xfrm>
            <a:off x="5090006" y="3371701"/>
            <a:ext cx="2011803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50" kern="0" spc="30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ctx v3</a:t>
            </a:r>
            <a:endParaRPr lang="en-US" sz="750" dirty="0"/>
          </a:p>
        </p:txBody>
      </p:sp>
      <p:sp>
        <p:nvSpPr>
          <p:cNvPr id="59" name="Text 52"/>
          <p:cNvSpPr/>
          <p:nvPr/>
        </p:nvSpPr>
        <p:spPr>
          <a:xfrm>
            <a:off x="5295677" y="4041986"/>
            <a:ext cx="1760506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25" dirty="0">
                <a:solidFill>
                  <a:srgbClr val="3F3F3F">
                    <a:alpha val="40000"/>
                  </a:srgbClr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raw_docs · chunks</a:t>
            </a:r>
            <a:endParaRPr lang="en-US" sz="825" dirty="0"/>
          </a:p>
        </p:txBody>
      </p:sp>
      <p:sp>
        <p:nvSpPr>
          <p:cNvPr id="60" name="Text 53"/>
          <p:cNvSpPr/>
          <p:nvPr/>
        </p:nvSpPr>
        <p:spPr>
          <a:xfrm>
            <a:off x="5295677" y="4226533"/>
            <a:ext cx="176050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2A2A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+ index</a:t>
            </a:r>
            <a:endParaRPr lang="en-US" sz="900" dirty="0"/>
          </a:p>
        </p:txBody>
      </p:sp>
      <p:sp>
        <p:nvSpPr>
          <p:cNvPr id="61" name="Shape 54"/>
          <p:cNvSpPr/>
          <p:nvPr/>
        </p:nvSpPr>
        <p:spPr>
          <a:xfrm>
            <a:off x="7353226" y="3390677"/>
            <a:ext cx="1828912" cy="1104863"/>
          </a:xfrm>
          <a:prstGeom prst="roundRect">
            <a:avLst>
              <a:gd name="adj" fmla="val 2586"/>
            </a:avLst>
          </a:prstGeom>
          <a:solidFill>
            <a:srgbClr val="BDD248">
              <a:alpha val="66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62" name="Text 55"/>
          <p:cNvSpPr/>
          <p:nvPr/>
        </p:nvSpPr>
        <p:spPr>
          <a:xfrm>
            <a:off x="7261780" y="3181201"/>
            <a:ext cx="2011803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50" kern="0" spc="30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ctx v4</a:t>
            </a:r>
            <a:endParaRPr lang="en-US" sz="750" dirty="0"/>
          </a:p>
        </p:txBody>
      </p:sp>
      <p:sp>
        <p:nvSpPr>
          <p:cNvPr id="63" name="Text 56"/>
          <p:cNvSpPr/>
          <p:nvPr/>
        </p:nvSpPr>
        <p:spPr>
          <a:xfrm>
            <a:off x="7467451" y="4041986"/>
            <a:ext cx="1760506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25" dirty="0">
                <a:solidFill>
                  <a:srgbClr val="3F3F3F">
                    <a:alpha val="40000"/>
                  </a:srgbClr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chunks · index</a:t>
            </a:r>
            <a:endParaRPr lang="en-US" sz="825" dirty="0"/>
          </a:p>
        </p:txBody>
      </p:sp>
      <p:sp>
        <p:nvSpPr>
          <p:cNvPr id="64" name="Text 57"/>
          <p:cNvSpPr/>
          <p:nvPr/>
        </p:nvSpPr>
        <p:spPr>
          <a:xfrm>
            <a:off x="7467451" y="4226533"/>
            <a:ext cx="176050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2A2A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+ métriques</a:t>
            </a:r>
            <a:endParaRPr lang="en-US" sz="900" dirty="0"/>
          </a:p>
        </p:txBody>
      </p:sp>
      <p:sp>
        <p:nvSpPr>
          <p:cNvPr id="65" name="Shape 58"/>
          <p:cNvSpPr/>
          <p:nvPr/>
        </p:nvSpPr>
        <p:spPr>
          <a:xfrm>
            <a:off x="9525000" y="3181201"/>
            <a:ext cx="1828912" cy="1314338"/>
          </a:xfrm>
          <a:prstGeom prst="roundRect">
            <a:avLst>
              <a:gd name="adj" fmla="val 2174"/>
            </a:avLst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66" name="Text 59"/>
          <p:cNvSpPr/>
          <p:nvPr/>
        </p:nvSpPr>
        <p:spPr>
          <a:xfrm>
            <a:off x="9433554" y="2971726"/>
            <a:ext cx="2011803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50" kern="0" spc="30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ctx v5</a:t>
            </a:r>
            <a:endParaRPr lang="en-US" sz="750" dirty="0"/>
          </a:p>
        </p:txBody>
      </p:sp>
      <p:sp>
        <p:nvSpPr>
          <p:cNvPr id="67" name="Text 60"/>
          <p:cNvSpPr/>
          <p:nvPr/>
        </p:nvSpPr>
        <p:spPr>
          <a:xfrm>
            <a:off x="9639226" y="4041986"/>
            <a:ext cx="1760506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25" dirty="0">
                <a:solidFill>
                  <a:srgbClr val="3F3F3F">
                    <a:alpha val="50000"/>
                  </a:srgbClr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index · métriques</a:t>
            </a:r>
            <a:endParaRPr lang="en-US" sz="825" dirty="0"/>
          </a:p>
        </p:txBody>
      </p:sp>
      <p:sp>
        <p:nvSpPr>
          <p:cNvPr id="68" name="Text 61"/>
          <p:cNvSpPr/>
          <p:nvPr/>
        </p:nvSpPr>
        <p:spPr>
          <a:xfrm>
            <a:off x="9639226" y="4226533"/>
            <a:ext cx="176050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2A2A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+ api_config ✓</a:t>
            </a:r>
            <a:endParaRPr lang="en-US" sz="900" dirty="0"/>
          </a:p>
        </p:txBody>
      </p:sp>
      <p:sp>
        <p:nvSpPr>
          <p:cNvPr id="69" name="Shape 62"/>
          <p:cNvSpPr/>
          <p:nvPr/>
        </p:nvSpPr>
        <p:spPr>
          <a:xfrm>
            <a:off x="838088" y="4762128"/>
            <a:ext cx="10515823" cy="556803"/>
          </a:xfrm>
          <a:prstGeom prst="roundRect">
            <a:avLst>
              <a:gd name="adj" fmla="val 10264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70" name="Shape 63"/>
          <p:cNvSpPr/>
          <p:nvPr/>
        </p:nvSpPr>
        <p:spPr>
          <a:xfrm>
            <a:off x="838088" y="5307025"/>
            <a:ext cx="10515823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71" name="Shape 64"/>
          <p:cNvSpPr/>
          <p:nvPr/>
        </p:nvSpPr>
        <p:spPr>
          <a:xfrm>
            <a:off x="838088" y="4762128"/>
            <a:ext cx="10515823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72" name="Shape 65"/>
          <p:cNvSpPr/>
          <p:nvPr/>
        </p:nvSpPr>
        <p:spPr>
          <a:xfrm>
            <a:off x="838088" y="4762128"/>
            <a:ext cx="35719" cy="556803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73" name="Shape 66"/>
          <p:cNvSpPr/>
          <p:nvPr/>
        </p:nvSpPr>
        <p:spPr>
          <a:xfrm>
            <a:off x="11342005" y="4762128"/>
            <a:ext cx="11906" cy="556803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74" name="Shape 67"/>
          <p:cNvSpPr/>
          <p:nvPr/>
        </p:nvSpPr>
        <p:spPr>
          <a:xfrm>
            <a:off x="1064307" y="4907235"/>
            <a:ext cx="171338" cy="266588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75" name="Text 68"/>
          <p:cNvSpPr/>
          <p:nvPr/>
        </p:nvSpPr>
        <p:spPr>
          <a:xfrm>
            <a:off x="1368847" y="4921374"/>
            <a:ext cx="618520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Découplage total </a:t>
            </a:r>
            <a:r>
              <a:rPr lang="en-US" sz="1275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entre les phases — chaque phase lit et enrichit le contexte.</a:t>
            </a:r>
            <a:endParaRPr lang="en-US" sz="1275" dirty="0"/>
          </a:p>
        </p:txBody>
      </p:sp>
      <p:sp>
        <p:nvSpPr>
          <p:cNvPr id="76" name="Text 69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Projet de Fin d'Études · Pipeline MLOps générique</a:t>
            </a:r>
            <a:endParaRPr lang="en-US" sz="975" dirty="0"/>
          </a:p>
        </p:txBody>
      </p:sp>
      <p:sp>
        <p:nvSpPr>
          <p:cNvPr id="3" name="Google Shape;88;p17">
            <a:extLst>
              <a:ext uri="{FF2B5EF4-FFF2-40B4-BE49-F238E27FC236}">
                <a16:creationId xmlns:a16="http://schemas.microsoft.com/office/drawing/2014/main" id="{A3E25FF1-53F2-7AD9-BF59-710536A0DE8C}"/>
              </a:ext>
            </a:extLst>
          </p:cNvPr>
          <p:cNvSpPr txBox="1">
            <a:spLocks/>
          </p:cNvSpPr>
          <p:nvPr/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fr" sz="1733" dirty="0">
                <a:latin typeface="Arial" panose="020B0604020202020204" pitchFamily="34" charset="0"/>
                <a:ea typeface="Nunito Black"/>
                <a:cs typeface="Arial" panose="020B0604020202020204" pitchFamily="34" charset="0"/>
                <a:sym typeface="Nunito Black"/>
              </a:rPr>
              <a:t>11</a:t>
            </a:r>
          </a:p>
        </p:txBody>
      </p:sp>
      <p:pic>
        <p:nvPicPr>
          <p:cNvPr id="4" name="Image 4" descr="preencoded.png">
            <a:extLst>
              <a:ext uri="{FF2B5EF4-FFF2-40B4-BE49-F238E27FC236}">
                <a16:creationId xmlns:a16="http://schemas.microsoft.com/office/drawing/2014/main" id="{32B539F6-A79D-29C5-8B16-8DAAC5FF4A4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0960274" y="156681"/>
            <a:ext cx="1041974" cy="6238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9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11" grpId="0" animBg="1"/>
      <p:bldP spid="12" grpId="0" animBg="1"/>
      <p:bldP spid="14" grpId="0" animBg="1"/>
      <p:bldP spid="16" grpId="0" animBg="1"/>
      <p:bldP spid="19" grpId="0" animBg="1"/>
      <p:bldP spid="20" grpId="0" animBg="1"/>
      <p:bldP spid="22" grpId="0" animBg="1"/>
      <p:bldP spid="24" grpId="0" animBg="1"/>
      <p:bldP spid="27" grpId="0" animBg="1"/>
      <p:bldP spid="28" grpId="0" animBg="1"/>
      <p:bldP spid="30" grpId="0" animBg="1"/>
      <p:bldP spid="32" grpId="0" animBg="1"/>
      <p:bldP spid="35" grpId="0" animBg="1"/>
      <p:bldP spid="36" grpId="0" animBg="1"/>
      <p:bldP spid="38" grpId="0" animBg="1"/>
      <p:bldP spid="40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4" grpId="0" animBg="1"/>
      <p:bldP spid="7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74FEE4-2102-697C-1505-A3BDB46CF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1D76520B-10F2-41B7-DEAF-4CEE8F38B6D2}"/>
              </a:ext>
            </a:extLst>
          </p:cNvPr>
          <p:cNvSpPr/>
          <p:nvPr/>
        </p:nvSpPr>
        <p:spPr>
          <a:xfrm>
            <a:off x="838088" y="956965"/>
            <a:ext cx="5493321" cy="5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300" b="1" kern="0" spc="-66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Dispatch sans </a:t>
            </a:r>
            <a:r>
              <a:rPr lang="en-US" sz="3300" b="1" kern="0" spc="-66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if/else</a:t>
            </a:r>
            <a:endParaRPr lang="en-US" sz="33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370AC18-CA4A-1849-52D7-2FA2EC9345AC}"/>
              </a:ext>
            </a:extLst>
          </p:cNvPr>
          <p:cNvSpPr/>
          <p:nvPr/>
        </p:nvSpPr>
        <p:spPr>
          <a:xfrm>
            <a:off x="838088" y="1702446"/>
            <a:ext cx="545853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kern="0" spc="83" dirty="0"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REGISTRY — CLÉ → CLASSE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99444AF8-508A-FCB6-A547-8C05A243A7F7}"/>
              </a:ext>
            </a:extLst>
          </p:cNvPr>
          <p:cNvSpPr/>
          <p:nvPr/>
        </p:nvSpPr>
        <p:spPr>
          <a:xfrm>
            <a:off x="838088" y="2425663"/>
            <a:ext cx="1409588" cy="435694"/>
          </a:xfrm>
          <a:prstGeom prst="roundRect">
            <a:avLst>
              <a:gd name="adj" fmla="val 8745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FEC15DA-3849-0D80-6226-66EFBEFCF560}"/>
              </a:ext>
            </a:extLst>
          </p:cNvPr>
          <p:cNvSpPr/>
          <p:nvPr/>
        </p:nvSpPr>
        <p:spPr>
          <a:xfrm>
            <a:off x="1021445" y="2542344"/>
            <a:ext cx="1119076" cy="240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"rag"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BAD5FB3A-B0F2-0A05-70BB-6C167E2CF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927" y="2582677"/>
            <a:ext cx="228451" cy="142875"/>
          </a:xfrm>
          <a:prstGeom prst="rect">
            <a:avLst/>
          </a:prstGeom>
        </p:spPr>
      </p:pic>
      <p:sp>
        <p:nvSpPr>
          <p:cNvPr id="10" name="Shape 6">
            <a:extLst>
              <a:ext uri="{FF2B5EF4-FFF2-40B4-BE49-F238E27FC236}">
                <a16:creationId xmlns:a16="http://schemas.microsoft.com/office/drawing/2014/main" id="{7A7ACC5A-E4A5-7AB1-2887-FAA0DA60FDC0}"/>
              </a:ext>
            </a:extLst>
          </p:cNvPr>
          <p:cNvSpPr/>
          <p:nvPr/>
        </p:nvSpPr>
        <p:spPr>
          <a:xfrm>
            <a:off x="2666628" y="2431616"/>
            <a:ext cx="2260141" cy="423788"/>
          </a:xfrm>
          <a:prstGeom prst="roundRect">
            <a:avLst>
              <a:gd name="adj" fmla="val 899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8C622FE2-F7CA-F766-6210-98D15EC26315}"/>
              </a:ext>
            </a:extLst>
          </p:cNvPr>
          <p:cNvSpPr/>
          <p:nvPr/>
        </p:nvSpPr>
        <p:spPr>
          <a:xfrm>
            <a:off x="2666628" y="2843498"/>
            <a:ext cx="2260141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F6182B15-CEB6-F60A-1F9A-D5AFBD5BAB08}"/>
              </a:ext>
            </a:extLst>
          </p:cNvPr>
          <p:cNvSpPr/>
          <p:nvPr/>
        </p:nvSpPr>
        <p:spPr>
          <a:xfrm>
            <a:off x="2666628" y="2431616"/>
            <a:ext cx="2260141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CAD12345-1F3C-9329-9AA3-B67C077B5893}"/>
              </a:ext>
            </a:extLst>
          </p:cNvPr>
          <p:cNvSpPr/>
          <p:nvPr/>
        </p:nvSpPr>
        <p:spPr>
          <a:xfrm>
            <a:off x="2666628" y="2431616"/>
            <a:ext cx="23813" cy="423788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98ED8887-B2B7-2EF1-DD23-4A84BE7AB145}"/>
              </a:ext>
            </a:extLst>
          </p:cNvPr>
          <p:cNvSpPr/>
          <p:nvPr/>
        </p:nvSpPr>
        <p:spPr>
          <a:xfrm>
            <a:off x="4914863" y="2431616"/>
            <a:ext cx="11906" cy="423788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9AE2B8DA-2A09-70C9-08CB-BCFDD90D2EA0}"/>
              </a:ext>
            </a:extLst>
          </p:cNvPr>
          <p:cNvSpPr/>
          <p:nvPr/>
        </p:nvSpPr>
        <p:spPr>
          <a:xfrm>
            <a:off x="2842840" y="2548297"/>
            <a:ext cx="1995822" cy="2285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RAGPipeline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282AC807-567F-9EDC-8845-7CFC3A2838E8}"/>
              </a:ext>
            </a:extLst>
          </p:cNvPr>
          <p:cNvSpPr/>
          <p:nvPr/>
        </p:nvSpPr>
        <p:spPr>
          <a:xfrm>
            <a:off x="5040994" y="2555516"/>
            <a:ext cx="1014151" cy="227260"/>
          </a:xfrm>
          <a:prstGeom prst="roundRect">
            <a:avLst>
              <a:gd name="adj" fmla="val 50000"/>
            </a:avLst>
          </a:prstGeom>
          <a:solidFill>
            <a:srgbClr val="BDD24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F202CCDE-F477-1BB6-850E-D971E0CAD402}"/>
              </a:ext>
            </a:extLst>
          </p:cNvPr>
          <p:cNvSpPr/>
          <p:nvPr/>
        </p:nvSpPr>
        <p:spPr>
          <a:xfrm>
            <a:off x="5126720" y="2584091"/>
            <a:ext cx="664146" cy="15693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36" dirty="0"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IMPLÉMENTÉ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A6123D62-E958-6CBF-7C5E-12D8C22309E3}"/>
              </a:ext>
            </a:extLst>
          </p:cNvPr>
          <p:cNvSpPr/>
          <p:nvPr/>
        </p:nvSpPr>
        <p:spPr>
          <a:xfrm>
            <a:off x="2720950" y="3431555"/>
            <a:ext cx="2358368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DCC05A87-EBF9-BEEE-C951-22D63B6FCC7C}"/>
              </a:ext>
            </a:extLst>
          </p:cNvPr>
          <p:cNvSpPr/>
          <p:nvPr/>
        </p:nvSpPr>
        <p:spPr>
          <a:xfrm>
            <a:off x="2720950" y="3019673"/>
            <a:ext cx="2358368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F89ECDC4-56E5-AE20-1F23-C104FAC1B926}"/>
              </a:ext>
            </a:extLst>
          </p:cNvPr>
          <p:cNvSpPr/>
          <p:nvPr/>
        </p:nvSpPr>
        <p:spPr>
          <a:xfrm>
            <a:off x="5067412" y="3019673"/>
            <a:ext cx="11906" cy="423788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grpSp>
        <p:nvGrpSpPr>
          <p:cNvPr id="56" name="Groupe 55">
            <a:extLst>
              <a:ext uri="{FF2B5EF4-FFF2-40B4-BE49-F238E27FC236}">
                <a16:creationId xmlns:a16="http://schemas.microsoft.com/office/drawing/2014/main" id="{8C8BB6E8-29B7-BA1F-EE5D-682BC3E52226}"/>
              </a:ext>
            </a:extLst>
          </p:cNvPr>
          <p:cNvGrpSpPr/>
          <p:nvPr/>
        </p:nvGrpSpPr>
        <p:grpSpPr>
          <a:xfrm>
            <a:off x="838088" y="3013720"/>
            <a:ext cx="5158589" cy="435694"/>
            <a:chOff x="838088" y="3013720"/>
            <a:chExt cx="5158589" cy="435694"/>
          </a:xfrm>
        </p:grpSpPr>
        <p:sp>
          <p:nvSpPr>
            <p:cNvPr id="18" name="Shape 14">
              <a:extLst>
                <a:ext uri="{FF2B5EF4-FFF2-40B4-BE49-F238E27FC236}">
                  <a16:creationId xmlns:a16="http://schemas.microsoft.com/office/drawing/2014/main" id="{B30E8321-C3FB-169C-D7C9-5861836EF9E3}"/>
                </a:ext>
              </a:extLst>
            </p:cNvPr>
            <p:cNvSpPr/>
            <p:nvPr/>
          </p:nvSpPr>
          <p:spPr>
            <a:xfrm>
              <a:off x="838088" y="3013720"/>
              <a:ext cx="1463911" cy="435694"/>
            </a:xfrm>
            <a:prstGeom prst="roundRect">
              <a:avLst>
                <a:gd name="adj" fmla="val 8745"/>
              </a:avLst>
            </a:prstGeom>
            <a:solidFill>
              <a:srgbClr val="FAFAFA"/>
            </a:solidFill>
            <a:ln w="11906">
              <a:solidFill>
                <a:srgbClr val="CFCFCF"/>
              </a:solidFill>
              <a:prstDash val="dash"/>
            </a:ln>
          </p:spPr>
          <p:txBody>
            <a:bodyPr/>
            <a:lstStyle/>
            <a:p>
              <a:endParaRPr lang="fr-TN"/>
            </a:p>
          </p:txBody>
        </p:sp>
        <p:sp>
          <p:nvSpPr>
            <p:cNvPr id="19" name="Text 15">
              <a:extLst>
                <a:ext uri="{FF2B5EF4-FFF2-40B4-BE49-F238E27FC236}">
                  <a16:creationId xmlns:a16="http://schemas.microsoft.com/office/drawing/2014/main" id="{3B3757E5-60D0-8C4D-15A4-CB3BA64556D5}"/>
                </a:ext>
              </a:extLst>
            </p:cNvPr>
            <p:cNvSpPr/>
            <p:nvPr/>
          </p:nvSpPr>
          <p:spPr>
            <a:xfrm>
              <a:off x="1021445" y="3130401"/>
              <a:ext cx="1173398" cy="2404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600" dirty="0"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rPr>
                <a:t>"ml_classic"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0" name="Image 2" descr="preencoded.png">
              <a:extLst>
                <a:ext uri="{FF2B5EF4-FFF2-40B4-BE49-F238E27FC236}">
                  <a16:creationId xmlns:a16="http://schemas.microsoft.com/office/drawing/2014/main" id="{E1C74C1D-FAB9-8CD5-6AAE-5679E60484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97249" y="3170734"/>
              <a:ext cx="228451" cy="142875"/>
            </a:xfrm>
            <a:prstGeom prst="rect">
              <a:avLst/>
            </a:prstGeom>
          </p:spPr>
        </p:pic>
        <p:sp>
          <p:nvSpPr>
            <p:cNvPr id="21" name="Shape 16">
              <a:extLst>
                <a:ext uri="{FF2B5EF4-FFF2-40B4-BE49-F238E27FC236}">
                  <a16:creationId xmlns:a16="http://schemas.microsoft.com/office/drawing/2014/main" id="{531462CA-9988-E5EA-0418-4D8715580161}"/>
                </a:ext>
              </a:extLst>
            </p:cNvPr>
            <p:cNvSpPr/>
            <p:nvPr/>
          </p:nvSpPr>
          <p:spPr>
            <a:xfrm>
              <a:off x="2720950" y="3019673"/>
              <a:ext cx="2358368" cy="423788"/>
            </a:xfrm>
            <a:prstGeom prst="roundRect">
              <a:avLst>
                <a:gd name="adj" fmla="val 8990"/>
              </a:avLst>
            </a:prstGeom>
            <a:solidFill>
              <a:srgbClr val="FAFAFA"/>
            </a:solidFill>
            <a:ln/>
          </p:spPr>
          <p:txBody>
            <a:bodyPr/>
            <a:lstStyle/>
            <a:p>
              <a:endParaRPr lang="fr-TN"/>
            </a:p>
          </p:txBody>
        </p:sp>
        <p:sp>
          <p:nvSpPr>
            <p:cNvPr id="24" name="Shape 19">
              <a:extLst>
                <a:ext uri="{FF2B5EF4-FFF2-40B4-BE49-F238E27FC236}">
                  <a16:creationId xmlns:a16="http://schemas.microsoft.com/office/drawing/2014/main" id="{F6A2BE59-DFC8-82AD-EB45-2685100CFEE5}"/>
                </a:ext>
              </a:extLst>
            </p:cNvPr>
            <p:cNvSpPr/>
            <p:nvPr/>
          </p:nvSpPr>
          <p:spPr>
            <a:xfrm>
              <a:off x="2720950" y="3019673"/>
              <a:ext cx="23813" cy="423788"/>
            </a:xfrm>
            <a:prstGeom prst="rect">
              <a:avLst/>
            </a:prstGeom>
            <a:solidFill>
              <a:srgbClr val="CFCFCF"/>
            </a:solidFill>
            <a:ln/>
          </p:spPr>
          <p:txBody>
            <a:bodyPr/>
            <a:lstStyle/>
            <a:p>
              <a:endParaRPr lang="fr-TN"/>
            </a:p>
          </p:txBody>
        </p:sp>
        <p:sp>
          <p:nvSpPr>
            <p:cNvPr id="26" name="Text 21">
              <a:extLst>
                <a:ext uri="{FF2B5EF4-FFF2-40B4-BE49-F238E27FC236}">
                  <a16:creationId xmlns:a16="http://schemas.microsoft.com/office/drawing/2014/main" id="{2EAF9976-7B74-C8C3-6A83-4091931D846B}"/>
                </a:ext>
              </a:extLst>
            </p:cNvPr>
            <p:cNvSpPr/>
            <p:nvPr/>
          </p:nvSpPr>
          <p:spPr>
            <a:xfrm>
              <a:off x="2897163" y="3136355"/>
              <a:ext cx="2094049" cy="22852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400" dirty="0"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rPr>
                <a:t>MLClassicPipeline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Shape 22">
              <a:extLst>
                <a:ext uri="{FF2B5EF4-FFF2-40B4-BE49-F238E27FC236}">
                  <a16:creationId xmlns:a16="http://schemas.microsoft.com/office/drawing/2014/main" id="{FDE0F225-6D4F-C5AB-19ED-E579C6557019}"/>
                </a:ext>
              </a:extLst>
            </p:cNvPr>
            <p:cNvSpPr/>
            <p:nvPr/>
          </p:nvSpPr>
          <p:spPr>
            <a:xfrm>
              <a:off x="5193543" y="3131666"/>
              <a:ext cx="803134" cy="245430"/>
            </a:xfrm>
            <a:prstGeom prst="roundRect">
              <a:avLst>
                <a:gd name="adj" fmla="val 50000"/>
              </a:avLst>
            </a:prstGeom>
            <a:ln w="11906">
              <a:solidFill>
                <a:srgbClr val="CFCFCF"/>
              </a:solidFill>
              <a:prstDash val="dash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Text 23">
              <a:extLst>
                <a:ext uri="{FF2B5EF4-FFF2-40B4-BE49-F238E27FC236}">
                  <a16:creationId xmlns:a16="http://schemas.microsoft.com/office/drawing/2014/main" id="{DDBDF015-351D-A312-357F-1DEEA2C0AB45}"/>
                </a:ext>
              </a:extLst>
            </p:cNvPr>
            <p:cNvSpPr/>
            <p:nvPr/>
          </p:nvSpPr>
          <p:spPr>
            <a:xfrm>
              <a:off x="5291175" y="3172148"/>
              <a:ext cx="487784" cy="156939"/>
            </a:xfrm>
            <a:prstGeom prst="rect">
              <a:avLst/>
            </a:prstGeom>
            <a:noFill/>
            <a:ln/>
          </p:spPr>
          <p:txBody>
            <a:bodyPr wrap="non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900" b="1" kern="0" spc="36" dirty="0"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rPr>
                <a:t>EXEMPLE</a:t>
              </a:r>
              <a:endParaRPr lang="en-US" sz="9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3" name="Shape 27">
            <a:extLst>
              <a:ext uri="{FF2B5EF4-FFF2-40B4-BE49-F238E27FC236}">
                <a16:creationId xmlns:a16="http://schemas.microsoft.com/office/drawing/2014/main" id="{7B848CAB-533C-32BB-8DE2-347693BBC10C}"/>
              </a:ext>
            </a:extLst>
          </p:cNvPr>
          <p:cNvSpPr/>
          <p:nvPr/>
        </p:nvSpPr>
        <p:spPr>
          <a:xfrm>
            <a:off x="2666628" y="4019612"/>
            <a:ext cx="2412690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4" name="Shape 28">
            <a:extLst>
              <a:ext uri="{FF2B5EF4-FFF2-40B4-BE49-F238E27FC236}">
                <a16:creationId xmlns:a16="http://schemas.microsoft.com/office/drawing/2014/main" id="{B4837D51-DF47-E91B-0C79-CD2243FED66D}"/>
              </a:ext>
            </a:extLst>
          </p:cNvPr>
          <p:cNvSpPr/>
          <p:nvPr/>
        </p:nvSpPr>
        <p:spPr>
          <a:xfrm>
            <a:off x="2666628" y="3607730"/>
            <a:ext cx="2412690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6" name="Shape 30">
            <a:extLst>
              <a:ext uri="{FF2B5EF4-FFF2-40B4-BE49-F238E27FC236}">
                <a16:creationId xmlns:a16="http://schemas.microsoft.com/office/drawing/2014/main" id="{B1132592-4354-F502-6C0B-EF92F29B27AD}"/>
              </a:ext>
            </a:extLst>
          </p:cNvPr>
          <p:cNvSpPr/>
          <p:nvPr/>
        </p:nvSpPr>
        <p:spPr>
          <a:xfrm>
            <a:off x="5067412" y="3607730"/>
            <a:ext cx="11906" cy="423788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E975E830-9A62-23A7-FABB-9DCE0D606AE1}"/>
              </a:ext>
            </a:extLst>
          </p:cNvPr>
          <p:cNvGrpSpPr/>
          <p:nvPr/>
        </p:nvGrpSpPr>
        <p:grpSpPr>
          <a:xfrm>
            <a:off x="838088" y="3601777"/>
            <a:ext cx="5131780" cy="435694"/>
            <a:chOff x="838088" y="3601777"/>
            <a:chExt cx="5131780" cy="435694"/>
          </a:xfrm>
        </p:grpSpPr>
        <p:sp>
          <p:nvSpPr>
            <p:cNvPr id="29" name="Shape 24">
              <a:extLst>
                <a:ext uri="{FF2B5EF4-FFF2-40B4-BE49-F238E27FC236}">
                  <a16:creationId xmlns:a16="http://schemas.microsoft.com/office/drawing/2014/main" id="{ACBCBB5D-EBAA-3302-1991-9FCEBF6C0DEF}"/>
                </a:ext>
              </a:extLst>
            </p:cNvPr>
            <p:cNvSpPr/>
            <p:nvPr/>
          </p:nvSpPr>
          <p:spPr>
            <a:xfrm>
              <a:off x="838088" y="3601777"/>
              <a:ext cx="1409588" cy="435694"/>
            </a:xfrm>
            <a:prstGeom prst="roundRect">
              <a:avLst>
                <a:gd name="adj" fmla="val 8745"/>
              </a:avLst>
            </a:prstGeom>
            <a:solidFill>
              <a:srgbClr val="FAFAFA"/>
            </a:solidFill>
            <a:ln w="11906">
              <a:solidFill>
                <a:srgbClr val="CFCFCF"/>
              </a:solidFill>
              <a:prstDash val="dash"/>
            </a:ln>
          </p:spPr>
          <p:txBody>
            <a:bodyPr/>
            <a:lstStyle/>
            <a:p>
              <a:endParaRPr lang="fr-TN"/>
            </a:p>
          </p:txBody>
        </p:sp>
        <p:sp>
          <p:nvSpPr>
            <p:cNvPr id="30" name="Text 25">
              <a:extLst>
                <a:ext uri="{FF2B5EF4-FFF2-40B4-BE49-F238E27FC236}">
                  <a16:creationId xmlns:a16="http://schemas.microsoft.com/office/drawing/2014/main" id="{3B6C6C19-58FF-35BC-F1F8-39EEB1620B59}"/>
                </a:ext>
              </a:extLst>
            </p:cNvPr>
            <p:cNvSpPr/>
            <p:nvPr/>
          </p:nvSpPr>
          <p:spPr>
            <a:xfrm>
              <a:off x="1021445" y="3718459"/>
              <a:ext cx="1119076" cy="2404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600" dirty="0"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rPr>
                <a:t>"finetune"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1" name="Image 3" descr="preencoded.png">
              <a:extLst>
                <a:ext uri="{FF2B5EF4-FFF2-40B4-BE49-F238E27FC236}">
                  <a16:creationId xmlns:a16="http://schemas.microsoft.com/office/drawing/2014/main" id="{DF913E3F-6449-C0E4-3A71-F2BFD1C924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42927" y="3758791"/>
              <a:ext cx="228451" cy="142875"/>
            </a:xfrm>
            <a:prstGeom prst="rect">
              <a:avLst/>
            </a:prstGeom>
          </p:spPr>
        </p:pic>
        <p:sp>
          <p:nvSpPr>
            <p:cNvPr id="32" name="Shape 26">
              <a:extLst>
                <a:ext uri="{FF2B5EF4-FFF2-40B4-BE49-F238E27FC236}">
                  <a16:creationId xmlns:a16="http://schemas.microsoft.com/office/drawing/2014/main" id="{BAB3858B-6449-CB77-AE55-3365DFC8299B}"/>
                </a:ext>
              </a:extLst>
            </p:cNvPr>
            <p:cNvSpPr/>
            <p:nvPr/>
          </p:nvSpPr>
          <p:spPr>
            <a:xfrm>
              <a:off x="2666628" y="3607730"/>
              <a:ext cx="2412690" cy="423788"/>
            </a:xfrm>
            <a:prstGeom prst="roundRect">
              <a:avLst>
                <a:gd name="adj" fmla="val 8990"/>
              </a:avLst>
            </a:prstGeom>
            <a:solidFill>
              <a:srgbClr val="FAFAFA"/>
            </a:solidFill>
            <a:ln/>
          </p:spPr>
          <p:txBody>
            <a:bodyPr/>
            <a:lstStyle/>
            <a:p>
              <a:endParaRPr lang="fr-TN"/>
            </a:p>
          </p:txBody>
        </p:sp>
        <p:sp>
          <p:nvSpPr>
            <p:cNvPr id="35" name="Shape 29">
              <a:extLst>
                <a:ext uri="{FF2B5EF4-FFF2-40B4-BE49-F238E27FC236}">
                  <a16:creationId xmlns:a16="http://schemas.microsoft.com/office/drawing/2014/main" id="{9EC57E02-A0F1-6F84-5635-10B084906584}"/>
                </a:ext>
              </a:extLst>
            </p:cNvPr>
            <p:cNvSpPr/>
            <p:nvPr/>
          </p:nvSpPr>
          <p:spPr>
            <a:xfrm>
              <a:off x="2666628" y="3607730"/>
              <a:ext cx="23813" cy="423788"/>
            </a:xfrm>
            <a:prstGeom prst="rect">
              <a:avLst/>
            </a:prstGeom>
            <a:solidFill>
              <a:srgbClr val="CFCFCF"/>
            </a:solidFill>
            <a:ln/>
          </p:spPr>
          <p:txBody>
            <a:bodyPr/>
            <a:lstStyle/>
            <a:p>
              <a:endParaRPr lang="fr-TN"/>
            </a:p>
          </p:txBody>
        </p:sp>
        <p:sp>
          <p:nvSpPr>
            <p:cNvPr id="37" name="Text 31">
              <a:extLst>
                <a:ext uri="{FF2B5EF4-FFF2-40B4-BE49-F238E27FC236}">
                  <a16:creationId xmlns:a16="http://schemas.microsoft.com/office/drawing/2014/main" id="{EC5CAC5A-4D4B-FD2F-D3DF-83BFA58426DD}"/>
                </a:ext>
              </a:extLst>
            </p:cNvPr>
            <p:cNvSpPr/>
            <p:nvPr/>
          </p:nvSpPr>
          <p:spPr>
            <a:xfrm>
              <a:off x="2842840" y="3724412"/>
              <a:ext cx="2148371" cy="22852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400" dirty="0"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rPr>
                <a:t>FineTunePipeline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Shape 32">
              <a:extLst>
                <a:ext uri="{FF2B5EF4-FFF2-40B4-BE49-F238E27FC236}">
                  <a16:creationId xmlns:a16="http://schemas.microsoft.com/office/drawing/2014/main" id="{8FE2593E-6F6F-C6B5-71C0-3826F92155B4}"/>
                </a:ext>
              </a:extLst>
            </p:cNvPr>
            <p:cNvSpPr/>
            <p:nvPr/>
          </p:nvSpPr>
          <p:spPr>
            <a:xfrm>
              <a:off x="5193543" y="3719724"/>
              <a:ext cx="776325" cy="233214"/>
            </a:xfrm>
            <a:prstGeom prst="roundRect">
              <a:avLst>
                <a:gd name="adj" fmla="val 50000"/>
              </a:avLst>
            </a:prstGeom>
            <a:ln w="11906">
              <a:solidFill>
                <a:srgbClr val="CFCFCF"/>
              </a:solidFill>
              <a:prstDash val="dash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9" name="Text 33">
              <a:extLst>
                <a:ext uri="{FF2B5EF4-FFF2-40B4-BE49-F238E27FC236}">
                  <a16:creationId xmlns:a16="http://schemas.microsoft.com/office/drawing/2014/main" id="{13B88E31-A5B0-A2E2-537B-24A05C6E32FB}"/>
                </a:ext>
              </a:extLst>
            </p:cNvPr>
            <p:cNvSpPr/>
            <p:nvPr/>
          </p:nvSpPr>
          <p:spPr>
            <a:xfrm>
              <a:off x="5291175" y="3760205"/>
              <a:ext cx="487784" cy="156939"/>
            </a:xfrm>
            <a:prstGeom prst="rect">
              <a:avLst/>
            </a:prstGeom>
            <a:noFill/>
            <a:ln/>
          </p:spPr>
          <p:txBody>
            <a:bodyPr wrap="non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900" b="1" kern="0" spc="36" dirty="0"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rPr>
                <a:t>EXEMPLE</a:t>
              </a:r>
              <a:endParaRPr lang="en-US" sz="9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1" name="Shape 35">
            <a:extLst>
              <a:ext uri="{FF2B5EF4-FFF2-40B4-BE49-F238E27FC236}">
                <a16:creationId xmlns:a16="http://schemas.microsoft.com/office/drawing/2014/main" id="{4A59EF95-5E71-AEC0-DE8D-B53BE7051347}"/>
              </a:ext>
            </a:extLst>
          </p:cNvPr>
          <p:cNvSpPr/>
          <p:nvPr/>
        </p:nvSpPr>
        <p:spPr>
          <a:xfrm>
            <a:off x="6429003" y="2241724"/>
            <a:ext cx="4639159" cy="11906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lstStyle/>
          <a:p>
            <a:endParaRPr lang="fr-TN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4B3745A3-7DFA-D62C-F108-5F9DAB68C1BA}"/>
              </a:ext>
            </a:extLst>
          </p:cNvPr>
          <p:cNvGrpSpPr/>
          <p:nvPr/>
        </p:nvGrpSpPr>
        <p:grpSpPr>
          <a:xfrm>
            <a:off x="6143253" y="1718035"/>
            <a:ext cx="5210659" cy="3391979"/>
            <a:chOff x="6143253" y="1718035"/>
            <a:chExt cx="5210659" cy="3391979"/>
          </a:xfrm>
        </p:grpSpPr>
        <p:sp>
          <p:nvSpPr>
            <p:cNvPr id="40" name="Shape 34">
              <a:extLst>
                <a:ext uri="{FF2B5EF4-FFF2-40B4-BE49-F238E27FC236}">
                  <a16:creationId xmlns:a16="http://schemas.microsoft.com/office/drawing/2014/main" id="{B7C05BC5-8DA6-1D5C-8DE1-F14A763450EF}"/>
                </a:ext>
              </a:extLst>
            </p:cNvPr>
            <p:cNvSpPr/>
            <p:nvPr/>
          </p:nvSpPr>
          <p:spPr>
            <a:xfrm>
              <a:off x="6143253" y="1718035"/>
              <a:ext cx="5210659" cy="3391979"/>
            </a:xfrm>
            <a:prstGeom prst="roundRect">
              <a:avLst>
                <a:gd name="adj" fmla="val 1685"/>
              </a:avLst>
            </a:prstGeom>
            <a:solidFill>
              <a:srgbClr val="1A1A1A"/>
            </a:solidFill>
            <a:ln/>
            <a:effectLst>
              <a:outerShdw blurRad="342900" dist="114300" dir="5400000" algn="bl" rotWithShape="0">
                <a:srgbClr val="1A1A1A">
                  <a:alpha val="22000"/>
                </a:srgbClr>
              </a:outerShdw>
            </a:effectLst>
          </p:spPr>
          <p:txBody>
            <a:bodyPr/>
            <a:lstStyle/>
            <a:p>
              <a:endParaRPr lang="fr-FR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Text 36">
              <a:extLst>
                <a:ext uri="{FF2B5EF4-FFF2-40B4-BE49-F238E27FC236}">
                  <a16:creationId xmlns:a16="http://schemas.microsoft.com/office/drawing/2014/main" id="{86E667B5-0BDC-F587-3AA1-0E879D8A16E5}"/>
                </a:ext>
              </a:extLst>
            </p:cNvPr>
            <p:cNvSpPr/>
            <p:nvPr/>
          </p:nvSpPr>
          <p:spPr>
            <a:xfrm>
              <a:off x="6429003" y="1965647"/>
              <a:ext cx="4778333" cy="18082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050" kern="0" spc="66" dirty="0">
                  <a:solidFill>
                    <a:srgbClr val="9AA5B8"/>
                  </a:solidFill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rPr>
                <a:t>REGISTRY.PY</a:t>
              </a:r>
              <a:endParaRPr lang="en-US" sz="10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Text 37">
              <a:extLst>
                <a:ext uri="{FF2B5EF4-FFF2-40B4-BE49-F238E27FC236}">
                  <a16:creationId xmlns:a16="http://schemas.microsoft.com/office/drawing/2014/main" id="{91D78EAE-709F-74C5-D94D-13DE30066A92}"/>
                </a:ext>
              </a:extLst>
            </p:cNvPr>
            <p:cNvSpPr/>
            <p:nvPr/>
          </p:nvSpPr>
          <p:spPr>
            <a:xfrm>
              <a:off x="6429003" y="2424968"/>
              <a:ext cx="4778333" cy="30468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/>
            </a:bodyPr>
            <a:lstStyle/>
            <a:p>
              <a:pPr marL="0" indent="0" algn="l">
                <a:lnSpc>
                  <a:spcPct val="175000"/>
                </a:lnSpc>
                <a:buNone/>
              </a:pPr>
              <a:r>
                <a:rPr lang="en-US" sz="1200" dirty="0">
                  <a:solidFill>
                    <a:srgbClr val="5CC2D8"/>
                  </a:solidFill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rPr>
                <a:t>register</a:t>
              </a:r>
              <a:r>
                <a:rPr lang="en-US" sz="1200" dirty="0">
                  <a:solidFill>
                    <a:srgbClr val="CDD3E0"/>
                  </a:solidFill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rPr>
                <a:t>(</a:t>
              </a:r>
              <a:r>
                <a:rPr lang="en-US" sz="1200" dirty="0">
                  <a:solidFill>
                    <a:srgbClr val="BDD248"/>
                  </a:solidFill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rPr>
                <a:t>"rag"</a:t>
              </a:r>
              <a:r>
                <a:rPr lang="en-US" sz="1200" dirty="0">
                  <a:solidFill>
                    <a:srgbClr val="CDD3E0"/>
                  </a:solidFill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rPr>
                <a:t>, </a:t>
              </a:r>
              <a:r>
                <a:rPr lang="en-US" sz="1200" dirty="0">
                  <a:solidFill>
                    <a:srgbClr val="E2A96D"/>
                  </a:solidFill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rPr>
                <a:t>RAGPipeline</a:t>
              </a:r>
              <a:r>
                <a:rPr lang="en-US" sz="1200" dirty="0">
                  <a:solidFill>
                    <a:srgbClr val="CDD3E0"/>
                  </a:solidFill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rPr>
                <a:t>) </a:t>
              </a:r>
              <a:r>
                <a:rPr lang="en-US" sz="1000" dirty="0">
                  <a:solidFill>
                    <a:srgbClr val="BDD248"/>
                  </a:solidFill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rPr>
                <a:t>← seul use case implémenté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Text 38">
              <a:extLst>
                <a:ext uri="{FF2B5EF4-FFF2-40B4-BE49-F238E27FC236}">
                  <a16:creationId xmlns:a16="http://schemas.microsoft.com/office/drawing/2014/main" id="{BCBA9A63-6B31-0F3F-4A48-DA06AC9CB189}"/>
                </a:ext>
              </a:extLst>
            </p:cNvPr>
            <p:cNvSpPr/>
            <p:nvPr/>
          </p:nvSpPr>
          <p:spPr>
            <a:xfrm>
              <a:off x="6429003" y="2843919"/>
              <a:ext cx="4778333" cy="57127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/>
            </a:bodyPr>
            <a:lstStyle/>
            <a:p>
              <a:pPr marL="0" indent="0" algn="l">
                <a:lnSpc>
                  <a:spcPct val="175000"/>
                </a:lnSpc>
                <a:buNone/>
              </a:pPr>
              <a:r>
                <a:rPr lang="en-US" sz="1400" dirty="0">
                  <a:solidFill>
                    <a:srgbClr val="707888"/>
                  </a:solidFill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rPr>
                <a:t># extensions futures (exemples — pas encore implémentées) :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Text 39">
              <a:extLst>
                <a:ext uri="{FF2B5EF4-FFF2-40B4-BE49-F238E27FC236}">
                  <a16:creationId xmlns:a16="http://schemas.microsoft.com/office/drawing/2014/main" id="{44D8B67F-417D-6C50-0783-5CC66547DC50}"/>
                </a:ext>
              </a:extLst>
            </p:cNvPr>
            <p:cNvSpPr/>
            <p:nvPr/>
          </p:nvSpPr>
          <p:spPr>
            <a:xfrm>
              <a:off x="6429003" y="3377096"/>
              <a:ext cx="4778333" cy="30468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75000"/>
                </a:lnSpc>
                <a:buNone/>
              </a:pPr>
              <a:r>
                <a:rPr lang="en-US" sz="1400" dirty="0">
                  <a:solidFill>
                    <a:srgbClr val="707888"/>
                  </a:solidFill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rPr>
                <a:t># register("ml_classic", MLClassicPipeline)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Text 40">
              <a:extLst>
                <a:ext uri="{FF2B5EF4-FFF2-40B4-BE49-F238E27FC236}">
                  <a16:creationId xmlns:a16="http://schemas.microsoft.com/office/drawing/2014/main" id="{8DA2CFC5-CB85-96E1-1425-B17EE8F250DD}"/>
                </a:ext>
              </a:extLst>
            </p:cNvPr>
            <p:cNvSpPr/>
            <p:nvPr/>
          </p:nvSpPr>
          <p:spPr>
            <a:xfrm>
              <a:off x="6429003" y="3643685"/>
              <a:ext cx="4778333" cy="30468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75000"/>
                </a:lnSpc>
                <a:buNone/>
              </a:pPr>
              <a:r>
                <a:rPr lang="en-US" sz="1400" dirty="0">
                  <a:solidFill>
                    <a:srgbClr val="707888"/>
                  </a:solidFill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rPr>
                <a:t># register("finetune", FineTunePipeline)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Text 41">
              <a:extLst>
                <a:ext uri="{FF2B5EF4-FFF2-40B4-BE49-F238E27FC236}">
                  <a16:creationId xmlns:a16="http://schemas.microsoft.com/office/drawing/2014/main" id="{3AB4E0A2-7B3D-2C53-BC7E-84E0AEE79A4F}"/>
                </a:ext>
              </a:extLst>
            </p:cNvPr>
            <p:cNvSpPr/>
            <p:nvPr/>
          </p:nvSpPr>
          <p:spPr>
            <a:xfrm>
              <a:off x="6429003" y="4062636"/>
              <a:ext cx="4778333" cy="30468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75000"/>
                </a:lnSpc>
                <a:buNone/>
              </a:pPr>
              <a:r>
                <a:rPr lang="en-US" sz="1400" dirty="0">
                  <a:solidFill>
                    <a:srgbClr val="606878"/>
                  </a:solidFill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rPr>
                <a:t># dispatch à l'exécution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Text 42">
              <a:extLst>
                <a:ext uri="{FF2B5EF4-FFF2-40B4-BE49-F238E27FC236}">
                  <a16:creationId xmlns:a16="http://schemas.microsoft.com/office/drawing/2014/main" id="{EE629AA6-BFC0-D90A-0132-DC4DEF3AC104}"/>
                </a:ext>
              </a:extLst>
            </p:cNvPr>
            <p:cNvSpPr/>
            <p:nvPr/>
          </p:nvSpPr>
          <p:spPr>
            <a:xfrm>
              <a:off x="6429003" y="4329224"/>
              <a:ext cx="4778333" cy="30468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75000"/>
                </a:lnSpc>
                <a:buNone/>
              </a:pPr>
              <a:r>
                <a:rPr lang="en-US" sz="1600" dirty="0">
                  <a:solidFill>
                    <a:srgbClr val="CDD3E0"/>
                  </a:solidFill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rPr>
                <a:t>pipeline = </a:t>
              </a:r>
              <a:r>
                <a:rPr lang="en-US" sz="1600" dirty="0">
                  <a:solidFill>
                    <a:srgbClr val="5CC2D8"/>
                  </a:solidFill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rPr>
                <a:t>get_pipeline</a:t>
              </a:r>
              <a:r>
                <a:rPr lang="en-US" sz="1600" dirty="0">
                  <a:solidFill>
                    <a:srgbClr val="CDD3E0"/>
                  </a:solidFill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rPr>
                <a:t>(</a:t>
              </a:r>
              <a:r>
                <a:rPr lang="en-US" sz="1600" dirty="0">
                  <a:solidFill>
                    <a:srgbClr val="BDD248"/>
                  </a:solidFill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rPr>
                <a:t>"rag"</a:t>
              </a:r>
              <a:r>
                <a:rPr lang="en-US" sz="1600" dirty="0">
                  <a:solidFill>
                    <a:srgbClr val="CDD3E0"/>
                  </a:solidFill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rPr>
                <a:t>)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Text 43">
              <a:extLst>
                <a:ext uri="{FF2B5EF4-FFF2-40B4-BE49-F238E27FC236}">
                  <a16:creationId xmlns:a16="http://schemas.microsoft.com/office/drawing/2014/main" id="{8BA7E81A-1E14-9BF9-62EE-8C8098DCBD2F}"/>
                </a:ext>
              </a:extLst>
            </p:cNvPr>
            <p:cNvSpPr/>
            <p:nvPr/>
          </p:nvSpPr>
          <p:spPr>
            <a:xfrm>
              <a:off x="6429003" y="4595813"/>
              <a:ext cx="4778333" cy="30468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/>
            </a:bodyPr>
            <a:lstStyle/>
            <a:p>
              <a:pPr marL="0" indent="0" algn="l">
                <a:lnSpc>
                  <a:spcPct val="175000"/>
                </a:lnSpc>
                <a:buNone/>
              </a:pPr>
              <a:r>
                <a:rPr lang="en-US" sz="1200" dirty="0">
                  <a:solidFill>
                    <a:srgbClr val="CDD3E0"/>
                  </a:solidFill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rPr>
                <a:t>pipeline.</a:t>
              </a:r>
              <a:r>
                <a:rPr lang="en-US" sz="1200" dirty="0">
                  <a:solidFill>
                    <a:srgbClr val="5CC2D8"/>
                  </a:solidFill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rPr>
                <a:t>run</a:t>
              </a:r>
              <a:r>
                <a:rPr lang="en-US" sz="1200" dirty="0">
                  <a:solidFill>
                    <a:srgbClr val="CDD3E0"/>
                  </a:solidFill>
                  <a:latin typeface="Arial" panose="020B0604020202020204" pitchFamily="34" charset="0"/>
                  <a:ea typeface="JetBrains Mono" pitchFamily="34" charset="-122"/>
                  <a:cs typeface="Arial" panose="020B0604020202020204" pitchFamily="34" charset="0"/>
                </a:rPr>
                <a:t>(ctx)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0" name="Shape 44">
            <a:extLst>
              <a:ext uri="{FF2B5EF4-FFF2-40B4-BE49-F238E27FC236}">
                <a16:creationId xmlns:a16="http://schemas.microsoft.com/office/drawing/2014/main" id="{1A40933B-63F5-0980-419B-69A7FE6A7423}"/>
              </a:ext>
            </a:extLst>
          </p:cNvPr>
          <p:cNvSpPr/>
          <p:nvPr/>
        </p:nvSpPr>
        <p:spPr>
          <a:xfrm>
            <a:off x="838088" y="5414739"/>
            <a:ext cx="10515823" cy="595126"/>
          </a:xfrm>
          <a:prstGeom prst="roundRect">
            <a:avLst>
              <a:gd name="adj" fmla="val 9603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pic>
        <p:nvPicPr>
          <p:cNvPr id="51" name="Image 4" descr="preencoded.png">
            <a:extLst>
              <a:ext uri="{FF2B5EF4-FFF2-40B4-BE49-F238E27FC236}">
                <a16:creationId xmlns:a16="http://schemas.microsoft.com/office/drawing/2014/main" id="{EA368889-6B4B-BA00-7042-69FA620E3B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470" y="5579008"/>
            <a:ext cx="171338" cy="266588"/>
          </a:xfrm>
          <a:prstGeom prst="rect">
            <a:avLst/>
          </a:prstGeom>
        </p:spPr>
      </p:pic>
      <p:sp>
        <p:nvSpPr>
          <p:cNvPr id="52" name="Text 45">
            <a:extLst>
              <a:ext uri="{FF2B5EF4-FFF2-40B4-BE49-F238E27FC236}">
                <a16:creationId xmlns:a16="http://schemas.microsoft.com/office/drawing/2014/main" id="{E9CA2C5F-DA12-D998-09F4-5ACF948CCF64}"/>
              </a:ext>
            </a:extLst>
          </p:cNvPr>
          <p:cNvSpPr/>
          <p:nvPr/>
        </p:nvSpPr>
        <p:spPr>
          <a:xfrm>
            <a:off x="1383171" y="5593147"/>
            <a:ext cx="417135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Ajouter un use case = </a:t>
            </a:r>
            <a:r>
              <a:rPr lang="en-US" sz="1275" b="1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1 ligne </a:t>
            </a:r>
            <a:r>
              <a:rPr lang="en-US" sz="1275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— zéro modif du core</a:t>
            </a:r>
            <a:endParaRPr lang="en-US" sz="1275" dirty="0"/>
          </a:p>
        </p:txBody>
      </p:sp>
      <p:sp>
        <p:nvSpPr>
          <p:cNvPr id="53" name="Text 46">
            <a:extLst>
              <a:ext uri="{FF2B5EF4-FFF2-40B4-BE49-F238E27FC236}">
                <a16:creationId xmlns:a16="http://schemas.microsoft.com/office/drawing/2014/main" id="{A8B2804A-E058-6006-CA4E-A439302EED85}"/>
              </a:ext>
            </a:extLst>
          </p:cNvPr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Projet de Fin d'Études · Pipeline MLOps générique</a:t>
            </a:r>
            <a:endParaRPr lang="en-US" sz="975" dirty="0"/>
          </a:p>
        </p:txBody>
      </p:sp>
      <p:sp>
        <p:nvSpPr>
          <p:cNvPr id="3" name="Google Shape;88;p17">
            <a:extLst>
              <a:ext uri="{FF2B5EF4-FFF2-40B4-BE49-F238E27FC236}">
                <a16:creationId xmlns:a16="http://schemas.microsoft.com/office/drawing/2014/main" id="{13A437AB-6F82-2A6C-B946-9AD38AAD298A}"/>
              </a:ext>
            </a:extLst>
          </p:cNvPr>
          <p:cNvSpPr txBox="1">
            <a:spLocks/>
          </p:cNvSpPr>
          <p:nvPr/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fr" sz="1733" dirty="0">
                <a:latin typeface="Arial" panose="020B0604020202020204" pitchFamily="34" charset="0"/>
                <a:ea typeface="Nunito Black"/>
                <a:cs typeface="Arial" panose="020B0604020202020204" pitchFamily="34" charset="0"/>
                <a:sym typeface="Nunito Black"/>
              </a:rPr>
              <a:t>12</a:t>
            </a:r>
          </a:p>
        </p:txBody>
      </p:sp>
      <p:pic>
        <p:nvPicPr>
          <p:cNvPr id="4" name="Image 4" descr="preencoded.png">
            <a:extLst>
              <a:ext uri="{FF2B5EF4-FFF2-40B4-BE49-F238E27FC236}">
                <a16:creationId xmlns:a16="http://schemas.microsoft.com/office/drawing/2014/main" id="{4F69FB3D-E660-D6DF-0775-A6EC33469A1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0960274" y="156681"/>
            <a:ext cx="1041974" cy="62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813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5" grpId="0" animBg="1"/>
      <p:bldP spid="16" grpId="0" animBg="1"/>
      <p:bldP spid="17" grpId="0" animBg="1"/>
      <p:bldP spid="50" grpId="0" animBg="1"/>
      <p:bldP spid="5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495226" y="314213"/>
            <a:ext cx="85576" cy="123713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" name="Text 2"/>
          <p:cNvSpPr/>
          <p:nvPr/>
        </p:nvSpPr>
        <p:spPr>
          <a:xfrm>
            <a:off x="666378" y="304726"/>
            <a:ext cx="210268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3" kern="0" spc="121" dirty="0">
                <a:solidFill>
                  <a:srgbClr val="546472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BLOC 02 · PIPELINECONTEXT</a:t>
            </a:r>
            <a:endParaRPr lang="en-US" sz="863" dirty="0"/>
          </a:p>
        </p:txBody>
      </p:sp>
      <p:sp>
        <p:nvSpPr>
          <p:cNvPr id="5" name="Text 3"/>
          <p:cNvSpPr/>
          <p:nvPr/>
        </p:nvSpPr>
        <p:spPr>
          <a:xfrm>
            <a:off x="495226" y="523689"/>
            <a:ext cx="7558125" cy="478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300" b="1" kern="0" spc="-82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données </a:t>
            </a:r>
            <a:r>
              <a:rPr lang="en-US" sz="3300" b="1" kern="0" spc="-82" dirty="0">
                <a:solidFill>
                  <a:srgbClr val="BDD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circulent </a:t>
            </a:r>
            <a:r>
              <a:rPr lang="en-US" sz="3300" b="1" kern="0" spc="-82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les phases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495226" y="1154162"/>
            <a:ext cx="1996529" cy="762000"/>
          </a:xfrm>
          <a:prstGeom prst="roundRect">
            <a:avLst>
              <a:gd name="adj" fmla="val 10000"/>
            </a:avLst>
          </a:prstGeom>
          <a:solidFill>
            <a:srgbClr val="F9FAF5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7" name="Shape 5"/>
          <p:cNvSpPr/>
          <p:nvPr/>
        </p:nvSpPr>
        <p:spPr>
          <a:xfrm>
            <a:off x="495226" y="1904256"/>
            <a:ext cx="1996529" cy="11906"/>
          </a:xfrm>
          <a:prstGeom prst="rect">
            <a:avLst/>
          </a:prstGeom>
          <a:solidFill>
            <a:srgbClr val="546472">
              <a:alpha val="15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8" name="Shape 6"/>
          <p:cNvSpPr/>
          <p:nvPr/>
        </p:nvSpPr>
        <p:spPr>
          <a:xfrm>
            <a:off x="495226" y="1154162"/>
            <a:ext cx="1996529" cy="23813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9" name="Shape 7"/>
          <p:cNvSpPr/>
          <p:nvPr/>
        </p:nvSpPr>
        <p:spPr>
          <a:xfrm>
            <a:off x="495226" y="1154162"/>
            <a:ext cx="11906" cy="762000"/>
          </a:xfrm>
          <a:prstGeom prst="rect">
            <a:avLst/>
          </a:prstGeom>
          <a:solidFill>
            <a:srgbClr val="546472">
              <a:alpha val="15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0" name="Shape 8"/>
          <p:cNvSpPr/>
          <p:nvPr/>
        </p:nvSpPr>
        <p:spPr>
          <a:xfrm>
            <a:off x="2479849" y="1154162"/>
            <a:ext cx="11906" cy="762000"/>
          </a:xfrm>
          <a:prstGeom prst="rect">
            <a:avLst/>
          </a:prstGeom>
          <a:solidFill>
            <a:srgbClr val="546472">
              <a:alpha val="15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1" name="Text 9"/>
          <p:cNvSpPr/>
          <p:nvPr/>
        </p:nvSpPr>
        <p:spPr>
          <a:xfrm>
            <a:off x="1436191" y="1398240"/>
            <a:ext cx="19061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AA5B8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57325" y="1517303"/>
            <a:ext cx="748531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</a:t>
            </a:r>
            <a:endParaRPr lang="en-US" sz="1125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39380" y="1468562"/>
            <a:ext cx="209476" cy="133201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2796480" y="1154162"/>
            <a:ext cx="1996529" cy="762000"/>
          </a:xfrm>
          <a:prstGeom prst="roundRect">
            <a:avLst>
              <a:gd name="adj" fmla="val 10000"/>
            </a:avLst>
          </a:prstGeom>
          <a:solidFill>
            <a:srgbClr val="F9FAF5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5" name="Shape 12"/>
          <p:cNvSpPr/>
          <p:nvPr/>
        </p:nvSpPr>
        <p:spPr>
          <a:xfrm>
            <a:off x="2796480" y="1904256"/>
            <a:ext cx="1996529" cy="11906"/>
          </a:xfrm>
          <a:prstGeom prst="rect">
            <a:avLst/>
          </a:prstGeom>
          <a:solidFill>
            <a:srgbClr val="546472">
              <a:alpha val="15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6" name="Shape 13"/>
          <p:cNvSpPr/>
          <p:nvPr/>
        </p:nvSpPr>
        <p:spPr>
          <a:xfrm>
            <a:off x="2796480" y="1154162"/>
            <a:ext cx="1996529" cy="23813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7" name="Shape 14"/>
          <p:cNvSpPr/>
          <p:nvPr/>
        </p:nvSpPr>
        <p:spPr>
          <a:xfrm>
            <a:off x="2796480" y="1154162"/>
            <a:ext cx="11906" cy="762000"/>
          </a:xfrm>
          <a:prstGeom prst="rect">
            <a:avLst/>
          </a:prstGeom>
          <a:solidFill>
            <a:srgbClr val="546472">
              <a:alpha val="15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8" name="Shape 15"/>
          <p:cNvSpPr/>
          <p:nvPr/>
        </p:nvSpPr>
        <p:spPr>
          <a:xfrm>
            <a:off x="4781104" y="1154162"/>
            <a:ext cx="11906" cy="762000"/>
          </a:xfrm>
          <a:prstGeom prst="rect">
            <a:avLst/>
          </a:prstGeom>
          <a:solidFill>
            <a:srgbClr val="546472">
              <a:alpha val="15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9" name="Text 16"/>
          <p:cNvSpPr/>
          <p:nvPr/>
        </p:nvSpPr>
        <p:spPr>
          <a:xfrm>
            <a:off x="3737446" y="1398240"/>
            <a:ext cx="19061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AA5B8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445371" y="1517303"/>
            <a:ext cx="774948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125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40635" y="1468562"/>
            <a:ext cx="209476" cy="133201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5097735" y="1154162"/>
            <a:ext cx="1996529" cy="762000"/>
          </a:xfrm>
          <a:prstGeom prst="roundRect">
            <a:avLst>
              <a:gd name="adj" fmla="val 10000"/>
            </a:avLst>
          </a:prstGeom>
          <a:solidFill>
            <a:srgbClr val="F9FAF5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3" name="Shape 19"/>
          <p:cNvSpPr/>
          <p:nvPr/>
        </p:nvSpPr>
        <p:spPr>
          <a:xfrm>
            <a:off x="5097735" y="1904256"/>
            <a:ext cx="1996529" cy="11906"/>
          </a:xfrm>
          <a:prstGeom prst="rect">
            <a:avLst/>
          </a:prstGeom>
          <a:solidFill>
            <a:srgbClr val="546472">
              <a:alpha val="15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4" name="Shape 20"/>
          <p:cNvSpPr/>
          <p:nvPr/>
        </p:nvSpPr>
        <p:spPr>
          <a:xfrm>
            <a:off x="5097735" y="1154162"/>
            <a:ext cx="1996529" cy="23813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5" name="Shape 21"/>
          <p:cNvSpPr/>
          <p:nvPr/>
        </p:nvSpPr>
        <p:spPr>
          <a:xfrm>
            <a:off x="5097735" y="1154162"/>
            <a:ext cx="11906" cy="762000"/>
          </a:xfrm>
          <a:prstGeom prst="rect">
            <a:avLst/>
          </a:prstGeom>
          <a:solidFill>
            <a:srgbClr val="546472">
              <a:alpha val="15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6" name="Shape 22"/>
          <p:cNvSpPr/>
          <p:nvPr/>
        </p:nvSpPr>
        <p:spPr>
          <a:xfrm>
            <a:off x="7082358" y="1154162"/>
            <a:ext cx="11906" cy="762000"/>
          </a:xfrm>
          <a:prstGeom prst="rect">
            <a:avLst/>
          </a:prstGeom>
          <a:solidFill>
            <a:srgbClr val="546472">
              <a:alpha val="15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7" name="Text 23"/>
          <p:cNvSpPr/>
          <p:nvPr/>
        </p:nvSpPr>
        <p:spPr>
          <a:xfrm>
            <a:off x="6038701" y="1398240"/>
            <a:ext cx="19061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AA5B8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5885594" y="1517303"/>
            <a:ext cx="49701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125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41890" y="1468562"/>
            <a:ext cx="209476" cy="133201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7398990" y="1154162"/>
            <a:ext cx="1996529" cy="762000"/>
          </a:xfrm>
          <a:prstGeom prst="roundRect">
            <a:avLst>
              <a:gd name="adj" fmla="val 10000"/>
            </a:avLst>
          </a:prstGeom>
          <a:solidFill>
            <a:srgbClr val="F9FAF5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1" name="Shape 26"/>
          <p:cNvSpPr/>
          <p:nvPr/>
        </p:nvSpPr>
        <p:spPr>
          <a:xfrm>
            <a:off x="7398990" y="1904256"/>
            <a:ext cx="1996529" cy="11906"/>
          </a:xfrm>
          <a:prstGeom prst="rect">
            <a:avLst/>
          </a:prstGeom>
          <a:solidFill>
            <a:srgbClr val="546472">
              <a:alpha val="15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2" name="Shape 27"/>
          <p:cNvSpPr/>
          <p:nvPr/>
        </p:nvSpPr>
        <p:spPr>
          <a:xfrm>
            <a:off x="7398990" y="1154162"/>
            <a:ext cx="1996529" cy="23813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3" name="Shape 28"/>
          <p:cNvSpPr/>
          <p:nvPr/>
        </p:nvSpPr>
        <p:spPr>
          <a:xfrm>
            <a:off x="7398990" y="1154162"/>
            <a:ext cx="11906" cy="762000"/>
          </a:xfrm>
          <a:prstGeom prst="rect">
            <a:avLst/>
          </a:prstGeom>
          <a:solidFill>
            <a:srgbClr val="546472">
              <a:alpha val="15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4" name="Shape 29"/>
          <p:cNvSpPr/>
          <p:nvPr/>
        </p:nvSpPr>
        <p:spPr>
          <a:xfrm>
            <a:off x="9383613" y="1154162"/>
            <a:ext cx="11906" cy="762000"/>
          </a:xfrm>
          <a:prstGeom prst="rect">
            <a:avLst/>
          </a:prstGeom>
          <a:solidFill>
            <a:srgbClr val="546472">
              <a:alpha val="15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5" name="Text 30"/>
          <p:cNvSpPr/>
          <p:nvPr/>
        </p:nvSpPr>
        <p:spPr>
          <a:xfrm>
            <a:off x="8339956" y="1398240"/>
            <a:ext cx="19061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AA5B8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750" dirty="0"/>
          </a:p>
        </p:txBody>
      </p:sp>
      <p:sp>
        <p:nvSpPr>
          <p:cNvPr id="36" name="Text 31"/>
          <p:cNvSpPr/>
          <p:nvPr/>
        </p:nvSpPr>
        <p:spPr>
          <a:xfrm>
            <a:off x="8034486" y="1517303"/>
            <a:ext cx="801551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125" dirty="0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43145" y="1468562"/>
            <a:ext cx="209476" cy="133201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9700245" y="1154162"/>
            <a:ext cx="1996529" cy="762000"/>
          </a:xfrm>
          <a:prstGeom prst="roundRect">
            <a:avLst>
              <a:gd name="adj" fmla="val 10000"/>
            </a:avLst>
          </a:prstGeom>
          <a:solidFill>
            <a:srgbClr val="F9FAF5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9" name="Shape 33"/>
          <p:cNvSpPr/>
          <p:nvPr/>
        </p:nvSpPr>
        <p:spPr>
          <a:xfrm>
            <a:off x="9700245" y="1904256"/>
            <a:ext cx="1996529" cy="11906"/>
          </a:xfrm>
          <a:prstGeom prst="rect">
            <a:avLst/>
          </a:prstGeom>
          <a:solidFill>
            <a:srgbClr val="546472">
              <a:alpha val="15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0" name="Shape 34"/>
          <p:cNvSpPr/>
          <p:nvPr/>
        </p:nvSpPr>
        <p:spPr>
          <a:xfrm>
            <a:off x="9700245" y="1154162"/>
            <a:ext cx="1996529" cy="23813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1" name="Shape 35"/>
          <p:cNvSpPr/>
          <p:nvPr/>
        </p:nvSpPr>
        <p:spPr>
          <a:xfrm>
            <a:off x="9700245" y="1154162"/>
            <a:ext cx="11906" cy="762000"/>
          </a:xfrm>
          <a:prstGeom prst="rect">
            <a:avLst/>
          </a:prstGeom>
          <a:solidFill>
            <a:srgbClr val="546472">
              <a:alpha val="15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2" name="Shape 36"/>
          <p:cNvSpPr/>
          <p:nvPr/>
        </p:nvSpPr>
        <p:spPr>
          <a:xfrm>
            <a:off x="11684868" y="1154162"/>
            <a:ext cx="11906" cy="762000"/>
          </a:xfrm>
          <a:prstGeom prst="rect">
            <a:avLst/>
          </a:prstGeom>
          <a:solidFill>
            <a:srgbClr val="546472">
              <a:alpha val="15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3" name="Text 37"/>
          <p:cNvSpPr/>
          <p:nvPr/>
        </p:nvSpPr>
        <p:spPr>
          <a:xfrm>
            <a:off x="10641211" y="1398240"/>
            <a:ext cx="19061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AA5B8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750" dirty="0"/>
          </a:p>
        </p:txBody>
      </p:sp>
      <p:sp>
        <p:nvSpPr>
          <p:cNvPr id="44" name="Text 38"/>
          <p:cNvSpPr/>
          <p:nvPr/>
        </p:nvSpPr>
        <p:spPr>
          <a:xfrm>
            <a:off x="10408667" y="1517303"/>
            <a:ext cx="655886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125" dirty="0"/>
          </a:p>
        </p:txBody>
      </p:sp>
      <p:sp>
        <p:nvSpPr>
          <p:cNvPr id="45" name="Shape 39"/>
          <p:cNvSpPr/>
          <p:nvPr/>
        </p:nvSpPr>
        <p:spPr>
          <a:xfrm>
            <a:off x="495226" y="3687961"/>
            <a:ext cx="1966020" cy="437927"/>
          </a:xfrm>
          <a:prstGeom prst="roundRect">
            <a:avLst>
              <a:gd name="adj" fmla="val 13050"/>
            </a:avLst>
          </a:prstGeom>
          <a:solidFill>
            <a:srgbClr val="BDD248">
              <a:alpha val="14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6" name="Text 40"/>
          <p:cNvSpPr/>
          <p:nvPr/>
        </p:nvSpPr>
        <p:spPr>
          <a:xfrm>
            <a:off x="590476" y="3764049"/>
            <a:ext cx="1953071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75" kern="0" spc="41" dirty="0">
                <a:solidFill>
                  <a:srgbClr val="8FA82E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CTX V1</a:t>
            </a:r>
            <a:endParaRPr lang="en-US" sz="675" dirty="0"/>
          </a:p>
        </p:txBody>
      </p:sp>
      <p:sp>
        <p:nvSpPr>
          <p:cNvPr id="47" name="Text 41"/>
          <p:cNvSpPr/>
          <p:nvPr/>
        </p:nvSpPr>
        <p:spPr>
          <a:xfrm>
            <a:off x="590476" y="3899669"/>
            <a:ext cx="1953071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1C1C24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raw_docs</a:t>
            </a:r>
            <a:endParaRPr lang="en-US" sz="938" dirty="0"/>
          </a:p>
        </p:txBody>
      </p:sp>
      <p:sp>
        <p:nvSpPr>
          <p:cNvPr id="48" name="Shape 42"/>
          <p:cNvSpPr/>
          <p:nvPr/>
        </p:nvSpPr>
        <p:spPr>
          <a:xfrm>
            <a:off x="2804108" y="2659187"/>
            <a:ext cx="1966020" cy="1466701"/>
          </a:xfrm>
          <a:prstGeom prst="roundRect">
            <a:avLst>
              <a:gd name="adj" fmla="val 3896"/>
            </a:avLst>
          </a:prstGeom>
          <a:solidFill>
            <a:srgbClr val="BDD248">
              <a:alpha val="26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9" name="Text 43"/>
          <p:cNvSpPr/>
          <p:nvPr/>
        </p:nvSpPr>
        <p:spPr>
          <a:xfrm>
            <a:off x="2899358" y="3633081"/>
            <a:ext cx="1953071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75" kern="0" spc="41" dirty="0">
                <a:solidFill>
                  <a:srgbClr val="8FA82E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CTX V2</a:t>
            </a:r>
            <a:endParaRPr lang="en-US" sz="675" dirty="0"/>
          </a:p>
        </p:txBody>
      </p:sp>
      <p:sp>
        <p:nvSpPr>
          <p:cNvPr id="50" name="Text 44"/>
          <p:cNvSpPr/>
          <p:nvPr/>
        </p:nvSpPr>
        <p:spPr>
          <a:xfrm>
            <a:off x="2899358" y="3768700"/>
            <a:ext cx="1953071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1C1C24">
                    <a:alpha val="50000"/>
                  </a:srgbClr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raw_docs</a:t>
            </a:r>
            <a:endParaRPr lang="en-US" sz="825" dirty="0"/>
          </a:p>
        </p:txBody>
      </p:sp>
      <p:sp>
        <p:nvSpPr>
          <p:cNvPr id="51" name="Text 45"/>
          <p:cNvSpPr/>
          <p:nvPr/>
        </p:nvSpPr>
        <p:spPr>
          <a:xfrm>
            <a:off x="2899358" y="3899669"/>
            <a:ext cx="1953071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1C1C24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+ chunks</a:t>
            </a:r>
            <a:endParaRPr lang="en-US" sz="938" dirty="0"/>
          </a:p>
        </p:txBody>
      </p:sp>
      <p:sp>
        <p:nvSpPr>
          <p:cNvPr id="52" name="Shape 46"/>
          <p:cNvSpPr/>
          <p:nvPr/>
        </p:nvSpPr>
        <p:spPr>
          <a:xfrm>
            <a:off x="5112990" y="2449525"/>
            <a:ext cx="1966020" cy="1676363"/>
          </a:xfrm>
          <a:prstGeom prst="roundRect">
            <a:avLst>
              <a:gd name="adj" fmla="val 3409"/>
            </a:avLst>
          </a:prstGeom>
          <a:solidFill>
            <a:srgbClr val="BDD248">
              <a:alpha val="40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3" name="Text 47"/>
          <p:cNvSpPr/>
          <p:nvPr/>
        </p:nvSpPr>
        <p:spPr>
          <a:xfrm>
            <a:off x="5208240" y="3633081"/>
            <a:ext cx="1953071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75" kern="0" spc="41" dirty="0">
                <a:solidFill>
                  <a:srgbClr val="8FA82E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CTX V3</a:t>
            </a:r>
            <a:endParaRPr lang="en-US" sz="675" dirty="0"/>
          </a:p>
        </p:txBody>
      </p:sp>
      <p:sp>
        <p:nvSpPr>
          <p:cNvPr id="54" name="Text 48"/>
          <p:cNvSpPr/>
          <p:nvPr/>
        </p:nvSpPr>
        <p:spPr>
          <a:xfrm>
            <a:off x="5208240" y="3768700"/>
            <a:ext cx="1953071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1C1C24">
                    <a:alpha val="50000"/>
                  </a:srgbClr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raw_docs · chunks</a:t>
            </a:r>
            <a:endParaRPr lang="en-US" sz="825" dirty="0"/>
          </a:p>
        </p:txBody>
      </p:sp>
      <p:sp>
        <p:nvSpPr>
          <p:cNvPr id="55" name="Text 49"/>
          <p:cNvSpPr/>
          <p:nvPr/>
        </p:nvSpPr>
        <p:spPr>
          <a:xfrm>
            <a:off x="5208240" y="3899669"/>
            <a:ext cx="1953071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1C1C24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+ index</a:t>
            </a:r>
            <a:endParaRPr lang="en-US" sz="938" dirty="0"/>
          </a:p>
        </p:txBody>
      </p:sp>
      <p:sp>
        <p:nvSpPr>
          <p:cNvPr id="56" name="Shape 50"/>
          <p:cNvSpPr/>
          <p:nvPr/>
        </p:nvSpPr>
        <p:spPr>
          <a:xfrm>
            <a:off x="7421873" y="2240049"/>
            <a:ext cx="1966020" cy="1885838"/>
          </a:xfrm>
          <a:prstGeom prst="roundRect">
            <a:avLst>
              <a:gd name="adj" fmla="val 3030"/>
            </a:avLst>
          </a:prstGeom>
          <a:solidFill>
            <a:srgbClr val="BDD248">
              <a:alpha val="60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7" name="Text 51"/>
          <p:cNvSpPr/>
          <p:nvPr/>
        </p:nvSpPr>
        <p:spPr>
          <a:xfrm>
            <a:off x="7517123" y="3633081"/>
            <a:ext cx="1953071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75" kern="0" spc="41" dirty="0">
                <a:solidFill>
                  <a:srgbClr val="546030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CTX V4</a:t>
            </a:r>
            <a:endParaRPr lang="en-US" sz="675" dirty="0"/>
          </a:p>
        </p:txBody>
      </p:sp>
      <p:sp>
        <p:nvSpPr>
          <p:cNvPr id="58" name="Text 52"/>
          <p:cNvSpPr/>
          <p:nvPr/>
        </p:nvSpPr>
        <p:spPr>
          <a:xfrm>
            <a:off x="7517123" y="3768700"/>
            <a:ext cx="1953071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1C1C24">
                    <a:alpha val="60000"/>
                  </a:srgbClr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chunks · index</a:t>
            </a:r>
            <a:endParaRPr lang="en-US" sz="825" dirty="0"/>
          </a:p>
        </p:txBody>
      </p:sp>
      <p:sp>
        <p:nvSpPr>
          <p:cNvPr id="59" name="Text 53"/>
          <p:cNvSpPr/>
          <p:nvPr/>
        </p:nvSpPr>
        <p:spPr>
          <a:xfrm>
            <a:off x="7517123" y="3899669"/>
            <a:ext cx="1953071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1C1C24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+ métriques</a:t>
            </a:r>
            <a:endParaRPr lang="en-US" sz="938" dirty="0"/>
          </a:p>
        </p:txBody>
      </p:sp>
      <p:sp>
        <p:nvSpPr>
          <p:cNvPr id="60" name="Shape 54"/>
          <p:cNvSpPr/>
          <p:nvPr/>
        </p:nvSpPr>
        <p:spPr>
          <a:xfrm>
            <a:off x="9730755" y="2030388"/>
            <a:ext cx="1966020" cy="2095500"/>
          </a:xfrm>
          <a:prstGeom prst="roundRect">
            <a:avLst>
              <a:gd name="adj" fmla="val 2907"/>
            </a:avLst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61" name="Text 55"/>
          <p:cNvSpPr/>
          <p:nvPr/>
        </p:nvSpPr>
        <p:spPr>
          <a:xfrm>
            <a:off x="9826005" y="3597362"/>
            <a:ext cx="1953071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75" kern="0" spc="41" dirty="0">
                <a:solidFill>
                  <a:srgbClr val="1C1C24">
                    <a:alpha val="55000"/>
                  </a:srgbClr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CTX V5</a:t>
            </a:r>
            <a:endParaRPr lang="en-US" sz="675" dirty="0"/>
          </a:p>
        </p:txBody>
      </p:sp>
      <p:sp>
        <p:nvSpPr>
          <p:cNvPr id="62" name="Text 56"/>
          <p:cNvSpPr/>
          <p:nvPr/>
        </p:nvSpPr>
        <p:spPr>
          <a:xfrm>
            <a:off x="9826005" y="3732981"/>
            <a:ext cx="1953071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1C1C24">
                    <a:alpha val="55000"/>
                  </a:srgbClr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index · métriques</a:t>
            </a:r>
            <a:endParaRPr lang="en-US" sz="825" dirty="0"/>
          </a:p>
        </p:txBody>
      </p:sp>
      <p:sp>
        <p:nvSpPr>
          <p:cNvPr id="63" name="Text 57"/>
          <p:cNvSpPr/>
          <p:nvPr/>
        </p:nvSpPr>
        <p:spPr>
          <a:xfrm>
            <a:off x="9826005" y="3863950"/>
            <a:ext cx="1953071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1C1C24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+ api_config ✓</a:t>
            </a:r>
            <a:endParaRPr lang="en-US" sz="938" dirty="0"/>
          </a:p>
        </p:txBody>
      </p:sp>
      <p:sp>
        <p:nvSpPr>
          <p:cNvPr id="64" name="Shape 58"/>
          <p:cNvSpPr/>
          <p:nvPr/>
        </p:nvSpPr>
        <p:spPr>
          <a:xfrm>
            <a:off x="495226" y="4240113"/>
            <a:ext cx="11201549" cy="437927"/>
          </a:xfrm>
          <a:prstGeom prst="roundRect">
            <a:avLst>
              <a:gd name="adj" fmla="val 17400"/>
            </a:avLst>
          </a:prstGeom>
          <a:solidFill>
            <a:srgbClr val="1C1C2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65" name="Shape 59"/>
          <p:cNvSpPr/>
          <p:nvPr/>
        </p:nvSpPr>
        <p:spPr>
          <a:xfrm>
            <a:off x="685726" y="4354339"/>
            <a:ext cx="133201" cy="209476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66" name="Text 60"/>
          <p:cNvSpPr/>
          <p:nvPr/>
        </p:nvSpPr>
        <p:spPr>
          <a:xfrm>
            <a:off x="952128" y="4369780"/>
            <a:ext cx="6049938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BDD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Découplage total </a:t>
            </a: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les phases — chaque phase lit et enrichit le contexte.</a:t>
            </a:r>
            <a:endParaRPr lang="en-US" sz="1275" dirty="0"/>
          </a:p>
        </p:txBody>
      </p:sp>
      <p:sp>
        <p:nvSpPr>
          <p:cNvPr id="67" name="Shape 61"/>
          <p:cNvSpPr/>
          <p:nvPr/>
        </p:nvSpPr>
        <p:spPr>
          <a:xfrm>
            <a:off x="495226" y="4773290"/>
            <a:ext cx="11201549" cy="11906"/>
          </a:xfrm>
          <a:prstGeom prst="rect">
            <a:avLst/>
          </a:prstGeom>
          <a:solidFill>
            <a:srgbClr val="546472">
              <a:alpha val="14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68" name="Text 62"/>
          <p:cNvSpPr/>
          <p:nvPr/>
        </p:nvSpPr>
        <p:spPr>
          <a:xfrm>
            <a:off x="990451" y="4918397"/>
            <a:ext cx="35425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63" dirty="0">
                <a:solidFill>
                  <a:srgbClr val="546472">
                    <a:alpha val="70000"/>
                  </a:srgbClr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Projet de Fin d'Études · Pipeline MLOps générique</a:t>
            </a:r>
            <a:endParaRPr lang="en-US" sz="863" dirty="0"/>
          </a:p>
        </p:txBody>
      </p:sp>
      <p:pic>
        <p:nvPicPr>
          <p:cNvPr id="69" name="Image 4" descr="preencoded.png"/>
          <p:cNvPicPr>
            <a:picLocks noChangeAspect="1"/>
          </p:cNvPicPr>
          <p:nvPr/>
        </p:nvPicPr>
        <p:blipFill>
          <a:blip r:embed="rId8">
            <a:alphaModFix amt="85000"/>
          </a:blip>
          <a:stretch>
            <a:fillRect/>
          </a:stretch>
        </p:blipFill>
        <p:spPr>
          <a:xfrm>
            <a:off x="10615538" y="4889934"/>
            <a:ext cx="333933" cy="199988"/>
          </a:xfrm>
          <a:prstGeom prst="rect">
            <a:avLst/>
          </a:prstGeom>
        </p:spPr>
      </p:pic>
      <p:sp>
        <p:nvSpPr>
          <p:cNvPr id="70" name="Text 63"/>
          <p:cNvSpPr/>
          <p:nvPr/>
        </p:nvSpPr>
        <p:spPr>
          <a:xfrm>
            <a:off x="11063697" y="4924351"/>
            <a:ext cx="214052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75" dirty="0"/>
          </a:p>
        </p:txBody>
      </p:sp>
    </p:spTree>
    <p:extLst>
      <p:ext uri="{BB962C8B-B14F-4D97-AF65-F5344CB8AC3E}">
        <p14:creationId xmlns:p14="http://schemas.microsoft.com/office/powerpoint/2010/main" val="20339560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11567406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000" b="1" kern="0" spc="-60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Chargement </a:t>
            </a:r>
            <a:r>
              <a:rPr lang="en-US" sz="3000" b="1" kern="0" spc="-60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à la demande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38088" y="1673014"/>
            <a:ext cx="6439235" cy="638101"/>
          </a:xfrm>
          <a:prstGeom prst="roundRect">
            <a:avLst>
              <a:gd name="adj" fmla="val 8956"/>
            </a:avLst>
          </a:prstGeom>
          <a:solidFill>
            <a:srgbClr val="2A2A2A"/>
          </a:solidFill>
          <a:ln w="11906">
            <a:solidFill>
              <a:srgbClr val="BDD24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" name="Text 4"/>
          <p:cNvSpPr/>
          <p:nvPr/>
        </p:nvSpPr>
        <p:spPr>
          <a:xfrm>
            <a:off x="753406" y="1837320"/>
            <a:ext cx="6608599" cy="3475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b="1" kern="0" spc="66" dirty="0">
                <a:solidFill>
                  <a:srgbClr val="FFFFF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ComponentRegistry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1676177" y="2311115"/>
            <a:ext cx="18976" cy="304726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9" name="Shape 6"/>
          <p:cNvSpPr/>
          <p:nvPr/>
        </p:nvSpPr>
        <p:spPr>
          <a:xfrm>
            <a:off x="838088" y="2711090"/>
            <a:ext cx="1047750" cy="890178"/>
          </a:xfrm>
          <a:prstGeom prst="roundRect">
            <a:avLst>
              <a:gd name="adj" fmla="val 6420"/>
            </a:avLst>
          </a:prstGeom>
          <a:solidFill>
            <a:srgbClr val="BDD248"/>
          </a:solidFill>
          <a:ln w="11906">
            <a:solidFill>
              <a:srgbClr val="BDD24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0" name="Text 7"/>
          <p:cNvSpPr/>
          <p:nvPr/>
        </p:nvSpPr>
        <p:spPr>
          <a:xfrm>
            <a:off x="894271" y="2875359"/>
            <a:ext cx="78294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FAISS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009464" y="3189573"/>
            <a:ext cx="704999" cy="285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3F3F3F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FAISSVector Store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2019040" y="2711090"/>
            <a:ext cx="1047750" cy="890178"/>
          </a:xfrm>
          <a:prstGeom prst="roundRect">
            <a:avLst>
              <a:gd name="adj" fmla="val 6420"/>
            </a:avLst>
          </a:prstGeom>
          <a:solidFill>
            <a:srgbClr val="F4F4F4">
              <a:alpha val="40000"/>
            </a:srgbClr>
          </a:solidFill>
          <a:ln w="11906">
            <a:solidFill>
              <a:srgbClr val="E4E4E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3" name="Text 10"/>
          <p:cNvSpPr/>
          <p:nvPr/>
        </p:nvSpPr>
        <p:spPr>
          <a:xfrm>
            <a:off x="2257909" y="2875359"/>
            <a:ext cx="64602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F3F3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Qdrant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2161766" y="3189573"/>
            <a:ext cx="762112" cy="285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QdrantVector Store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3199991" y="2711090"/>
            <a:ext cx="1047750" cy="890178"/>
          </a:xfrm>
          <a:prstGeom prst="roundRect">
            <a:avLst>
              <a:gd name="adj" fmla="val 6420"/>
            </a:avLst>
          </a:prstGeom>
          <a:solidFill>
            <a:srgbClr val="F4F4F4">
              <a:alpha val="40000"/>
            </a:srgbClr>
          </a:solidFill>
          <a:ln w="11906">
            <a:solidFill>
              <a:srgbClr val="E4E4E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6" name="Text 13"/>
          <p:cNvSpPr/>
          <p:nvPr/>
        </p:nvSpPr>
        <p:spPr>
          <a:xfrm>
            <a:off x="3413931" y="2875359"/>
            <a:ext cx="69606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F3F3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Chroma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3342717" y="3189573"/>
            <a:ext cx="762112" cy="285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ChromaVector Store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4380942" y="2711090"/>
            <a:ext cx="1047750" cy="890178"/>
          </a:xfrm>
          <a:prstGeom prst="roundRect">
            <a:avLst>
              <a:gd name="adj" fmla="val 6420"/>
            </a:avLst>
          </a:prstGeom>
          <a:solidFill>
            <a:srgbClr val="F4F4F4">
              <a:alpha val="40000"/>
            </a:srgbClr>
          </a:solidFill>
          <a:ln w="11906">
            <a:solidFill>
              <a:srgbClr val="E4E4E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9" name="Text 16"/>
          <p:cNvSpPr/>
          <p:nvPr/>
        </p:nvSpPr>
        <p:spPr>
          <a:xfrm>
            <a:off x="4647902" y="2875359"/>
            <a:ext cx="58984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F3F3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Milvus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4523668" y="3189573"/>
            <a:ext cx="762112" cy="285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MilvusVector Store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5561893" y="2691929"/>
            <a:ext cx="1047750" cy="909340"/>
          </a:xfrm>
          <a:prstGeom prst="roundRect">
            <a:avLst>
              <a:gd name="adj" fmla="val 6285"/>
            </a:avLst>
          </a:prstGeom>
          <a:solidFill>
            <a:srgbClr val="F4F4F4">
              <a:alpha val="20000"/>
            </a:srgbClr>
          </a:solidFill>
          <a:ln w="11906">
            <a:solidFill>
              <a:srgbClr val="E4E4E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2" name="Text 19"/>
          <p:cNvSpPr/>
          <p:nvPr/>
        </p:nvSpPr>
        <p:spPr>
          <a:xfrm>
            <a:off x="5949032" y="2856198"/>
            <a:ext cx="34967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10" dirty="0">
                <a:solidFill>
                  <a:srgbClr val="3F3F3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…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5847494" y="3313286"/>
            <a:ext cx="476362" cy="161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plug-in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7734412" y="1863514"/>
            <a:ext cx="3619500" cy="995474"/>
          </a:xfrm>
          <a:prstGeom prst="roundRect">
            <a:avLst>
              <a:gd name="adj" fmla="val 5741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5" name="Shape 22"/>
          <p:cNvSpPr/>
          <p:nvPr/>
        </p:nvSpPr>
        <p:spPr>
          <a:xfrm>
            <a:off x="7734412" y="2847082"/>
            <a:ext cx="3619500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6" name="Shape 23"/>
          <p:cNvSpPr/>
          <p:nvPr/>
        </p:nvSpPr>
        <p:spPr>
          <a:xfrm>
            <a:off x="7734412" y="1863514"/>
            <a:ext cx="3619500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7" name="Shape 24"/>
          <p:cNvSpPr/>
          <p:nvPr/>
        </p:nvSpPr>
        <p:spPr>
          <a:xfrm>
            <a:off x="7734412" y="1863514"/>
            <a:ext cx="35719" cy="995474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8" name="Shape 25"/>
          <p:cNvSpPr/>
          <p:nvPr/>
        </p:nvSpPr>
        <p:spPr>
          <a:xfrm>
            <a:off x="11342005" y="1863514"/>
            <a:ext cx="11906" cy="995474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0630" y="2075222"/>
            <a:ext cx="171338" cy="26658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8265170" y="2034853"/>
            <a:ext cx="213933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Pas d'imports lourds inutiles</a:t>
            </a:r>
            <a:endParaRPr lang="en-US" sz="1275" dirty="0"/>
          </a:p>
        </p:txBody>
      </p:sp>
      <p:sp>
        <p:nvSpPr>
          <p:cNvPr id="31" name="Text 27"/>
          <p:cNvSpPr/>
          <p:nvPr/>
        </p:nvSpPr>
        <p:spPr>
          <a:xfrm>
            <a:off x="8265170" y="2341252"/>
            <a:ext cx="2453729" cy="372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dirty="0">
                <a:solidFill>
                  <a:srgbClr val="525252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torch · faiss · qdrant-client — chargés uniquement si utilisés</a:t>
            </a:r>
            <a:endParaRPr lang="en-US" sz="975" dirty="0"/>
          </a:p>
        </p:txBody>
      </p:sp>
      <p:sp>
        <p:nvSpPr>
          <p:cNvPr id="32" name="Shape 28"/>
          <p:cNvSpPr/>
          <p:nvPr/>
        </p:nvSpPr>
        <p:spPr>
          <a:xfrm>
            <a:off x="7734412" y="3049488"/>
            <a:ext cx="3619500" cy="828229"/>
          </a:xfrm>
          <a:prstGeom prst="roundRect">
            <a:avLst>
              <a:gd name="adj" fmla="val 690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3" name="Shape 29"/>
          <p:cNvSpPr/>
          <p:nvPr/>
        </p:nvSpPr>
        <p:spPr>
          <a:xfrm>
            <a:off x="7734412" y="3865811"/>
            <a:ext cx="3619500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4" name="Shape 30"/>
          <p:cNvSpPr/>
          <p:nvPr/>
        </p:nvSpPr>
        <p:spPr>
          <a:xfrm>
            <a:off x="7734412" y="3049488"/>
            <a:ext cx="3619500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5" name="Shape 31"/>
          <p:cNvSpPr/>
          <p:nvPr/>
        </p:nvSpPr>
        <p:spPr>
          <a:xfrm>
            <a:off x="7734412" y="3049488"/>
            <a:ext cx="35719" cy="828229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6" name="Shape 32"/>
          <p:cNvSpPr/>
          <p:nvPr/>
        </p:nvSpPr>
        <p:spPr>
          <a:xfrm>
            <a:off x="11342005" y="3049488"/>
            <a:ext cx="11906" cy="828229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0630" y="3261196"/>
            <a:ext cx="171338" cy="266588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8265170" y="3220827"/>
            <a:ext cx="140895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Ajouter un store =</a:t>
            </a:r>
            <a:endParaRPr lang="en-US" sz="1275" dirty="0"/>
          </a:p>
        </p:txBody>
      </p:sp>
      <p:sp>
        <p:nvSpPr>
          <p:cNvPr id="39" name="Text 34"/>
          <p:cNvSpPr/>
          <p:nvPr/>
        </p:nvSpPr>
        <p:spPr>
          <a:xfrm>
            <a:off x="9646481" y="3220827"/>
            <a:ext cx="65867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b="1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1 classe</a:t>
            </a:r>
            <a:endParaRPr lang="en-US" sz="1275" dirty="0"/>
          </a:p>
        </p:txBody>
      </p:sp>
      <p:sp>
        <p:nvSpPr>
          <p:cNvPr id="40" name="Text 35"/>
          <p:cNvSpPr/>
          <p:nvPr/>
        </p:nvSpPr>
        <p:spPr>
          <a:xfrm>
            <a:off x="8265170" y="3527227"/>
            <a:ext cx="2860439" cy="205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dirty="0">
                <a:solidFill>
                  <a:srgbClr val="525252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register("faiss", FAISSVectorStore)</a:t>
            </a:r>
            <a:endParaRPr lang="en-US" sz="975" dirty="0"/>
          </a:p>
        </p:txBody>
      </p:sp>
      <p:sp>
        <p:nvSpPr>
          <p:cNvPr id="44" name="Text 39"/>
          <p:cNvSpPr/>
          <p:nvPr/>
        </p:nvSpPr>
        <p:spPr>
          <a:xfrm>
            <a:off x="1956904" y="5896198"/>
            <a:ext cx="169962" cy="266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endParaRPr lang="en-US" sz="1200" dirty="0"/>
          </a:p>
        </p:txBody>
      </p:sp>
      <p:sp>
        <p:nvSpPr>
          <p:cNvPr id="47" name="Shape 42"/>
          <p:cNvSpPr/>
          <p:nvPr/>
        </p:nvSpPr>
        <p:spPr>
          <a:xfrm>
            <a:off x="3112182" y="5877223"/>
            <a:ext cx="18976" cy="266588"/>
          </a:xfrm>
          <a:prstGeom prst="roundRect">
            <a:avLst>
              <a:gd name="adj" fmla="val 49999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0" name="Text 45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Projet de Fin d'Études · Pipeline MLOps générique</a:t>
            </a:r>
            <a:endParaRPr lang="en-US" sz="975" dirty="0"/>
          </a:p>
        </p:txBody>
      </p:sp>
      <p:sp>
        <p:nvSpPr>
          <p:cNvPr id="3" name="Google Shape;88;p17">
            <a:extLst>
              <a:ext uri="{FF2B5EF4-FFF2-40B4-BE49-F238E27FC236}">
                <a16:creationId xmlns:a16="http://schemas.microsoft.com/office/drawing/2014/main" id="{5A752FBF-DA4A-A836-D0FB-10626DF0E123}"/>
              </a:ext>
            </a:extLst>
          </p:cNvPr>
          <p:cNvSpPr txBox="1">
            <a:spLocks/>
          </p:cNvSpPr>
          <p:nvPr/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fr" sz="1733" dirty="0">
                <a:latin typeface="Arial" panose="020B0604020202020204" pitchFamily="34" charset="0"/>
                <a:ea typeface="Nunito Black"/>
                <a:cs typeface="Arial" panose="020B0604020202020204" pitchFamily="34" charset="0"/>
                <a:sym typeface="Nunito Black"/>
              </a:rPr>
              <a:t>13</a:t>
            </a:r>
          </a:p>
        </p:txBody>
      </p:sp>
      <p:pic>
        <p:nvPicPr>
          <p:cNvPr id="4" name="Image 4" descr="preencoded.png">
            <a:extLst>
              <a:ext uri="{FF2B5EF4-FFF2-40B4-BE49-F238E27FC236}">
                <a16:creationId xmlns:a16="http://schemas.microsoft.com/office/drawing/2014/main" id="{E17A0985-B92C-24F4-B6BF-2FCF010D0D8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0960274" y="156681"/>
            <a:ext cx="1041974" cy="62381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2BAE2-9CE2-1A12-D1CC-F1A302556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62CBD87-566F-8C16-A4AC-B1F68B9AF536}"/>
              </a:ext>
            </a:extLst>
          </p:cNvPr>
          <p:cNvSpPr/>
          <p:nvPr/>
        </p:nvSpPr>
        <p:spPr>
          <a:xfrm>
            <a:off x="-23794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E16CDE4-1CAE-0EA8-18CE-ABD2448D0740}"/>
              </a:ext>
            </a:extLst>
          </p:cNvPr>
          <p:cNvSpPr/>
          <p:nvPr/>
        </p:nvSpPr>
        <p:spPr>
          <a:xfrm>
            <a:off x="838088" y="956965"/>
            <a:ext cx="11567406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000" b="1" kern="0" spc="-60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Chargement </a:t>
            </a:r>
            <a:r>
              <a:rPr lang="en-US" sz="3000" b="1" kern="0" spc="-60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à la demande</a:t>
            </a:r>
            <a:endParaRPr lang="en-US" sz="30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BB23CF35-BA11-5443-A1DC-7DD10F927A9B}"/>
              </a:ext>
            </a:extLst>
          </p:cNvPr>
          <p:cNvSpPr/>
          <p:nvPr/>
        </p:nvSpPr>
        <p:spPr>
          <a:xfrm>
            <a:off x="838088" y="1673014"/>
            <a:ext cx="6439235" cy="638101"/>
          </a:xfrm>
          <a:prstGeom prst="roundRect">
            <a:avLst>
              <a:gd name="adj" fmla="val 8956"/>
            </a:avLst>
          </a:prstGeom>
          <a:solidFill>
            <a:srgbClr val="2A2A2A"/>
          </a:solidFill>
          <a:ln w="11906">
            <a:solidFill>
              <a:srgbClr val="BDD24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E99D18D-D530-02C7-D50C-2B93BD2B2818}"/>
              </a:ext>
            </a:extLst>
          </p:cNvPr>
          <p:cNvSpPr/>
          <p:nvPr/>
        </p:nvSpPr>
        <p:spPr>
          <a:xfrm>
            <a:off x="753406" y="1837320"/>
            <a:ext cx="6608599" cy="3475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b="1" kern="0" spc="66" dirty="0">
                <a:solidFill>
                  <a:srgbClr val="FFFFF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ComponentRegistry</a:t>
            </a:r>
            <a:endParaRPr lang="en-US" sz="165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653324F3-8D53-91A3-24A1-1F5495B5D700}"/>
              </a:ext>
            </a:extLst>
          </p:cNvPr>
          <p:cNvSpPr/>
          <p:nvPr/>
        </p:nvSpPr>
        <p:spPr>
          <a:xfrm>
            <a:off x="1676177" y="2311115"/>
            <a:ext cx="18976" cy="304726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187D8653-6420-7712-9524-2F87788DC22C}"/>
              </a:ext>
            </a:extLst>
          </p:cNvPr>
          <p:cNvSpPr/>
          <p:nvPr/>
        </p:nvSpPr>
        <p:spPr>
          <a:xfrm>
            <a:off x="838088" y="2711090"/>
            <a:ext cx="1047750" cy="890178"/>
          </a:xfrm>
          <a:prstGeom prst="roundRect">
            <a:avLst>
              <a:gd name="adj" fmla="val 6420"/>
            </a:avLst>
          </a:prstGeom>
          <a:solidFill>
            <a:srgbClr val="FBFBFB"/>
          </a:solidFill>
          <a:ln w="11906">
            <a:solidFill>
              <a:srgbClr val="FBFBF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4A02C68-C4B2-67D8-A462-75D3B0B151BD}"/>
              </a:ext>
            </a:extLst>
          </p:cNvPr>
          <p:cNvSpPr/>
          <p:nvPr/>
        </p:nvSpPr>
        <p:spPr>
          <a:xfrm>
            <a:off x="933709" y="2899786"/>
            <a:ext cx="782947" cy="218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FAISS</a:t>
            </a:r>
            <a:endParaRPr lang="en-US" sz="13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77EC552-FF76-288B-D063-07C9DD376EED}"/>
              </a:ext>
            </a:extLst>
          </p:cNvPr>
          <p:cNvSpPr/>
          <p:nvPr/>
        </p:nvSpPr>
        <p:spPr>
          <a:xfrm>
            <a:off x="1009464" y="3189573"/>
            <a:ext cx="704999" cy="285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3F3F3F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FAISSVector Store</a:t>
            </a:r>
            <a:endParaRPr lang="en-US" sz="75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D744A8E3-F433-F02C-08AD-CD4BD53B067D}"/>
              </a:ext>
            </a:extLst>
          </p:cNvPr>
          <p:cNvSpPr/>
          <p:nvPr/>
        </p:nvSpPr>
        <p:spPr>
          <a:xfrm>
            <a:off x="2019040" y="2711090"/>
            <a:ext cx="1047750" cy="890178"/>
          </a:xfrm>
          <a:prstGeom prst="roundRect">
            <a:avLst>
              <a:gd name="adj" fmla="val 6420"/>
            </a:avLst>
          </a:prstGeom>
          <a:solidFill>
            <a:srgbClr val="BDD248"/>
          </a:solidFill>
          <a:ln w="11906">
            <a:solidFill>
              <a:srgbClr val="E4E4E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4E4AE0C4-918D-FF0A-F5A6-00874F67B890}"/>
              </a:ext>
            </a:extLst>
          </p:cNvPr>
          <p:cNvSpPr/>
          <p:nvPr/>
        </p:nvSpPr>
        <p:spPr>
          <a:xfrm>
            <a:off x="2257909" y="2875359"/>
            <a:ext cx="64602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F3F3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Qdrant</a:t>
            </a:r>
            <a:endParaRPr lang="en-US" sz="135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E747D287-C740-AA51-57E4-C3365CDFF53C}"/>
              </a:ext>
            </a:extLst>
          </p:cNvPr>
          <p:cNvSpPr/>
          <p:nvPr/>
        </p:nvSpPr>
        <p:spPr>
          <a:xfrm>
            <a:off x="2161766" y="3189573"/>
            <a:ext cx="762112" cy="285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QdrantVector Store</a:t>
            </a:r>
            <a:endParaRPr lang="en-US" sz="75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0B289F26-F9D8-89E4-861F-8E6D442DE689}"/>
              </a:ext>
            </a:extLst>
          </p:cNvPr>
          <p:cNvSpPr/>
          <p:nvPr/>
        </p:nvSpPr>
        <p:spPr>
          <a:xfrm>
            <a:off x="3199991" y="2711090"/>
            <a:ext cx="1047750" cy="890178"/>
          </a:xfrm>
          <a:prstGeom prst="roundRect">
            <a:avLst>
              <a:gd name="adj" fmla="val 6420"/>
            </a:avLst>
          </a:prstGeom>
          <a:solidFill>
            <a:srgbClr val="F4F4F4">
              <a:alpha val="40000"/>
            </a:srgbClr>
          </a:solidFill>
          <a:ln w="11906">
            <a:solidFill>
              <a:srgbClr val="E4E4E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435B8A7D-8E59-E9DC-0974-6955DABAD503}"/>
              </a:ext>
            </a:extLst>
          </p:cNvPr>
          <p:cNvSpPr/>
          <p:nvPr/>
        </p:nvSpPr>
        <p:spPr>
          <a:xfrm>
            <a:off x="3413931" y="2875359"/>
            <a:ext cx="69606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F3F3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Chroma</a:t>
            </a:r>
            <a:endParaRPr lang="en-US" sz="135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064C3FF9-7370-878B-88E1-DC8900DC5246}"/>
              </a:ext>
            </a:extLst>
          </p:cNvPr>
          <p:cNvSpPr/>
          <p:nvPr/>
        </p:nvSpPr>
        <p:spPr>
          <a:xfrm>
            <a:off x="3342717" y="3189573"/>
            <a:ext cx="762112" cy="285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ChromaVector Store</a:t>
            </a:r>
            <a:endParaRPr lang="en-US" sz="75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E1DC43DA-7B0B-791D-9422-F64819BA1FAE}"/>
              </a:ext>
            </a:extLst>
          </p:cNvPr>
          <p:cNvSpPr/>
          <p:nvPr/>
        </p:nvSpPr>
        <p:spPr>
          <a:xfrm>
            <a:off x="4380942" y="2711090"/>
            <a:ext cx="1047750" cy="890178"/>
          </a:xfrm>
          <a:prstGeom prst="roundRect">
            <a:avLst>
              <a:gd name="adj" fmla="val 6420"/>
            </a:avLst>
          </a:prstGeom>
          <a:solidFill>
            <a:srgbClr val="F4F4F4">
              <a:alpha val="40000"/>
            </a:srgbClr>
          </a:solidFill>
          <a:ln w="11906">
            <a:solidFill>
              <a:srgbClr val="E4E4E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56D2A842-22C3-700C-CF75-533F05C3F636}"/>
              </a:ext>
            </a:extLst>
          </p:cNvPr>
          <p:cNvSpPr/>
          <p:nvPr/>
        </p:nvSpPr>
        <p:spPr>
          <a:xfrm>
            <a:off x="4647902" y="2875359"/>
            <a:ext cx="58984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F3F3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Milvus</a:t>
            </a:r>
            <a:endParaRPr lang="en-US" sz="135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BDD190C8-EE13-1F69-6AED-683A230B057E}"/>
              </a:ext>
            </a:extLst>
          </p:cNvPr>
          <p:cNvSpPr/>
          <p:nvPr/>
        </p:nvSpPr>
        <p:spPr>
          <a:xfrm>
            <a:off x="4523668" y="3189573"/>
            <a:ext cx="762112" cy="285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MilvusVector Store</a:t>
            </a:r>
            <a:endParaRPr lang="en-US" sz="75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077ADFB2-A2C3-F4CE-39AC-42E2106EE2BD}"/>
              </a:ext>
            </a:extLst>
          </p:cNvPr>
          <p:cNvSpPr/>
          <p:nvPr/>
        </p:nvSpPr>
        <p:spPr>
          <a:xfrm>
            <a:off x="5561893" y="2691929"/>
            <a:ext cx="1047750" cy="909340"/>
          </a:xfrm>
          <a:prstGeom prst="roundRect">
            <a:avLst>
              <a:gd name="adj" fmla="val 6285"/>
            </a:avLst>
          </a:prstGeom>
          <a:solidFill>
            <a:srgbClr val="F4F4F4">
              <a:alpha val="20000"/>
            </a:srgbClr>
          </a:solidFill>
          <a:ln w="11906">
            <a:solidFill>
              <a:srgbClr val="E4E4E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02982703-CAC5-6AAD-173B-455B7F6FD2F3}"/>
              </a:ext>
            </a:extLst>
          </p:cNvPr>
          <p:cNvSpPr/>
          <p:nvPr/>
        </p:nvSpPr>
        <p:spPr>
          <a:xfrm>
            <a:off x="5949032" y="2856198"/>
            <a:ext cx="34967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10" dirty="0">
                <a:solidFill>
                  <a:srgbClr val="3F3F3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…</a:t>
            </a:r>
            <a:endParaRPr lang="en-US" sz="21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108051A3-9DA7-E82A-93EB-B17A2AB31BED}"/>
              </a:ext>
            </a:extLst>
          </p:cNvPr>
          <p:cNvSpPr/>
          <p:nvPr/>
        </p:nvSpPr>
        <p:spPr>
          <a:xfrm>
            <a:off x="5847494" y="3313286"/>
            <a:ext cx="476362" cy="161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plug-in</a:t>
            </a:r>
            <a:endParaRPr lang="en-US" sz="750" dirty="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84DB4215-B64D-6ADB-7A0E-262696BF890E}"/>
              </a:ext>
            </a:extLst>
          </p:cNvPr>
          <p:cNvSpPr/>
          <p:nvPr/>
        </p:nvSpPr>
        <p:spPr>
          <a:xfrm>
            <a:off x="7734412" y="1863514"/>
            <a:ext cx="3619500" cy="995474"/>
          </a:xfrm>
          <a:prstGeom prst="roundRect">
            <a:avLst>
              <a:gd name="adj" fmla="val 5741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BC650A93-0926-ED5F-5086-89C2F4FBCEF8}"/>
              </a:ext>
            </a:extLst>
          </p:cNvPr>
          <p:cNvSpPr/>
          <p:nvPr/>
        </p:nvSpPr>
        <p:spPr>
          <a:xfrm>
            <a:off x="7734412" y="2847082"/>
            <a:ext cx="3619500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7F22A746-4E0B-3D5D-00A9-3D83D81D749C}"/>
              </a:ext>
            </a:extLst>
          </p:cNvPr>
          <p:cNvSpPr/>
          <p:nvPr/>
        </p:nvSpPr>
        <p:spPr>
          <a:xfrm>
            <a:off x="7734412" y="1863514"/>
            <a:ext cx="3619500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73FFC76E-9087-649B-F3A7-34D6682900EF}"/>
              </a:ext>
            </a:extLst>
          </p:cNvPr>
          <p:cNvSpPr/>
          <p:nvPr/>
        </p:nvSpPr>
        <p:spPr>
          <a:xfrm>
            <a:off x="7734412" y="1863514"/>
            <a:ext cx="35719" cy="995474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00954D0B-CA7E-147E-A710-518F8BAFEC03}"/>
              </a:ext>
            </a:extLst>
          </p:cNvPr>
          <p:cNvSpPr/>
          <p:nvPr/>
        </p:nvSpPr>
        <p:spPr>
          <a:xfrm>
            <a:off x="11342005" y="1863514"/>
            <a:ext cx="11906" cy="995474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pic>
        <p:nvPicPr>
          <p:cNvPr id="29" name="Image 1" descr="preencoded.png">
            <a:extLst>
              <a:ext uri="{FF2B5EF4-FFF2-40B4-BE49-F238E27FC236}">
                <a16:creationId xmlns:a16="http://schemas.microsoft.com/office/drawing/2014/main" id="{9DB7B2F1-7C46-7E4C-42E8-DFEBA3AFA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0630" y="2075222"/>
            <a:ext cx="171338" cy="266588"/>
          </a:xfrm>
          <a:prstGeom prst="rect">
            <a:avLst/>
          </a:prstGeom>
        </p:spPr>
      </p:pic>
      <p:sp>
        <p:nvSpPr>
          <p:cNvPr id="30" name="Text 26">
            <a:extLst>
              <a:ext uri="{FF2B5EF4-FFF2-40B4-BE49-F238E27FC236}">
                <a16:creationId xmlns:a16="http://schemas.microsoft.com/office/drawing/2014/main" id="{8804C995-A8AF-E31F-B0D6-DF1C4397418D}"/>
              </a:ext>
            </a:extLst>
          </p:cNvPr>
          <p:cNvSpPr/>
          <p:nvPr/>
        </p:nvSpPr>
        <p:spPr>
          <a:xfrm>
            <a:off x="8265170" y="2034853"/>
            <a:ext cx="213933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Pas d'imports lourds inutiles</a:t>
            </a:r>
            <a:endParaRPr lang="en-US" sz="1275" dirty="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BCD23D00-AB6F-B5BD-90D2-C3077ABD0FB6}"/>
              </a:ext>
            </a:extLst>
          </p:cNvPr>
          <p:cNvSpPr/>
          <p:nvPr/>
        </p:nvSpPr>
        <p:spPr>
          <a:xfrm>
            <a:off x="8265170" y="2341252"/>
            <a:ext cx="2453729" cy="372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dirty="0">
                <a:solidFill>
                  <a:srgbClr val="525252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torch · faiss · qdrant-client — chargés uniquement si utilisés</a:t>
            </a:r>
            <a:endParaRPr lang="en-US" sz="975" dirty="0"/>
          </a:p>
        </p:txBody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8C9E5919-8058-6A1B-0958-BFC8D14431F8}"/>
              </a:ext>
            </a:extLst>
          </p:cNvPr>
          <p:cNvSpPr/>
          <p:nvPr/>
        </p:nvSpPr>
        <p:spPr>
          <a:xfrm>
            <a:off x="7734412" y="3049488"/>
            <a:ext cx="3619500" cy="828229"/>
          </a:xfrm>
          <a:prstGeom prst="roundRect">
            <a:avLst>
              <a:gd name="adj" fmla="val 690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3" name="Shape 29">
            <a:extLst>
              <a:ext uri="{FF2B5EF4-FFF2-40B4-BE49-F238E27FC236}">
                <a16:creationId xmlns:a16="http://schemas.microsoft.com/office/drawing/2014/main" id="{12CDB0A6-48C6-8717-A918-54E27AB47F97}"/>
              </a:ext>
            </a:extLst>
          </p:cNvPr>
          <p:cNvSpPr/>
          <p:nvPr/>
        </p:nvSpPr>
        <p:spPr>
          <a:xfrm>
            <a:off x="7734412" y="3865811"/>
            <a:ext cx="3619500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4" name="Shape 30">
            <a:extLst>
              <a:ext uri="{FF2B5EF4-FFF2-40B4-BE49-F238E27FC236}">
                <a16:creationId xmlns:a16="http://schemas.microsoft.com/office/drawing/2014/main" id="{8563C838-454D-3EBA-97F7-C77A34CCFEF3}"/>
              </a:ext>
            </a:extLst>
          </p:cNvPr>
          <p:cNvSpPr/>
          <p:nvPr/>
        </p:nvSpPr>
        <p:spPr>
          <a:xfrm>
            <a:off x="7734412" y="3049488"/>
            <a:ext cx="3619500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5" name="Shape 31">
            <a:extLst>
              <a:ext uri="{FF2B5EF4-FFF2-40B4-BE49-F238E27FC236}">
                <a16:creationId xmlns:a16="http://schemas.microsoft.com/office/drawing/2014/main" id="{7BC52519-7035-561C-215C-571361E755D2}"/>
              </a:ext>
            </a:extLst>
          </p:cNvPr>
          <p:cNvSpPr/>
          <p:nvPr/>
        </p:nvSpPr>
        <p:spPr>
          <a:xfrm>
            <a:off x="7734412" y="3049488"/>
            <a:ext cx="35719" cy="828229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6" name="Shape 32">
            <a:extLst>
              <a:ext uri="{FF2B5EF4-FFF2-40B4-BE49-F238E27FC236}">
                <a16:creationId xmlns:a16="http://schemas.microsoft.com/office/drawing/2014/main" id="{69151441-AA1F-EB60-4B09-5D66D5BAF687}"/>
              </a:ext>
            </a:extLst>
          </p:cNvPr>
          <p:cNvSpPr/>
          <p:nvPr/>
        </p:nvSpPr>
        <p:spPr>
          <a:xfrm>
            <a:off x="11342005" y="3049488"/>
            <a:ext cx="11906" cy="828229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pic>
        <p:nvPicPr>
          <p:cNvPr id="37" name="Image 2" descr="preencoded.png">
            <a:extLst>
              <a:ext uri="{FF2B5EF4-FFF2-40B4-BE49-F238E27FC236}">
                <a16:creationId xmlns:a16="http://schemas.microsoft.com/office/drawing/2014/main" id="{31F31EFD-6A40-6014-BE26-878589A0A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0630" y="3261196"/>
            <a:ext cx="171338" cy="266588"/>
          </a:xfrm>
          <a:prstGeom prst="rect">
            <a:avLst/>
          </a:prstGeom>
        </p:spPr>
      </p:pic>
      <p:sp>
        <p:nvSpPr>
          <p:cNvPr id="38" name="Text 33">
            <a:extLst>
              <a:ext uri="{FF2B5EF4-FFF2-40B4-BE49-F238E27FC236}">
                <a16:creationId xmlns:a16="http://schemas.microsoft.com/office/drawing/2014/main" id="{61813817-7648-CEB5-9838-EC33A9FC86BA}"/>
              </a:ext>
            </a:extLst>
          </p:cNvPr>
          <p:cNvSpPr/>
          <p:nvPr/>
        </p:nvSpPr>
        <p:spPr>
          <a:xfrm>
            <a:off x="8265170" y="3220827"/>
            <a:ext cx="140895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Ajouter un store =</a:t>
            </a:r>
            <a:endParaRPr lang="en-US" sz="1275" dirty="0"/>
          </a:p>
        </p:txBody>
      </p:sp>
      <p:sp>
        <p:nvSpPr>
          <p:cNvPr id="39" name="Text 34">
            <a:extLst>
              <a:ext uri="{FF2B5EF4-FFF2-40B4-BE49-F238E27FC236}">
                <a16:creationId xmlns:a16="http://schemas.microsoft.com/office/drawing/2014/main" id="{10E37C3F-DAC1-411A-BA9A-21B9FA7073D9}"/>
              </a:ext>
            </a:extLst>
          </p:cNvPr>
          <p:cNvSpPr/>
          <p:nvPr/>
        </p:nvSpPr>
        <p:spPr>
          <a:xfrm>
            <a:off x="9646481" y="3220827"/>
            <a:ext cx="65867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b="1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1 classe</a:t>
            </a:r>
            <a:endParaRPr lang="en-US" sz="1275" dirty="0"/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153AD722-E7DD-8BFD-555E-94A8CC366255}"/>
              </a:ext>
            </a:extLst>
          </p:cNvPr>
          <p:cNvSpPr/>
          <p:nvPr/>
        </p:nvSpPr>
        <p:spPr>
          <a:xfrm>
            <a:off x="8265170" y="3527227"/>
            <a:ext cx="2860439" cy="205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dirty="0">
                <a:solidFill>
                  <a:srgbClr val="525252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register("faiss", FAISSVectorStore)</a:t>
            </a:r>
            <a:endParaRPr lang="en-US" sz="975" dirty="0"/>
          </a:p>
        </p:txBody>
      </p:sp>
      <p:sp>
        <p:nvSpPr>
          <p:cNvPr id="47" name="Shape 42">
            <a:extLst>
              <a:ext uri="{FF2B5EF4-FFF2-40B4-BE49-F238E27FC236}">
                <a16:creationId xmlns:a16="http://schemas.microsoft.com/office/drawing/2014/main" id="{5A3C0E77-6C75-C11D-1599-E8736E1B8190}"/>
              </a:ext>
            </a:extLst>
          </p:cNvPr>
          <p:cNvSpPr/>
          <p:nvPr/>
        </p:nvSpPr>
        <p:spPr>
          <a:xfrm>
            <a:off x="3112182" y="5877223"/>
            <a:ext cx="18976" cy="266588"/>
          </a:xfrm>
          <a:prstGeom prst="roundRect">
            <a:avLst>
              <a:gd name="adj" fmla="val 49999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0" name="Text 45">
            <a:extLst>
              <a:ext uri="{FF2B5EF4-FFF2-40B4-BE49-F238E27FC236}">
                <a16:creationId xmlns:a16="http://schemas.microsoft.com/office/drawing/2014/main" id="{5B66AC9D-33A7-847C-2880-FD27FD074A7F}"/>
              </a:ext>
            </a:extLst>
          </p:cNvPr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Projet de Fin d'Études · Pipeline MLOps générique</a:t>
            </a:r>
            <a:endParaRPr lang="en-US" sz="975" dirty="0"/>
          </a:p>
        </p:txBody>
      </p:sp>
      <p:sp>
        <p:nvSpPr>
          <p:cNvPr id="3" name="Google Shape;88;p17">
            <a:extLst>
              <a:ext uri="{FF2B5EF4-FFF2-40B4-BE49-F238E27FC236}">
                <a16:creationId xmlns:a16="http://schemas.microsoft.com/office/drawing/2014/main" id="{BA3041A4-7F65-D98B-56AE-572552410844}"/>
              </a:ext>
            </a:extLst>
          </p:cNvPr>
          <p:cNvSpPr txBox="1">
            <a:spLocks/>
          </p:cNvSpPr>
          <p:nvPr/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fr" sz="1733" dirty="0">
                <a:latin typeface="Arial" panose="020B0604020202020204" pitchFamily="34" charset="0"/>
                <a:ea typeface="Nunito Black"/>
                <a:cs typeface="Arial" panose="020B0604020202020204" pitchFamily="34" charset="0"/>
                <a:sym typeface="Nunito Black"/>
              </a:rPr>
              <a:t>14</a:t>
            </a:r>
          </a:p>
        </p:txBody>
      </p:sp>
      <p:pic>
        <p:nvPicPr>
          <p:cNvPr id="4" name="Image 4" descr="preencoded.png">
            <a:extLst>
              <a:ext uri="{FF2B5EF4-FFF2-40B4-BE49-F238E27FC236}">
                <a16:creationId xmlns:a16="http://schemas.microsoft.com/office/drawing/2014/main" id="{C97C764E-E9A1-32E8-0D8D-A998FDE0DD1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0960274" y="156681"/>
            <a:ext cx="1041974" cy="62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512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93922-49D9-DB51-BDFF-A76F9A7C0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608F3BE-0E10-53F6-BD29-675C0C93991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1FA694E-4101-CACC-2A65-9F9732C3ED07}"/>
              </a:ext>
            </a:extLst>
          </p:cNvPr>
          <p:cNvSpPr/>
          <p:nvPr/>
        </p:nvSpPr>
        <p:spPr>
          <a:xfrm>
            <a:off x="838088" y="956965"/>
            <a:ext cx="11567406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000" b="1" kern="0" spc="-60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Chargement </a:t>
            </a:r>
            <a:r>
              <a:rPr lang="en-US" sz="3000" b="1" kern="0" spc="-60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à la demande</a:t>
            </a:r>
            <a:endParaRPr lang="en-US" sz="30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48DD92D5-008E-6FDB-D6AB-0632F2D32AC6}"/>
              </a:ext>
            </a:extLst>
          </p:cNvPr>
          <p:cNvSpPr/>
          <p:nvPr/>
        </p:nvSpPr>
        <p:spPr>
          <a:xfrm>
            <a:off x="838088" y="1673014"/>
            <a:ext cx="6439235" cy="638101"/>
          </a:xfrm>
          <a:prstGeom prst="roundRect">
            <a:avLst>
              <a:gd name="adj" fmla="val 8956"/>
            </a:avLst>
          </a:prstGeom>
          <a:solidFill>
            <a:srgbClr val="2A2A2A"/>
          </a:solidFill>
          <a:ln w="11906">
            <a:solidFill>
              <a:srgbClr val="BDD24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80CB1A7-9922-6455-D878-AFAA65A2495E}"/>
              </a:ext>
            </a:extLst>
          </p:cNvPr>
          <p:cNvSpPr/>
          <p:nvPr/>
        </p:nvSpPr>
        <p:spPr>
          <a:xfrm>
            <a:off x="753406" y="1837320"/>
            <a:ext cx="6608599" cy="3475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b="1" kern="0" spc="66" dirty="0">
                <a:solidFill>
                  <a:srgbClr val="FFFFF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ComponentRegistry</a:t>
            </a:r>
            <a:endParaRPr lang="en-US" sz="165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4CEF9393-6622-7919-0424-CD934A253A0D}"/>
              </a:ext>
            </a:extLst>
          </p:cNvPr>
          <p:cNvSpPr/>
          <p:nvPr/>
        </p:nvSpPr>
        <p:spPr>
          <a:xfrm>
            <a:off x="1676177" y="2311115"/>
            <a:ext cx="18976" cy="304726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35622BB1-7950-765B-6614-C68D4C8BBBF9}"/>
              </a:ext>
            </a:extLst>
          </p:cNvPr>
          <p:cNvSpPr/>
          <p:nvPr/>
        </p:nvSpPr>
        <p:spPr>
          <a:xfrm>
            <a:off x="838088" y="2711090"/>
            <a:ext cx="1047750" cy="890178"/>
          </a:xfrm>
          <a:prstGeom prst="roundRect">
            <a:avLst>
              <a:gd name="adj" fmla="val 6420"/>
            </a:avLst>
          </a:prstGeom>
          <a:solidFill>
            <a:srgbClr val="FBFBFB"/>
          </a:solidFill>
          <a:ln w="11906">
            <a:solidFill>
              <a:srgbClr val="FBFBF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CAF6D7C-063E-4E13-D381-AB51B5302759}"/>
              </a:ext>
            </a:extLst>
          </p:cNvPr>
          <p:cNvSpPr/>
          <p:nvPr/>
        </p:nvSpPr>
        <p:spPr>
          <a:xfrm>
            <a:off x="971289" y="2875359"/>
            <a:ext cx="705929" cy="218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FAISS</a:t>
            </a:r>
            <a:endParaRPr lang="en-US" sz="13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0F15FFA-B277-A905-9E4E-1B296EE412FD}"/>
              </a:ext>
            </a:extLst>
          </p:cNvPr>
          <p:cNvSpPr/>
          <p:nvPr/>
        </p:nvSpPr>
        <p:spPr>
          <a:xfrm>
            <a:off x="1009464" y="3189573"/>
            <a:ext cx="704999" cy="285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3F3F3F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FAISSVector Store</a:t>
            </a:r>
            <a:endParaRPr lang="en-US" sz="75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CEDD89E2-601F-A714-3927-2EFA000982C0}"/>
              </a:ext>
            </a:extLst>
          </p:cNvPr>
          <p:cNvSpPr/>
          <p:nvPr/>
        </p:nvSpPr>
        <p:spPr>
          <a:xfrm>
            <a:off x="2019040" y="2711090"/>
            <a:ext cx="1047750" cy="890178"/>
          </a:xfrm>
          <a:prstGeom prst="roundRect">
            <a:avLst>
              <a:gd name="adj" fmla="val 6420"/>
            </a:avLst>
          </a:prstGeom>
          <a:solidFill>
            <a:srgbClr val="FBFBFB"/>
          </a:solidFill>
          <a:ln w="11906">
            <a:solidFill>
              <a:srgbClr val="E4E4E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B96BF8AC-1541-9772-DA1C-52FFADC732F8}"/>
              </a:ext>
            </a:extLst>
          </p:cNvPr>
          <p:cNvSpPr/>
          <p:nvPr/>
        </p:nvSpPr>
        <p:spPr>
          <a:xfrm>
            <a:off x="2257909" y="2875359"/>
            <a:ext cx="64602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F3F3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Qdrant</a:t>
            </a:r>
            <a:endParaRPr lang="en-US" sz="135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072F6FE6-07D3-9127-1E63-A177862453C7}"/>
              </a:ext>
            </a:extLst>
          </p:cNvPr>
          <p:cNvSpPr/>
          <p:nvPr/>
        </p:nvSpPr>
        <p:spPr>
          <a:xfrm>
            <a:off x="2161766" y="3189573"/>
            <a:ext cx="762112" cy="285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QdrantVector Store</a:t>
            </a:r>
            <a:endParaRPr lang="en-US" sz="75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69073130-4E39-3A50-EC77-5B4A9DB8874F}"/>
              </a:ext>
            </a:extLst>
          </p:cNvPr>
          <p:cNvSpPr/>
          <p:nvPr/>
        </p:nvSpPr>
        <p:spPr>
          <a:xfrm>
            <a:off x="3199991" y="2711090"/>
            <a:ext cx="1047750" cy="890178"/>
          </a:xfrm>
          <a:prstGeom prst="roundRect">
            <a:avLst>
              <a:gd name="adj" fmla="val 6420"/>
            </a:avLst>
          </a:prstGeom>
          <a:solidFill>
            <a:srgbClr val="BDD248"/>
          </a:solidFill>
          <a:ln w="11906">
            <a:solidFill>
              <a:srgbClr val="E4E4E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DEC45B1D-A79A-87D7-EB6F-B499BDE6A63D}"/>
              </a:ext>
            </a:extLst>
          </p:cNvPr>
          <p:cNvSpPr/>
          <p:nvPr/>
        </p:nvSpPr>
        <p:spPr>
          <a:xfrm>
            <a:off x="3413931" y="2875359"/>
            <a:ext cx="69606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F3F3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Chroma</a:t>
            </a:r>
            <a:endParaRPr lang="en-US" sz="135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16A19E88-AD01-97E3-2188-4AE3578692E7}"/>
              </a:ext>
            </a:extLst>
          </p:cNvPr>
          <p:cNvSpPr/>
          <p:nvPr/>
        </p:nvSpPr>
        <p:spPr>
          <a:xfrm>
            <a:off x="3342717" y="3189573"/>
            <a:ext cx="762112" cy="285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ChromaVector Store</a:t>
            </a:r>
            <a:endParaRPr lang="en-US" sz="75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602DA152-EF9E-674E-1BC7-95C7607A1E59}"/>
              </a:ext>
            </a:extLst>
          </p:cNvPr>
          <p:cNvSpPr/>
          <p:nvPr/>
        </p:nvSpPr>
        <p:spPr>
          <a:xfrm>
            <a:off x="4380942" y="2711090"/>
            <a:ext cx="1047750" cy="890178"/>
          </a:xfrm>
          <a:prstGeom prst="roundRect">
            <a:avLst>
              <a:gd name="adj" fmla="val 6420"/>
            </a:avLst>
          </a:prstGeom>
          <a:solidFill>
            <a:srgbClr val="F4F4F4">
              <a:alpha val="40000"/>
            </a:srgbClr>
          </a:solidFill>
          <a:ln w="11906">
            <a:solidFill>
              <a:srgbClr val="E4E4E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73EAEC2B-CE13-480D-73AD-C8DC6A63CA0E}"/>
              </a:ext>
            </a:extLst>
          </p:cNvPr>
          <p:cNvSpPr/>
          <p:nvPr/>
        </p:nvSpPr>
        <p:spPr>
          <a:xfrm>
            <a:off x="4647902" y="2875359"/>
            <a:ext cx="58984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F3F3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Milvus</a:t>
            </a:r>
            <a:endParaRPr lang="en-US" sz="135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F8FF0583-BB4D-8F07-800F-058FB62462D1}"/>
              </a:ext>
            </a:extLst>
          </p:cNvPr>
          <p:cNvSpPr/>
          <p:nvPr/>
        </p:nvSpPr>
        <p:spPr>
          <a:xfrm>
            <a:off x="4523668" y="3189573"/>
            <a:ext cx="762112" cy="285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MilvusVector Store</a:t>
            </a:r>
            <a:endParaRPr lang="en-US" sz="75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E963FE34-ACDA-5678-CFFD-098F6CB410C2}"/>
              </a:ext>
            </a:extLst>
          </p:cNvPr>
          <p:cNvSpPr/>
          <p:nvPr/>
        </p:nvSpPr>
        <p:spPr>
          <a:xfrm>
            <a:off x="5561893" y="2691929"/>
            <a:ext cx="1047750" cy="909340"/>
          </a:xfrm>
          <a:prstGeom prst="roundRect">
            <a:avLst>
              <a:gd name="adj" fmla="val 6285"/>
            </a:avLst>
          </a:prstGeom>
          <a:solidFill>
            <a:srgbClr val="F4F4F4">
              <a:alpha val="20000"/>
            </a:srgbClr>
          </a:solidFill>
          <a:ln w="11906">
            <a:solidFill>
              <a:srgbClr val="E4E4E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4E573351-1A5A-FBEB-C45F-CB34F81814F6}"/>
              </a:ext>
            </a:extLst>
          </p:cNvPr>
          <p:cNvSpPr/>
          <p:nvPr/>
        </p:nvSpPr>
        <p:spPr>
          <a:xfrm>
            <a:off x="5949032" y="2856198"/>
            <a:ext cx="34967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10" dirty="0">
                <a:solidFill>
                  <a:srgbClr val="3F3F3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…</a:t>
            </a:r>
            <a:endParaRPr lang="en-US" sz="21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595924F2-6370-A88F-2E04-F9340EB8A144}"/>
              </a:ext>
            </a:extLst>
          </p:cNvPr>
          <p:cNvSpPr/>
          <p:nvPr/>
        </p:nvSpPr>
        <p:spPr>
          <a:xfrm>
            <a:off x="5847494" y="3313286"/>
            <a:ext cx="476362" cy="161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plug-in</a:t>
            </a:r>
            <a:endParaRPr lang="en-US" sz="750" dirty="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D72AF41C-5037-3DE5-92F7-476033B8A2BE}"/>
              </a:ext>
            </a:extLst>
          </p:cNvPr>
          <p:cNvSpPr/>
          <p:nvPr/>
        </p:nvSpPr>
        <p:spPr>
          <a:xfrm>
            <a:off x="7734412" y="1863514"/>
            <a:ext cx="3619500" cy="995474"/>
          </a:xfrm>
          <a:prstGeom prst="roundRect">
            <a:avLst>
              <a:gd name="adj" fmla="val 5741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71BC0CBE-DE92-4CF2-9EFF-90733506E6CC}"/>
              </a:ext>
            </a:extLst>
          </p:cNvPr>
          <p:cNvSpPr/>
          <p:nvPr/>
        </p:nvSpPr>
        <p:spPr>
          <a:xfrm>
            <a:off x="7734412" y="2847082"/>
            <a:ext cx="3619500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E41AB149-7C9E-0690-F406-221DE7AC89CA}"/>
              </a:ext>
            </a:extLst>
          </p:cNvPr>
          <p:cNvSpPr/>
          <p:nvPr/>
        </p:nvSpPr>
        <p:spPr>
          <a:xfrm>
            <a:off x="7734412" y="1863514"/>
            <a:ext cx="3619500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C5F98F52-6916-F3B0-55A0-E231D3DC5526}"/>
              </a:ext>
            </a:extLst>
          </p:cNvPr>
          <p:cNvSpPr/>
          <p:nvPr/>
        </p:nvSpPr>
        <p:spPr>
          <a:xfrm>
            <a:off x="7734412" y="1863514"/>
            <a:ext cx="35719" cy="995474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C5AF4038-3FAC-E343-1EB4-8FD4EE9FAF97}"/>
              </a:ext>
            </a:extLst>
          </p:cNvPr>
          <p:cNvSpPr/>
          <p:nvPr/>
        </p:nvSpPr>
        <p:spPr>
          <a:xfrm>
            <a:off x="11342005" y="1863514"/>
            <a:ext cx="11906" cy="995474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pic>
        <p:nvPicPr>
          <p:cNvPr id="29" name="Image 1" descr="preencoded.png">
            <a:extLst>
              <a:ext uri="{FF2B5EF4-FFF2-40B4-BE49-F238E27FC236}">
                <a16:creationId xmlns:a16="http://schemas.microsoft.com/office/drawing/2014/main" id="{C0486F31-B55D-8A53-EDAE-3AD31C2B1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0630" y="2075222"/>
            <a:ext cx="171338" cy="266588"/>
          </a:xfrm>
          <a:prstGeom prst="rect">
            <a:avLst/>
          </a:prstGeom>
        </p:spPr>
      </p:pic>
      <p:sp>
        <p:nvSpPr>
          <p:cNvPr id="30" name="Text 26">
            <a:extLst>
              <a:ext uri="{FF2B5EF4-FFF2-40B4-BE49-F238E27FC236}">
                <a16:creationId xmlns:a16="http://schemas.microsoft.com/office/drawing/2014/main" id="{39D61353-B3F3-8CE1-1B1F-9EB416170837}"/>
              </a:ext>
            </a:extLst>
          </p:cNvPr>
          <p:cNvSpPr/>
          <p:nvPr/>
        </p:nvSpPr>
        <p:spPr>
          <a:xfrm>
            <a:off x="8265170" y="2034853"/>
            <a:ext cx="213933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Pas d'imports lourds inutiles</a:t>
            </a:r>
            <a:endParaRPr lang="en-US" sz="1275" dirty="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93AFA4D8-D487-D677-6710-136D6BA257B1}"/>
              </a:ext>
            </a:extLst>
          </p:cNvPr>
          <p:cNvSpPr/>
          <p:nvPr/>
        </p:nvSpPr>
        <p:spPr>
          <a:xfrm>
            <a:off x="8265170" y="2341252"/>
            <a:ext cx="2453729" cy="372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dirty="0">
                <a:solidFill>
                  <a:srgbClr val="525252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torch · faiss · qdrant-client — chargés uniquement si utilisés</a:t>
            </a:r>
            <a:endParaRPr lang="en-US" sz="975" dirty="0"/>
          </a:p>
        </p:txBody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24107ACD-F747-D4A8-D5B2-BBD84E1D13A7}"/>
              </a:ext>
            </a:extLst>
          </p:cNvPr>
          <p:cNvSpPr/>
          <p:nvPr/>
        </p:nvSpPr>
        <p:spPr>
          <a:xfrm>
            <a:off x="7734412" y="3049488"/>
            <a:ext cx="3619500" cy="828229"/>
          </a:xfrm>
          <a:prstGeom prst="roundRect">
            <a:avLst>
              <a:gd name="adj" fmla="val 690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3" name="Shape 29">
            <a:extLst>
              <a:ext uri="{FF2B5EF4-FFF2-40B4-BE49-F238E27FC236}">
                <a16:creationId xmlns:a16="http://schemas.microsoft.com/office/drawing/2014/main" id="{1F6E2474-50D9-8DE8-05D2-78CDE2DEB32B}"/>
              </a:ext>
            </a:extLst>
          </p:cNvPr>
          <p:cNvSpPr/>
          <p:nvPr/>
        </p:nvSpPr>
        <p:spPr>
          <a:xfrm>
            <a:off x="7734412" y="3865811"/>
            <a:ext cx="3619500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4" name="Shape 30">
            <a:extLst>
              <a:ext uri="{FF2B5EF4-FFF2-40B4-BE49-F238E27FC236}">
                <a16:creationId xmlns:a16="http://schemas.microsoft.com/office/drawing/2014/main" id="{7890C0DD-BE9E-AB25-4DE3-54807DF5F627}"/>
              </a:ext>
            </a:extLst>
          </p:cNvPr>
          <p:cNvSpPr/>
          <p:nvPr/>
        </p:nvSpPr>
        <p:spPr>
          <a:xfrm>
            <a:off x="7734412" y="3049488"/>
            <a:ext cx="3619500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5" name="Shape 31">
            <a:extLst>
              <a:ext uri="{FF2B5EF4-FFF2-40B4-BE49-F238E27FC236}">
                <a16:creationId xmlns:a16="http://schemas.microsoft.com/office/drawing/2014/main" id="{FA0E08EE-4DBC-3DD3-4D0E-DE6353D299A2}"/>
              </a:ext>
            </a:extLst>
          </p:cNvPr>
          <p:cNvSpPr/>
          <p:nvPr/>
        </p:nvSpPr>
        <p:spPr>
          <a:xfrm>
            <a:off x="7734412" y="3049488"/>
            <a:ext cx="35719" cy="828229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6" name="Shape 32">
            <a:extLst>
              <a:ext uri="{FF2B5EF4-FFF2-40B4-BE49-F238E27FC236}">
                <a16:creationId xmlns:a16="http://schemas.microsoft.com/office/drawing/2014/main" id="{1A1A2770-ADBE-8D71-697A-7B25B607D54D}"/>
              </a:ext>
            </a:extLst>
          </p:cNvPr>
          <p:cNvSpPr/>
          <p:nvPr/>
        </p:nvSpPr>
        <p:spPr>
          <a:xfrm>
            <a:off x="11342005" y="3049488"/>
            <a:ext cx="11906" cy="828229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pic>
        <p:nvPicPr>
          <p:cNvPr id="37" name="Image 2" descr="preencoded.png">
            <a:extLst>
              <a:ext uri="{FF2B5EF4-FFF2-40B4-BE49-F238E27FC236}">
                <a16:creationId xmlns:a16="http://schemas.microsoft.com/office/drawing/2014/main" id="{0B4600E9-54BA-2734-49FD-0595B70F0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0630" y="3261196"/>
            <a:ext cx="171338" cy="266588"/>
          </a:xfrm>
          <a:prstGeom prst="rect">
            <a:avLst/>
          </a:prstGeom>
        </p:spPr>
      </p:pic>
      <p:sp>
        <p:nvSpPr>
          <p:cNvPr id="38" name="Text 33">
            <a:extLst>
              <a:ext uri="{FF2B5EF4-FFF2-40B4-BE49-F238E27FC236}">
                <a16:creationId xmlns:a16="http://schemas.microsoft.com/office/drawing/2014/main" id="{E7A968F4-9778-E782-16F5-E0E7C1D96F8E}"/>
              </a:ext>
            </a:extLst>
          </p:cNvPr>
          <p:cNvSpPr/>
          <p:nvPr/>
        </p:nvSpPr>
        <p:spPr>
          <a:xfrm>
            <a:off x="8265170" y="3220827"/>
            <a:ext cx="140895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Ajouter un store =</a:t>
            </a:r>
            <a:endParaRPr lang="en-US" sz="1275" dirty="0"/>
          </a:p>
        </p:txBody>
      </p:sp>
      <p:sp>
        <p:nvSpPr>
          <p:cNvPr id="39" name="Text 34">
            <a:extLst>
              <a:ext uri="{FF2B5EF4-FFF2-40B4-BE49-F238E27FC236}">
                <a16:creationId xmlns:a16="http://schemas.microsoft.com/office/drawing/2014/main" id="{CD080117-5E16-BEFE-6F35-C7137F008A99}"/>
              </a:ext>
            </a:extLst>
          </p:cNvPr>
          <p:cNvSpPr/>
          <p:nvPr/>
        </p:nvSpPr>
        <p:spPr>
          <a:xfrm>
            <a:off x="9646481" y="3220827"/>
            <a:ext cx="65867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b="1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1 classe</a:t>
            </a:r>
            <a:endParaRPr lang="en-US" sz="1275" dirty="0"/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DEEDB5C0-CF7E-98A0-FE82-80EC2B287CE2}"/>
              </a:ext>
            </a:extLst>
          </p:cNvPr>
          <p:cNvSpPr/>
          <p:nvPr/>
        </p:nvSpPr>
        <p:spPr>
          <a:xfrm>
            <a:off x="8265170" y="3527227"/>
            <a:ext cx="2860439" cy="205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dirty="0">
                <a:solidFill>
                  <a:srgbClr val="525252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register("faiss", FAISSVectorStore)</a:t>
            </a:r>
            <a:endParaRPr lang="en-US" sz="975" dirty="0"/>
          </a:p>
        </p:txBody>
      </p:sp>
      <p:sp>
        <p:nvSpPr>
          <p:cNvPr id="44" name="Text 39">
            <a:extLst>
              <a:ext uri="{FF2B5EF4-FFF2-40B4-BE49-F238E27FC236}">
                <a16:creationId xmlns:a16="http://schemas.microsoft.com/office/drawing/2014/main" id="{2A4DADA1-4020-1A0C-41A2-F0221BF76EC1}"/>
              </a:ext>
            </a:extLst>
          </p:cNvPr>
          <p:cNvSpPr/>
          <p:nvPr/>
        </p:nvSpPr>
        <p:spPr>
          <a:xfrm>
            <a:off x="1956904" y="5896198"/>
            <a:ext cx="169962" cy="266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endParaRPr lang="en-US" sz="1200" dirty="0"/>
          </a:p>
        </p:txBody>
      </p:sp>
      <p:sp>
        <p:nvSpPr>
          <p:cNvPr id="47" name="Shape 42">
            <a:extLst>
              <a:ext uri="{FF2B5EF4-FFF2-40B4-BE49-F238E27FC236}">
                <a16:creationId xmlns:a16="http://schemas.microsoft.com/office/drawing/2014/main" id="{855921E2-6651-3E12-0ADE-661ECC2F446A}"/>
              </a:ext>
            </a:extLst>
          </p:cNvPr>
          <p:cNvSpPr/>
          <p:nvPr/>
        </p:nvSpPr>
        <p:spPr>
          <a:xfrm>
            <a:off x="3112182" y="5877223"/>
            <a:ext cx="18976" cy="266588"/>
          </a:xfrm>
          <a:prstGeom prst="roundRect">
            <a:avLst>
              <a:gd name="adj" fmla="val 49999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0" name="Text 45">
            <a:extLst>
              <a:ext uri="{FF2B5EF4-FFF2-40B4-BE49-F238E27FC236}">
                <a16:creationId xmlns:a16="http://schemas.microsoft.com/office/drawing/2014/main" id="{00725DD1-3367-BFA4-3D53-59E2A376BF5D}"/>
              </a:ext>
            </a:extLst>
          </p:cNvPr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Projet de Fin d'Études · Pipeline MLOps générique</a:t>
            </a:r>
            <a:endParaRPr lang="en-US" sz="975" dirty="0"/>
          </a:p>
        </p:txBody>
      </p:sp>
      <p:sp>
        <p:nvSpPr>
          <p:cNvPr id="3" name="Google Shape;88;p17">
            <a:extLst>
              <a:ext uri="{FF2B5EF4-FFF2-40B4-BE49-F238E27FC236}">
                <a16:creationId xmlns:a16="http://schemas.microsoft.com/office/drawing/2014/main" id="{74C36191-37C4-B4F4-6C88-C9750F3E46B4}"/>
              </a:ext>
            </a:extLst>
          </p:cNvPr>
          <p:cNvSpPr txBox="1">
            <a:spLocks/>
          </p:cNvSpPr>
          <p:nvPr/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fr" sz="1733" dirty="0">
                <a:latin typeface="Arial" panose="020B0604020202020204" pitchFamily="34" charset="0"/>
                <a:ea typeface="Nunito Black"/>
                <a:cs typeface="Arial" panose="020B0604020202020204" pitchFamily="34" charset="0"/>
                <a:sym typeface="Nunito Black"/>
              </a:rPr>
              <a:t>15</a:t>
            </a:r>
          </a:p>
        </p:txBody>
      </p:sp>
      <p:pic>
        <p:nvPicPr>
          <p:cNvPr id="4" name="Image 4" descr="preencoded.png">
            <a:extLst>
              <a:ext uri="{FF2B5EF4-FFF2-40B4-BE49-F238E27FC236}">
                <a16:creationId xmlns:a16="http://schemas.microsoft.com/office/drawing/2014/main" id="{C16A3449-F71B-A127-9B24-9621D924BE4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0960274" y="156681"/>
            <a:ext cx="1041974" cy="62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0941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7A06D-DAFF-E290-751B-E679D0D69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1AF5746-7042-2722-3ED8-236F3422B04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TN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2AA2CA2-0C45-9ABA-ED3F-97B3DE383057}"/>
              </a:ext>
            </a:extLst>
          </p:cNvPr>
          <p:cNvSpPr/>
          <p:nvPr/>
        </p:nvSpPr>
        <p:spPr>
          <a:xfrm>
            <a:off x="838088" y="956965"/>
            <a:ext cx="11567406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000" b="1" kern="0" spc="-60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Chargement </a:t>
            </a:r>
            <a:r>
              <a:rPr lang="en-US" sz="3000" b="1" kern="0" spc="-60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à la demande</a:t>
            </a:r>
            <a:endParaRPr lang="en-US" sz="30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F217C6C6-4B4B-CE15-AC1A-F0BF03B87CEC}"/>
              </a:ext>
            </a:extLst>
          </p:cNvPr>
          <p:cNvSpPr/>
          <p:nvPr/>
        </p:nvSpPr>
        <p:spPr>
          <a:xfrm>
            <a:off x="838088" y="1673014"/>
            <a:ext cx="6439235" cy="638101"/>
          </a:xfrm>
          <a:prstGeom prst="roundRect">
            <a:avLst>
              <a:gd name="adj" fmla="val 8956"/>
            </a:avLst>
          </a:prstGeom>
          <a:solidFill>
            <a:srgbClr val="2A2A2A"/>
          </a:solidFill>
          <a:ln w="11906">
            <a:solidFill>
              <a:srgbClr val="BDD24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3953B01-7F43-D3E1-FD4E-5A7BD57CEE44}"/>
              </a:ext>
            </a:extLst>
          </p:cNvPr>
          <p:cNvSpPr/>
          <p:nvPr/>
        </p:nvSpPr>
        <p:spPr>
          <a:xfrm>
            <a:off x="753406" y="1837320"/>
            <a:ext cx="6608599" cy="3475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b="1" kern="0" spc="66" dirty="0">
                <a:solidFill>
                  <a:srgbClr val="FFFFF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ComponentRegistry</a:t>
            </a:r>
            <a:endParaRPr lang="en-US" sz="165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4EB66B5-FC69-354A-E35B-9B1EB41ECCB4}"/>
              </a:ext>
            </a:extLst>
          </p:cNvPr>
          <p:cNvSpPr/>
          <p:nvPr/>
        </p:nvSpPr>
        <p:spPr>
          <a:xfrm>
            <a:off x="1676177" y="2311115"/>
            <a:ext cx="18976" cy="304726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54897E78-8E65-0CDC-BA28-B5B086725E84}"/>
              </a:ext>
            </a:extLst>
          </p:cNvPr>
          <p:cNvSpPr/>
          <p:nvPr/>
        </p:nvSpPr>
        <p:spPr>
          <a:xfrm>
            <a:off x="838088" y="2711090"/>
            <a:ext cx="1047750" cy="890178"/>
          </a:xfrm>
          <a:prstGeom prst="roundRect">
            <a:avLst>
              <a:gd name="adj" fmla="val 6420"/>
            </a:avLst>
          </a:prstGeom>
          <a:solidFill>
            <a:srgbClr val="FBFBFB"/>
          </a:solidFill>
          <a:ln w="11906">
            <a:solidFill>
              <a:srgbClr val="FBFBF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35AFE28-A058-1DFD-8E71-B475AB5A736D}"/>
              </a:ext>
            </a:extLst>
          </p:cNvPr>
          <p:cNvSpPr/>
          <p:nvPr/>
        </p:nvSpPr>
        <p:spPr>
          <a:xfrm>
            <a:off x="1122908" y="2875359"/>
            <a:ext cx="55431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FAISS</a:t>
            </a:r>
            <a:endParaRPr lang="en-US" sz="13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C501F402-ECD9-267E-AE6C-D92F6CD1BA24}"/>
              </a:ext>
            </a:extLst>
          </p:cNvPr>
          <p:cNvSpPr/>
          <p:nvPr/>
        </p:nvSpPr>
        <p:spPr>
          <a:xfrm>
            <a:off x="1009464" y="3189573"/>
            <a:ext cx="704999" cy="285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3F3F3F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FAISSVector Store</a:t>
            </a:r>
            <a:endParaRPr lang="en-US" sz="75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B7C7EDF4-F05B-01B5-F64D-15834632081A}"/>
              </a:ext>
            </a:extLst>
          </p:cNvPr>
          <p:cNvSpPr/>
          <p:nvPr/>
        </p:nvSpPr>
        <p:spPr>
          <a:xfrm>
            <a:off x="2019040" y="2711090"/>
            <a:ext cx="1047750" cy="890178"/>
          </a:xfrm>
          <a:prstGeom prst="roundRect">
            <a:avLst>
              <a:gd name="adj" fmla="val 6420"/>
            </a:avLst>
          </a:prstGeom>
          <a:solidFill>
            <a:srgbClr val="FBFBFB"/>
          </a:solidFill>
          <a:ln w="11906">
            <a:solidFill>
              <a:srgbClr val="E4E4E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1DC2D69-DE9E-E26F-79BC-EEBEBEA646C4}"/>
              </a:ext>
            </a:extLst>
          </p:cNvPr>
          <p:cNvSpPr/>
          <p:nvPr/>
        </p:nvSpPr>
        <p:spPr>
          <a:xfrm>
            <a:off x="2257909" y="2875359"/>
            <a:ext cx="64602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F3F3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Qdrant</a:t>
            </a:r>
            <a:endParaRPr lang="en-US" sz="135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6E031107-639F-BC81-E145-970754FA5688}"/>
              </a:ext>
            </a:extLst>
          </p:cNvPr>
          <p:cNvSpPr/>
          <p:nvPr/>
        </p:nvSpPr>
        <p:spPr>
          <a:xfrm>
            <a:off x="2161766" y="3189573"/>
            <a:ext cx="762112" cy="285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QdrantVector Store</a:t>
            </a:r>
            <a:endParaRPr lang="en-US" sz="75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6E17B9B8-D600-9FD9-CD12-D3A5551C695F}"/>
              </a:ext>
            </a:extLst>
          </p:cNvPr>
          <p:cNvSpPr/>
          <p:nvPr/>
        </p:nvSpPr>
        <p:spPr>
          <a:xfrm>
            <a:off x="3199991" y="2711090"/>
            <a:ext cx="1047750" cy="890178"/>
          </a:xfrm>
          <a:prstGeom prst="roundRect">
            <a:avLst>
              <a:gd name="adj" fmla="val 6420"/>
            </a:avLst>
          </a:prstGeom>
          <a:solidFill>
            <a:srgbClr val="FBFBFB"/>
          </a:solidFill>
          <a:ln w="11906">
            <a:solidFill>
              <a:srgbClr val="E4E4E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ABBA32A7-F97F-8F84-C439-D0D3BFC4814D}"/>
              </a:ext>
            </a:extLst>
          </p:cNvPr>
          <p:cNvSpPr/>
          <p:nvPr/>
        </p:nvSpPr>
        <p:spPr>
          <a:xfrm>
            <a:off x="3413931" y="2875359"/>
            <a:ext cx="69606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F3F3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Chroma</a:t>
            </a:r>
            <a:endParaRPr lang="en-US" sz="135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8B609521-1265-59E1-CC83-C32BB8477FAF}"/>
              </a:ext>
            </a:extLst>
          </p:cNvPr>
          <p:cNvSpPr/>
          <p:nvPr/>
        </p:nvSpPr>
        <p:spPr>
          <a:xfrm>
            <a:off x="3342717" y="3189573"/>
            <a:ext cx="762112" cy="285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ChromaVector Store</a:t>
            </a:r>
            <a:endParaRPr lang="en-US" sz="75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A94527CE-2A73-B925-12AB-C9474B93D5D8}"/>
              </a:ext>
            </a:extLst>
          </p:cNvPr>
          <p:cNvSpPr/>
          <p:nvPr/>
        </p:nvSpPr>
        <p:spPr>
          <a:xfrm>
            <a:off x="4380942" y="2711090"/>
            <a:ext cx="1047750" cy="890178"/>
          </a:xfrm>
          <a:prstGeom prst="roundRect">
            <a:avLst>
              <a:gd name="adj" fmla="val 6420"/>
            </a:avLst>
          </a:prstGeom>
          <a:solidFill>
            <a:srgbClr val="BDD248"/>
          </a:solidFill>
          <a:ln w="11906">
            <a:solidFill>
              <a:srgbClr val="E4E4E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8225CCC3-4DA5-241D-7C02-1CE3C133B617}"/>
              </a:ext>
            </a:extLst>
          </p:cNvPr>
          <p:cNvSpPr/>
          <p:nvPr/>
        </p:nvSpPr>
        <p:spPr>
          <a:xfrm>
            <a:off x="4647902" y="2875359"/>
            <a:ext cx="58984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F3F3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Milvus</a:t>
            </a:r>
            <a:endParaRPr lang="en-US" sz="135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F1E4AFDC-D34B-5AC0-D71E-CE495F5AB83A}"/>
              </a:ext>
            </a:extLst>
          </p:cNvPr>
          <p:cNvSpPr/>
          <p:nvPr/>
        </p:nvSpPr>
        <p:spPr>
          <a:xfrm>
            <a:off x="4523668" y="3189573"/>
            <a:ext cx="762112" cy="285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MilvusVector Store</a:t>
            </a:r>
            <a:endParaRPr lang="en-US" sz="75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7074F2ED-FE17-3ADD-AD60-759E2150BF8A}"/>
              </a:ext>
            </a:extLst>
          </p:cNvPr>
          <p:cNvSpPr/>
          <p:nvPr/>
        </p:nvSpPr>
        <p:spPr>
          <a:xfrm>
            <a:off x="5561893" y="2691929"/>
            <a:ext cx="1047750" cy="909340"/>
          </a:xfrm>
          <a:prstGeom prst="roundRect">
            <a:avLst>
              <a:gd name="adj" fmla="val 6285"/>
            </a:avLst>
          </a:prstGeom>
          <a:solidFill>
            <a:srgbClr val="F4F4F4">
              <a:alpha val="20000"/>
            </a:srgbClr>
          </a:solidFill>
          <a:ln w="11906">
            <a:solidFill>
              <a:srgbClr val="E4E4E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39F77A59-6C1B-4BEF-B3B1-06ACD33990A1}"/>
              </a:ext>
            </a:extLst>
          </p:cNvPr>
          <p:cNvSpPr/>
          <p:nvPr/>
        </p:nvSpPr>
        <p:spPr>
          <a:xfrm>
            <a:off x="5949032" y="2856198"/>
            <a:ext cx="34967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10" dirty="0">
                <a:solidFill>
                  <a:srgbClr val="3F3F3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…</a:t>
            </a:r>
            <a:endParaRPr lang="en-US" sz="21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DD1B5AED-05E8-DD15-A2F8-CEA6F127B66B}"/>
              </a:ext>
            </a:extLst>
          </p:cNvPr>
          <p:cNvSpPr/>
          <p:nvPr/>
        </p:nvSpPr>
        <p:spPr>
          <a:xfrm>
            <a:off x="5847494" y="3313286"/>
            <a:ext cx="476362" cy="161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plug-in</a:t>
            </a:r>
            <a:endParaRPr lang="en-US" sz="750" dirty="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9113CB8E-5375-8073-9564-92BDAFC1A113}"/>
              </a:ext>
            </a:extLst>
          </p:cNvPr>
          <p:cNvSpPr/>
          <p:nvPr/>
        </p:nvSpPr>
        <p:spPr>
          <a:xfrm>
            <a:off x="7734412" y="1863514"/>
            <a:ext cx="3619500" cy="995474"/>
          </a:xfrm>
          <a:prstGeom prst="roundRect">
            <a:avLst>
              <a:gd name="adj" fmla="val 5741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52BB7FED-9B55-39D5-60D9-2FBF943C9078}"/>
              </a:ext>
            </a:extLst>
          </p:cNvPr>
          <p:cNvSpPr/>
          <p:nvPr/>
        </p:nvSpPr>
        <p:spPr>
          <a:xfrm>
            <a:off x="7734412" y="2847082"/>
            <a:ext cx="3619500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AA261BAF-5EC6-C31E-7EA8-BD48BEE40A36}"/>
              </a:ext>
            </a:extLst>
          </p:cNvPr>
          <p:cNvSpPr/>
          <p:nvPr/>
        </p:nvSpPr>
        <p:spPr>
          <a:xfrm>
            <a:off x="7734412" y="1863514"/>
            <a:ext cx="3619500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F4D0D784-E7C5-AAD7-7368-50F6A9F368DD}"/>
              </a:ext>
            </a:extLst>
          </p:cNvPr>
          <p:cNvSpPr/>
          <p:nvPr/>
        </p:nvSpPr>
        <p:spPr>
          <a:xfrm>
            <a:off x="7734412" y="1863514"/>
            <a:ext cx="35719" cy="995474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96CE768A-8219-FA12-BE34-234B520991FB}"/>
              </a:ext>
            </a:extLst>
          </p:cNvPr>
          <p:cNvSpPr/>
          <p:nvPr/>
        </p:nvSpPr>
        <p:spPr>
          <a:xfrm>
            <a:off x="11342005" y="1863514"/>
            <a:ext cx="11906" cy="995474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pic>
        <p:nvPicPr>
          <p:cNvPr id="29" name="Image 1" descr="preencoded.png">
            <a:extLst>
              <a:ext uri="{FF2B5EF4-FFF2-40B4-BE49-F238E27FC236}">
                <a16:creationId xmlns:a16="http://schemas.microsoft.com/office/drawing/2014/main" id="{3A6D5028-AAD5-3AAC-7E6E-3840B846F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0630" y="2075222"/>
            <a:ext cx="171338" cy="266588"/>
          </a:xfrm>
          <a:prstGeom prst="rect">
            <a:avLst/>
          </a:prstGeom>
        </p:spPr>
      </p:pic>
      <p:sp>
        <p:nvSpPr>
          <p:cNvPr id="30" name="Text 26">
            <a:extLst>
              <a:ext uri="{FF2B5EF4-FFF2-40B4-BE49-F238E27FC236}">
                <a16:creationId xmlns:a16="http://schemas.microsoft.com/office/drawing/2014/main" id="{DA1A4360-2E89-EE50-2ED8-C8047D5D4487}"/>
              </a:ext>
            </a:extLst>
          </p:cNvPr>
          <p:cNvSpPr/>
          <p:nvPr/>
        </p:nvSpPr>
        <p:spPr>
          <a:xfrm>
            <a:off x="8265170" y="2034853"/>
            <a:ext cx="213933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Pas d'imports lourds inutiles</a:t>
            </a:r>
            <a:endParaRPr lang="en-US" sz="1275" dirty="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54E21BEC-964E-ED5F-896F-F424471BAAE6}"/>
              </a:ext>
            </a:extLst>
          </p:cNvPr>
          <p:cNvSpPr/>
          <p:nvPr/>
        </p:nvSpPr>
        <p:spPr>
          <a:xfrm>
            <a:off x="8265170" y="2341252"/>
            <a:ext cx="2453729" cy="372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dirty="0">
                <a:solidFill>
                  <a:srgbClr val="525252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torch · faiss · qdrant-client — chargés uniquement si utilisés</a:t>
            </a:r>
            <a:endParaRPr lang="en-US" sz="975" dirty="0"/>
          </a:p>
        </p:txBody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D503841B-266C-9458-ADBC-77957D7D98D8}"/>
              </a:ext>
            </a:extLst>
          </p:cNvPr>
          <p:cNvSpPr/>
          <p:nvPr/>
        </p:nvSpPr>
        <p:spPr>
          <a:xfrm>
            <a:off x="7734412" y="3049488"/>
            <a:ext cx="3619500" cy="828229"/>
          </a:xfrm>
          <a:prstGeom prst="roundRect">
            <a:avLst>
              <a:gd name="adj" fmla="val 690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3" name="Shape 29">
            <a:extLst>
              <a:ext uri="{FF2B5EF4-FFF2-40B4-BE49-F238E27FC236}">
                <a16:creationId xmlns:a16="http://schemas.microsoft.com/office/drawing/2014/main" id="{3122255A-DC57-A812-ECE8-23D6518A597D}"/>
              </a:ext>
            </a:extLst>
          </p:cNvPr>
          <p:cNvSpPr/>
          <p:nvPr/>
        </p:nvSpPr>
        <p:spPr>
          <a:xfrm>
            <a:off x="7734412" y="3865811"/>
            <a:ext cx="3619500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4" name="Shape 30">
            <a:extLst>
              <a:ext uri="{FF2B5EF4-FFF2-40B4-BE49-F238E27FC236}">
                <a16:creationId xmlns:a16="http://schemas.microsoft.com/office/drawing/2014/main" id="{55E6423A-73CB-BD8C-0990-E62724C2BBC5}"/>
              </a:ext>
            </a:extLst>
          </p:cNvPr>
          <p:cNvSpPr/>
          <p:nvPr/>
        </p:nvSpPr>
        <p:spPr>
          <a:xfrm>
            <a:off x="7734412" y="3049488"/>
            <a:ext cx="3619500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5" name="Shape 31">
            <a:extLst>
              <a:ext uri="{FF2B5EF4-FFF2-40B4-BE49-F238E27FC236}">
                <a16:creationId xmlns:a16="http://schemas.microsoft.com/office/drawing/2014/main" id="{EC3E818D-FBA1-2878-D37B-B869ADA3C513}"/>
              </a:ext>
            </a:extLst>
          </p:cNvPr>
          <p:cNvSpPr/>
          <p:nvPr/>
        </p:nvSpPr>
        <p:spPr>
          <a:xfrm>
            <a:off x="7734412" y="3049488"/>
            <a:ext cx="35719" cy="828229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6" name="Shape 32">
            <a:extLst>
              <a:ext uri="{FF2B5EF4-FFF2-40B4-BE49-F238E27FC236}">
                <a16:creationId xmlns:a16="http://schemas.microsoft.com/office/drawing/2014/main" id="{46A4495B-5B44-7934-2C66-199C801C3407}"/>
              </a:ext>
            </a:extLst>
          </p:cNvPr>
          <p:cNvSpPr/>
          <p:nvPr/>
        </p:nvSpPr>
        <p:spPr>
          <a:xfrm>
            <a:off x="11342005" y="3049488"/>
            <a:ext cx="11906" cy="828229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pic>
        <p:nvPicPr>
          <p:cNvPr id="37" name="Image 2" descr="preencoded.png">
            <a:extLst>
              <a:ext uri="{FF2B5EF4-FFF2-40B4-BE49-F238E27FC236}">
                <a16:creationId xmlns:a16="http://schemas.microsoft.com/office/drawing/2014/main" id="{64A9CE96-EF61-47DF-7CDF-C221C26D4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0630" y="3261196"/>
            <a:ext cx="171338" cy="266588"/>
          </a:xfrm>
          <a:prstGeom prst="rect">
            <a:avLst/>
          </a:prstGeom>
        </p:spPr>
      </p:pic>
      <p:sp>
        <p:nvSpPr>
          <p:cNvPr id="38" name="Text 33">
            <a:extLst>
              <a:ext uri="{FF2B5EF4-FFF2-40B4-BE49-F238E27FC236}">
                <a16:creationId xmlns:a16="http://schemas.microsoft.com/office/drawing/2014/main" id="{6DB891B4-FC2F-872B-F992-E14B320F5C96}"/>
              </a:ext>
            </a:extLst>
          </p:cNvPr>
          <p:cNvSpPr/>
          <p:nvPr/>
        </p:nvSpPr>
        <p:spPr>
          <a:xfrm>
            <a:off x="8265170" y="3220827"/>
            <a:ext cx="140895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Ajouter un store =</a:t>
            </a:r>
            <a:endParaRPr lang="en-US" sz="1275" dirty="0"/>
          </a:p>
        </p:txBody>
      </p:sp>
      <p:sp>
        <p:nvSpPr>
          <p:cNvPr id="39" name="Text 34">
            <a:extLst>
              <a:ext uri="{FF2B5EF4-FFF2-40B4-BE49-F238E27FC236}">
                <a16:creationId xmlns:a16="http://schemas.microsoft.com/office/drawing/2014/main" id="{A3C90A64-34A0-BA91-9E43-B6BF03C164C6}"/>
              </a:ext>
            </a:extLst>
          </p:cNvPr>
          <p:cNvSpPr/>
          <p:nvPr/>
        </p:nvSpPr>
        <p:spPr>
          <a:xfrm>
            <a:off x="9646481" y="3220827"/>
            <a:ext cx="65867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b="1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1 classe</a:t>
            </a:r>
            <a:endParaRPr lang="en-US" sz="1275" dirty="0"/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BC7606E3-6372-5E02-B066-EC6343C32F75}"/>
              </a:ext>
            </a:extLst>
          </p:cNvPr>
          <p:cNvSpPr/>
          <p:nvPr/>
        </p:nvSpPr>
        <p:spPr>
          <a:xfrm>
            <a:off x="8265170" y="3527227"/>
            <a:ext cx="2860439" cy="205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dirty="0">
                <a:solidFill>
                  <a:srgbClr val="525252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register("faiss", FAISSVectorStore)</a:t>
            </a:r>
            <a:endParaRPr lang="en-US" sz="975" dirty="0"/>
          </a:p>
        </p:txBody>
      </p:sp>
      <p:sp>
        <p:nvSpPr>
          <p:cNvPr id="47" name="Shape 42">
            <a:extLst>
              <a:ext uri="{FF2B5EF4-FFF2-40B4-BE49-F238E27FC236}">
                <a16:creationId xmlns:a16="http://schemas.microsoft.com/office/drawing/2014/main" id="{00D9D32E-43CC-C571-2140-663D08F28F65}"/>
              </a:ext>
            </a:extLst>
          </p:cNvPr>
          <p:cNvSpPr/>
          <p:nvPr/>
        </p:nvSpPr>
        <p:spPr>
          <a:xfrm>
            <a:off x="3112182" y="5877223"/>
            <a:ext cx="18976" cy="266588"/>
          </a:xfrm>
          <a:prstGeom prst="roundRect">
            <a:avLst>
              <a:gd name="adj" fmla="val 49999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0" name="Text 45">
            <a:extLst>
              <a:ext uri="{FF2B5EF4-FFF2-40B4-BE49-F238E27FC236}">
                <a16:creationId xmlns:a16="http://schemas.microsoft.com/office/drawing/2014/main" id="{9A67C1CE-8484-7685-C47A-BA26A7874A1B}"/>
              </a:ext>
            </a:extLst>
          </p:cNvPr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Projet de Fin d'Études · Pipeline MLOps générique</a:t>
            </a:r>
            <a:endParaRPr lang="en-US" sz="975" dirty="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D9525904-F536-65A6-21F4-24EDDB5ADE87}"/>
              </a:ext>
            </a:extLst>
          </p:cNvPr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endParaRPr lang="en-US" sz="975" dirty="0"/>
          </a:p>
        </p:txBody>
      </p:sp>
      <p:sp>
        <p:nvSpPr>
          <p:cNvPr id="3" name="Google Shape;88;p17">
            <a:extLst>
              <a:ext uri="{FF2B5EF4-FFF2-40B4-BE49-F238E27FC236}">
                <a16:creationId xmlns:a16="http://schemas.microsoft.com/office/drawing/2014/main" id="{31B477B9-2658-505F-4CAC-BAD1E694FC47}"/>
              </a:ext>
            </a:extLst>
          </p:cNvPr>
          <p:cNvSpPr txBox="1">
            <a:spLocks/>
          </p:cNvSpPr>
          <p:nvPr/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fr" sz="1733" dirty="0">
                <a:latin typeface="Arial" panose="020B0604020202020204" pitchFamily="34" charset="0"/>
                <a:ea typeface="Nunito Black"/>
                <a:cs typeface="Arial" panose="020B0604020202020204" pitchFamily="34" charset="0"/>
                <a:sym typeface="Nunito Black"/>
              </a:rPr>
              <a:t>16</a:t>
            </a:r>
          </a:p>
        </p:txBody>
      </p:sp>
      <p:pic>
        <p:nvPicPr>
          <p:cNvPr id="4" name="Image 4" descr="preencoded.png">
            <a:extLst>
              <a:ext uri="{FF2B5EF4-FFF2-40B4-BE49-F238E27FC236}">
                <a16:creationId xmlns:a16="http://schemas.microsoft.com/office/drawing/2014/main" id="{03D039BF-6BEE-FF41-C1D2-EF15046B13F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0960274" y="156681"/>
            <a:ext cx="1041974" cy="62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185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D92EE-8A4F-7970-113F-F50C66F45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FEAC9FA-9AD4-74A3-D112-5193D2D473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TN" b="1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4E79F3A-114E-3EF0-ABA1-D18963895203}"/>
              </a:ext>
            </a:extLst>
          </p:cNvPr>
          <p:cNvSpPr/>
          <p:nvPr/>
        </p:nvSpPr>
        <p:spPr>
          <a:xfrm>
            <a:off x="838088" y="956965"/>
            <a:ext cx="11567406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000" b="1" kern="0" spc="-60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Chargement </a:t>
            </a:r>
            <a:r>
              <a:rPr lang="en-US" sz="3000" b="1" kern="0" spc="-60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à la demande</a:t>
            </a:r>
            <a:endParaRPr lang="en-US" sz="30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8836ECDD-43D5-C0B5-0139-79537906234E}"/>
              </a:ext>
            </a:extLst>
          </p:cNvPr>
          <p:cNvSpPr/>
          <p:nvPr/>
        </p:nvSpPr>
        <p:spPr>
          <a:xfrm>
            <a:off x="838088" y="1673014"/>
            <a:ext cx="6439235" cy="638101"/>
          </a:xfrm>
          <a:prstGeom prst="roundRect">
            <a:avLst>
              <a:gd name="adj" fmla="val 8956"/>
            </a:avLst>
          </a:prstGeom>
          <a:solidFill>
            <a:srgbClr val="2A2A2A"/>
          </a:solidFill>
          <a:ln w="11906">
            <a:solidFill>
              <a:srgbClr val="BDD24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FA477BD-CC25-7740-DE48-7C3FBF8C9C80}"/>
              </a:ext>
            </a:extLst>
          </p:cNvPr>
          <p:cNvSpPr/>
          <p:nvPr/>
        </p:nvSpPr>
        <p:spPr>
          <a:xfrm>
            <a:off x="753406" y="1837320"/>
            <a:ext cx="6608599" cy="3475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b="1" kern="0" spc="66" dirty="0">
                <a:solidFill>
                  <a:srgbClr val="FFFFF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ComponentRegistry</a:t>
            </a:r>
            <a:endParaRPr lang="en-US" sz="165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8DCD3CFC-9932-8ED0-1315-325B16B815A1}"/>
              </a:ext>
            </a:extLst>
          </p:cNvPr>
          <p:cNvSpPr/>
          <p:nvPr/>
        </p:nvSpPr>
        <p:spPr>
          <a:xfrm>
            <a:off x="1676177" y="2311115"/>
            <a:ext cx="18976" cy="304726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D6747051-A82B-15C4-9E24-18536689A460}"/>
              </a:ext>
            </a:extLst>
          </p:cNvPr>
          <p:cNvSpPr/>
          <p:nvPr/>
        </p:nvSpPr>
        <p:spPr>
          <a:xfrm>
            <a:off x="838088" y="2711090"/>
            <a:ext cx="1047750" cy="890178"/>
          </a:xfrm>
          <a:prstGeom prst="roundRect">
            <a:avLst>
              <a:gd name="adj" fmla="val 6420"/>
            </a:avLst>
          </a:prstGeom>
          <a:solidFill>
            <a:srgbClr val="FBFBFB"/>
          </a:solidFill>
          <a:ln w="11906">
            <a:solidFill>
              <a:srgbClr val="FBFBF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836A4E8-2504-F064-7FE2-A028A3BEE1C0}"/>
              </a:ext>
            </a:extLst>
          </p:cNvPr>
          <p:cNvSpPr/>
          <p:nvPr/>
        </p:nvSpPr>
        <p:spPr>
          <a:xfrm>
            <a:off x="1009464" y="2875359"/>
            <a:ext cx="667754" cy="218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FAISS</a:t>
            </a:r>
            <a:endParaRPr lang="en-US" sz="13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1F4B235-457A-48D4-7F17-FF3545A6751C}"/>
              </a:ext>
            </a:extLst>
          </p:cNvPr>
          <p:cNvSpPr/>
          <p:nvPr/>
        </p:nvSpPr>
        <p:spPr>
          <a:xfrm>
            <a:off x="1009464" y="3189573"/>
            <a:ext cx="704999" cy="285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3F3F3F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FAISSVector Store</a:t>
            </a:r>
            <a:endParaRPr lang="en-US" sz="75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ADD583EE-1620-8FD2-2D43-583685BD9BCD}"/>
              </a:ext>
            </a:extLst>
          </p:cNvPr>
          <p:cNvSpPr/>
          <p:nvPr/>
        </p:nvSpPr>
        <p:spPr>
          <a:xfrm>
            <a:off x="2019040" y="2711090"/>
            <a:ext cx="1047750" cy="890178"/>
          </a:xfrm>
          <a:prstGeom prst="roundRect">
            <a:avLst>
              <a:gd name="adj" fmla="val 6420"/>
            </a:avLst>
          </a:prstGeom>
          <a:solidFill>
            <a:srgbClr val="FBFBFB"/>
          </a:solidFill>
          <a:ln w="11906">
            <a:solidFill>
              <a:srgbClr val="E4E4E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917E8F5D-196C-11C7-25E4-D20A8E7B93DA}"/>
              </a:ext>
            </a:extLst>
          </p:cNvPr>
          <p:cNvSpPr/>
          <p:nvPr/>
        </p:nvSpPr>
        <p:spPr>
          <a:xfrm>
            <a:off x="2257909" y="2875359"/>
            <a:ext cx="64602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F3F3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Qdrant</a:t>
            </a:r>
            <a:endParaRPr lang="en-US" sz="135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1FAA123F-4291-E39E-CC82-208E4485D9F4}"/>
              </a:ext>
            </a:extLst>
          </p:cNvPr>
          <p:cNvSpPr/>
          <p:nvPr/>
        </p:nvSpPr>
        <p:spPr>
          <a:xfrm>
            <a:off x="2161766" y="3189573"/>
            <a:ext cx="762112" cy="285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QdrantVector Store</a:t>
            </a:r>
            <a:endParaRPr lang="en-US" sz="75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BC157574-5E12-E12D-957B-473F09542313}"/>
              </a:ext>
            </a:extLst>
          </p:cNvPr>
          <p:cNvSpPr/>
          <p:nvPr/>
        </p:nvSpPr>
        <p:spPr>
          <a:xfrm>
            <a:off x="3199991" y="2711090"/>
            <a:ext cx="1047750" cy="890178"/>
          </a:xfrm>
          <a:prstGeom prst="roundRect">
            <a:avLst>
              <a:gd name="adj" fmla="val 6420"/>
            </a:avLst>
          </a:prstGeom>
          <a:solidFill>
            <a:srgbClr val="FBFBFB"/>
          </a:solidFill>
          <a:ln w="11906">
            <a:solidFill>
              <a:srgbClr val="E4E4E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BA5FCECC-97AA-F9F9-4E5E-AC942A31BD8B}"/>
              </a:ext>
            </a:extLst>
          </p:cNvPr>
          <p:cNvSpPr/>
          <p:nvPr/>
        </p:nvSpPr>
        <p:spPr>
          <a:xfrm>
            <a:off x="3413931" y="2875359"/>
            <a:ext cx="69606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F3F3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Chroma</a:t>
            </a:r>
            <a:endParaRPr lang="en-US" sz="135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E8E941F1-ADFE-E5D3-CDD7-DC5FC594B76D}"/>
              </a:ext>
            </a:extLst>
          </p:cNvPr>
          <p:cNvSpPr/>
          <p:nvPr/>
        </p:nvSpPr>
        <p:spPr>
          <a:xfrm>
            <a:off x="3342717" y="3189573"/>
            <a:ext cx="762112" cy="285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ChromaVector Store</a:t>
            </a:r>
            <a:endParaRPr lang="en-US" sz="75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137DF012-DFCD-3D22-16BB-53345AA058A9}"/>
              </a:ext>
            </a:extLst>
          </p:cNvPr>
          <p:cNvSpPr/>
          <p:nvPr/>
        </p:nvSpPr>
        <p:spPr>
          <a:xfrm>
            <a:off x="4380942" y="2711090"/>
            <a:ext cx="1047750" cy="890178"/>
          </a:xfrm>
          <a:prstGeom prst="roundRect">
            <a:avLst>
              <a:gd name="adj" fmla="val 6420"/>
            </a:avLst>
          </a:prstGeom>
          <a:solidFill>
            <a:srgbClr val="FBFBFB"/>
          </a:solidFill>
          <a:ln w="11906">
            <a:solidFill>
              <a:srgbClr val="E4E4E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FD61518C-4BE7-961E-A87E-62A3C4D315F6}"/>
              </a:ext>
            </a:extLst>
          </p:cNvPr>
          <p:cNvSpPr/>
          <p:nvPr/>
        </p:nvSpPr>
        <p:spPr>
          <a:xfrm>
            <a:off x="4647902" y="2875359"/>
            <a:ext cx="58984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F3F3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Milvus</a:t>
            </a:r>
            <a:endParaRPr lang="en-US" sz="135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CE20F2E4-7B0B-E770-1294-B6EF09C04CFD}"/>
              </a:ext>
            </a:extLst>
          </p:cNvPr>
          <p:cNvSpPr/>
          <p:nvPr/>
        </p:nvSpPr>
        <p:spPr>
          <a:xfrm>
            <a:off x="4523668" y="3189573"/>
            <a:ext cx="762112" cy="285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MilvusVector Store</a:t>
            </a:r>
            <a:endParaRPr lang="en-US" sz="75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1326589E-1FC0-E567-91CA-DABEE4481D55}"/>
              </a:ext>
            </a:extLst>
          </p:cNvPr>
          <p:cNvSpPr/>
          <p:nvPr/>
        </p:nvSpPr>
        <p:spPr>
          <a:xfrm>
            <a:off x="5561893" y="2691929"/>
            <a:ext cx="1047750" cy="909340"/>
          </a:xfrm>
          <a:prstGeom prst="roundRect">
            <a:avLst>
              <a:gd name="adj" fmla="val 6285"/>
            </a:avLst>
          </a:prstGeom>
          <a:solidFill>
            <a:srgbClr val="BDD248"/>
          </a:solidFill>
          <a:ln w="11906">
            <a:solidFill>
              <a:srgbClr val="E4E4E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A24A04AE-A76B-E93B-A9A7-5615A4EBAE79}"/>
              </a:ext>
            </a:extLst>
          </p:cNvPr>
          <p:cNvSpPr/>
          <p:nvPr/>
        </p:nvSpPr>
        <p:spPr>
          <a:xfrm>
            <a:off x="5949032" y="2856198"/>
            <a:ext cx="34967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10" dirty="0">
                <a:solidFill>
                  <a:srgbClr val="3F3F3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…</a:t>
            </a:r>
            <a:endParaRPr lang="en-US" sz="21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4D7CF696-1064-1409-FAA5-3F29A2153BD4}"/>
              </a:ext>
            </a:extLst>
          </p:cNvPr>
          <p:cNvSpPr/>
          <p:nvPr/>
        </p:nvSpPr>
        <p:spPr>
          <a:xfrm>
            <a:off x="5847494" y="3313286"/>
            <a:ext cx="476362" cy="161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plug-in</a:t>
            </a:r>
            <a:endParaRPr lang="en-US" sz="750" dirty="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6C3EC8E8-0E7B-35F9-CFCC-B3B4580CCD32}"/>
              </a:ext>
            </a:extLst>
          </p:cNvPr>
          <p:cNvSpPr/>
          <p:nvPr/>
        </p:nvSpPr>
        <p:spPr>
          <a:xfrm>
            <a:off x="7734412" y="1863514"/>
            <a:ext cx="3619500" cy="995474"/>
          </a:xfrm>
          <a:prstGeom prst="roundRect">
            <a:avLst>
              <a:gd name="adj" fmla="val 5741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384BE3CD-A9DD-4C7F-9476-43CB17F4B8FE}"/>
              </a:ext>
            </a:extLst>
          </p:cNvPr>
          <p:cNvSpPr/>
          <p:nvPr/>
        </p:nvSpPr>
        <p:spPr>
          <a:xfrm>
            <a:off x="7734412" y="2847082"/>
            <a:ext cx="3619500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82E27A17-C226-73DC-2B4F-F064CF9D9151}"/>
              </a:ext>
            </a:extLst>
          </p:cNvPr>
          <p:cNvSpPr/>
          <p:nvPr/>
        </p:nvSpPr>
        <p:spPr>
          <a:xfrm>
            <a:off x="7734412" y="1863514"/>
            <a:ext cx="3619500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2D914582-03D9-E75E-3418-A9B9331F91DF}"/>
              </a:ext>
            </a:extLst>
          </p:cNvPr>
          <p:cNvSpPr/>
          <p:nvPr/>
        </p:nvSpPr>
        <p:spPr>
          <a:xfrm>
            <a:off x="7734412" y="1863514"/>
            <a:ext cx="35719" cy="995474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8DD4A37F-C0AF-89F1-789E-07418D39C0B4}"/>
              </a:ext>
            </a:extLst>
          </p:cNvPr>
          <p:cNvSpPr/>
          <p:nvPr/>
        </p:nvSpPr>
        <p:spPr>
          <a:xfrm>
            <a:off x="11342005" y="1863514"/>
            <a:ext cx="11906" cy="995474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pic>
        <p:nvPicPr>
          <p:cNvPr id="29" name="Image 1" descr="preencoded.png">
            <a:extLst>
              <a:ext uri="{FF2B5EF4-FFF2-40B4-BE49-F238E27FC236}">
                <a16:creationId xmlns:a16="http://schemas.microsoft.com/office/drawing/2014/main" id="{359080F2-B50A-865A-F181-991F23F18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0630" y="2075222"/>
            <a:ext cx="171338" cy="266588"/>
          </a:xfrm>
          <a:prstGeom prst="rect">
            <a:avLst/>
          </a:prstGeom>
        </p:spPr>
      </p:pic>
      <p:sp>
        <p:nvSpPr>
          <p:cNvPr id="30" name="Text 26">
            <a:extLst>
              <a:ext uri="{FF2B5EF4-FFF2-40B4-BE49-F238E27FC236}">
                <a16:creationId xmlns:a16="http://schemas.microsoft.com/office/drawing/2014/main" id="{3F8DB26F-B51C-2A50-288E-6A516AE92D6E}"/>
              </a:ext>
            </a:extLst>
          </p:cNvPr>
          <p:cNvSpPr/>
          <p:nvPr/>
        </p:nvSpPr>
        <p:spPr>
          <a:xfrm>
            <a:off x="8265170" y="2034853"/>
            <a:ext cx="213933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Pas d'imports lourds inutiles</a:t>
            </a:r>
            <a:endParaRPr lang="en-US" sz="1275" dirty="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8884316B-9251-3BB9-DF4E-22806170CF0C}"/>
              </a:ext>
            </a:extLst>
          </p:cNvPr>
          <p:cNvSpPr/>
          <p:nvPr/>
        </p:nvSpPr>
        <p:spPr>
          <a:xfrm>
            <a:off x="8265170" y="2341252"/>
            <a:ext cx="2453729" cy="372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dirty="0">
                <a:solidFill>
                  <a:srgbClr val="525252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torch · faiss · qdrant-client — chargés uniquement si utilisés</a:t>
            </a:r>
            <a:endParaRPr lang="en-US" sz="975" dirty="0"/>
          </a:p>
        </p:txBody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B8DA1956-65D8-0FA1-7D3F-02EF4E21AC42}"/>
              </a:ext>
            </a:extLst>
          </p:cNvPr>
          <p:cNvSpPr/>
          <p:nvPr/>
        </p:nvSpPr>
        <p:spPr>
          <a:xfrm>
            <a:off x="7734412" y="3049488"/>
            <a:ext cx="3619500" cy="828229"/>
          </a:xfrm>
          <a:prstGeom prst="roundRect">
            <a:avLst>
              <a:gd name="adj" fmla="val 690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3" name="Shape 29">
            <a:extLst>
              <a:ext uri="{FF2B5EF4-FFF2-40B4-BE49-F238E27FC236}">
                <a16:creationId xmlns:a16="http://schemas.microsoft.com/office/drawing/2014/main" id="{726D2C83-CACA-3E86-6480-6614A55751FF}"/>
              </a:ext>
            </a:extLst>
          </p:cNvPr>
          <p:cNvSpPr/>
          <p:nvPr/>
        </p:nvSpPr>
        <p:spPr>
          <a:xfrm>
            <a:off x="7734412" y="3865811"/>
            <a:ext cx="3619500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4" name="Shape 30">
            <a:extLst>
              <a:ext uri="{FF2B5EF4-FFF2-40B4-BE49-F238E27FC236}">
                <a16:creationId xmlns:a16="http://schemas.microsoft.com/office/drawing/2014/main" id="{4A32A1B0-77CA-582C-DED5-1B9F494CA911}"/>
              </a:ext>
            </a:extLst>
          </p:cNvPr>
          <p:cNvSpPr/>
          <p:nvPr/>
        </p:nvSpPr>
        <p:spPr>
          <a:xfrm>
            <a:off x="7734412" y="3049488"/>
            <a:ext cx="3619500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5" name="Shape 31">
            <a:extLst>
              <a:ext uri="{FF2B5EF4-FFF2-40B4-BE49-F238E27FC236}">
                <a16:creationId xmlns:a16="http://schemas.microsoft.com/office/drawing/2014/main" id="{5CC811D3-D66C-4AF1-37C3-027E138D55D0}"/>
              </a:ext>
            </a:extLst>
          </p:cNvPr>
          <p:cNvSpPr/>
          <p:nvPr/>
        </p:nvSpPr>
        <p:spPr>
          <a:xfrm>
            <a:off x="7734412" y="3049488"/>
            <a:ext cx="35719" cy="828229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6" name="Shape 32">
            <a:extLst>
              <a:ext uri="{FF2B5EF4-FFF2-40B4-BE49-F238E27FC236}">
                <a16:creationId xmlns:a16="http://schemas.microsoft.com/office/drawing/2014/main" id="{9F7A64E7-B189-4742-B931-312FE53D4EAC}"/>
              </a:ext>
            </a:extLst>
          </p:cNvPr>
          <p:cNvSpPr/>
          <p:nvPr/>
        </p:nvSpPr>
        <p:spPr>
          <a:xfrm>
            <a:off x="11342005" y="3049488"/>
            <a:ext cx="11906" cy="828229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pic>
        <p:nvPicPr>
          <p:cNvPr id="37" name="Image 2" descr="preencoded.png">
            <a:extLst>
              <a:ext uri="{FF2B5EF4-FFF2-40B4-BE49-F238E27FC236}">
                <a16:creationId xmlns:a16="http://schemas.microsoft.com/office/drawing/2014/main" id="{438825AA-E8EC-19A1-CF17-5FE403EB0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0630" y="3261196"/>
            <a:ext cx="171338" cy="266588"/>
          </a:xfrm>
          <a:prstGeom prst="rect">
            <a:avLst/>
          </a:prstGeom>
        </p:spPr>
      </p:pic>
      <p:sp>
        <p:nvSpPr>
          <p:cNvPr id="38" name="Text 33">
            <a:extLst>
              <a:ext uri="{FF2B5EF4-FFF2-40B4-BE49-F238E27FC236}">
                <a16:creationId xmlns:a16="http://schemas.microsoft.com/office/drawing/2014/main" id="{A81F97AA-9BBE-550F-0277-88086B10309E}"/>
              </a:ext>
            </a:extLst>
          </p:cNvPr>
          <p:cNvSpPr/>
          <p:nvPr/>
        </p:nvSpPr>
        <p:spPr>
          <a:xfrm>
            <a:off x="8265170" y="3220827"/>
            <a:ext cx="140895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Ajouter un store =</a:t>
            </a:r>
            <a:endParaRPr lang="en-US" sz="1275" dirty="0"/>
          </a:p>
        </p:txBody>
      </p:sp>
      <p:sp>
        <p:nvSpPr>
          <p:cNvPr id="39" name="Text 34">
            <a:extLst>
              <a:ext uri="{FF2B5EF4-FFF2-40B4-BE49-F238E27FC236}">
                <a16:creationId xmlns:a16="http://schemas.microsoft.com/office/drawing/2014/main" id="{B1223CCE-B544-F8AC-320C-9B4669F7F3D1}"/>
              </a:ext>
            </a:extLst>
          </p:cNvPr>
          <p:cNvSpPr/>
          <p:nvPr/>
        </p:nvSpPr>
        <p:spPr>
          <a:xfrm>
            <a:off x="9646481" y="3220827"/>
            <a:ext cx="65867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b="1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1 classe</a:t>
            </a:r>
            <a:endParaRPr lang="en-US" sz="1275" dirty="0"/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206C386C-AD2B-280A-E5FC-974C21E029D9}"/>
              </a:ext>
            </a:extLst>
          </p:cNvPr>
          <p:cNvSpPr/>
          <p:nvPr/>
        </p:nvSpPr>
        <p:spPr>
          <a:xfrm>
            <a:off x="8265170" y="3527227"/>
            <a:ext cx="2860439" cy="205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dirty="0">
                <a:solidFill>
                  <a:srgbClr val="525252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register("faiss", FAISSVectorStore)</a:t>
            </a:r>
            <a:endParaRPr lang="en-US" sz="975" dirty="0"/>
          </a:p>
        </p:txBody>
      </p:sp>
      <p:sp>
        <p:nvSpPr>
          <p:cNvPr id="47" name="Shape 42">
            <a:extLst>
              <a:ext uri="{FF2B5EF4-FFF2-40B4-BE49-F238E27FC236}">
                <a16:creationId xmlns:a16="http://schemas.microsoft.com/office/drawing/2014/main" id="{D23313C6-2924-0099-BF6D-34AF222A1E3E}"/>
              </a:ext>
            </a:extLst>
          </p:cNvPr>
          <p:cNvSpPr/>
          <p:nvPr/>
        </p:nvSpPr>
        <p:spPr>
          <a:xfrm>
            <a:off x="3112182" y="5877223"/>
            <a:ext cx="18976" cy="266588"/>
          </a:xfrm>
          <a:prstGeom prst="roundRect">
            <a:avLst>
              <a:gd name="adj" fmla="val 49999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9" name="Text 44">
            <a:extLst>
              <a:ext uri="{FF2B5EF4-FFF2-40B4-BE49-F238E27FC236}">
                <a16:creationId xmlns:a16="http://schemas.microsoft.com/office/drawing/2014/main" id="{90804560-71D8-F127-2445-4063D5A3B838}"/>
              </a:ext>
            </a:extLst>
          </p:cNvPr>
          <p:cNvSpPr/>
          <p:nvPr/>
        </p:nvSpPr>
        <p:spPr>
          <a:xfrm>
            <a:off x="7585211" y="5931917"/>
            <a:ext cx="3936020" cy="195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25" kern="0" spc="18" dirty="0">
                <a:solidFill>
                  <a:srgbClr val="FFFFFF">
                    <a:alpha val="35000"/>
                  </a:srgbClr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→ slide suivante : le catalogue des options disponibles</a:t>
            </a:r>
            <a:endParaRPr lang="en-US" sz="825" dirty="0"/>
          </a:p>
        </p:txBody>
      </p:sp>
      <p:sp>
        <p:nvSpPr>
          <p:cNvPr id="50" name="Text 45">
            <a:extLst>
              <a:ext uri="{FF2B5EF4-FFF2-40B4-BE49-F238E27FC236}">
                <a16:creationId xmlns:a16="http://schemas.microsoft.com/office/drawing/2014/main" id="{E7BC1218-6344-A8A6-97A0-6AFF7384D8D8}"/>
              </a:ext>
            </a:extLst>
          </p:cNvPr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Projet de Fin d'Études · Pipeline MLOps générique</a:t>
            </a:r>
            <a:endParaRPr lang="en-US" sz="975" dirty="0"/>
          </a:p>
        </p:txBody>
      </p:sp>
      <p:sp>
        <p:nvSpPr>
          <p:cNvPr id="3" name="Google Shape;88;p17">
            <a:extLst>
              <a:ext uri="{FF2B5EF4-FFF2-40B4-BE49-F238E27FC236}">
                <a16:creationId xmlns:a16="http://schemas.microsoft.com/office/drawing/2014/main" id="{8E1C330C-2614-EFFA-9671-D53606801837}"/>
              </a:ext>
            </a:extLst>
          </p:cNvPr>
          <p:cNvSpPr txBox="1">
            <a:spLocks/>
          </p:cNvSpPr>
          <p:nvPr/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fr" sz="1733" dirty="0">
                <a:latin typeface="Arial" panose="020B0604020202020204" pitchFamily="34" charset="0"/>
                <a:ea typeface="Nunito Black"/>
                <a:cs typeface="Arial" panose="020B0604020202020204" pitchFamily="34" charset="0"/>
                <a:sym typeface="Nunito Black"/>
              </a:rPr>
              <a:t>17</a:t>
            </a:r>
          </a:p>
        </p:txBody>
      </p:sp>
      <p:pic>
        <p:nvPicPr>
          <p:cNvPr id="4" name="Image 4" descr="preencoded.png">
            <a:extLst>
              <a:ext uri="{FF2B5EF4-FFF2-40B4-BE49-F238E27FC236}">
                <a16:creationId xmlns:a16="http://schemas.microsoft.com/office/drawing/2014/main" id="{B84AECD7-F1EF-6172-C05B-1AD2EDDF03F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0960274" y="156681"/>
            <a:ext cx="1041974" cy="62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928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149FA-BAE2-A41C-4910-5A83C066C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B99317C-4268-BF17-72B8-3123EACC09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67000">
                <a:schemeClr val="accent1">
                  <a:lumMod val="5000"/>
                  <a:lumOff val="95000"/>
                </a:schemeClr>
              </a:gs>
              <a:gs pos="0">
                <a:schemeClr val="accent6">
                  <a:lumMod val="60000"/>
                  <a:lumOff val="40000"/>
                </a:schemeClr>
              </a:gs>
              <a:gs pos="88000">
                <a:schemeClr val="accent6">
                  <a:lumMod val="40000"/>
                  <a:lumOff val="60000"/>
                </a:schemeClr>
              </a:gs>
              <a:gs pos="100000">
                <a:schemeClr val="accent6">
                  <a:lumMod val="40000"/>
                  <a:lumOff val="60000"/>
                </a:schemeClr>
              </a:gs>
            </a:gsLst>
            <a:lin ang="5400000" scaled="1"/>
          </a:gra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BC4E7BFC-6568-9078-5A42-5C54C1272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1238250" cy="2286000"/>
          </a:xfrm>
          <a:prstGeom prst="rect">
            <a:avLst/>
          </a:prstGeom>
        </p:spPr>
      </p:pic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24C9E6CD-B1A1-E778-012E-63EDC1EAE6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37" y="2286000"/>
            <a:ext cx="1238250" cy="2286000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43C42BDE-9536-88CB-04A8-46550EC8E56C}"/>
              </a:ext>
            </a:extLst>
          </p:cNvPr>
          <p:cNvSpPr/>
          <p:nvPr/>
        </p:nvSpPr>
        <p:spPr>
          <a:xfrm>
            <a:off x="2743088" y="2464594"/>
            <a:ext cx="5875395" cy="1238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endParaRPr lang="en-US" sz="4500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CC02C4A3-83DA-6834-B2FE-96085269C3E9}"/>
              </a:ext>
            </a:extLst>
          </p:cNvPr>
          <p:cNvSpPr/>
          <p:nvPr/>
        </p:nvSpPr>
        <p:spPr>
          <a:xfrm>
            <a:off x="2743088" y="3931109"/>
            <a:ext cx="685726" cy="57113"/>
          </a:xfrm>
          <a:prstGeom prst="roundRect">
            <a:avLst>
              <a:gd name="adj" fmla="val 50000"/>
            </a:avLst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57ADC52D-F075-A283-6064-2CFD8C64038B}"/>
              </a:ext>
            </a:extLst>
          </p:cNvPr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DEADA66F-9DAD-2FF7-1B8F-58E9EA0FF0B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1180341" y="6418585"/>
            <a:ext cx="173571" cy="152363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F2A8C835-7D1F-F3EF-6B12-78EEA091C2D4}"/>
              </a:ext>
            </a:extLst>
          </p:cNvPr>
          <p:cNvSpPr txBox="1"/>
          <p:nvPr/>
        </p:nvSpPr>
        <p:spPr>
          <a:xfrm>
            <a:off x="8472527" y="1765245"/>
            <a:ext cx="349686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9600" b="1" dirty="0"/>
              <a:t>03</a:t>
            </a:r>
            <a:endParaRPr lang="fr-TN" sz="19600" b="1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5B9A41B3-553E-0D11-FC6E-4756D308AB74}"/>
              </a:ext>
            </a:extLst>
          </p:cNvPr>
          <p:cNvSpPr/>
          <p:nvPr/>
        </p:nvSpPr>
        <p:spPr>
          <a:xfrm>
            <a:off x="2743088" y="2464594"/>
            <a:ext cx="4846432" cy="1238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90" dirty="0"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Le </a:t>
            </a:r>
            <a:r>
              <a:rPr lang="en-US" sz="4800" b="1" kern="0" spc="-90" dirty="0" err="1"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cas</a:t>
            </a:r>
            <a:r>
              <a:rPr lang="en-US" sz="4800" b="1" kern="0" spc="-90" dirty="0"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 </a:t>
            </a:r>
            <a:r>
              <a:rPr lang="en-US" sz="4800" b="1" kern="0" spc="-90" dirty="0" err="1"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d’usage</a:t>
            </a:r>
            <a:r>
              <a:rPr lang="en-US" sz="4800" b="1" kern="0" spc="-90" dirty="0"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 RAG en pratique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696166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838088" y="956965"/>
            <a:ext cx="11567406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000" b="1" kern="0" spc="-60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RAG : le contrat </a:t>
            </a:r>
            <a:r>
              <a:rPr lang="en-US" sz="3000" b="1" kern="0" spc="-60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5 phases </a:t>
            </a:r>
            <a:r>
              <a:rPr lang="en-US" sz="3000" b="1" kern="0" spc="-60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en action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38088" y="2223820"/>
            <a:ext cx="1466887" cy="1040867"/>
          </a:xfrm>
          <a:prstGeom prst="roundRect">
            <a:avLst>
              <a:gd name="adj" fmla="val 5491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838088" y="3252780"/>
            <a:ext cx="1466887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8" name="Shape 5"/>
          <p:cNvSpPr/>
          <p:nvPr/>
        </p:nvSpPr>
        <p:spPr>
          <a:xfrm>
            <a:off x="838088" y="2223820"/>
            <a:ext cx="1466887" cy="23813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9" name="Shape 6"/>
          <p:cNvSpPr/>
          <p:nvPr/>
        </p:nvSpPr>
        <p:spPr>
          <a:xfrm>
            <a:off x="838088" y="2223820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0" name="Shape 7"/>
          <p:cNvSpPr/>
          <p:nvPr/>
        </p:nvSpPr>
        <p:spPr>
          <a:xfrm>
            <a:off x="2293069" y="2223820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1" name="Shape 8"/>
          <p:cNvSpPr/>
          <p:nvPr/>
        </p:nvSpPr>
        <p:spPr>
          <a:xfrm>
            <a:off x="983196" y="2418971"/>
            <a:ext cx="618939" cy="175989"/>
          </a:xfrm>
          <a:prstGeom prst="roundRect">
            <a:avLst>
              <a:gd name="adj" fmla="val 10825"/>
            </a:avLst>
          </a:prstGeom>
          <a:solidFill>
            <a:srgbClr val="EFF4D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2" name="Text 9"/>
          <p:cNvSpPr/>
          <p:nvPr/>
        </p:nvSpPr>
        <p:spPr>
          <a:xfrm>
            <a:off x="1059396" y="2447546"/>
            <a:ext cx="663848" cy="2225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kern="0" spc="75" dirty="0">
                <a:solidFill>
                  <a:srgbClr val="8FA82E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PREPARE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83196" y="2728161"/>
            <a:ext cx="1252872" cy="257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b="1" kern="0" spc="16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ingest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2064618" y="2948055"/>
            <a:ext cx="95250" cy="95250"/>
          </a:xfrm>
          <a:prstGeom prst="ellipse">
            <a:avLst/>
          </a:prstGeom>
          <a:solidFill>
            <a:srgbClr val="BDD248"/>
          </a:solidFill>
          <a:ln/>
          <a:effectLst>
            <a:outerShdw blurRad="101600" dist="50800" dir="16200000" algn="bl" rotWithShape="0">
              <a:srgbClr val="BDD248">
                <a:alpha val="25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976" y="2629935"/>
            <a:ext cx="361838" cy="228451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647838" y="2223820"/>
            <a:ext cx="1467073" cy="1040867"/>
          </a:xfrm>
          <a:prstGeom prst="roundRect">
            <a:avLst>
              <a:gd name="adj" fmla="val 5491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2647838" y="3252780"/>
            <a:ext cx="1467073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8" name="Shape 14"/>
          <p:cNvSpPr/>
          <p:nvPr/>
        </p:nvSpPr>
        <p:spPr>
          <a:xfrm>
            <a:off x="2647838" y="2223820"/>
            <a:ext cx="1467073" cy="23813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9" name="Shape 15"/>
          <p:cNvSpPr/>
          <p:nvPr/>
        </p:nvSpPr>
        <p:spPr>
          <a:xfrm>
            <a:off x="2647838" y="2223820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0" name="Shape 16"/>
          <p:cNvSpPr/>
          <p:nvPr/>
        </p:nvSpPr>
        <p:spPr>
          <a:xfrm>
            <a:off x="4103005" y="2223820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1" name="Shape 17"/>
          <p:cNvSpPr/>
          <p:nvPr/>
        </p:nvSpPr>
        <p:spPr>
          <a:xfrm>
            <a:off x="2792946" y="2418972"/>
            <a:ext cx="1078354" cy="152178"/>
          </a:xfrm>
          <a:prstGeom prst="roundRect">
            <a:avLst>
              <a:gd name="adj" fmla="val 10825"/>
            </a:avLst>
          </a:prstGeom>
          <a:solidFill>
            <a:srgbClr val="F0F0F0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2" name="Text 18"/>
          <p:cNvSpPr/>
          <p:nvPr/>
        </p:nvSpPr>
        <p:spPr>
          <a:xfrm>
            <a:off x="2869145" y="2447546"/>
            <a:ext cx="976201" cy="123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kern="0" spc="75" dirty="0">
                <a:solidFill>
                  <a:srgbClr val="525252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PROCESS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2792946" y="2728161"/>
            <a:ext cx="1253058" cy="257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b="1" kern="0" spc="16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chunking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3874554" y="2948055"/>
            <a:ext cx="95250" cy="95250"/>
          </a:xfrm>
          <a:prstGeom prst="ellipse">
            <a:avLst/>
          </a:prstGeom>
          <a:solidFill>
            <a:srgbClr val="BDD248"/>
          </a:solidFill>
          <a:ln/>
          <a:effectLst>
            <a:outerShdw blurRad="101600" dist="50800" dir="16200000" algn="bl" rotWithShape="0">
              <a:srgbClr val="BDD248">
                <a:alpha val="25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912" y="2629935"/>
            <a:ext cx="361838" cy="228451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4457774" y="2223820"/>
            <a:ext cx="1466887" cy="1040867"/>
          </a:xfrm>
          <a:prstGeom prst="roundRect">
            <a:avLst>
              <a:gd name="adj" fmla="val 5491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7" name="Shape 22"/>
          <p:cNvSpPr/>
          <p:nvPr/>
        </p:nvSpPr>
        <p:spPr>
          <a:xfrm>
            <a:off x="4457774" y="3252780"/>
            <a:ext cx="1466887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8" name="Shape 23"/>
          <p:cNvSpPr/>
          <p:nvPr/>
        </p:nvSpPr>
        <p:spPr>
          <a:xfrm>
            <a:off x="4457774" y="2223820"/>
            <a:ext cx="1466887" cy="23813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9" name="Shape 24"/>
          <p:cNvSpPr/>
          <p:nvPr/>
        </p:nvSpPr>
        <p:spPr>
          <a:xfrm>
            <a:off x="4457774" y="2223820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0" name="Shape 25"/>
          <p:cNvSpPr/>
          <p:nvPr/>
        </p:nvSpPr>
        <p:spPr>
          <a:xfrm>
            <a:off x="5912755" y="2223820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1" name="Shape 26"/>
          <p:cNvSpPr/>
          <p:nvPr/>
        </p:nvSpPr>
        <p:spPr>
          <a:xfrm>
            <a:off x="4602882" y="2418971"/>
            <a:ext cx="618939" cy="175989"/>
          </a:xfrm>
          <a:prstGeom prst="roundRect">
            <a:avLst>
              <a:gd name="adj" fmla="val 10825"/>
            </a:avLst>
          </a:prstGeom>
          <a:solidFill>
            <a:srgbClr val="F0F0F0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2" name="Text 27"/>
          <p:cNvSpPr/>
          <p:nvPr/>
        </p:nvSpPr>
        <p:spPr>
          <a:xfrm>
            <a:off x="4679082" y="2447547"/>
            <a:ext cx="1001968" cy="157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kern="0" spc="75" dirty="0">
                <a:solidFill>
                  <a:srgbClr val="525252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PROCESS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28"/>
          <p:cNvSpPr/>
          <p:nvPr/>
        </p:nvSpPr>
        <p:spPr>
          <a:xfrm>
            <a:off x="4490619" y="2728161"/>
            <a:ext cx="1462404" cy="238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b="1" kern="0" spc="16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embedding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29"/>
          <p:cNvSpPr/>
          <p:nvPr/>
        </p:nvSpPr>
        <p:spPr>
          <a:xfrm>
            <a:off x="5747880" y="2967981"/>
            <a:ext cx="95250" cy="95250"/>
          </a:xfrm>
          <a:prstGeom prst="ellipse">
            <a:avLst/>
          </a:prstGeom>
          <a:solidFill>
            <a:srgbClr val="BDD248"/>
          </a:solidFill>
          <a:ln/>
          <a:effectLst>
            <a:outerShdw blurRad="101600" dist="50800" dir="16200000" algn="bl" rotWithShape="0">
              <a:srgbClr val="BDD248">
                <a:alpha val="25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662" y="2629935"/>
            <a:ext cx="361838" cy="228451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6274687" y="2268409"/>
            <a:ext cx="1466887" cy="1040867"/>
          </a:xfrm>
          <a:prstGeom prst="roundRect">
            <a:avLst>
              <a:gd name="adj" fmla="val 5491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1"/>
          <p:cNvSpPr/>
          <p:nvPr/>
        </p:nvSpPr>
        <p:spPr>
          <a:xfrm>
            <a:off x="6267524" y="3252780"/>
            <a:ext cx="1466887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8" name="Shape 32"/>
          <p:cNvSpPr/>
          <p:nvPr/>
        </p:nvSpPr>
        <p:spPr>
          <a:xfrm>
            <a:off x="6267524" y="2223820"/>
            <a:ext cx="1466887" cy="23813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0" name="Shape 34"/>
          <p:cNvSpPr/>
          <p:nvPr/>
        </p:nvSpPr>
        <p:spPr>
          <a:xfrm>
            <a:off x="7722505" y="2223820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2" name="Text 36"/>
          <p:cNvSpPr/>
          <p:nvPr/>
        </p:nvSpPr>
        <p:spPr>
          <a:xfrm>
            <a:off x="6488832" y="2447547"/>
            <a:ext cx="518926" cy="147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kern="0" spc="75" dirty="0">
                <a:solidFill>
                  <a:srgbClr val="8FA82E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BUILD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37"/>
          <p:cNvSpPr/>
          <p:nvPr/>
        </p:nvSpPr>
        <p:spPr>
          <a:xfrm>
            <a:off x="6412632" y="2728161"/>
            <a:ext cx="1252872" cy="257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b="1" kern="0" spc="16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indexing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Shape 38"/>
          <p:cNvSpPr/>
          <p:nvPr/>
        </p:nvSpPr>
        <p:spPr>
          <a:xfrm>
            <a:off x="7494054" y="2948055"/>
            <a:ext cx="95250" cy="95250"/>
          </a:xfrm>
          <a:prstGeom prst="ellipse">
            <a:avLst/>
          </a:prstGeom>
          <a:solidFill>
            <a:srgbClr val="BDD248"/>
          </a:solidFill>
          <a:ln/>
          <a:effectLst>
            <a:outerShdw blurRad="101600" dist="50800" dir="16200000" algn="bl" rotWithShape="0">
              <a:srgbClr val="BDD248">
                <a:alpha val="25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pic>
        <p:nvPicPr>
          <p:cNvPr id="4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4412" y="2629935"/>
            <a:ext cx="361838" cy="228451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8077274" y="2223820"/>
            <a:ext cx="1466887" cy="1040867"/>
          </a:xfrm>
          <a:prstGeom prst="roundRect">
            <a:avLst>
              <a:gd name="adj" fmla="val 5491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7" name="Shape 40"/>
          <p:cNvSpPr/>
          <p:nvPr/>
        </p:nvSpPr>
        <p:spPr>
          <a:xfrm>
            <a:off x="8077274" y="3252780"/>
            <a:ext cx="1466887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8" name="Shape 41"/>
          <p:cNvSpPr/>
          <p:nvPr/>
        </p:nvSpPr>
        <p:spPr>
          <a:xfrm>
            <a:off x="8077274" y="2223820"/>
            <a:ext cx="1466887" cy="23813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9" name="Shape 42"/>
          <p:cNvSpPr/>
          <p:nvPr/>
        </p:nvSpPr>
        <p:spPr>
          <a:xfrm>
            <a:off x="8077274" y="2223820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0" name="Shape 43"/>
          <p:cNvSpPr/>
          <p:nvPr/>
        </p:nvSpPr>
        <p:spPr>
          <a:xfrm>
            <a:off x="9532255" y="2223820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1" name="Shape 44"/>
          <p:cNvSpPr/>
          <p:nvPr/>
        </p:nvSpPr>
        <p:spPr>
          <a:xfrm>
            <a:off x="8222382" y="2418971"/>
            <a:ext cx="685726" cy="175989"/>
          </a:xfrm>
          <a:prstGeom prst="roundRect">
            <a:avLst>
              <a:gd name="adj" fmla="val 10825"/>
            </a:avLst>
          </a:prstGeom>
          <a:solidFill>
            <a:srgbClr val="EFF4D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2" name="Text 45"/>
          <p:cNvSpPr/>
          <p:nvPr/>
        </p:nvSpPr>
        <p:spPr>
          <a:xfrm>
            <a:off x="8298581" y="2447547"/>
            <a:ext cx="750353" cy="123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kern="0" spc="75" dirty="0">
                <a:solidFill>
                  <a:srgbClr val="8FA82E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EVALUATE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 46"/>
          <p:cNvSpPr/>
          <p:nvPr/>
        </p:nvSpPr>
        <p:spPr>
          <a:xfrm>
            <a:off x="8222382" y="2728161"/>
            <a:ext cx="1252872" cy="257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b="1" kern="0" spc="16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evaluate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Shape 47"/>
          <p:cNvSpPr/>
          <p:nvPr/>
        </p:nvSpPr>
        <p:spPr>
          <a:xfrm>
            <a:off x="9303804" y="2948055"/>
            <a:ext cx="95250" cy="95250"/>
          </a:xfrm>
          <a:prstGeom prst="ellipse">
            <a:avLst/>
          </a:prstGeom>
          <a:solidFill>
            <a:srgbClr val="BDD248"/>
          </a:solidFill>
          <a:ln/>
          <a:effectLst>
            <a:outerShdw blurRad="101600" dist="50800" dir="16200000" algn="bl" rotWithShape="0">
              <a:srgbClr val="BDD248">
                <a:alpha val="25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pic>
        <p:nvPicPr>
          <p:cNvPr id="5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4162" y="2629935"/>
            <a:ext cx="361838" cy="228451"/>
          </a:xfrm>
          <a:prstGeom prst="rect">
            <a:avLst/>
          </a:prstGeom>
        </p:spPr>
      </p:pic>
      <p:sp>
        <p:nvSpPr>
          <p:cNvPr id="56" name="Shape 48"/>
          <p:cNvSpPr/>
          <p:nvPr/>
        </p:nvSpPr>
        <p:spPr>
          <a:xfrm>
            <a:off x="9887024" y="2223820"/>
            <a:ext cx="1466887" cy="1040867"/>
          </a:xfrm>
          <a:prstGeom prst="roundRect">
            <a:avLst>
              <a:gd name="adj" fmla="val 5491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7" name="Shape 49"/>
          <p:cNvSpPr/>
          <p:nvPr/>
        </p:nvSpPr>
        <p:spPr>
          <a:xfrm>
            <a:off x="9887024" y="3252780"/>
            <a:ext cx="1466887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8" name="Shape 50"/>
          <p:cNvSpPr/>
          <p:nvPr/>
        </p:nvSpPr>
        <p:spPr>
          <a:xfrm>
            <a:off x="9887024" y="2223820"/>
            <a:ext cx="1466887" cy="23813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9" name="Shape 51"/>
          <p:cNvSpPr/>
          <p:nvPr/>
        </p:nvSpPr>
        <p:spPr>
          <a:xfrm>
            <a:off x="9887024" y="2223820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60" name="Shape 52"/>
          <p:cNvSpPr/>
          <p:nvPr/>
        </p:nvSpPr>
        <p:spPr>
          <a:xfrm>
            <a:off x="11342005" y="2223820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61" name="Shape 53"/>
          <p:cNvSpPr/>
          <p:nvPr/>
        </p:nvSpPr>
        <p:spPr>
          <a:xfrm>
            <a:off x="10032132" y="2418971"/>
            <a:ext cx="552338" cy="175989"/>
          </a:xfrm>
          <a:prstGeom prst="roundRect">
            <a:avLst>
              <a:gd name="adj" fmla="val 10825"/>
            </a:avLst>
          </a:prstGeom>
          <a:solidFill>
            <a:srgbClr val="EFF4D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62" name="Text 54"/>
          <p:cNvSpPr/>
          <p:nvPr/>
        </p:nvSpPr>
        <p:spPr>
          <a:xfrm>
            <a:off x="10108331" y="2447546"/>
            <a:ext cx="609339" cy="175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kern="0" spc="75" dirty="0">
                <a:solidFill>
                  <a:srgbClr val="8FA82E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DEPLOY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Text 55"/>
          <p:cNvSpPr/>
          <p:nvPr/>
        </p:nvSpPr>
        <p:spPr>
          <a:xfrm>
            <a:off x="10032132" y="2728161"/>
            <a:ext cx="1252872" cy="257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b="1" kern="0" spc="16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deploy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Shape 56"/>
          <p:cNvSpPr/>
          <p:nvPr/>
        </p:nvSpPr>
        <p:spPr>
          <a:xfrm>
            <a:off x="11113554" y="2948055"/>
            <a:ext cx="95250" cy="95250"/>
          </a:xfrm>
          <a:prstGeom prst="ellipse">
            <a:avLst/>
          </a:prstGeom>
          <a:solidFill>
            <a:srgbClr val="BDD248"/>
          </a:solidFill>
          <a:ln/>
          <a:effectLst>
            <a:outerShdw blurRad="101600" dist="50800" dir="16200000" algn="bl" rotWithShape="0">
              <a:srgbClr val="BDD248">
                <a:alpha val="25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65" name="Shape 57"/>
          <p:cNvSpPr/>
          <p:nvPr/>
        </p:nvSpPr>
        <p:spPr>
          <a:xfrm>
            <a:off x="838088" y="3470627"/>
            <a:ext cx="85576" cy="85576"/>
          </a:xfrm>
          <a:prstGeom prst="ellipse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66" name="Text 58"/>
          <p:cNvSpPr/>
          <p:nvPr/>
        </p:nvSpPr>
        <p:spPr>
          <a:xfrm>
            <a:off x="999753" y="3436025"/>
            <a:ext cx="1104974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statut : succès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Shape 62"/>
          <p:cNvSpPr/>
          <p:nvPr/>
        </p:nvSpPr>
        <p:spPr>
          <a:xfrm>
            <a:off x="838088" y="3724007"/>
            <a:ext cx="1505769" cy="11906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71" name="Text 63"/>
          <p:cNvSpPr/>
          <p:nvPr/>
        </p:nvSpPr>
        <p:spPr>
          <a:xfrm>
            <a:off x="838088" y="3812114"/>
            <a:ext cx="1505769" cy="180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8FA82E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01 · PREPARE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Shape 64"/>
          <p:cNvSpPr/>
          <p:nvPr/>
        </p:nvSpPr>
        <p:spPr>
          <a:xfrm>
            <a:off x="2686720" y="3724007"/>
            <a:ext cx="3121298" cy="11906"/>
          </a:xfrm>
          <a:prstGeom prst="rect">
            <a:avLst/>
          </a:prstGeom>
          <a:solidFill>
            <a:srgbClr val="525252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73" name="Text 65"/>
          <p:cNvSpPr/>
          <p:nvPr/>
        </p:nvSpPr>
        <p:spPr>
          <a:xfrm>
            <a:off x="2678000" y="3812114"/>
            <a:ext cx="3138737" cy="180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525252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02 · PROCESS (×2)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Shape 66"/>
          <p:cNvSpPr/>
          <p:nvPr/>
        </p:nvSpPr>
        <p:spPr>
          <a:xfrm>
            <a:off x="6150880" y="3724007"/>
            <a:ext cx="1505769" cy="11906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75" name="Text 67"/>
          <p:cNvSpPr/>
          <p:nvPr/>
        </p:nvSpPr>
        <p:spPr>
          <a:xfrm>
            <a:off x="6150880" y="3812114"/>
            <a:ext cx="1505769" cy="180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8FA82E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03 · BUILD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Shape 68"/>
          <p:cNvSpPr/>
          <p:nvPr/>
        </p:nvSpPr>
        <p:spPr>
          <a:xfrm>
            <a:off x="7999512" y="3724007"/>
            <a:ext cx="1505769" cy="11906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77" name="Text 69"/>
          <p:cNvSpPr/>
          <p:nvPr/>
        </p:nvSpPr>
        <p:spPr>
          <a:xfrm>
            <a:off x="7999512" y="3812114"/>
            <a:ext cx="1505769" cy="180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8FA82E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04 · EVALUATE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Shape 70"/>
          <p:cNvSpPr/>
          <p:nvPr/>
        </p:nvSpPr>
        <p:spPr>
          <a:xfrm>
            <a:off x="9848143" y="3724007"/>
            <a:ext cx="1505769" cy="11906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79" name="Text 71"/>
          <p:cNvSpPr/>
          <p:nvPr/>
        </p:nvSpPr>
        <p:spPr>
          <a:xfrm>
            <a:off x="9848143" y="3812113"/>
            <a:ext cx="1688379" cy="2442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8FA82E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05 · DEPLOY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Shape 72"/>
          <p:cNvSpPr/>
          <p:nvPr/>
        </p:nvSpPr>
        <p:spPr>
          <a:xfrm>
            <a:off x="838088" y="4789374"/>
            <a:ext cx="10515823" cy="719770"/>
          </a:xfrm>
          <a:prstGeom prst="roundRect">
            <a:avLst>
              <a:gd name="adj" fmla="val 7940"/>
            </a:avLst>
          </a:prstGeom>
          <a:solidFill>
            <a:srgbClr val="2A2A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1" name="Shape 73"/>
          <p:cNvSpPr/>
          <p:nvPr/>
        </p:nvSpPr>
        <p:spPr>
          <a:xfrm>
            <a:off x="1066540" y="4983781"/>
            <a:ext cx="1076399" cy="330771"/>
          </a:xfrm>
          <a:prstGeom prst="roundRect">
            <a:avLst>
              <a:gd name="adj" fmla="val 8639"/>
            </a:avLst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82" name="Text 74"/>
          <p:cNvSpPr/>
          <p:nvPr/>
        </p:nvSpPr>
        <p:spPr>
          <a:xfrm>
            <a:off x="1209415" y="5059981"/>
            <a:ext cx="866849" cy="2164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68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RÉFÉRENCE</a:t>
            </a:r>
            <a:endParaRPr lang="en-US" sz="975" dirty="0"/>
          </a:p>
        </p:txBody>
      </p:sp>
      <p:sp>
        <p:nvSpPr>
          <p:cNvPr id="83" name="Text 75"/>
          <p:cNvSpPr/>
          <p:nvPr/>
        </p:nvSpPr>
        <p:spPr>
          <a:xfrm>
            <a:off x="2333439" y="4932249"/>
            <a:ext cx="9055782" cy="472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88" b="1" dirty="0">
                <a:solidFill>
                  <a:srgbClr val="FFFFF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RAG = implémentation de référence. </a:t>
            </a:r>
            <a:r>
              <a:rPr lang="en-US" sz="1088" dirty="0">
                <a:solidFill>
                  <a:srgbClr val="9AA5B8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1</a:t>
            </a:r>
            <a:r>
              <a:rPr lang="en-US" sz="906" baseline="30000" dirty="0">
                <a:solidFill>
                  <a:srgbClr val="9AA5B8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er </a:t>
            </a:r>
            <a:r>
              <a:rPr lang="en-US" sz="1088" dirty="0">
                <a:solidFill>
                  <a:srgbClr val="9AA5B8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use case complet : il prouve l'architecture de bout en bout </a:t>
            </a:r>
            <a:r>
              <a:rPr lang="en-US" sz="1088" b="1" dirty="0">
                <a:solidFill>
                  <a:srgbClr val="BDD248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et hérite automatiquement de tout l'outillage OPS </a:t>
            </a:r>
            <a:r>
              <a:rPr lang="en-US" sz="1088" dirty="0">
                <a:solidFill>
                  <a:srgbClr val="9AA5B8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(MLflow, monitoring, Docker, CI/CT). Un développeur peut s'en inspirer comme modèle pour son propre use case.</a:t>
            </a:r>
            <a:endParaRPr lang="en-US" sz="1088" dirty="0"/>
          </a:p>
        </p:txBody>
      </p:sp>
      <p:sp>
        <p:nvSpPr>
          <p:cNvPr id="84" name="Text 76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Projet de Fin d'Études · Pipeline MLOps générique</a:t>
            </a:r>
            <a:endParaRPr lang="en-US" sz="975" dirty="0"/>
          </a:p>
        </p:txBody>
      </p:sp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1E625CA4-BB53-5654-0350-E6796597317D}"/>
              </a:ext>
            </a:extLst>
          </p:cNvPr>
          <p:cNvSpPr txBox="1">
            <a:spLocks/>
          </p:cNvSpPr>
          <p:nvPr/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fr" sz="1733" dirty="0">
                <a:latin typeface="Arial" panose="020B0604020202020204" pitchFamily="34" charset="0"/>
                <a:ea typeface="Nunito Black"/>
                <a:cs typeface="Arial" panose="020B0604020202020204" pitchFamily="34" charset="0"/>
                <a:sym typeface="Nunito Black"/>
              </a:rPr>
              <a:t>18</a:t>
            </a:r>
          </a:p>
        </p:txBody>
      </p:sp>
      <p:pic>
        <p:nvPicPr>
          <p:cNvPr id="3" name="Image 4" descr="preencoded.png">
            <a:extLst>
              <a:ext uri="{FF2B5EF4-FFF2-40B4-BE49-F238E27FC236}">
                <a16:creationId xmlns:a16="http://schemas.microsoft.com/office/drawing/2014/main" id="{13C341C7-BAEF-4740-C1C6-3E308640F2D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0960274" y="156681"/>
            <a:ext cx="1041974" cy="6238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500"/>
                            </p:stCondLst>
                            <p:childTnLst>
                              <p:par>
                                <p:cTn id="20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500"/>
                            </p:stCondLst>
                            <p:childTnLst>
                              <p:par>
                                <p:cTn id="25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5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2" grpId="0" animBg="1"/>
      <p:bldP spid="13" grpId="0" animBg="1"/>
      <p:bldP spid="16" grpId="0" animBg="1"/>
      <p:bldP spid="22" grpId="0" animBg="1"/>
      <p:bldP spid="23" grpId="0" animBg="1"/>
      <p:bldP spid="32" grpId="0" animBg="1"/>
      <p:bldP spid="33" grpId="0" animBg="1"/>
      <p:bldP spid="36" grpId="0" animBg="1"/>
      <p:bldP spid="42" grpId="0" animBg="1"/>
      <p:bldP spid="43" grpId="0" animBg="1"/>
      <p:bldP spid="52" grpId="0" animBg="1"/>
      <p:bldP spid="53" grpId="0" animBg="1"/>
      <p:bldP spid="62" grpId="0" animBg="1"/>
      <p:bldP spid="63" grpId="0" animBg="1"/>
      <p:bldP spid="66" grpId="0" animBg="1"/>
      <p:bldP spid="71" grpId="0" animBg="1"/>
      <p:bldP spid="73" grpId="0" animBg="1"/>
      <p:bldP spid="75" grpId="0" animBg="1"/>
      <p:bldP spid="77" grpId="0" animBg="1"/>
      <p:bldP spid="79" grpId="0" animBg="1"/>
      <p:bldP spid="80" grpId="0" animBg="1"/>
      <p:bldP spid="82" grpId="0" animBg="1"/>
      <p:bldP spid="8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5" name="Text 2"/>
          <p:cNvSpPr/>
          <p:nvPr/>
        </p:nvSpPr>
        <p:spPr>
          <a:xfrm>
            <a:off x="838087" y="956965"/>
            <a:ext cx="12085545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4000" b="1" kern="0" spc="-60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Switch en </a:t>
            </a:r>
            <a:r>
              <a:rPr lang="en-US" sz="4000" b="1" kern="0" spc="-60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une ligne </a:t>
            </a:r>
            <a:r>
              <a:rPr lang="en-US" sz="4000" b="1" kern="0" spc="-60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YAML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838088" y="1692176"/>
            <a:ext cx="6617655" cy="3149575"/>
          </a:xfrm>
          <a:prstGeom prst="roundRect">
            <a:avLst>
              <a:gd name="adj" fmla="val 1815"/>
            </a:avLst>
          </a:prstGeom>
          <a:ln/>
          <a:effectLst>
            <a:outerShdw blurRad="76200" dist="19050" dir="5400000" algn="bl" rotWithShape="0">
              <a:srgbClr val="2A2A2A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7" name="Shape 4"/>
          <p:cNvSpPr/>
          <p:nvPr/>
        </p:nvSpPr>
        <p:spPr>
          <a:xfrm>
            <a:off x="838088" y="1692176"/>
            <a:ext cx="6617655" cy="437927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8" name="Text 5"/>
          <p:cNvSpPr/>
          <p:nvPr/>
        </p:nvSpPr>
        <p:spPr>
          <a:xfrm>
            <a:off x="1047637" y="1816001"/>
            <a:ext cx="1369603" cy="15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kern="0" spc="84" dirty="0">
                <a:solidFill>
                  <a:srgbClr val="BDD248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CATÉGORIE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2476388" y="1816001"/>
            <a:ext cx="4840782" cy="228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kern="0" spc="84" dirty="0">
                <a:solidFill>
                  <a:srgbClr val="9AA5B8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OPTIONS DISPONIBLES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38088" y="2130103"/>
            <a:ext cx="6617655" cy="53875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1" name="Shape 8"/>
          <p:cNvSpPr/>
          <p:nvPr/>
        </p:nvSpPr>
        <p:spPr>
          <a:xfrm>
            <a:off x="838088" y="2656953"/>
            <a:ext cx="1492748" cy="45719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2" name="Text 9"/>
          <p:cNvSpPr/>
          <p:nvPr/>
        </p:nvSpPr>
        <p:spPr>
          <a:xfrm>
            <a:off x="1047638" y="2244403"/>
            <a:ext cx="1134488" cy="33635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Chunker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266838" y="2656953"/>
            <a:ext cx="5124907" cy="45719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4" name="Shape 11"/>
          <p:cNvSpPr/>
          <p:nvPr/>
        </p:nvSpPr>
        <p:spPr>
          <a:xfrm>
            <a:off x="2476313" y="2263304"/>
            <a:ext cx="942491" cy="266402"/>
          </a:xfrm>
          <a:prstGeom prst="roundRect">
            <a:avLst>
              <a:gd name="adj" fmla="val 10726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5" name="Text 12"/>
          <p:cNvSpPr/>
          <p:nvPr/>
        </p:nvSpPr>
        <p:spPr>
          <a:xfrm>
            <a:off x="2592994" y="2313310"/>
            <a:ext cx="778289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25252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recursive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426023" y="2263304"/>
            <a:ext cx="864744" cy="266402"/>
          </a:xfrm>
          <a:prstGeom prst="roundRect">
            <a:avLst>
              <a:gd name="adj" fmla="val 10726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" name="Text 14"/>
          <p:cNvSpPr/>
          <p:nvPr/>
        </p:nvSpPr>
        <p:spPr>
          <a:xfrm>
            <a:off x="3542705" y="2313310"/>
            <a:ext cx="700542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25252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semantic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838088" y="2668860"/>
            <a:ext cx="6617655" cy="544711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838088" y="3201664"/>
            <a:ext cx="1492748" cy="45719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0" name="Text 17"/>
          <p:cNvSpPr/>
          <p:nvPr/>
        </p:nvSpPr>
        <p:spPr>
          <a:xfrm>
            <a:off x="1047638" y="2783160"/>
            <a:ext cx="1134488" cy="34230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Embedder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2266838" y="3201664"/>
            <a:ext cx="5124907" cy="45719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2" name="Shape 19"/>
          <p:cNvSpPr/>
          <p:nvPr/>
        </p:nvSpPr>
        <p:spPr>
          <a:xfrm>
            <a:off x="2476314" y="2808015"/>
            <a:ext cx="1097598" cy="266402"/>
          </a:xfrm>
          <a:prstGeom prst="roundRect">
            <a:avLst>
              <a:gd name="adj" fmla="val 10726"/>
            </a:avLst>
          </a:prstGeom>
          <a:solidFill>
            <a:srgbClr val="FFFFFF"/>
          </a:solidFill>
          <a:ln w="11906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3" name="Text 20"/>
          <p:cNvSpPr/>
          <p:nvPr/>
        </p:nvSpPr>
        <p:spPr>
          <a:xfrm>
            <a:off x="2592994" y="2858021"/>
            <a:ext cx="933395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25252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huggingface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574478" y="2808015"/>
            <a:ext cx="942491" cy="266402"/>
          </a:xfrm>
          <a:prstGeom prst="roundRect">
            <a:avLst>
              <a:gd name="adj" fmla="val 10726"/>
            </a:avLst>
          </a:prstGeom>
          <a:solidFill>
            <a:srgbClr val="FFFFFF"/>
          </a:solidFill>
          <a:ln w="11906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5" name="Text 22"/>
          <p:cNvSpPr/>
          <p:nvPr/>
        </p:nvSpPr>
        <p:spPr>
          <a:xfrm>
            <a:off x="3691160" y="2858021"/>
            <a:ext cx="778289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25252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fastembed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838088" y="3213571"/>
            <a:ext cx="6617655" cy="54471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7" name="Shape 24"/>
          <p:cNvSpPr/>
          <p:nvPr/>
        </p:nvSpPr>
        <p:spPr>
          <a:xfrm>
            <a:off x="838088" y="3746375"/>
            <a:ext cx="1492748" cy="45719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8" name="Text 25"/>
          <p:cNvSpPr/>
          <p:nvPr/>
        </p:nvSpPr>
        <p:spPr>
          <a:xfrm>
            <a:off x="1047638" y="3327871"/>
            <a:ext cx="1134488" cy="34230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Vector store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2266838" y="3746375"/>
            <a:ext cx="5124907" cy="45719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0" name="Shape 27"/>
          <p:cNvSpPr/>
          <p:nvPr/>
        </p:nvSpPr>
        <p:spPr>
          <a:xfrm>
            <a:off x="2476313" y="3352726"/>
            <a:ext cx="631891" cy="266402"/>
          </a:xfrm>
          <a:prstGeom prst="roundRect">
            <a:avLst>
              <a:gd name="adj" fmla="val 10726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1" name="Text 28"/>
          <p:cNvSpPr/>
          <p:nvPr/>
        </p:nvSpPr>
        <p:spPr>
          <a:xfrm>
            <a:off x="2592994" y="3402732"/>
            <a:ext cx="467689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25252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FAISS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3128739" y="3352726"/>
            <a:ext cx="864744" cy="266402"/>
          </a:xfrm>
          <a:prstGeom prst="roundRect">
            <a:avLst>
              <a:gd name="adj" fmla="val 10726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3" name="Text 30"/>
          <p:cNvSpPr/>
          <p:nvPr/>
        </p:nvSpPr>
        <p:spPr>
          <a:xfrm>
            <a:off x="3205022" y="3402732"/>
            <a:ext cx="816148" cy="1706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25252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ChromaDB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4004035" y="3352726"/>
            <a:ext cx="709638" cy="266402"/>
          </a:xfrm>
          <a:prstGeom prst="roundRect">
            <a:avLst>
              <a:gd name="adj" fmla="val 10726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5" name="Text 32"/>
          <p:cNvSpPr/>
          <p:nvPr/>
        </p:nvSpPr>
        <p:spPr>
          <a:xfrm>
            <a:off x="4120716" y="3402732"/>
            <a:ext cx="545436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25252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Qdrant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4730874" y="3352726"/>
            <a:ext cx="709638" cy="266402"/>
          </a:xfrm>
          <a:prstGeom prst="roundRect">
            <a:avLst>
              <a:gd name="adj" fmla="val 10726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7" name="Text 34"/>
          <p:cNvSpPr/>
          <p:nvPr/>
        </p:nvSpPr>
        <p:spPr>
          <a:xfrm>
            <a:off x="4847555" y="3402732"/>
            <a:ext cx="545436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25252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Milvus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838088" y="3758282"/>
            <a:ext cx="6617655" cy="544711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9" name="Shape 36"/>
          <p:cNvSpPr/>
          <p:nvPr/>
        </p:nvSpPr>
        <p:spPr>
          <a:xfrm>
            <a:off x="838088" y="4291086"/>
            <a:ext cx="1492748" cy="45719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0" name="Text 37"/>
          <p:cNvSpPr/>
          <p:nvPr/>
        </p:nvSpPr>
        <p:spPr>
          <a:xfrm>
            <a:off x="1047638" y="3872582"/>
            <a:ext cx="1134488" cy="34230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Retriever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2266838" y="4291086"/>
            <a:ext cx="5124907" cy="45719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2" name="Shape 39"/>
          <p:cNvSpPr/>
          <p:nvPr/>
        </p:nvSpPr>
        <p:spPr>
          <a:xfrm>
            <a:off x="2476313" y="3897437"/>
            <a:ext cx="631891" cy="266402"/>
          </a:xfrm>
          <a:prstGeom prst="roundRect">
            <a:avLst>
              <a:gd name="adj" fmla="val 10726"/>
            </a:avLst>
          </a:prstGeom>
          <a:solidFill>
            <a:srgbClr val="FFFFFF"/>
          </a:solidFill>
          <a:ln w="11906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3" name="Text 40"/>
          <p:cNvSpPr/>
          <p:nvPr/>
        </p:nvSpPr>
        <p:spPr>
          <a:xfrm>
            <a:off x="2592994" y="3947443"/>
            <a:ext cx="467689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25252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naive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3128739" y="3897437"/>
            <a:ext cx="709638" cy="266402"/>
          </a:xfrm>
          <a:prstGeom prst="roundRect">
            <a:avLst>
              <a:gd name="adj" fmla="val 10726"/>
            </a:avLst>
          </a:prstGeom>
          <a:solidFill>
            <a:srgbClr val="FFFFFF"/>
          </a:solidFill>
          <a:ln w="11906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5" name="Text 42"/>
          <p:cNvSpPr/>
          <p:nvPr/>
        </p:nvSpPr>
        <p:spPr>
          <a:xfrm>
            <a:off x="3245421" y="3947443"/>
            <a:ext cx="545436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25252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hybrid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838088" y="4302993"/>
            <a:ext cx="6617655" cy="53875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7" name="Text 44"/>
          <p:cNvSpPr/>
          <p:nvPr/>
        </p:nvSpPr>
        <p:spPr>
          <a:xfrm>
            <a:off x="1047638" y="4417293"/>
            <a:ext cx="1134488" cy="34825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Reranker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2476314" y="4442147"/>
            <a:ext cx="554338" cy="266402"/>
          </a:xfrm>
          <a:prstGeom prst="roundRect">
            <a:avLst>
              <a:gd name="adj" fmla="val 10726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9" name="Text 46"/>
          <p:cNvSpPr/>
          <p:nvPr/>
        </p:nvSpPr>
        <p:spPr>
          <a:xfrm>
            <a:off x="2592995" y="4492154"/>
            <a:ext cx="390136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25252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none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3054510" y="4442147"/>
            <a:ext cx="942491" cy="266402"/>
          </a:xfrm>
          <a:prstGeom prst="roundRect">
            <a:avLst>
              <a:gd name="adj" fmla="val 10726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1" name="Text 48"/>
          <p:cNvSpPr/>
          <p:nvPr/>
        </p:nvSpPr>
        <p:spPr>
          <a:xfrm>
            <a:off x="3171191" y="4492154"/>
            <a:ext cx="778289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25252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flashrank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7514890" y="1692176"/>
            <a:ext cx="4010788" cy="3154226"/>
          </a:xfrm>
          <a:prstGeom prst="roundRect">
            <a:avLst>
              <a:gd name="adj" fmla="val 1812"/>
            </a:avLst>
          </a:prstGeom>
          <a:solidFill>
            <a:srgbClr val="1A1A1A"/>
          </a:solidFill>
          <a:ln/>
          <a:effectLst>
            <a:outerShdw blurRad="342900" dist="114300" dir="5400000" algn="bl" rotWithShape="0">
              <a:srgbClr val="1A1A1A">
                <a:alpha val="22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53" name="Shape 50"/>
          <p:cNvSpPr/>
          <p:nvPr/>
        </p:nvSpPr>
        <p:spPr>
          <a:xfrm>
            <a:off x="7762503" y="2158751"/>
            <a:ext cx="3493380" cy="45719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4" name="Text 51"/>
          <p:cNvSpPr/>
          <p:nvPr/>
        </p:nvSpPr>
        <p:spPr>
          <a:xfrm>
            <a:off x="7762502" y="1901651"/>
            <a:ext cx="3598181" cy="1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66" dirty="0">
                <a:solidFill>
                  <a:srgbClr val="9AA5B8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CONFIG.YAML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7762502" y="2323021"/>
            <a:ext cx="3598181" cy="295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400" dirty="0">
                <a:solidFill>
                  <a:srgbClr val="7DBCD5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pipeline</a:t>
            </a:r>
            <a:r>
              <a:rPr lang="en-US" sz="1400" dirty="0">
                <a:solidFill>
                  <a:srgbClr val="CDD3E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: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7914902" y="2580122"/>
            <a:ext cx="3438955" cy="295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400" dirty="0">
                <a:solidFill>
                  <a:srgbClr val="7DBCD5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chunker</a:t>
            </a:r>
            <a:r>
              <a:rPr lang="en-US" sz="1400" dirty="0">
                <a:solidFill>
                  <a:srgbClr val="CDD3E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: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8067303" y="2837222"/>
            <a:ext cx="3279728" cy="295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400" dirty="0">
                <a:solidFill>
                  <a:srgbClr val="7DBCD5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strategy</a:t>
            </a:r>
            <a:r>
              <a:rPr lang="en-US" sz="1400" dirty="0">
                <a:solidFill>
                  <a:srgbClr val="CDD3E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: </a:t>
            </a:r>
            <a:r>
              <a:rPr lang="en-US" sz="1400" dirty="0">
                <a:solidFill>
                  <a:srgbClr val="BDD248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recursive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7914902" y="3094323"/>
            <a:ext cx="3438955" cy="295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400" dirty="0">
                <a:solidFill>
                  <a:srgbClr val="7DBCD5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embedder</a:t>
            </a:r>
            <a:r>
              <a:rPr lang="en-US" sz="1400" dirty="0">
                <a:solidFill>
                  <a:srgbClr val="CDD3E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: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8067303" y="3351423"/>
            <a:ext cx="3279728" cy="295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400" dirty="0">
                <a:solidFill>
                  <a:srgbClr val="7DBCD5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strategy</a:t>
            </a:r>
            <a:r>
              <a:rPr lang="en-US" sz="1400" dirty="0">
                <a:solidFill>
                  <a:srgbClr val="CDD3E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: </a:t>
            </a:r>
            <a:r>
              <a:rPr lang="en-US" sz="1400" dirty="0">
                <a:solidFill>
                  <a:srgbClr val="BDD248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huggingface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7914902" y="3608524"/>
            <a:ext cx="3438955" cy="295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400" dirty="0">
                <a:solidFill>
                  <a:srgbClr val="7DBCD5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vector_store</a:t>
            </a:r>
            <a:r>
              <a:rPr lang="en-US" sz="1400" dirty="0">
                <a:solidFill>
                  <a:srgbClr val="CDD3E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: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Shape 58"/>
          <p:cNvSpPr/>
          <p:nvPr/>
        </p:nvSpPr>
        <p:spPr>
          <a:xfrm>
            <a:off x="7734040" y="3865625"/>
            <a:ext cx="3523118" cy="257101"/>
          </a:xfrm>
          <a:prstGeom prst="roundRect">
            <a:avLst>
              <a:gd name="adj" fmla="val 7410"/>
            </a:avLst>
          </a:prstGeom>
          <a:solidFill>
            <a:srgbClr val="BDD248">
              <a:alpha val="15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62" name="Shape 59"/>
          <p:cNvSpPr/>
          <p:nvPr/>
        </p:nvSpPr>
        <p:spPr>
          <a:xfrm>
            <a:off x="7734040" y="3865625"/>
            <a:ext cx="45719" cy="257101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63" name="Text 60"/>
          <p:cNvSpPr/>
          <p:nvPr/>
        </p:nvSpPr>
        <p:spPr>
          <a:xfrm>
            <a:off x="8034076" y="3865625"/>
            <a:ext cx="3315335" cy="295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400" dirty="0">
                <a:solidFill>
                  <a:srgbClr val="7DBCD5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strategy</a:t>
            </a:r>
            <a:r>
              <a:rPr lang="en-US" sz="1400" dirty="0">
                <a:solidFill>
                  <a:srgbClr val="CDD3E0"/>
                </a:solidFill>
                <a:highlight>
                  <a:srgbClr val="F5F8E4"/>
                </a:highlight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: </a:t>
            </a:r>
            <a:r>
              <a:rPr lang="en-US" sz="1400" b="1" dirty="0">
                <a:solidFill>
                  <a:srgbClr val="D0E866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qdrant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Text 61"/>
          <p:cNvSpPr/>
          <p:nvPr/>
        </p:nvSpPr>
        <p:spPr>
          <a:xfrm>
            <a:off x="7914902" y="4122725"/>
            <a:ext cx="3438955" cy="295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400" dirty="0">
                <a:solidFill>
                  <a:srgbClr val="7DBCD5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retriever</a:t>
            </a:r>
            <a:r>
              <a:rPr lang="en-US" sz="1400" dirty="0">
                <a:solidFill>
                  <a:srgbClr val="CDD3E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: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Text 62"/>
          <p:cNvSpPr/>
          <p:nvPr/>
        </p:nvSpPr>
        <p:spPr>
          <a:xfrm>
            <a:off x="8067303" y="4379826"/>
            <a:ext cx="3279728" cy="295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400" dirty="0">
                <a:solidFill>
                  <a:srgbClr val="7DBCD5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strategy</a:t>
            </a:r>
            <a:r>
              <a:rPr lang="en-US" sz="1400" dirty="0">
                <a:solidFill>
                  <a:srgbClr val="CDD3E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: </a:t>
            </a:r>
            <a:r>
              <a:rPr lang="en-US" sz="1400" dirty="0">
                <a:solidFill>
                  <a:srgbClr val="BDD248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hybrid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Shape 63"/>
          <p:cNvSpPr/>
          <p:nvPr/>
        </p:nvSpPr>
        <p:spPr>
          <a:xfrm>
            <a:off x="838088" y="5772485"/>
            <a:ext cx="10515823" cy="476064"/>
          </a:xfrm>
          <a:prstGeom prst="roundRect">
            <a:avLst>
              <a:gd name="adj" fmla="val 6002"/>
            </a:avLst>
          </a:prstGeom>
          <a:solidFill>
            <a:srgbClr val="2A2A2A"/>
          </a:solidFill>
          <a:ln/>
        </p:spPr>
        <p:txBody>
          <a:bodyPr/>
          <a:lstStyle/>
          <a:p>
            <a:endParaRPr lang="fr-TN" dirty="0"/>
          </a:p>
        </p:txBody>
      </p:sp>
      <p:sp>
        <p:nvSpPr>
          <p:cNvPr id="67" name="Shape 64"/>
          <p:cNvSpPr/>
          <p:nvPr/>
        </p:nvSpPr>
        <p:spPr>
          <a:xfrm>
            <a:off x="1036495" y="5966556"/>
            <a:ext cx="890401" cy="252078"/>
          </a:xfrm>
          <a:prstGeom prst="roundRect">
            <a:avLst>
              <a:gd name="adj" fmla="val 7557"/>
            </a:avLst>
          </a:prstGeom>
          <a:solidFill>
            <a:srgbClr val="BDD248">
              <a:alpha val="12000"/>
            </a:srgbClr>
          </a:solidFill>
          <a:ln w="11906">
            <a:solidFill>
              <a:srgbClr val="BDD24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8" name="Text 65"/>
          <p:cNvSpPr/>
          <p:nvPr/>
        </p:nvSpPr>
        <p:spPr>
          <a:xfrm>
            <a:off x="1086103" y="5924960"/>
            <a:ext cx="832349" cy="202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 kern="0" spc="18" dirty="0">
                <a:solidFill>
                  <a:srgbClr val="BDD248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Mécanisme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 66"/>
          <p:cNvSpPr/>
          <p:nvPr/>
        </p:nvSpPr>
        <p:spPr>
          <a:xfrm>
            <a:off x="1956903" y="5896198"/>
            <a:ext cx="177575" cy="266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kern="0" spc="18" dirty="0">
                <a:solidFill>
                  <a:srgbClr val="BDD248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+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Shape 67"/>
          <p:cNvSpPr/>
          <p:nvPr/>
        </p:nvSpPr>
        <p:spPr>
          <a:xfrm>
            <a:off x="2134712" y="5939284"/>
            <a:ext cx="890401" cy="252078"/>
          </a:xfrm>
          <a:prstGeom prst="roundRect">
            <a:avLst>
              <a:gd name="adj" fmla="val 7557"/>
            </a:avLst>
          </a:prstGeom>
          <a:solidFill>
            <a:srgbClr val="BDD248">
              <a:alpha val="12000"/>
            </a:srgbClr>
          </a:solidFill>
          <a:ln w="11906">
            <a:solidFill>
              <a:srgbClr val="BDD24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1" name="Text 68"/>
          <p:cNvSpPr/>
          <p:nvPr/>
        </p:nvSpPr>
        <p:spPr>
          <a:xfrm>
            <a:off x="2233910" y="5924959"/>
            <a:ext cx="746102" cy="209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 kern="0" spc="18" dirty="0">
                <a:solidFill>
                  <a:srgbClr val="BDD248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Catalogue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Shape 69"/>
          <p:cNvSpPr/>
          <p:nvPr/>
        </p:nvSpPr>
        <p:spPr>
          <a:xfrm>
            <a:off x="3112181" y="5877223"/>
            <a:ext cx="45719" cy="266588"/>
          </a:xfrm>
          <a:prstGeom prst="roundRect">
            <a:avLst>
              <a:gd name="adj" fmla="val 49999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73" name="Text 70"/>
          <p:cNvSpPr/>
          <p:nvPr/>
        </p:nvSpPr>
        <p:spPr>
          <a:xfrm>
            <a:off x="3264358" y="5917592"/>
            <a:ext cx="5529121" cy="301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b="1" kern="0" spc="18" dirty="0">
                <a:solidFill>
                  <a:srgbClr val="FFFFF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= </a:t>
            </a:r>
            <a:r>
              <a:rPr lang="en-US" sz="1100" b="1" kern="0" spc="18" dirty="0" err="1">
                <a:solidFill>
                  <a:srgbClr val="FFFFF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composants</a:t>
            </a:r>
            <a:r>
              <a:rPr lang="en-US" sz="1100" b="1" kern="0" spc="18" dirty="0">
                <a:solidFill>
                  <a:srgbClr val="FFFFF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 </a:t>
            </a:r>
            <a:r>
              <a:rPr lang="en-US" sz="1100" b="1" kern="0" spc="18" dirty="0" err="1">
                <a:solidFill>
                  <a:srgbClr val="FFFFF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réellement</a:t>
            </a:r>
            <a:r>
              <a:rPr lang="en-US" sz="1100" b="1" kern="0" spc="18" dirty="0">
                <a:solidFill>
                  <a:srgbClr val="FFFFF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 </a:t>
            </a:r>
            <a:r>
              <a:rPr lang="en-US" sz="1100" b="1" kern="0" spc="18" dirty="0" err="1">
                <a:solidFill>
                  <a:srgbClr val="FFFFF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interchangeables</a:t>
            </a:r>
            <a:r>
              <a:rPr lang="en-US" sz="1100" b="1" kern="0" spc="18" dirty="0">
                <a:solidFill>
                  <a:srgbClr val="FFFFF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,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Text 71"/>
          <p:cNvSpPr/>
          <p:nvPr/>
        </p:nvSpPr>
        <p:spPr>
          <a:xfrm>
            <a:off x="8106482" y="5931917"/>
            <a:ext cx="3513245" cy="195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kern="0" spc="18" dirty="0">
                <a:solidFill>
                  <a:srgbClr val="FFFFFF">
                    <a:alpha val="35000"/>
                  </a:srgbClr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← slide précédente : le mécanisme de chargement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Text 72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Projet de Fin d'Études · Pipeline MLOps générique</a:t>
            </a:r>
            <a:endParaRPr lang="en-US" sz="975" dirty="0"/>
          </a:p>
        </p:txBody>
      </p:sp>
      <p:sp>
        <p:nvSpPr>
          <p:cNvPr id="3" name="Google Shape;88;p17">
            <a:extLst>
              <a:ext uri="{FF2B5EF4-FFF2-40B4-BE49-F238E27FC236}">
                <a16:creationId xmlns:a16="http://schemas.microsoft.com/office/drawing/2014/main" id="{DDF78881-0371-626A-16D1-B6DB078A7025}"/>
              </a:ext>
            </a:extLst>
          </p:cNvPr>
          <p:cNvSpPr txBox="1">
            <a:spLocks/>
          </p:cNvSpPr>
          <p:nvPr/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fr" sz="1733" dirty="0">
                <a:latin typeface="Arial" panose="020B0604020202020204" pitchFamily="34" charset="0"/>
                <a:ea typeface="Nunito Black"/>
                <a:cs typeface="Arial" panose="020B0604020202020204" pitchFamily="34" charset="0"/>
                <a:sym typeface="Nunito Black"/>
              </a:rPr>
              <a:t>19</a:t>
            </a:r>
          </a:p>
        </p:txBody>
      </p:sp>
      <p:pic>
        <p:nvPicPr>
          <p:cNvPr id="4" name="Image 4" descr="preencoded.png">
            <a:extLst>
              <a:ext uri="{FF2B5EF4-FFF2-40B4-BE49-F238E27FC236}">
                <a16:creationId xmlns:a16="http://schemas.microsoft.com/office/drawing/2014/main" id="{DB4819EF-4054-0919-F8D5-26736BCC035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0960274" y="156681"/>
            <a:ext cx="1041974" cy="6238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40" grpId="0" animBg="1"/>
      <p:bldP spid="42" grpId="0" animBg="1"/>
      <p:bldP spid="43" grpId="0" animBg="1"/>
      <p:bldP spid="44" grpId="0" animBg="1"/>
      <p:bldP spid="45" grpId="0" animBg="1"/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A83C4-8CD7-2D7C-E5F2-9CA66EAEC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5F3810E-43AF-A07D-21FC-7C959701BD1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67000">
                <a:schemeClr val="accent1">
                  <a:lumMod val="5000"/>
                  <a:lumOff val="95000"/>
                </a:schemeClr>
              </a:gs>
              <a:gs pos="0">
                <a:schemeClr val="accent6">
                  <a:lumMod val="60000"/>
                  <a:lumOff val="40000"/>
                </a:schemeClr>
              </a:gs>
              <a:gs pos="88000">
                <a:schemeClr val="accent6">
                  <a:lumMod val="40000"/>
                  <a:lumOff val="60000"/>
                </a:schemeClr>
              </a:gs>
              <a:gs pos="100000">
                <a:schemeClr val="accent6">
                  <a:lumMod val="40000"/>
                  <a:lumOff val="60000"/>
                </a:schemeClr>
              </a:gs>
            </a:gsLst>
            <a:lin ang="5400000" scaled="1"/>
          </a:gra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78387989-7196-DE49-F0D1-3401D022D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1238250" cy="2286000"/>
          </a:xfrm>
          <a:prstGeom prst="rect">
            <a:avLst/>
          </a:prstGeom>
        </p:spPr>
      </p:pic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36D3235D-D8FE-66AB-39A2-D7AF8B0ED3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37" y="2286000"/>
            <a:ext cx="1238250" cy="2286000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C7045911-EF18-8022-99B3-60F12E872B23}"/>
              </a:ext>
            </a:extLst>
          </p:cNvPr>
          <p:cNvSpPr/>
          <p:nvPr/>
        </p:nvSpPr>
        <p:spPr>
          <a:xfrm>
            <a:off x="2743088" y="2464594"/>
            <a:ext cx="5875395" cy="1238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endParaRPr lang="en-US" sz="4500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99223E49-BEC4-0287-8FDE-AB42746D094B}"/>
              </a:ext>
            </a:extLst>
          </p:cNvPr>
          <p:cNvSpPr/>
          <p:nvPr/>
        </p:nvSpPr>
        <p:spPr>
          <a:xfrm>
            <a:off x="2743088" y="3931109"/>
            <a:ext cx="685726" cy="57113"/>
          </a:xfrm>
          <a:prstGeom prst="roundRect">
            <a:avLst>
              <a:gd name="adj" fmla="val 50000"/>
            </a:avLst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3E0B480A-6B5B-2D40-3239-E640169E1908}"/>
              </a:ext>
            </a:extLst>
          </p:cNvPr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817C5A9D-F007-BB4A-2B15-E67AEDD8EE4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1180341" y="6418585"/>
            <a:ext cx="173571" cy="152363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874D7148-C3D4-87CA-014F-F1CA39CEC308}"/>
              </a:ext>
            </a:extLst>
          </p:cNvPr>
          <p:cNvSpPr txBox="1"/>
          <p:nvPr/>
        </p:nvSpPr>
        <p:spPr>
          <a:xfrm>
            <a:off x="8472527" y="1765245"/>
            <a:ext cx="349686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9600" b="1" dirty="0"/>
              <a:t>04</a:t>
            </a:r>
            <a:endParaRPr lang="fr-TN" sz="19600" b="1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0D95A181-AE5C-145C-035B-6A7AB133B7C6}"/>
              </a:ext>
            </a:extLst>
          </p:cNvPr>
          <p:cNvSpPr/>
          <p:nvPr/>
        </p:nvSpPr>
        <p:spPr>
          <a:xfrm>
            <a:off x="2199197" y="2589721"/>
            <a:ext cx="7793606" cy="1238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Le cœur du projet — les services OPS</a:t>
            </a:r>
            <a:endParaRPr lang="en-US" sz="4500" dirty="0"/>
          </a:p>
        </p:txBody>
      </p:sp>
      <p:sp>
        <p:nvSpPr>
          <p:cNvPr id="8" name="Google Shape;88;p17">
            <a:extLst>
              <a:ext uri="{FF2B5EF4-FFF2-40B4-BE49-F238E27FC236}">
                <a16:creationId xmlns:a16="http://schemas.microsoft.com/office/drawing/2014/main" id="{207E24A9-B1F6-95B3-11D7-C42BED02695E}"/>
              </a:ext>
            </a:extLst>
          </p:cNvPr>
          <p:cNvSpPr txBox="1">
            <a:spLocks/>
          </p:cNvSpPr>
          <p:nvPr/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fr" sz="1733" dirty="0">
                <a:latin typeface="Arial" panose="020B0604020202020204" pitchFamily="34" charset="0"/>
                <a:ea typeface="Nunito Black"/>
                <a:cs typeface="Arial" panose="020B0604020202020204" pitchFamily="34" charset="0"/>
                <a:sym typeface="Nunito Black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954126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FC1C92-12C2-82EC-99F9-E225EB4CA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094B71C0-1802-5C5A-7E4E-CCB49D86E4F3}"/>
              </a:ext>
            </a:extLst>
          </p:cNvPr>
          <p:cNvSpPr/>
          <p:nvPr/>
        </p:nvSpPr>
        <p:spPr>
          <a:xfrm>
            <a:off x="838088" y="956965"/>
            <a:ext cx="11567406" cy="465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850" b="1" kern="0" spc="-57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Le modèle ML n’est que la </a:t>
            </a:r>
            <a:r>
              <a:rPr lang="en-US" sz="2850" b="1" kern="0" spc="-57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partie émergée</a:t>
            </a:r>
            <a:endParaRPr lang="en-US" sz="285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EC5682E6-AFF7-4D52-8BE6-7853CBBDEFCA}"/>
              </a:ext>
            </a:extLst>
          </p:cNvPr>
          <p:cNvSpPr/>
          <p:nvPr/>
        </p:nvSpPr>
        <p:spPr>
          <a:xfrm>
            <a:off x="838088" y="1517303"/>
            <a:ext cx="10515823" cy="2423852"/>
          </a:xfrm>
          <a:prstGeom prst="roundRect">
            <a:avLst>
              <a:gd name="adj" fmla="val 5502"/>
            </a:avLst>
          </a:prstGeom>
          <a:solidFill>
            <a:schemeClr val="accent6">
              <a:lumMod val="40000"/>
              <a:lumOff val="60000"/>
            </a:schemeClr>
          </a:solidFill>
          <a:ln w="11906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A666CE8E-6166-5D0A-C944-FCACAF60AC4D}"/>
              </a:ext>
            </a:extLst>
          </p:cNvPr>
          <p:cNvSpPr/>
          <p:nvPr/>
        </p:nvSpPr>
        <p:spPr>
          <a:xfrm>
            <a:off x="1040495" y="1424471"/>
            <a:ext cx="1920255" cy="194965"/>
          </a:xfrm>
          <a:prstGeom prst="roundRect">
            <a:avLst>
              <a:gd name="adj" fmla="val 19542"/>
            </a:avLst>
          </a:prstGeom>
          <a:solidFill>
            <a:srgbClr val="2A2A2A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68267C3-D7F9-E354-3FA1-1065A67F708A}"/>
              </a:ext>
            </a:extLst>
          </p:cNvPr>
          <p:cNvSpPr/>
          <p:nvPr/>
        </p:nvSpPr>
        <p:spPr>
          <a:xfrm>
            <a:off x="1154795" y="1462571"/>
            <a:ext cx="1767855" cy="156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kern="0" spc="105" dirty="0">
                <a:solidFill>
                  <a:srgbClr val="BDD248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SYSTÈME ML EN PRODUCTION</a:t>
            </a:r>
            <a:endParaRPr lang="en-US" sz="7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FE432CF-22F1-28A8-8348-C1E4D31DA815}"/>
              </a:ext>
            </a:extLst>
          </p:cNvPr>
          <p:cNvSpPr/>
          <p:nvPr/>
        </p:nvSpPr>
        <p:spPr>
          <a:xfrm>
            <a:off x="1040495" y="1776822"/>
            <a:ext cx="2456222" cy="590476"/>
          </a:xfrm>
          <a:prstGeom prst="roundRect">
            <a:avLst>
              <a:gd name="adj" fmla="val 12905"/>
            </a:avLst>
          </a:prstGeom>
          <a:solidFill>
            <a:srgbClr val="F4F4F4"/>
          </a:solidFill>
          <a:ln w="11906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41D275B-34C0-7E30-B305-26F9FFD677EF}"/>
              </a:ext>
            </a:extLst>
          </p:cNvPr>
          <p:cNvSpPr/>
          <p:nvPr/>
        </p:nvSpPr>
        <p:spPr>
          <a:xfrm>
            <a:off x="1128601" y="1788728"/>
            <a:ext cx="2280010" cy="604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525252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Config</a:t>
            </a:r>
            <a:endParaRPr lang="en-US" sz="1013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40A4DA2F-3F12-415E-F424-2AE36EF75243}"/>
              </a:ext>
            </a:extLst>
          </p:cNvPr>
          <p:cNvSpPr/>
          <p:nvPr/>
        </p:nvSpPr>
        <p:spPr>
          <a:xfrm>
            <a:off x="3591967" y="1776822"/>
            <a:ext cx="2456408" cy="590476"/>
          </a:xfrm>
          <a:prstGeom prst="roundRect">
            <a:avLst>
              <a:gd name="adj" fmla="val 12905"/>
            </a:avLst>
          </a:prstGeom>
          <a:solidFill>
            <a:srgbClr val="F4F4F4"/>
          </a:solidFill>
          <a:ln w="11906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E724FA6-33D7-7076-46F2-656283C51641}"/>
              </a:ext>
            </a:extLst>
          </p:cNvPr>
          <p:cNvSpPr/>
          <p:nvPr/>
        </p:nvSpPr>
        <p:spPr>
          <a:xfrm>
            <a:off x="3680073" y="1788728"/>
            <a:ext cx="2280196" cy="604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525252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Collecte de données</a:t>
            </a:r>
            <a:endParaRPr lang="en-US" sz="1013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1AF3E435-2DD2-C2A6-120B-0A5E6A310003}"/>
              </a:ext>
            </a:extLst>
          </p:cNvPr>
          <p:cNvSpPr/>
          <p:nvPr/>
        </p:nvSpPr>
        <p:spPr>
          <a:xfrm>
            <a:off x="6143625" y="1776822"/>
            <a:ext cx="2456222" cy="590476"/>
          </a:xfrm>
          <a:prstGeom prst="roundRect">
            <a:avLst>
              <a:gd name="adj" fmla="val 12905"/>
            </a:avLst>
          </a:prstGeom>
          <a:solidFill>
            <a:srgbClr val="F4F4F4"/>
          </a:solidFill>
          <a:ln w="11906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984483E3-F9A3-4F53-29D8-6EE928D48056}"/>
              </a:ext>
            </a:extLst>
          </p:cNvPr>
          <p:cNvSpPr/>
          <p:nvPr/>
        </p:nvSpPr>
        <p:spPr>
          <a:xfrm>
            <a:off x="6231731" y="1788728"/>
            <a:ext cx="2280010" cy="604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525252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Vérification données</a:t>
            </a:r>
            <a:endParaRPr lang="en-US" sz="1013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87E967DE-EA37-B5E6-448A-5D81726A0527}"/>
              </a:ext>
            </a:extLst>
          </p:cNvPr>
          <p:cNvSpPr/>
          <p:nvPr/>
        </p:nvSpPr>
        <p:spPr>
          <a:xfrm>
            <a:off x="8695097" y="1776822"/>
            <a:ext cx="2456408" cy="590476"/>
          </a:xfrm>
          <a:prstGeom prst="roundRect">
            <a:avLst>
              <a:gd name="adj" fmla="val 12905"/>
            </a:avLst>
          </a:prstGeom>
          <a:solidFill>
            <a:srgbClr val="F4F4F4"/>
          </a:solidFill>
          <a:ln w="11906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898A8101-A04E-F4E0-92D2-70A6EEC83F8A}"/>
              </a:ext>
            </a:extLst>
          </p:cNvPr>
          <p:cNvSpPr/>
          <p:nvPr/>
        </p:nvSpPr>
        <p:spPr>
          <a:xfrm>
            <a:off x="8783203" y="1788728"/>
            <a:ext cx="2280196" cy="604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525252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Feature extraction</a:t>
            </a:r>
            <a:endParaRPr lang="en-US" sz="1013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C61C11D5-D11C-A06F-6520-60DB1A8E571B}"/>
              </a:ext>
            </a:extLst>
          </p:cNvPr>
          <p:cNvSpPr/>
          <p:nvPr/>
        </p:nvSpPr>
        <p:spPr>
          <a:xfrm>
            <a:off x="1040495" y="2462547"/>
            <a:ext cx="4302993" cy="590476"/>
          </a:xfrm>
          <a:prstGeom prst="roundRect">
            <a:avLst>
              <a:gd name="adj" fmla="val 12905"/>
            </a:avLst>
          </a:prstGeom>
          <a:solidFill>
            <a:srgbClr val="F4F4F4"/>
          </a:solidFill>
          <a:ln w="11906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C3CD2B3C-9348-D30C-BB36-D5918C6F4DFE}"/>
              </a:ext>
            </a:extLst>
          </p:cNvPr>
          <p:cNvSpPr/>
          <p:nvPr/>
        </p:nvSpPr>
        <p:spPr>
          <a:xfrm>
            <a:off x="1102156" y="2474454"/>
            <a:ext cx="4179670" cy="604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525252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Gestion des ressources</a:t>
            </a:r>
            <a:endParaRPr lang="en-US" sz="1013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614868B2-8CDF-A05E-D51F-10906D87BBB1}"/>
              </a:ext>
            </a:extLst>
          </p:cNvPr>
          <p:cNvSpPr/>
          <p:nvPr/>
        </p:nvSpPr>
        <p:spPr>
          <a:xfrm>
            <a:off x="5438738" y="2557797"/>
            <a:ext cx="1314338" cy="399976"/>
          </a:xfrm>
          <a:prstGeom prst="roundRect">
            <a:avLst>
              <a:gd name="adj" fmla="val 19051"/>
            </a:avLst>
          </a:prstGeom>
          <a:solidFill>
            <a:srgbClr val="2A2A2A"/>
          </a:solidFill>
          <a:ln w="11906">
            <a:solidFill>
              <a:srgbClr val="8FA82E"/>
            </a:solidFill>
            <a:prstDash val="solid"/>
          </a:ln>
          <a:effectLst>
            <a:outerShdw blurRad="152400" dist="5715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fr-TN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64E4994C-90DA-571D-864E-333ADE0C3407}"/>
              </a:ext>
            </a:extLst>
          </p:cNvPr>
          <p:cNvSpPr/>
          <p:nvPr/>
        </p:nvSpPr>
        <p:spPr>
          <a:xfrm>
            <a:off x="5661422" y="2627933"/>
            <a:ext cx="944984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00" kern="0" spc="96" dirty="0">
                <a:solidFill>
                  <a:srgbClr val="BDD248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LE SEUL CODE ML</a:t>
            </a:r>
            <a:endParaRPr lang="en-US" sz="6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CD95E07A-CD95-EB60-0085-A67B43619009}"/>
              </a:ext>
            </a:extLst>
          </p:cNvPr>
          <p:cNvSpPr/>
          <p:nvPr/>
        </p:nvSpPr>
        <p:spPr>
          <a:xfrm>
            <a:off x="5763927" y="2744577"/>
            <a:ext cx="74015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kern="0" spc="11" dirty="0">
                <a:solidFill>
                  <a:srgbClr val="FFFFF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CODE ML</a:t>
            </a:r>
            <a:endParaRPr lang="en-US" sz="1125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798E565E-16BA-3D28-7141-90BAAC7ED175}"/>
              </a:ext>
            </a:extLst>
          </p:cNvPr>
          <p:cNvSpPr/>
          <p:nvPr/>
        </p:nvSpPr>
        <p:spPr>
          <a:xfrm>
            <a:off x="6848326" y="2462547"/>
            <a:ext cx="4303179" cy="590476"/>
          </a:xfrm>
          <a:prstGeom prst="roundRect">
            <a:avLst>
              <a:gd name="adj" fmla="val 12905"/>
            </a:avLst>
          </a:prstGeom>
          <a:solidFill>
            <a:srgbClr val="F4F4F4"/>
          </a:solidFill>
          <a:ln w="11906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6481D480-900D-4E07-C6BA-A22F69D404A7}"/>
              </a:ext>
            </a:extLst>
          </p:cNvPr>
          <p:cNvSpPr/>
          <p:nvPr/>
        </p:nvSpPr>
        <p:spPr>
          <a:xfrm>
            <a:off x="6909985" y="2474454"/>
            <a:ext cx="4179862" cy="604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525252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Serving</a:t>
            </a:r>
            <a:endParaRPr lang="en-US" sz="1013" dirty="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1E08CCF3-E9FD-B532-22B7-9DD5DAEA3F6E}"/>
              </a:ext>
            </a:extLst>
          </p:cNvPr>
          <p:cNvSpPr/>
          <p:nvPr/>
        </p:nvSpPr>
        <p:spPr>
          <a:xfrm>
            <a:off x="1040495" y="3148273"/>
            <a:ext cx="3306775" cy="590476"/>
          </a:xfrm>
          <a:prstGeom prst="roundRect">
            <a:avLst>
              <a:gd name="adj" fmla="val 12905"/>
            </a:avLst>
          </a:prstGeom>
          <a:solidFill>
            <a:srgbClr val="F4F4F4"/>
          </a:solidFill>
          <a:ln w="11906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08534DD8-3565-CB91-C971-7EB408B48B0B}"/>
              </a:ext>
            </a:extLst>
          </p:cNvPr>
          <p:cNvSpPr/>
          <p:nvPr/>
        </p:nvSpPr>
        <p:spPr>
          <a:xfrm>
            <a:off x="1117099" y="3160179"/>
            <a:ext cx="3153566" cy="604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525252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Monitoring</a:t>
            </a:r>
            <a:endParaRPr lang="en-US" sz="1013" dirty="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1FA1C56E-62C7-CA51-C1FC-F71DBC286C28}"/>
              </a:ext>
            </a:extLst>
          </p:cNvPr>
          <p:cNvSpPr/>
          <p:nvPr/>
        </p:nvSpPr>
        <p:spPr>
          <a:xfrm>
            <a:off x="4442520" y="3148273"/>
            <a:ext cx="3306961" cy="590476"/>
          </a:xfrm>
          <a:prstGeom prst="roundRect">
            <a:avLst>
              <a:gd name="adj" fmla="val 12905"/>
            </a:avLst>
          </a:prstGeom>
          <a:solidFill>
            <a:srgbClr val="F4F4F4"/>
          </a:solidFill>
          <a:ln w="11906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3C34E3B3-B77A-9A09-8744-4EA3CDC49519}"/>
              </a:ext>
            </a:extLst>
          </p:cNvPr>
          <p:cNvSpPr/>
          <p:nvPr/>
        </p:nvSpPr>
        <p:spPr>
          <a:xfrm>
            <a:off x="4519121" y="3160179"/>
            <a:ext cx="3153757" cy="604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525252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Tracking</a:t>
            </a:r>
            <a:endParaRPr lang="en-US" sz="1013" dirty="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A76003FC-D7A1-0323-3A69-519E0E9AE21C}"/>
              </a:ext>
            </a:extLst>
          </p:cNvPr>
          <p:cNvSpPr/>
          <p:nvPr/>
        </p:nvSpPr>
        <p:spPr>
          <a:xfrm>
            <a:off x="7844730" y="3148273"/>
            <a:ext cx="3306775" cy="590476"/>
          </a:xfrm>
          <a:prstGeom prst="roundRect">
            <a:avLst>
              <a:gd name="adj" fmla="val 12905"/>
            </a:avLst>
          </a:prstGeom>
          <a:solidFill>
            <a:srgbClr val="F4F4F4"/>
          </a:solidFill>
          <a:ln w="11906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241B26AF-28D5-1F9E-E883-9F52922964D6}"/>
              </a:ext>
            </a:extLst>
          </p:cNvPr>
          <p:cNvSpPr/>
          <p:nvPr/>
        </p:nvSpPr>
        <p:spPr>
          <a:xfrm>
            <a:off x="7921335" y="3160179"/>
            <a:ext cx="3153566" cy="604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525252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CI/CT</a:t>
            </a:r>
            <a:endParaRPr lang="en-US" sz="1013" dirty="0"/>
          </a:p>
        </p:txBody>
      </p:sp>
      <p:grpSp>
        <p:nvGrpSpPr>
          <p:cNvPr id="48" name="Groupe 47">
            <a:extLst>
              <a:ext uri="{FF2B5EF4-FFF2-40B4-BE49-F238E27FC236}">
                <a16:creationId xmlns:a16="http://schemas.microsoft.com/office/drawing/2014/main" id="{BA7C1CBC-908B-4756-730C-5F396912007E}"/>
              </a:ext>
            </a:extLst>
          </p:cNvPr>
          <p:cNvGrpSpPr/>
          <p:nvPr/>
        </p:nvGrpSpPr>
        <p:grpSpPr>
          <a:xfrm>
            <a:off x="790463" y="5615996"/>
            <a:ext cx="10515823" cy="413184"/>
            <a:chOff x="838088" y="4936257"/>
            <a:chExt cx="10515823" cy="413184"/>
          </a:xfrm>
        </p:grpSpPr>
        <p:sp>
          <p:nvSpPr>
            <p:cNvPr id="33" name="Shape 30">
              <a:extLst>
                <a:ext uri="{FF2B5EF4-FFF2-40B4-BE49-F238E27FC236}">
                  <a16:creationId xmlns:a16="http://schemas.microsoft.com/office/drawing/2014/main" id="{C7EA6C1F-FF6F-BA06-061F-D8E7C21B676A}"/>
                </a:ext>
              </a:extLst>
            </p:cNvPr>
            <p:cNvSpPr/>
            <p:nvPr/>
          </p:nvSpPr>
          <p:spPr>
            <a:xfrm>
              <a:off x="838088" y="5337535"/>
              <a:ext cx="10515823" cy="11906"/>
            </a:xfrm>
            <a:prstGeom prst="rect">
              <a:avLst/>
            </a:prstGeom>
            <a:solidFill>
              <a:srgbClr val="BDD248"/>
            </a:solidFill>
            <a:ln/>
          </p:spPr>
          <p:txBody>
            <a:bodyPr/>
            <a:lstStyle/>
            <a:p>
              <a:endParaRPr lang="fr-TN"/>
            </a:p>
          </p:txBody>
        </p:sp>
        <p:sp>
          <p:nvSpPr>
            <p:cNvPr id="34" name="Shape 31">
              <a:extLst>
                <a:ext uri="{FF2B5EF4-FFF2-40B4-BE49-F238E27FC236}">
                  <a16:creationId xmlns:a16="http://schemas.microsoft.com/office/drawing/2014/main" id="{897D6185-96CF-2032-8658-F89E92314D74}"/>
                </a:ext>
              </a:extLst>
            </p:cNvPr>
            <p:cNvSpPr/>
            <p:nvPr/>
          </p:nvSpPr>
          <p:spPr>
            <a:xfrm>
              <a:off x="838088" y="4936257"/>
              <a:ext cx="10515823" cy="11906"/>
            </a:xfrm>
            <a:prstGeom prst="rect">
              <a:avLst/>
            </a:prstGeom>
            <a:solidFill>
              <a:srgbClr val="BDD248"/>
            </a:solidFill>
            <a:ln/>
          </p:spPr>
          <p:txBody>
            <a:bodyPr/>
            <a:lstStyle/>
            <a:p>
              <a:endParaRPr lang="fr-TN"/>
            </a:p>
          </p:txBody>
        </p:sp>
        <p:sp>
          <p:nvSpPr>
            <p:cNvPr id="35" name="Shape 32">
              <a:extLst>
                <a:ext uri="{FF2B5EF4-FFF2-40B4-BE49-F238E27FC236}">
                  <a16:creationId xmlns:a16="http://schemas.microsoft.com/office/drawing/2014/main" id="{D175D007-35AE-CD0A-EB3E-FE8B1DD332EC}"/>
                </a:ext>
              </a:extLst>
            </p:cNvPr>
            <p:cNvSpPr/>
            <p:nvPr/>
          </p:nvSpPr>
          <p:spPr>
            <a:xfrm>
              <a:off x="838088" y="4936257"/>
              <a:ext cx="23813" cy="413184"/>
            </a:xfrm>
            <a:prstGeom prst="rect">
              <a:avLst/>
            </a:prstGeom>
            <a:solidFill>
              <a:srgbClr val="8FA82E"/>
            </a:solidFill>
            <a:ln/>
          </p:spPr>
          <p:txBody>
            <a:bodyPr/>
            <a:lstStyle/>
            <a:p>
              <a:endParaRPr lang="fr-TN"/>
            </a:p>
          </p:txBody>
        </p:sp>
        <p:sp>
          <p:nvSpPr>
            <p:cNvPr id="36" name="Shape 33">
              <a:extLst>
                <a:ext uri="{FF2B5EF4-FFF2-40B4-BE49-F238E27FC236}">
                  <a16:creationId xmlns:a16="http://schemas.microsoft.com/office/drawing/2014/main" id="{7C44485F-5AE2-AAF7-187F-3A7EC5F7F3F2}"/>
                </a:ext>
              </a:extLst>
            </p:cNvPr>
            <p:cNvSpPr/>
            <p:nvPr/>
          </p:nvSpPr>
          <p:spPr>
            <a:xfrm>
              <a:off x="11342005" y="4936257"/>
              <a:ext cx="11906" cy="413184"/>
            </a:xfrm>
            <a:prstGeom prst="rect">
              <a:avLst/>
            </a:prstGeom>
            <a:solidFill>
              <a:srgbClr val="BDD248"/>
            </a:solidFill>
            <a:ln/>
          </p:spPr>
          <p:txBody>
            <a:bodyPr/>
            <a:lstStyle/>
            <a:p>
              <a:endParaRPr lang="fr-TN"/>
            </a:p>
          </p:txBody>
        </p:sp>
      </p:grp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1261C6F7-9FE4-A4E4-87C2-77C260D42FA7}"/>
              </a:ext>
            </a:extLst>
          </p:cNvPr>
          <p:cNvGrpSpPr/>
          <p:nvPr/>
        </p:nvGrpSpPr>
        <p:grpSpPr>
          <a:xfrm>
            <a:off x="790463" y="5604639"/>
            <a:ext cx="10515823" cy="413184"/>
            <a:chOff x="826182" y="4936897"/>
            <a:chExt cx="10515823" cy="413184"/>
          </a:xfrm>
        </p:grpSpPr>
        <p:sp>
          <p:nvSpPr>
            <p:cNvPr id="32" name="Shape 29">
              <a:extLst>
                <a:ext uri="{FF2B5EF4-FFF2-40B4-BE49-F238E27FC236}">
                  <a16:creationId xmlns:a16="http://schemas.microsoft.com/office/drawing/2014/main" id="{A3492F75-A800-5E3F-6738-C70ECB9CAE45}"/>
                </a:ext>
              </a:extLst>
            </p:cNvPr>
            <p:cNvSpPr/>
            <p:nvPr/>
          </p:nvSpPr>
          <p:spPr>
            <a:xfrm>
              <a:off x="826182" y="4936897"/>
              <a:ext cx="10515823" cy="413184"/>
            </a:xfrm>
            <a:prstGeom prst="roundRect">
              <a:avLst>
                <a:gd name="adj" fmla="val 18442"/>
              </a:avLst>
            </a:prstGeom>
            <a:solidFill>
              <a:srgbClr val="EFF4D8"/>
            </a:solidFill>
            <a:ln/>
          </p:spPr>
          <p:txBody>
            <a:bodyPr/>
            <a:lstStyle/>
            <a:p>
              <a:endParaRPr lang="fr-TN" dirty="0"/>
            </a:p>
          </p:txBody>
        </p:sp>
        <p:sp>
          <p:nvSpPr>
            <p:cNvPr id="37" name="Shape 34">
              <a:extLst>
                <a:ext uri="{FF2B5EF4-FFF2-40B4-BE49-F238E27FC236}">
                  <a16:creationId xmlns:a16="http://schemas.microsoft.com/office/drawing/2014/main" id="{1FD7E811-100A-4250-5F86-463937AA354F}"/>
                </a:ext>
              </a:extLst>
            </p:cNvPr>
            <p:cNvSpPr/>
            <p:nvPr/>
          </p:nvSpPr>
          <p:spPr>
            <a:xfrm>
              <a:off x="1042439" y="5081632"/>
              <a:ext cx="104738" cy="123713"/>
            </a:xfrm>
            <a:prstGeom prst="rect">
              <a:avLst/>
            </a:prstGeom>
            <a:solidFill>
              <a:srgbClr val="8FA82E"/>
            </a:solidFill>
            <a:ln/>
          </p:spPr>
          <p:txBody>
            <a:bodyPr/>
            <a:lstStyle/>
            <a:p>
              <a:endParaRPr lang="fr-TN"/>
            </a:p>
          </p:txBody>
        </p:sp>
        <p:sp>
          <p:nvSpPr>
            <p:cNvPr id="38" name="Text 35">
              <a:extLst>
                <a:ext uri="{FF2B5EF4-FFF2-40B4-BE49-F238E27FC236}">
                  <a16:creationId xmlns:a16="http://schemas.microsoft.com/office/drawing/2014/main" id="{FC26ADAA-52FF-4031-B20A-9F87CB717FCF}"/>
                </a:ext>
              </a:extLst>
            </p:cNvPr>
            <p:cNvSpPr/>
            <p:nvPr/>
          </p:nvSpPr>
          <p:spPr>
            <a:xfrm>
              <a:off x="1270890" y="5053541"/>
              <a:ext cx="6938070" cy="21799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35000"/>
                </a:lnSpc>
                <a:buNone/>
              </a:pPr>
              <a:r>
                <a:rPr lang="en-US" sz="1050" b="1" dirty="0">
                  <a:solidFill>
                    <a:srgbClr val="8FA82E"/>
                  </a:solidFill>
                  <a:latin typeface="Arial" panose="020B0604020202020204" pitchFamily="34" charset="0"/>
                  <a:ea typeface="Jost" pitchFamily="34" charset="-122"/>
                  <a:cs typeface="Arial" panose="020B0604020202020204" pitchFamily="34" charset="0"/>
                </a:rPr>
                <a:t>Cette plateforme industrialise ces 90 % une fois pour toutes — tout use case en hérite automatiquement.</a:t>
              </a:r>
              <a:endParaRPr lang="en-US" sz="1050" dirty="0"/>
            </a:p>
          </p:txBody>
        </p:sp>
      </p:grpSp>
      <p:sp>
        <p:nvSpPr>
          <p:cNvPr id="39" name="Text 36">
            <a:extLst>
              <a:ext uri="{FF2B5EF4-FFF2-40B4-BE49-F238E27FC236}">
                <a16:creationId xmlns:a16="http://schemas.microsoft.com/office/drawing/2014/main" id="{C2C9CEBC-00E7-BA1F-65A6-40ED091101AC}"/>
              </a:ext>
            </a:extLst>
          </p:cNvPr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59" dirty="0" err="1">
                <a:solidFill>
                  <a:srgbClr val="909090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Projet</a:t>
            </a:r>
            <a:r>
              <a:rPr lang="en-US" sz="975" kern="0" spc="59" dirty="0">
                <a:solidFill>
                  <a:srgbClr val="909090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 de Fin </a:t>
            </a:r>
            <a:r>
              <a:rPr lang="en-US" sz="975" kern="0" spc="59" dirty="0" err="1">
                <a:solidFill>
                  <a:srgbClr val="909090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d'Études</a:t>
            </a:r>
            <a:r>
              <a:rPr lang="en-US" sz="975" kern="0" spc="59" dirty="0">
                <a:solidFill>
                  <a:srgbClr val="909090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 · Pipeline </a:t>
            </a:r>
            <a:r>
              <a:rPr lang="en-US" sz="975" kern="0" spc="59" dirty="0" err="1">
                <a:solidFill>
                  <a:srgbClr val="909090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MLOps</a:t>
            </a:r>
            <a:r>
              <a:rPr lang="en-US" sz="975" kern="0" spc="59" dirty="0">
                <a:solidFill>
                  <a:srgbClr val="909090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 </a:t>
            </a:r>
            <a:r>
              <a:rPr lang="en-US" sz="975" kern="0" spc="59" dirty="0" err="1">
                <a:solidFill>
                  <a:srgbClr val="909090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générique</a:t>
            </a:r>
            <a:endParaRPr lang="en-US" sz="975" dirty="0"/>
          </a:p>
        </p:txBody>
      </p: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01520219-CA10-A494-5C5C-50DEAF668909}"/>
              </a:ext>
            </a:extLst>
          </p:cNvPr>
          <p:cNvGrpSpPr/>
          <p:nvPr/>
        </p:nvGrpSpPr>
        <p:grpSpPr>
          <a:xfrm>
            <a:off x="2345557" y="4205176"/>
            <a:ext cx="3318018" cy="776473"/>
            <a:chOff x="4495726" y="1867607"/>
            <a:chExt cx="3816250" cy="1177751"/>
          </a:xfrm>
        </p:grpSpPr>
        <p:sp>
          <p:nvSpPr>
            <p:cNvPr id="44" name="Text 26">
              <a:extLst>
                <a:ext uri="{FF2B5EF4-FFF2-40B4-BE49-F238E27FC236}">
                  <a16:creationId xmlns:a16="http://schemas.microsoft.com/office/drawing/2014/main" id="{D5FA2130-CB83-CD95-AB0C-8F92F0E3C375}"/>
                </a:ext>
              </a:extLst>
            </p:cNvPr>
            <p:cNvSpPr/>
            <p:nvPr/>
          </p:nvSpPr>
          <p:spPr>
            <a:xfrm>
              <a:off x="4495726" y="1867607"/>
              <a:ext cx="1609483" cy="9286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62500" lnSpcReduction="20000"/>
            </a:bodyPr>
            <a:lstStyle/>
            <a:p>
              <a:pPr marL="0" indent="0" algn="l">
                <a:lnSpc>
                  <a:spcPct val="85000"/>
                </a:lnSpc>
                <a:buNone/>
              </a:pPr>
              <a:r>
                <a:rPr lang="en-US" sz="8250" b="1" kern="0" spc="-330" dirty="0">
                  <a:solidFill>
                    <a:srgbClr val="BDD24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90</a:t>
              </a:r>
              <a:r>
                <a:rPr lang="en-US" sz="3750" b="1" kern="0" spc="-330" dirty="0">
                  <a:solidFill>
                    <a:srgbClr val="BDD24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%</a:t>
              </a:r>
              <a:endParaRPr lang="en-US" sz="8250" dirty="0"/>
            </a:p>
          </p:txBody>
        </p:sp>
        <p:sp>
          <p:nvSpPr>
            <p:cNvPr id="45" name="Text 27">
              <a:extLst>
                <a:ext uri="{FF2B5EF4-FFF2-40B4-BE49-F238E27FC236}">
                  <a16:creationId xmlns:a16="http://schemas.microsoft.com/office/drawing/2014/main" id="{EE284A96-6617-4020-128D-F140C103F55D}"/>
                </a:ext>
              </a:extLst>
            </p:cNvPr>
            <p:cNvSpPr/>
            <p:nvPr/>
          </p:nvSpPr>
          <p:spPr>
            <a:xfrm>
              <a:off x="6149392" y="2462919"/>
              <a:ext cx="2162584" cy="58243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25000" lnSpcReduction="20000"/>
            </a:bodyPr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en-US" sz="5600" b="1" dirty="0">
                  <a:solidFill>
                    <a:srgbClr val="1C1C2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c'est l'OPS. </a:t>
              </a:r>
              <a:r>
                <a:rPr lang="en-US" sz="4800" dirty="0">
                  <a:solidFill>
                    <a:srgbClr val="54647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C'est le cœur de ce projet.</a:t>
              </a:r>
              <a:endParaRPr lang="en-US" sz="4800" dirty="0"/>
            </a:p>
          </p:txBody>
        </p:sp>
      </p:grpSp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627D24E4-CBE1-1968-DB1A-E59CF2EBD6CB}"/>
              </a:ext>
            </a:extLst>
          </p:cNvPr>
          <p:cNvSpPr txBox="1">
            <a:spLocks/>
          </p:cNvSpPr>
          <p:nvPr/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fr" sz="1733" dirty="0">
                <a:latin typeface="Arial" panose="020B0604020202020204" pitchFamily="34" charset="0"/>
                <a:ea typeface="Nunito Black"/>
                <a:cs typeface="Arial" panose="020B0604020202020204" pitchFamily="34" charset="0"/>
                <a:sym typeface="Nunito Black"/>
              </a:rPr>
              <a:t>21</a:t>
            </a:r>
          </a:p>
        </p:txBody>
      </p:sp>
      <p:pic>
        <p:nvPicPr>
          <p:cNvPr id="3" name="Image 4" descr="preencoded.png">
            <a:extLst>
              <a:ext uri="{FF2B5EF4-FFF2-40B4-BE49-F238E27FC236}">
                <a16:creationId xmlns:a16="http://schemas.microsoft.com/office/drawing/2014/main" id="{1101F1B7-B3C7-A110-3388-2D9BF5D45EA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0960274" y="156681"/>
            <a:ext cx="1041974" cy="62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123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D053D1D-774F-A281-6B77-A40C15740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9C6BE22-2A5C-2DF0-55DE-F36A8D7E96C8}"/>
              </a:ext>
            </a:extLst>
          </p:cNvPr>
          <p:cNvSpPr/>
          <p:nvPr/>
        </p:nvSpPr>
        <p:spPr>
          <a:xfrm>
            <a:off x="0" y="0"/>
            <a:ext cx="4000500" cy="685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txBody>
          <a:bodyPr/>
          <a:lstStyle/>
          <a:p>
            <a:endParaRPr lang="fr-T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CB57723-7BB3-FD0A-0AC1-B4B7B8B6F401}"/>
              </a:ext>
            </a:extLst>
          </p:cNvPr>
          <p:cNvSpPr/>
          <p:nvPr/>
        </p:nvSpPr>
        <p:spPr>
          <a:xfrm>
            <a:off x="3988594" y="0"/>
            <a:ext cx="11906" cy="6858000"/>
          </a:xfrm>
          <a:prstGeom prst="rect">
            <a:avLst/>
          </a:prstGeom>
          <a:solidFill>
            <a:srgbClr val="546472">
              <a:alpha val="12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B95257F-D0D7-D2F2-0C02-08C0644E30A9}"/>
              </a:ext>
            </a:extLst>
          </p:cNvPr>
          <p:cNvSpPr/>
          <p:nvPr/>
        </p:nvSpPr>
        <p:spPr>
          <a:xfrm>
            <a:off x="342863" y="314213"/>
            <a:ext cx="85576" cy="123713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6DC6366-5B2D-D3A2-3E3A-6AE3AD0C28EF}"/>
              </a:ext>
            </a:extLst>
          </p:cNvPr>
          <p:cNvSpPr/>
          <p:nvPr/>
        </p:nvSpPr>
        <p:spPr>
          <a:xfrm>
            <a:off x="514015" y="304726"/>
            <a:ext cx="121101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863" kern="0" spc="121" dirty="0">
                <a:solidFill>
                  <a:srgbClr val="546472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POURQUOI MLOPS</a:t>
            </a:r>
            <a:endParaRPr lang="en-US" sz="863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FBFCA2A-2248-CF3B-8885-19121C5892B8}"/>
              </a:ext>
            </a:extLst>
          </p:cNvPr>
          <p:cNvSpPr/>
          <p:nvPr/>
        </p:nvSpPr>
        <p:spPr>
          <a:xfrm>
            <a:off x="342863" y="580802"/>
            <a:ext cx="3401954" cy="7081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kern="0" spc="-48" dirty="0">
                <a:solidFill>
                  <a:srgbClr val="1C1C24"/>
                </a:solidFill>
                <a:latin typeface="Arial"/>
                <a:ea typeface="Arial" pitchFamily="34" charset="-122"/>
                <a:cs typeface="Arial"/>
              </a:rPr>
              <a:t>Le </a:t>
            </a:r>
            <a:r>
              <a:rPr lang="en-US" sz="2400" b="1" kern="0" spc="-48" dirty="0" err="1">
                <a:solidFill>
                  <a:srgbClr val="1C1C24"/>
                </a:solidFill>
                <a:latin typeface="Arial"/>
                <a:ea typeface="Arial" pitchFamily="34" charset="-122"/>
                <a:cs typeface="Arial"/>
              </a:rPr>
              <a:t>modèle</a:t>
            </a:r>
            <a:r>
              <a:rPr lang="en-US" sz="2400" b="1" kern="0" spc="-48" dirty="0">
                <a:solidFill>
                  <a:srgbClr val="1C1C24"/>
                </a:solidFill>
                <a:latin typeface="Arial"/>
                <a:ea typeface="Arial" pitchFamily="34" charset="-122"/>
                <a:cs typeface="Arial"/>
              </a:rPr>
              <a:t> ML </a:t>
            </a:r>
            <a:r>
              <a:rPr lang="en-US" sz="2400" b="1" kern="0" spc="-48" dirty="0" err="1">
                <a:solidFill>
                  <a:srgbClr val="1C1C24"/>
                </a:solidFill>
                <a:latin typeface="Arial"/>
                <a:ea typeface="Arial" pitchFamily="34" charset="-122"/>
                <a:cs typeface="Arial"/>
              </a:rPr>
              <a:t>n'est</a:t>
            </a:r>
            <a:r>
              <a:rPr lang="en-US" sz="2400" b="1" kern="0" spc="-48" dirty="0">
                <a:solidFill>
                  <a:srgbClr val="1C1C24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2400" b="1" kern="0" spc="-48" dirty="0" err="1">
                <a:solidFill>
                  <a:srgbClr val="1C1C24"/>
                </a:solidFill>
                <a:latin typeface="Arial"/>
                <a:ea typeface="Arial" pitchFamily="34" charset="-122"/>
                <a:cs typeface="Arial"/>
              </a:rPr>
              <a:t>que</a:t>
            </a:r>
            <a:r>
              <a:rPr lang="en-US" sz="2400" b="1" kern="0" spc="-48" dirty="0">
                <a:solidFill>
                  <a:srgbClr val="1C1C24"/>
                </a:solidFill>
                <a:latin typeface="Arial"/>
                <a:ea typeface="Arial" pitchFamily="34" charset="-122"/>
                <a:cs typeface="Arial"/>
              </a:rPr>
              <a:t> la </a:t>
            </a:r>
            <a:r>
              <a:rPr lang="en-US" sz="2400" b="1" kern="0" spc="-48" dirty="0" err="1">
                <a:solidFill>
                  <a:schemeClr val="accent6">
                    <a:lumMod val="76000"/>
                  </a:schemeClr>
                </a:solidFill>
                <a:latin typeface="Arial"/>
                <a:ea typeface="Arial" pitchFamily="34" charset="-122"/>
                <a:cs typeface="Arial"/>
              </a:rPr>
              <a:t>partie</a:t>
            </a:r>
            <a:r>
              <a:rPr lang="en-US" sz="2400" b="1" kern="0" spc="-48" dirty="0">
                <a:solidFill>
                  <a:schemeClr val="accent6">
                    <a:lumMod val="76000"/>
                  </a:schemeClr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2400" b="1" kern="0" spc="-48" dirty="0" err="1">
                <a:solidFill>
                  <a:schemeClr val="accent6">
                    <a:lumMod val="76000"/>
                  </a:schemeClr>
                </a:solidFill>
                <a:latin typeface="Arial"/>
                <a:ea typeface="Arial" pitchFamily="34" charset="-122"/>
                <a:cs typeface="Arial"/>
              </a:rPr>
              <a:t>émergée</a:t>
            </a:r>
            <a:endParaRPr lang="en-US" sz="2400" dirty="0" err="1">
              <a:solidFill>
                <a:schemeClr val="accent6">
                  <a:lumMod val="76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42352A9-63B3-ED2A-9542-C2CAC636FD34}"/>
              </a:ext>
            </a:extLst>
          </p:cNvPr>
          <p:cNvSpPr/>
          <p:nvPr/>
        </p:nvSpPr>
        <p:spPr>
          <a:xfrm>
            <a:off x="392406" y="1358130"/>
            <a:ext cx="3302868" cy="4802312"/>
          </a:xfrm>
          <a:prstGeom prst="roundRect">
            <a:avLst>
              <a:gd name="adj" fmla="val 2307"/>
            </a:avLst>
          </a:prstGeom>
          <a:solidFill>
            <a:srgbClr val="FFFFFF"/>
          </a:solidFill>
          <a:ln w="11906">
            <a:solidFill>
              <a:srgbClr val="546472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9F7E4BE-FE10-FEB0-D857-CFACD79AC3A1}"/>
              </a:ext>
            </a:extLst>
          </p:cNvPr>
          <p:cNvSpPr/>
          <p:nvPr/>
        </p:nvSpPr>
        <p:spPr>
          <a:xfrm>
            <a:off x="507132" y="1605669"/>
            <a:ext cx="953244" cy="461739"/>
          </a:xfrm>
          <a:prstGeom prst="roundRect">
            <a:avLst>
              <a:gd name="adj" fmla="val 8251"/>
            </a:avLst>
          </a:prstGeom>
          <a:solidFill>
            <a:srgbClr val="F0F0F0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C2081D7-4A74-0621-2451-88FE10310A02}"/>
              </a:ext>
            </a:extLst>
          </p:cNvPr>
          <p:cNvSpPr/>
          <p:nvPr/>
        </p:nvSpPr>
        <p:spPr>
          <a:xfrm>
            <a:off x="545232" y="1681869"/>
            <a:ext cx="877044" cy="347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</a:t>
            </a:r>
            <a:endParaRPr lang="en-US" sz="9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FBAE3BB-C6B5-8B5B-334F-D693E00C0CEA}"/>
              </a:ext>
            </a:extLst>
          </p:cNvPr>
          <p:cNvSpPr/>
          <p:nvPr/>
        </p:nvSpPr>
        <p:spPr>
          <a:xfrm>
            <a:off x="1517489" y="1605669"/>
            <a:ext cx="953430" cy="461739"/>
          </a:xfrm>
          <a:prstGeom prst="roundRect">
            <a:avLst>
              <a:gd name="adj" fmla="val 8251"/>
            </a:avLst>
          </a:prstGeom>
          <a:solidFill>
            <a:srgbClr val="F0F0F0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18D38EA-9C6E-0F77-94F0-DE23EBA0E893}"/>
              </a:ext>
            </a:extLst>
          </p:cNvPr>
          <p:cNvSpPr/>
          <p:nvPr/>
        </p:nvSpPr>
        <p:spPr>
          <a:xfrm>
            <a:off x="1555589" y="1681869"/>
            <a:ext cx="877230" cy="347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 de données</a:t>
            </a:r>
            <a:endParaRPr lang="en-US" sz="9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894BEFB-AFAE-A4B6-DFF5-8FD40C3BC6F1}"/>
              </a:ext>
            </a:extLst>
          </p:cNvPr>
          <p:cNvSpPr/>
          <p:nvPr/>
        </p:nvSpPr>
        <p:spPr>
          <a:xfrm>
            <a:off x="2528032" y="1605669"/>
            <a:ext cx="953430" cy="461739"/>
          </a:xfrm>
          <a:prstGeom prst="roundRect">
            <a:avLst>
              <a:gd name="adj" fmla="val 8251"/>
            </a:avLst>
          </a:prstGeom>
          <a:solidFill>
            <a:srgbClr val="F0F0F0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98392B7-D9EF-7122-A0BA-F9954F952283}"/>
              </a:ext>
            </a:extLst>
          </p:cNvPr>
          <p:cNvSpPr/>
          <p:nvPr/>
        </p:nvSpPr>
        <p:spPr>
          <a:xfrm>
            <a:off x="2566132" y="1681869"/>
            <a:ext cx="877230" cy="347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Vérification données</a:t>
            </a:r>
            <a:endParaRPr lang="en-US" sz="9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9BF40F8-179C-D391-79AC-8DB6B1A1E112}"/>
              </a:ext>
            </a:extLst>
          </p:cNvPr>
          <p:cNvSpPr/>
          <p:nvPr/>
        </p:nvSpPr>
        <p:spPr>
          <a:xfrm>
            <a:off x="507132" y="2169728"/>
            <a:ext cx="1001427" cy="461739"/>
          </a:xfrm>
          <a:prstGeom prst="roundRect">
            <a:avLst>
              <a:gd name="adj" fmla="val 8251"/>
            </a:avLst>
          </a:prstGeom>
          <a:solidFill>
            <a:srgbClr val="F0F0F0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50BD893-78A1-A63B-2377-D0392437D55B}"/>
              </a:ext>
            </a:extLst>
          </p:cNvPr>
          <p:cNvSpPr/>
          <p:nvPr/>
        </p:nvSpPr>
        <p:spPr>
          <a:xfrm>
            <a:off x="545232" y="2245928"/>
            <a:ext cx="925227" cy="347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ressources</a:t>
            </a:r>
            <a:endParaRPr lang="en-US" sz="9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5786EBE-50CE-630B-B2EA-1D2B6C2C5FBA}"/>
              </a:ext>
            </a:extLst>
          </p:cNvPr>
          <p:cNvSpPr/>
          <p:nvPr/>
        </p:nvSpPr>
        <p:spPr>
          <a:xfrm>
            <a:off x="1565672" y="2143497"/>
            <a:ext cx="857250" cy="514201"/>
          </a:xfrm>
          <a:prstGeom prst="roundRect">
            <a:avLst>
              <a:gd name="adj" fmla="val 11114"/>
            </a:avLst>
          </a:prstGeom>
          <a:solidFill>
            <a:srgbClr val="1C1C24"/>
          </a:solidFill>
          <a:ln w="11906">
            <a:solidFill>
              <a:srgbClr val="8FA82E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A4CEB54-1151-6077-3203-D0D13C8C724A}"/>
              </a:ext>
            </a:extLst>
          </p:cNvPr>
          <p:cNvSpPr/>
          <p:nvPr/>
        </p:nvSpPr>
        <p:spPr>
          <a:xfrm>
            <a:off x="1807518" y="2281535"/>
            <a:ext cx="449759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600" kern="0" spc="60" dirty="0">
                <a:solidFill>
                  <a:srgbClr val="BDD248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CODE ML</a:t>
            </a:r>
            <a:endParaRPr lang="en-US" sz="6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35BFBBB-9022-C387-CAF8-BC4E232E59BA}"/>
              </a:ext>
            </a:extLst>
          </p:cNvPr>
          <p:cNvSpPr/>
          <p:nvPr/>
        </p:nvSpPr>
        <p:spPr>
          <a:xfrm>
            <a:off x="1834121" y="2388691"/>
            <a:ext cx="396367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~10%</a:t>
            </a:r>
            <a:endParaRPr lang="en-US" sz="975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76AB496-D803-2D86-CA7A-442B410CAD77}"/>
              </a:ext>
            </a:extLst>
          </p:cNvPr>
          <p:cNvSpPr/>
          <p:nvPr/>
        </p:nvSpPr>
        <p:spPr>
          <a:xfrm>
            <a:off x="2480035" y="2191122"/>
            <a:ext cx="1001427" cy="418951"/>
          </a:xfrm>
          <a:prstGeom prst="roundRect">
            <a:avLst>
              <a:gd name="adj" fmla="val 9094"/>
            </a:avLst>
          </a:prstGeom>
          <a:solidFill>
            <a:srgbClr val="F0F0F0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45DB9E6-4588-7709-47EA-C3F114C5E51C}"/>
              </a:ext>
            </a:extLst>
          </p:cNvPr>
          <p:cNvSpPr/>
          <p:nvPr/>
        </p:nvSpPr>
        <p:spPr>
          <a:xfrm>
            <a:off x="2518135" y="2267322"/>
            <a:ext cx="925227" cy="3046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</a:t>
            </a:r>
            <a:endParaRPr lang="en-US" sz="9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8BBD7C2E-3B64-8319-3CB2-4223BF0C3C83}"/>
              </a:ext>
            </a:extLst>
          </p:cNvPr>
          <p:cNvSpPr/>
          <p:nvPr/>
        </p:nvSpPr>
        <p:spPr>
          <a:xfrm>
            <a:off x="507132" y="2733787"/>
            <a:ext cx="953244" cy="418951"/>
          </a:xfrm>
          <a:prstGeom prst="roundRect">
            <a:avLst>
              <a:gd name="adj" fmla="val 9094"/>
            </a:avLst>
          </a:prstGeom>
          <a:solidFill>
            <a:srgbClr val="F0F0F0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B539A52-B104-20EB-0D8E-C00F7BA8E99D}"/>
              </a:ext>
            </a:extLst>
          </p:cNvPr>
          <p:cNvSpPr/>
          <p:nvPr/>
        </p:nvSpPr>
        <p:spPr>
          <a:xfrm>
            <a:off x="545232" y="2809987"/>
            <a:ext cx="877044" cy="3046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60143F2B-B45E-A962-6A01-FA82D14CC447}"/>
              </a:ext>
            </a:extLst>
          </p:cNvPr>
          <p:cNvSpPr/>
          <p:nvPr/>
        </p:nvSpPr>
        <p:spPr>
          <a:xfrm>
            <a:off x="1517489" y="2733787"/>
            <a:ext cx="953430" cy="418951"/>
          </a:xfrm>
          <a:prstGeom prst="roundRect">
            <a:avLst>
              <a:gd name="adj" fmla="val 9094"/>
            </a:avLst>
          </a:prstGeom>
          <a:solidFill>
            <a:srgbClr val="F0F0F0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804AFFB-A3DE-4D7F-D16B-E239D1C91C45}"/>
              </a:ext>
            </a:extLst>
          </p:cNvPr>
          <p:cNvSpPr/>
          <p:nvPr/>
        </p:nvSpPr>
        <p:spPr>
          <a:xfrm>
            <a:off x="1555589" y="2809987"/>
            <a:ext cx="877230" cy="3046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</a:t>
            </a:r>
            <a:endParaRPr lang="en-US" sz="9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B5005A3A-9DCF-024C-BDF8-CA1CFF5372FA}"/>
              </a:ext>
            </a:extLst>
          </p:cNvPr>
          <p:cNvSpPr/>
          <p:nvPr/>
        </p:nvSpPr>
        <p:spPr>
          <a:xfrm>
            <a:off x="2528032" y="2733787"/>
            <a:ext cx="953430" cy="418951"/>
          </a:xfrm>
          <a:prstGeom prst="roundRect">
            <a:avLst>
              <a:gd name="adj" fmla="val 9094"/>
            </a:avLst>
          </a:prstGeom>
          <a:solidFill>
            <a:srgbClr val="F0F0F0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BF8F626-23C1-E25F-DD2C-DD8004E31542}"/>
              </a:ext>
            </a:extLst>
          </p:cNvPr>
          <p:cNvSpPr/>
          <p:nvPr/>
        </p:nvSpPr>
        <p:spPr>
          <a:xfrm>
            <a:off x="2566132" y="2809987"/>
            <a:ext cx="877230" cy="3046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CI/CT</a:t>
            </a:r>
            <a:endParaRPr lang="en-US" sz="9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649F1BD-37FD-3B5A-4EED-1D3B575BE37A}"/>
              </a:ext>
            </a:extLst>
          </p:cNvPr>
          <p:cNvSpPr/>
          <p:nvPr/>
        </p:nvSpPr>
        <p:spPr>
          <a:xfrm>
            <a:off x="342863" y="6338962"/>
            <a:ext cx="340195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i="1" dirty="0">
                <a:solidFill>
                  <a:schemeClr val="accent6">
                    <a:lumMod val="76000"/>
                  </a:schemeClr>
                </a:solidFill>
                <a:latin typeface="Arial" panose="020B0604020202020204" pitchFamily="34" charset="0"/>
                <a:ea typeface="Courier New" pitchFamily="34" charset="-122"/>
                <a:cs typeface="Courier New"/>
              </a:rPr>
              <a:t>Sculley et al., Hidden Technical Debt in ML Systems, </a:t>
            </a:r>
            <a:r>
              <a:rPr lang="en-US" sz="750" i="1" dirty="0" err="1">
                <a:solidFill>
                  <a:schemeClr val="accent6">
                    <a:lumMod val="76000"/>
                  </a:schemeClr>
                </a:solidFill>
                <a:latin typeface="Arial" panose="020B0604020202020204" pitchFamily="34" charset="0"/>
                <a:ea typeface="Courier New" pitchFamily="34" charset="-122"/>
                <a:cs typeface="Courier New"/>
              </a:rPr>
              <a:t>NeurIPS</a:t>
            </a:r>
            <a:r>
              <a:rPr lang="en-US" sz="750" i="1" dirty="0">
                <a:solidFill>
                  <a:schemeClr val="accent6">
                    <a:lumMod val="76000"/>
                  </a:schemeClr>
                </a:solidFill>
                <a:latin typeface="Arial" panose="020B0604020202020204" pitchFamily="34" charset="0"/>
                <a:ea typeface="Courier New" pitchFamily="34" charset="-122"/>
                <a:cs typeface="Courier New"/>
              </a:rPr>
              <a:t> 2015.</a:t>
            </a:r>
            <a:endParaRPr lang="en-US" sz="750" dirty="0">
              <a:solidFill>
                <a:schemeClr val="accent6">
                  <a:lumMod val="76000"/>
                </a:schemeClr>
              </a:solidFill>
              <a:latin typeface="Arial" panose="020B0604020202020204" pitchFamily="34" charset="0"/>
              <a:ea typeface="Calibri"/>
              <a:cs typeface="Courier New"/>
            </a:endParaRP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0E77D69-32CD-E0FD-1AB6-E374EDD9AF5B}"/>
              </a:ext>
            </a:extLst>
          </p:cNvPr>
          <p:cNvGrpSpPr/>
          <p:nvPr/>
        </p:nvGrpSpPr>
        <p:grpSpPr>
          <a:xfrm>
            <a:off x="4495726" y="1867607"/>
            <a:ext cx="3816250" cy="1177751"/>
            <a:chOff x="4495726" y="1867607"/>
            <a:chExt cx="3816250" cy="1177751"/>
          </a:xfrm>
        </p:grpSpPr>
        <p:sp>
          <p:nvSpPr>
            <p:cNvPr id="28" name="Text 26">
              <a:extLst>
                <a:ext uri="{FF2B5EF4-FFF2-40B4-BE49-F238E27FC236}">
                  <a16:creationId xmlns:a16="http://schemas.microsoft.com/office/drawing/2014/main" id="{177A96D4-48BB-FACB-CB70-75EC7979686E}"/>
                </a:ext>
              </a:extLst>
            </p:cNvPr>
            <p:cNvSpPr/>
            <p:nvPr/>
          </p:nvSpPr>
          <p:spPr>
            <a:xfrm>
              <a:off x="4495726" y="1867607"/>
              <a:ext cx="1609483" cy="9286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lnSpc>
                  <a:spcPct val="85000"/>
                </a:lnSpc>
                <a:buNone/>
              </a:pPr>
              <a:r>
                <a:rPr lang="en-US" sz="8250" b="1" kern="0" spc="-330" dirty="0">
                  <a:solidFill>
                    <a:srgbClr val="BDD24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90</a:t>
              </a:r>
              <a:r>
                <a:rPr lang="en-US" sz="3750" b="1" kern="0" spc="-330" dirty="0">
                  <a:solidFill>
                    <a:srgbClr val="BDD24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%</a:t>
              </a:r>
              <a:endParaRPr lang="en-US" sz="8250" dirty="0"/>
            </a:p>
          </p:txBody>
        </p:sp>
        <p:sp>
          <p:nvSpPr>
            <p:cNvPr id="29" name="Text 27">
              <a:extLst>
                <a:ext uri="{FF2B5EF4-FFF2-40B4-BE49-F238E27FC236}">
                  <a16:creationId xmlns:a16="http://schemas.microsoft.com/office/drawing/2014/main" id="{66B2642E-A231-29D1-64B6-4BBC72BD9BD4}"/>
                </a:ext>
              </a:extLst>
            </p:cNvPr>
            <p:cNvSpPr/>
            <p:nvPr/>
          </p:nvSpPr>
          <p:spPr>
            <a:xfrm>
              <a:off x="6149392" y="2462919"/>
              <a:ext cx="2162584" cy="58243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en-US" sz="1650" b="1" dirty="0">
                  <a:solidFill>
                    <a:srgbClr val="1C1C2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c'est l'OPS. </a:t>
              </a:r>
              <a:r>
                <a:rPr lang="en-US" sz="1350" dirty="0">
                  <a:solidFill>
                    <a:srgbClr val="54647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C'est le cœur de ce projet.</a:t>
              </a:r>
              <a:endParaRPr lang="en-US" sz="1650" dirty="0"/>
            </a:p>
          </p:txBody>
        </p:sp>
      </p:grpSp>
      <p:sp>
        <p:nvSpPr>
          <p:cNvPr id="30" name="Shape 28">
            <a:extLst>
              <a:ext uri="{FF2B5EF4-FFF2-40B4-BE49-F238E27FC236}">
                <a16:creationId xmlns:a16="http://schemas.microsoft.com/office/drawing/2014/main" id="{988C9F22-93F2-7EDE-E9DD-24A8641121C5}"/>
              </a:ext>
            </a:extLst>
          </p:cNvPr>
          <p:cNvSpPr/>
          <p:nvPr/>
        </p:nvSpPr>
        <p:spPr>
          <a:xfrm>
            <a:off x="4495726" y="3235709"/>
            <a:ext cx="7201049" cy="9525"/>
          </a:xfrm>
          <a:prstGeom prst="rect">
            <a:avLst/>
          </a:prstGeom>
          <a:solidFill>
            <a:srgbClr val="546472">
              <a:alpha val="12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B579E788-FB0D-290F-0D3C-D05D891DDE77}"/>
              </a:ext>
            </a:extLst>
          </p:cNvPr>
          <p:cNvSpPr/>
          <p:nvPr/>
        </p:nvSpPr>
        <p:spPr>
          <a:xfrm>
            <a:off x="4495726" y="3473648"/>
            <a:ext cx="7417080" cy="571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modèle, c'est </a:t>
            </a:r>
            <a:r>
              <a:rPr lang="en-US" sz="1500" b="1" dirty="0">
                <a:solidFill>
                  <a:srgbClr val="8FA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~10 % </a:t>
            </a:r>
            <a:r>
              <a:rPr lang="en-US" sz="1500" b="1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système. Les 90 % qui le font tenir en production — tracking, monitoring, serving, reproductibilité.</a:t>
            </a:r>
            <a:endParaRPr lang="en-US" sz="15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7ED7C884-7BEA-3876-685C-18AD43AB70E3}"/>
              </a:ext>
            </a:extLst>
          </p:cNvPr>
          <p:cNvSpPr/>
          <p:nvPr/>
        </p:nvSpPr>
        <p:spPr>
          <a:xfrm>
            <a:off x="4495726" y="4235276"/>
            <a:ext cx="7201049" cy="754931"/>
          </a:xfrm>
          <a:prstGeom prst="roundRect">
            <a:avLst>
              <a:gd name="adj" fmla="val 10094"/>
            </a:avLst>
          </a:prstGeom>
          <a:solidFill>
            <a:srgbClr val="BDD248">
              <a:alpha val="10000"/>
            </a:srgbClr>
          </a:solidFill>
          <a:ln w="11906">
            <a:solidFill>
              <a:srgbClr val="BDD24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B416D3CA-BDEC-4216-899C-C9C55718B94D}"/>
              </a:ext>
            </a:extLst>
          </p:cNvPr>
          <p:cNvSpPr/>
          <p:nvPr/>
        </p:nvSpPr>
        <p:spPr>
          <a:xfrm>
            <a:off x="4698132" y="4508004"/>
            <a:ext cx="133201" cy="209476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B3F4098F-D3C8-4D0C-E7DF-4A5ABDED9634}"/>
              </a:ext>
            </a:extLst>
          </p:cNvPr>
          <p:cNvSpPr/>
          <p:nvPr/>
        </p:nvSpPr>
        <p:spPr>
          <a:xfrm>
            <a:off x="4964534" y="4399545"/>
            <a:ext cx="6725729" cy="4644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546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Cette plateforme industrialise ces 90 % une fois pour toutes — tout use case en hérite automatiquement.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316524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341594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BLOC 04 · OPS · TRACKING MLFLOW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11567406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000" b="1" kern="0" spc="-60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Reproductibilité </a:t>
            </a:r>
            <a:r>
              <a:rPr lang="en-US" sz="3000" b="1" kern="0" spc="-60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de bout en bout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38088" y="1501676"/>
            <a:ext cx="11567406" cy="2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38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Chaque exécution est rejouable à l’identique — </a:t>
            </a:r>
            <a:r>
              <a:rPr lang="en-US" sz="1238" b="1" i="1" dirty="0">
                <a:solidFill>
                  <a:srgbClr val="525252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fini le “ça marchait sur ma machine”.</a:t>
            </a:r>
            <a:endParaRPr lang="en-US" sz="1238" dirty="0"/>
          </a:p>
        </p:txBody>
      </p:sp>
      <p:sp>
        <p:nvSpPr>
          <p:cNvPr id="7" name="Shape 4"/>
          <p:cNvSpPr/>
          <p:nvPr/>
        </p:nvSpPr>
        <p:spPr>
          <a:xfrm>
            <a:off x="838088" y="1893094"/>
            <a:ext cx="2617143" cy="976312"/>
          </a:xfrm>
          <a:prstGeom prst="roundRect">
            <a:avLst>
              <a:gd name="adj" fmla="val 2927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8" name="Shape 5"/>
          <p:cNvSpPr/>
          <p:nvPr/>
        </p:nvSpPr>
        <p:spPr>
          <a:xfrm>
            <a:off x="838088" y="2857500"/>
            <a:ext cx="2617143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9" name="Shape 6"/>
          <p:cNvSpPr/>
          <p:nvPr/>
        </p:nvSpPr>
        <p:spPr>
          <a:xfrm>
            <a:off x="838088" y="1893094"/>
            <a:ext cx="2617143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0" name="Shape 7"/>
          <p:cNvSpPr/>
          <p:nvPr/>
        </p:nvSpPr>
        <p:spPr>
          <a:xfrm>
            <a:off x="838088" y="1893094"/>
            <a:ext cx="23813" cy="976312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1" name="Shape 8"/>
          <p:cNvSpPr/>
          <p:nvPr/>
        </p:nvSpPr>
        <p:spPr>
          <a:xfrm>
            <a:off x="3443325" y="1893094"/>
            <a:ext cx="11906" cy="976312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2" name="Text 9"/>
          <p:cNvSpPr/>
          <p:nvPr/>
        </p:nvSpPr>
        <p:spPr>
          <a:xfrm>
            <a:off x="995102" y="2019226"/>
            <a:ext cx="2546524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Params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95102" y="2283396"/>
            <a:ext cx="2391221" cy="4979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63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whitelist de ~17 params utiles (au lieu de 80 bruités) — comparaison inter-runs lisible</a:t>
            </a:r>
            <a:endParaRPr lang="en-US" sz="863" dirty="0"/>
          </a:p>
        </p:txBody>
      </p:sp>
      <p:sp>
        <p:nvSpPr>
          <p:cNvPr id="14" name="Shape 11"/>
          <p:cNvSpPr/>
          <p:nvPr/>
        </p:nvSpPr>
        <p:spPr>
          <a:xfrm>
            <a:off x="3569457" y="1893094"/>
            <a:ext cx="2617143" cy="976312"/>
          </a:xfrm>
          <a:prstGeom prst="roundRect">
            <a:avLst>
              <a:gd name="adj" fmla="val 2927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5" name="Shape 12"/>
          <p:cNvSpPr/>
          <p:nvPr/>
        </p:nvSpPr>
        <p:spPr>
          <a:xfrm>
            <a:off x="3569457" y="2857500"/>
            <a:ext cx="2617143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6" name="Shape 13"/>
          <p:cNvSpPr/>
          <p:nvPr/>
        </p:nvSpPr>
        <p:spPr>
          <a:xfrm>
            <a:off x="3569457" y="1893094"/>
            <a:ext cx="2617143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7" name="Shape 14"/>
          <p:cNvSpPr/>
          <p:nvPr/>
        </p:nvSpPr>
        <p:spPr>
          <a:xfrm>
            <a:off x="3569457" y="1893094"/>
            <a:ext cx="23813" cy="976312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8" name="Shape 15"/>
          <p:cNvSpPr/>
          <p:nvPr/>
        </p:nvSpPr>
        <p:spPr>
          <a:xfrm>
            <a:off x="6174693" y="1893094"/>
            <a:ext cx="11906" cy="976312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9" name="Text 16"/>
          <p:cNvSpPr/>
          <p:nvPr/>
        </p:nvSpPr>
        <p:spPr>
          <a:xfrm>
            <a:off x="3726470" y="2019226"/>
            <a:ext cx="2546524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Métriques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726470" y="2283396"/>
            <a:ext cx="2391221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63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faithfulness · context_precision · latence retrieval/generation</a:t>
            </a:r>
            <a:endParaRPr lang="en-US" sz="863" dirty="0"/>
          </a:p>
        </p:txBody>
      </p:sp>
      <p:sp>
        <p:nvSpPr>
          <p:cNvPr id="21" name="Shape 18"/>
          <p:cNvSpPr/>
          <p:nvPr/>
        </p:nvSpPr>
        <p:spPr>
          <a:xfrm>
            <a:off x="838088" y="2983632"/>
            <a:ext cx="2617143" cy="976312"/>
          </a:xfrm>
          <a:prstGeom prst="roundRect">
            <a:avLst>
              <a:gd name="adj" fmla="val 2927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2" name="Shape 19"/>
          <p:cNvSpPr/>
          <p:nvPr/>
        </p:nvSpPr>
        <p:spPr>
          <a:xfrm>
            <a:off x="838088" y="3948038"/>
            <a:ext cx="2617143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3" name="Shape 20"/>
          <p:cNvSpPr/>
          <p:nvPr/>
        </p:nvSpPr>
        <p:spPr>
          <a:xfrm>
            <a:off x="838088" y="2983632"/>
            <a:ext cx="2617143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4" name="Shape 21"/>
          <p:cNvSpPr/>
          <p:nvPr/>
        </p:nvSpPr>
        <p:spPr>
          <a:xfrm>
            <a:off x="838088" y="2983632"/>
            <a:ext cx="23813" cy="976312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5" name="Shape 22"/>
          <p:cNvSpPr/>
          <p:nvPr/>
        </p:nvSpPr>
        <p:spPr>
          <a:xfrm>
            <a:off x="3443325" y="2983632"/>
            <a:ext cx="11906" cy="976312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6" name="Text 23"/>
          <p:cNvSpPr/>
          <p:nvPr/>
        </p:nvSpPr>
        <p:spPr>
          <a:xfrm>
            <a:off x="995102" y="3109764"/>
            <a:ext cx="2546524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Artifacts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95102" y="3373934"/>
            <a:ext cx="2391221" cy="4979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63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index · configs · full_config.yaml · pip_freeze — 215 packages = snapshot d’env déterministe</a:t>
            </a:r>
            <a:endParaRPr lang="en-US" sz="863" dirty="0"/>
          </a:p>
        </p:txBody>
      </p:sp>
      <p:sp>
        <p:nvSpPr>
          <p:cNvPr id="28" name="Shape 25"/>
          <p:cNvSpPr/>
          <p:nvPr/>
        </p:nvSpPr>
        <p:spPr>
          <a:xfrm>
            <a:off x="3569457" y="2983632"/>
            <a:ext cx="2617143" cy="976312"/>
          </a:xfrm>
          <a:prstGeom prst="roundRect">
            <a:avLst>
              <a:gd name="adj" fmla="val 2927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9" name="Shape 26"/>
          <p:cNvSpPr/>
          <p:nvPr/>
        </p:nvSpPr>
        <p:spPr>
          <a:xfrm>
            <a:off x="3569457" y="3948038"/>
            <a:ext cx="2617143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0" name="Shape 27"/>
          <p:cNvSpPr/>
          <p:nvPr/>
        </p:nvSpPr>
        <p:spPr>
          <a:xfrm>
            <a:off x="3569457" y="2983632"/>
            <a:ext cx="2617143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1" name="Shape 28"/>
          <p:cNvSpPr/>
          <p:nvPr/>
        </p:nvSpPr>
        <p:spPr>
          <a:xfrm>
            <a:off x="3569457" y="2983632"/>
            <a:ext cx="23813" cy="976312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2" name="Shape 29"/>
          <p:cNvSpPr/>
          <p:nvPr/>
        </p:nvSpPr>
        <p:spPr>
          <a:xfrm>
            <a:off x="6174693" y="2983632"/>
            <a:ext cx="11906" cy="976312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3" name="Text 30"/>
          <p:cNvSpPr/>
          <p:nvPr/>
        </p:nvSpPr>
        <p:spPr>
          <a:xfrm>
            <a:off x="3726470" y="3109764"/>
            <a:ext cx="2546524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Traces · Autolog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3726470" y="3373934"/>
            <a:ext cx="2546524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63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appels LLM · spans · durées</a:t>
            </a:r>
            <a:endParaRPr lang="en-US" sz="863" dirty="0"/>
          </a:p>
        </p:txBody>
      </p:sp>
      <p:sp>
        <p:nvSpPr>
          <p:cNvPr id="35" name="Shape 32"/>
          <p:cNvSpPr/>
          <p:nvPr/>
        </p:nvSpPr>
        <p:spPr>
          <a:xfrm>
            <a:off x="835530" y="4129608"/>
            <a:ext cx="5348511" cy="669727"/>
          </a:xfrm>
          <a:prstGeom prst="roundRect">
            <a:avLst>
              <a:gd name="adj" fmla="val 4267"/>
            </a:avLst>
          </a:prstGeom>
          <a:solidFill>
            <a:srgbClr val="EFF4D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8" name="Shape 35"/>
          <p:cNvSpPr/>
          <p:nvPr/>
        </p:nvSpPr>
        <p:spPr>
          <a:xfrm>
            <a:off x="826181" y="4131741"/>
            <a:ext cx="23813" cy="669727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9" name="Shape 36"/>
          <p:cNvSpPr/>
          <p:nvPr/>
        </p:nvSpPr>
        <p:spPr>
          <a:xfrm>
            <a:off x="6174693" y="4074170"/>
            <a:ext cx="11906" cy="669727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0" name="Text 37"/>
          <p:cNvSpPr/>
          <p:nvPr/>
        </p:nvSpPr>
        <p:spPr>
          <a:xfrm>
            <a:off x="995102" y="4200302"/>
            <a:ext cx="5551029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Prompt versioning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995102" y="4464472"/>
            <a:ext cx="5551029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63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templates trackés, dédupliqués par hash côté serveur</a:t>
            </a:r>
            <a:endParaRPr lang="en-US" sz="863" dirty="0"/>
          </a:p>
        </p:txBody>
      </p:sp>
      <p:sp>
        <p:nvSpPr>
          <p:cNvPr id="42" name="Shape 39"/>
          <p:cNvSpPr/>
          <p:nvPr/>
        </p:nvSpPr>
        <p:spPr>
          <a:xfrm>
            <a:off x="838089" y="4886902"/>
            <a:ext cx="5348511" cy="996590"/>
          </a:xfrm>
          <a:prstGeom prst="roundRect">
            <a:avLst>
              <a:gd name="adj" fmla="val 5735"/>
            </a:avLst>
          </a:prstGeom>
          <a:solidFill>
            <a:srgbClr val="EFF4D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5" name="Shape 42"/>
          <p:cNvSpPr/>
          <p:nvPr/>
        </p:nvSpPr>
        <p:spPr>
          <a:xfrm>
            <a:off x="838088" y="4877098"/>
            <a:ext cx="23813" cy="996590"/>
          </a:xfrm>
          <a:prstGeom prst="rect">
            <a:avLst/>
          </a:prstGeom>
          <a:solidFill>
            <a:srgbClr val="8FA82E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6" name="Shape 43"/>
          <p:cNvSpPr/>
          <p:nvPr/>
        </p:nvSpPr>
        <p:spPr>
          <a:xfrm>
            <a:off x="6174693" y="4877098"/>
            <a:ext cx="11906" cy="996590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7" name="Text 44"/>
          <p:cNvSpPr/>
          <p:nvPr/>
        </p:nvSpPr>
        <p:spPr>
          <a:xfrm>
            <a:off x="1033239" y="5012717"/>
            <a:ext cx="5467127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50" b="1" kern="0" spc="105" dirty="0">
                <a:solidFill>
                  <a:srgbClr val="8FA82E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MA CONTRIBUTION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1033239" y="5179405"/>
            <a:ext cx="5119219" cy="5967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13" dirty="0">
                <a:solidFill>
                  <a:srgbClr val="3F3F3F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Le tracking est branché dans le </a:t>
            </a:r>
            <a:r>
              <a:rPr lang="en-US" sz="1013" b="1" dirty="0">
                <a:solidFill>
                  <a:srgbClr val="8FA82E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BasePipeline générique </a:t>
            </a:r>
            <a:r>
              <a:rPr lang="en-US" sz="1013" dirty="0">
                <a:solidFill>
                  <a:srgbClr val="3F3F3F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: n’importe quel use case hérite automatiquement du logging params/métriques/artifacts, </a:t>
            </a:r>
            <a:r>
              <a:rPr lang="en-US" sz="1013" b="1" dirty="0">
                <a:solidFill>
                  <a:srgbClr val="8FA82E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sans une ligne de code en plus </a:t>
            </a:r>
            <a:r>
              <a:rPr lang="en-US" sz="1013" dirty="0">
                <a:solidFill>
                  <a:srgbClr val="3F3F3F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.</a:t>
            </a:r>
            <a:endParaRPr lang="en-US" sz="1013" dirty="0"/>
          </a:p>
        </p:txBody>
      </p:sp>
      <p:sp>
        <p:nvSpPr>
          <p:cNvPr id="49" name="Shape 46"/>
          <p:cNvSpPr/>
          <p:nvPr/>
        </p:nvSpPr>
        <p:spPr>
          <a:xfrm>
            <a:off x="6491325" y="1893094"/>
            <a:ext cx="4862587" cy="4355455"/>
          </a:xfrm>
          <a:prstGeom prst="roundRect">
            <a:avLst>
              <a:gd name="adj" fmla="val 1312"/>
            </a:avLst>
          </a:prstGeom>
          <a:solidFill>
            <a:srgbClr val="F4F4F4"/>
          </a:solidFill>
          <a:ln w="11906">
            <a:solidFill>
              <a:srgbClr val="CFCFCF"/>
            </a:solidFill>
            <a:prstDash val="dash"/>
          </a:ln>
        </p:spPr>
        <p:txBody>
          <a:bodyPr/>
          <a:lstStyle/>
          <a:p>
            <a:endParaRPr lang="fr-TN"/>
          </a:p>
        </p:txBody>
      </p:sp>
      <p:sp>
        <p:nvSpPr>
          <p:cNvPr id="50" name="Shape 47"/>
          <p:cNvSpPr/>
          <p:nvPr/>
        </p:nvSpPr>
        <p:spPr>
          <a:xfrm>
            <a:off x="8693981" y="3482578"/>
            <a:ext cx="457088" cy="361838"/>
          </a:xfrm>
          <a:prstGeom prst="roundRect">
            <a:avLst>
              <a:gd name="adj" fmla="val 7897"/>
            </a:avLst>
          </a:prstGeom>
          <a:solidFill>
            <a:srgbClr val="CFCFCF">
              <a:alpha val="40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1" name="Shape 48"/>
          <p:cNvSpPr/>
          <p:nvPr/>
        </p:nvSpPr>
        <p:spPr>
          <a:xfrm>
            <a:off x="7650938" y="4043661"/>
            <a:ext cx="2598167" cy="700236"/>
          </a:xfrm>
          <a:prstGeom prst="roundRect">
            <a:avLst>
              <a:gd name="adj" fmla="val 5441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2" name="Text 49"/>
          <p:cNvSpPr/>
          <p:nvPr/>
        </p:nvSpPr>
        <p:spPr>
          <a:xfrm>
            <a:off x="7717912" y="4034842"/>
            <a:ext cx="2409412" cy="585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900" dirty="0">
                <a:solidFill>
                  <a:srgbClr val="909090"/>
                </a:solidFill>
                <a:highlight>
                  <a:srgbClr val="F4F4F4"/>
                </a:highlight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Capture MLflow UI Interface Experiments · Run detail glisser-déposer ici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Projet de Fin d'Études · Pipeline MLOps générique</a:t>
            </a:r>
            <a:endParaRPr lang="en-US" sz="975" dirty="0"/>
          </a:p>
        </p:txBody>
      </p:sp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9FF8CAD3-990E-27EB-FBF2-EE06314616C0}"/>
              </a:ext>
            </a:extLst>
          </p:cNvPr>
          <p:cNvSpPr txBox="1">
            <a:spLocks/>
          </p:cNvSpPr>
          <p:nvPr/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fr" sz="1733" dirty="0">
                <a:latin typeface="Arial" panose="020B0604020202020204" pitchFamily="34" charset="0"/>
                <a:ea typeface="Nunito Black"/>
                <a:cs typeface="Arial" panose="020B0604020202020204" pitchFamily="34" charset="0"/>
                <a:sym typeface="Nunito Black"/>
              </a:rPr>
              <a:t>22</a:t>
            </a:r>
          </a:p>
        </p:txBody>
      </p:sp>
      <p:pic>
        <p:nvPicPr>
          <p:cNvPr id="36" name="Image 4" descr="preencoded.png">
            <a:extLst>
              <a:ext uri="{FF2B5EF4-FFF2-40B4-BE49-F238E27FC236}">
                <a16:creationId xmlns:a16="http://schemas.microsoft.com/office/drawing/2014/main" id="{9E0FC16D-97FC-C217-C9E7-E1CEAD504D0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0960274" y="156681"/>
            <a:ext cx="1041974" cy="6238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2" grpId="0" animBg="1"/>
      <p:bldP spid="13" grpId="0" animBg="1"/>
      <p:bldP spid="14" grpId="0" animBg="1"/>
      <p:bldP spid="19" grpId="0" animBg="1"/>
      <p:bldP spid="20" grpId="0" animBg="1"/>
      <p:bldP spid="21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3" grpId="0" animBg="1"/>
      <p:bldP spid="34" grpId="0" animBg="1"/>
      <p:bldP spid="35" grpId="0" animBg="1"/>
      <p:bldP spid="38" grpId="0" animBg="1"/>
      <p:bldP spid="40" grpId="0" animBg="1"/>
      <p:bldP spid="41" grpId="0" animBg="1"/>
      <p:bldP spid="42" grpId="0" animBg="1"/>
      <p:bldP spid="45" grpId="0" animBg="1"/>
      <p:bldP spid="47" grpId="0" animBg="1"/>
      <p:bldP spid="48" grpId="0" animBg="1"/>
      <p:bldP spid="4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40185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OPS · MLFLOW · OBSERVABILITÉ DES RUNS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11567406" cy="465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850" b="1" kern="0" spc="-57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Voir l’intérieur d’un run, </a:t>
            </a:r>
            <a:r>
              <a:rPr lang="en-US" sz="2850" b="1" kern="0" spc="-57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comparer en un clic</a:t>
            </a:r>
            <a:endParaRPr lang="en-US" sz="2850" dirty="0"/>
          </a:p>
        </p:txBody>
      </p:sp>
      <p:sp>
        <p:nvSpPr>
          <p:cNvPr id="6" name="Text 3"/>
          <p:cNvSpPr/>
          <p:nvPr/>
        </p:nvSpPr>
        <p:spPr>
          <a:xfrm>
            <a:off x="838088" y="1479352"/>
            <a:ext cx="11567406" cy="251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On ne se contente pas de scores : on voit chaque étape interne, et on isole exactement ce qui fait la différence entre deux runs.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40691" y="2569889"/>
            <a:ext cx="5244517" cy="1586322"/>
          </a:xfrm>
          <a:prstGeom prst="roundRect">
            <a:avLst>
              <a:gd name="adj" fmla="val 3603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0" name="Shape 7"/>
          <p:cNvSpPr/>
          <p:nvPr/>
        </p:nvSpPr>
        <p:spPr>
          <a:xfrm>
            <a:off x="838088" y="2575843"/>
            <a:ext cx="23813" cy="1586322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1" name="Shape 8"/>
          <p:cNvSpPr/>
          <p:nvPr/>
        </p:nvSpPr>
        <p:spPr>
          <a:xfrm>
            <a:off x="6070699" y="2575843"/>
            <a:ext cx="11906" cy="1586322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39" y="2800759"/>
            <a:ext cx="85576" cy="1047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14065" y="2740112"/>
            <a:ext cx="1329519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8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Traces &amp; Autolog</a:t>
            </a:r>
            <a:endParaRPr lang="en-US" sz="1238" dirty="0"/>
          </a:p>
        </p:txBody>
      </p:sp>
      <p:sp>
        <p:nvSpPr>
          <p:cNvPr id="14" name="Text 10"/>
          <p:cNvSpPr/>
          <p:nvPr/>
        </p:nvSpPr>
        <p:spPr>
          <a:xfrm>
            <a:off x="1033239" y="3051907"/>
            <a:ext cx="5012105" cy="4131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6000"/>
              </a:lnSpc>
              <a:buNone/>
            </a:pPr>
            <a:r>
              <a:rPr lang="en-US" sz="1013" dirty="0">
                <a:solidFill>
                  <a:srgbClr val="525252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Capture automatique des </a:t>
            </a:r>
            <a:r>
              <a:rPr lang="en-US" sz="1013" b="1" dirty="0">
                <a:solidFill>
                  <a:srgbClr val="2A2A2A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spans </a:t>
            </a:r>
            <a:r>
              <a:rPr lang="en-US" sz="1013" dirty="0">
                <a:solidFill>
                  <a:srgbClr val="525252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d’un run — appels LLM, retrieval, durées. </a:t>
            </a:r>
            <a:r>
              <a:rPr lang="en-US" sz="1013" b="1" dirty="0">
                <a:solidFill>
                  <a:srgbClr val="2A2A2A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~24–36 traces </a:t>
            </a:r>
            <a:r>
              <a:rPr lang="en-US" sz="1013" dirty="0">
                <a:solidFill>
                  <a:srgbClr val="525252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par run.</a:t>
            </a:r>
            <a:endParaRPr lang="en-US" sz="1013" dirty="0"/>
          </a:p>
        </p:txBody>
      </p:sp>
      <p:sp>
        <p:nvSpPr>
          <p:cNvPr id="15" name="Shape 11"/>
          <p:cNvSpPr/>
          <p:nvPr/>
        </p:nvSpPr>
        <p:spPr>
          <a:xfrm>
            <a:off x="1033239" y="3540993"/>
            <a:ext cx="2385343" cy="456902"/>
          </a:xfrm>
          <a:prstGeom prst="roundRect">
            <a:avLst>
              <a:gd name="adj" fmla="val 14593"/>
            </a:avLst>
          </a:prstGeom>
          <a:solidFill>
            <a:srgbClr val="2A2A2A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6" name="Text 12"/>
          <p:cNvSpPr/>
          <p:nvPr/>
        </p:nvSpPr>
        <p:spPr>
          <a:xfrm>
            <a:off x="1147465" y="3617082"/>
            <a:ext cx="2372581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DD248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mlops-pipeline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47465" y="3790838"/>
            <a:ext cx="2372581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63" i="1" dirty="0">
                <a:solidFill>
                  <a:srgbClr val="9AA5B8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le pipeline</a:t>
            </a:r>
            <a:endParaRPr lang="en-US" sz="863" dirty="0"/>
          </a:p>
        </p:txBody>
      </p:sp>
      <p:sp>
        <p:nvSpPr>
          <p:cNvPr id="18" name="Shape 14"/>
          <p:cNvSpPr/>
          <p:nvPr/>
        </p:nvSpPr>
        <p:spPr>
          <a:xfrm>
            <a:off x="3513832" y="3540993"/>
            <a:ext cx="2385529" cy="456902"/>
          </a:xfrm>
          <a:prstGeom prst="roundRect">
            <a:avLst>
              <a:gd name="adj" fmla="val 14593"/>
            </a:avLst>
          </a:prstGeom>
          <a:solidFill>
            <a:srgbClr val="2A2A2A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9" name="Text 15"/>
          <p:cNvSpPr/>
          <p:nvPr/>
        </p:nvSpPr>
        <p:spPr>
          <a:xfrm>
            <a:off x="3628058" y="3617082"/>
            <a:ext cx="237278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DD248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rag-api-production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628058" y="3790838"/>
            <a:ext cx="2372785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63" i="1" dirty="0">
                <a:solidFill>
                  <a:srgbClr val="9AA5B8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le trafic API réel</a:t>
            </a:r>
            <a:endParaRPr lang="en-US" sz="863" dirty="0"/>
          </a:p>
        </p:txBody>
      </p:sp>
      <p:sp>
        <p:nvSpPr>
          <p:cNvPr id="21" name="Shape 17"/>
          <p:cNvSpPr/>
          <p:nvPr/>
        </p:nvSpPr>
        <p:spPr>
          <a:xfrm>
            <a:off x="838088" y="4314527"/>
            <a:ext cx="5244517" cy="1202903"/>
          </a:xfrm>
          <a:prstGeom prst="roundRect">
            <a:avLst>
              <a:gd name="adj" fmla="val 4751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4" name="Shape 20"/>
          <p:cNvSpPr/>
          <p:nvPr/>
        </p:nvSpPr>
        <p:spPr>
          <a:xfrm>
            <a:off x="838088" y="4314527"/>
            <a:ext cx="23813" cy="1202903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39" y="4539444"/>
            <a:ext cx="85576" cy="10473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214065" y="4478796"/>
            <a:ext cx="1635547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8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Comparaison de runs</a:t>
            </a:r>
            <a:endParaRPr lang="en-US" sz="1238" dirty="0"/>
          </a:p>
        </p:txBody>
      </p:sp>
      <p:sp>
        <p:nvSpPr>
          <p:cNvPr id="28" name="Text 23"/>
          <p:cNvSpPr/>
          <p:nvPr/>
        </p:nvSpPr>
        <p:spPr>
          <a:xfrm>
            <a:off x="1033239" y="4790591"/>
            <a:ext cx="5012105" cy="600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6000"/>
              </a:lnSpc>
              <a:buNone/>
            </a:pPr>
            <a:r>
              <a:rPr lang="en-US" sz="1013" dirty="0">
                <a:solidFill>
                  <a:srgbClr val="525252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Deux runs partagent la </a:t>
            </a:r>
            <a:r>
              <a:rPr lang="en-US" sz="1013" b="1" dirty="0">
                <a:solidFill>
                  <a:srgbClr val="2A2A2A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même version de prompt </a:t>
            </a:r>
            <a:r>
              <a:rPr lang="en-US" sz="1013" dirty="0">
                <a:solidFill>
                  <a:srgbClr val="525252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→ tout écart de score est attribuable aux </a:t>
            </a:r>
            <a:r>
              <a:rPr lang="en-US" sz="1013" b="1" dirty="0">
                <a:solidFill>
                  <a:srgbClr val="2A2A2A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autres variables </a:t>
            </a:r>
            <a:r>
              <a:rPr lang="en-US" sz="1013" dirty="0">
                <a:solidFill>
                  <a:srgbClr val="525252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(vector store, embedder, chunking). C’est ce qui rend les expériences scientifiquement comparables.</a:t>
            </a:r>
            <a:endParaRPr lang="en-US" sz="1013" dirty="0"/>
          </a:p>
        </p:txBody>
      </p:sp>
      <p:sp>
        <p:nvSpPr>
          <p:cNvPr id="29" name="Shape 24"/>
          <p:cNvSpPr/>
          <p:nvPr/>
        </p:nvSpPr>
        <p:spPr>
          <a:xfrm>
            <a:off x="6311057" y="1844725"/>
            <a:ext cx="5042855" cy="4403824"/>
          </a:xfrm>
          <a:prstGeom prst="roundRect">
            <a:avLst>
              <a:gd name="adj" fmla="val 1298"/>
            </a:avLst>
          </a:prstGeom>
          <a:solidFill>
            <a:srgbClr val="F4F4F4"/>
          </a:solidFill>
          <a:ln w="11906">
            <a:solidFill>
              <a:srgbClr val="CFCFCF"/>
            </a:solidFill>
            <a:prstDash val="dash"/>
          </a:ln>
        </p:spPr>
        <p:txBody>
          <a:bodyPr/>
          <a:lstStyle/>
          <a:p>
            <a:endParaRPr lang="fr-TN"/>
          </a:p>
        </p:txBody>
      </p:sp>
      <p:sp>
        <p:nvSpPr>
          <p:cNvPr id="30" name="Shape 25"/>
          <p:cNvSpPr/>
          <p:nvPr/>
        </p:nvSpPr>
        <p:spPr>
          <a:xfrm>
            <a:off x="8575291" y="3439418"/>
            <a:ext cx="514201" cy="399976"/>
          </a:xfrm>
          <a:prstGeom prst="roundRect">
            <a:avLst>
              <a:gd name="adj" fmla="val 9526"/>
            </a:avLst>
          </a:prstGeom>
          <a:solidFill>
            <a:srgbClr val="CFCFCF">
              <a:alpha val="40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1" name="Shape 26"/>
          <p:cNvSpPr/>
          <p:nvPr/>
        </p:nvSpPr>
        <p:spPr>
          <a:xfrm>
            <a:off x="7499077" y="3953619"/>
            <a:ext cx="2666814" cy="700236"/>
          </a:xfrm>
          <a:prstGeom prst="roundRect">
            <a:avLst>
              <a:gd name="adj" fmla="val 5441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2" name="Text 27"/>
          <p:cNvSpPr/>
          <p:nvPr/>
        </p:nvSpPr>
        <p:spPr>
          <a:xfrm>
            <a:off x="7592425" y="4029819"/>
            <a:ext cx="2480118" cy="585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900" dirty="0">
                <a:solidFill>
                  <a:srgbClr val="909090"/>
                </a:solidFill>
                <a:highlight>
                  <a:srgbClr val="F4F4F4"/>
                </a:highlight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Capture MLflow UI Onglet Traces · Comparaison de runs glisser-déposer ici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1099416" y="6418585"/>
            <a:ext cx="254496" cy="152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4" grpId="0" animBg="1"/>
      <p:bldP spid="27" grpId="0" animBg="1"/>
      <p:bldP spid="28" grpId="0" animBg="1"/>
      <p:bldP spid="2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1C1C2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342863" y="276076"/>
            <a:ext cx="85576" cy="123713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" name="Text 2"/>
          <p:cNvSpPr/>
          <p:nvPr/>
        </p:nvSpPr>
        <p:spPr>
          <a:xfrm>
            <a:off x="514015" y="266588"/>
            <a:ext cx="258916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3" kern="0" spc="121" dirty="0">
                <a:solidFill>
                  <a:srgbClr val="FFFFFF">
                    <a:alpha val="55000"/>
                  </a:srgbClr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BLOC 04 · OPS · TRACKING MLFLOW</a:t>
            </a:r>
            <a:endParaRPr lang="en-US" sz="863" dirty="0"/>
          </a:p>
        </p:txBody>
      </p:sp>
      <p:sp>
        <p:nvSpPr>
          <p:cNvPr id="5" name="Text 3"/>
          <p:cNvSpPr/>
          <p:nvPr/>
        </p:nvSpPr>
        <p:spPr>
          <a:xfrm>
            <a:off x="342863" y="504713"/>
            <a:ext cx="5951302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Reproductibilité </a:t>
            </a:r>
            <a:r>
              <a:rPr lang="en-US" sz="2400" b="1" kern="0" spc="-48" dirty="0">
                <a:solidFill>
                  <a:srgbClr val="BDD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bout en bout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42863" y="887946"/>
            <a:ext cx="595130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i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 le "ça marchait sur ma machine".</a:t>
            </a:r>
            <a:endParaRPr lang="en-US" sz="1125" dirty="0"/>
          </a:p>
        </p:txBody>
      </p:sp>
      <p:sp>
        <p:nvSpPr>
          <p:cNvPr id="7" name="Shape 5"/>
          <p:cNvSpPr/>
          <p:nvPr/>
        </p:nvSpPr>
        <p:spPr>
          <a:xfrm>
            <a:off x="342863" y="1763241"/>
            <a:ext cx="5410274" cy="1190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txBody>
          <a:bodyPr/>
          <a:lstStyle/>
          <a:p>
            <a:endParaRPr lang="fr-TN"/>
          </a:p>
        </p:txBody>
      </p:sp>
      <p:sp>
        <p:nvSpPr>
          <p:cNvPr id="8" name="Text 6"/>
          <p:cNvSpPr/>
          <p:nvPr/>
        </p:nvSpPr>
        <p:spPr>
          <a:xfrm>
            <a:off x="342863" y="1311734"/>
            <a:ext cx="102870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428564" y="1311734"/>
            <a:ext cx="445431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whitelist de ~17 params utiles (vs 80 bruités) — comparaison inter-runs lisible</a:t>
            </a:r>
            <a:endParaRPr lang="en-US" sz="975" dirty="0"/>
          </a:p>
        </p:txBody>
      </p:sp>
      <p:sp>
        <p:nvSpPr>
          <p:cNvPr id="10" name="Shape 8"/>
          <p:cNvSpPr/>
          <p:nvPr/>
        </p:nvSpPr>
        <p:spPr>
          <a:xfrm>
            <a:off x="342863" y="2158008"/>
            <a:ext cx="5410274" cy="11906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solidFill>
              <a:schemeClr val="accent6"/>
            </a:solidFill>
          </a:ln>
        </p:spPr>
        <p:txBody>
          <a:bodyPr/>
          <a:lstStyle/>
          <a:p>
            <a:endParaRPr lang="fr-TN"/>
          </a:p>
        </p:txBody>
      </p:sp>
      <p:sp>
        <p:nvSpPr>
          <p:cNvPr id="11" name="Text 9"/>
          <p:cNvSpPr/>
          <p:nvPr/>
        </p:nvSpPr>
        <p:spPr>
          <a:xfrm>
            <a:off x="342863" y="1879885"/>
            <a:ext cx="1028700" cy="21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Métriques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428564" y="1879885"/>
            <a:ext cx="3823469" cy="21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faithfulness · context_precision · latence retrieval/generation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342863" y="2726159"/>
            <a:ext cx="5410274" cy="11906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solidFill>
              <a:schemeClr val="accent6"/>
            </a:solidFill>
          </a:ln>
        </p:spPr>
        <p:txBody>
          <a:bodyPr/>
          <a:lstStyle/>
          <a:p>
            <a:endParaRPr lang="fr-TN"/>
          </a:p>
        </p:txBody>
      </p:sp>
      <p:sp>
        <p:nvSpPr>
          <p:cNvPr id="14" name="Text 12"/>
          <p:cNvSpPr/>
          <p:nvPr/>
        </p:nvSpPr>
        <p:spPr>
          <a:xfrm>
            <a:off x="342863" y="2274652"/>
            <a:ext cx="102870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428564" y="2274652"/>
            <a:ext cx="445431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· configs · full_config.yaml · pip_freeze — 215 packages = snapshot déterministe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342863" y="3120926"/>
            <a:ext cx="5410274" cy="11906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7" name="Text 15"/>
          <p:cNvSpPr/>
          <p:nvPr/>
        </p:nvSpPr>
        <p:spPr>
          <a:xfrm>
            <a:off x="342863" y="2842803"/>
            <a:ext cx="1028700" cy="21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428564" y="2842803"/>
            <a:ext cx="2296046" cy="21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appels LLM · spans · durées · autolog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342863" y="3132832"/>
            <a:ext cx="5410274" cy="382860"/>
          </a:xfrm>
          <a:prstGeom prst="roundRect">
            <a:avLst>
              <a:gd name="adj" fmla="val 9951"/>
            </a:avLst>
          </a:prstGeom>
          <a:solidFill>
            <a:srgbClr val="BDD248">
              <a:alpha val="7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0" name="Text 18"/>
          <p:cNvSpPr/>
          <p:nvPr/>
        </p:nvSpPr>
        <p:spPr>
          <a:xfrm>
            <a:off x="438113" y="3237570"/>
            <a:ext cx="1028700" cy="21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DD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v.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523814" y="3237570"/>
            <a:ext cx="3399048" cy="21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trackés, dédupliqués par hash côté serveur</a:t>
            </a:r>
            <a:endParaRPr lang="en-US" sz="975" dirty="0"/>
          </a:p>
        </p:txBody>
      </p:sp>
      <p:sp>
        <p:nvSpPr>
          <p:cNvPr id="22" name="Shape 20"/>
          <p:cNvSpPr/>
          <p:nvPr/>
        </p:nvSpPr>
        <p:spPr>
          <a:xfrm>
            <a:off x="342863" y="5825691"/>
            <a:ext cx="5410274" cy="765721"/>
          </a:xfrm>
          <a:prstGeom prst="roundRect">
            <a:avLst>
              <a:gd name="adj" fmla="val 9951"/>
            </a:avLst>
          </a:prstGeom>
          <a:solidFill>
            <a:srgbClr val="BDD248">
              <a:alpha val="10000"/>
            </a:srgbClr>
          </a:solidFill>
          <a:ln w="11906">
            <a:solidFill>
              <a:srgbClr val="BDD24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3" name="Text 21"/>
          <p:cNvSpPr/>
          <p:nvPr/>
        </p:nvSpPr>
        <p:spPr>
          <a:xfrm>
            <a:off x="507132" y="5951823"/>
            <a:ext cx="558991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kern="0" spc="90" dirty="0">
                <a:solidFill>
                  <a:srgbClr val="BDD248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MA CONTRIBUTION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7132" y="6118510"/>
            <a:ext cx="5234188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Branché dans le </a:t>
            </a: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BasePipeline générique </a:t>
            </a:r>
            <a:r>
              <a:rPr lang="en-US" sz="975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n'importe quel use case hérite automatiquement du logging, </a:t>
            </a: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une ligne de code en plus</a:t>
            </a:r>
            <a:r>
              <a:rPr lang="en-US" sz="975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75" dirty="0"/>
          </a:p>
        </p:txBody>
      </p:sp>
      <p:sp>
        <p:nvSpPr>
          <p:cNvPr id="25" name="Shape 23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9FAF5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6" name="Shape 24"/>
          <p:cNvSpPr/>
          <p:nvPr/>
        </p:nvSpPr>
        <p:spPr>
          <a:xfrm>
            <a:off x="6096000" y="0"/>
            <a:ext cx="11906" cy="6858000"/>
          </a:xfrm>
          <a:prstGeom prst="rect">
            <a:avLst/>
          </a:prstGeom>
          <a:solidFill>
            <a:srgbClr val="546472">
              <a:alpha val="12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7" name="Shape 25"/>
          <p:cNvSpPr/>
          <p:nvPr/>
        </p:nvSpPr>
        <p:spPr>
          <a:xfrm>
            <a:off x="8768953" y="2515009"/>
            <a:ext cx="762000" cy="571500"/>
          </a:xfrm>
          <a:prstGeom prst="roundRect">
            <a:avLst>
              <a:gd name="adj" fmla="val 10000"/>
            </a:avLst>
          </a:prstGeom>
          <a:solidFill>
            <a:srgbClr val="546472">
              <a:alpha val="15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8" name="Shape 26"/>
          <p:cNvSpPr/>
          <p:nvPr/>
        </p:nvSpPr>
        <p:spPr>
          <a:xfrm>
            <a:off x="8845042" y="2591098"/>
            <a:ext cx="609823" cy="85576"/>
          </a:xfrm>
          <a:prstGeom prst="roundRect">
            <a:avLst>
              <a:gd name="adj" fmla="val 22261"/>
            </a:avLst>
          </a:prstGeom>
          <a:solidFill>
            <a:srgbClr val="546472">
              <a:alpha val="25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9" name="Shape 27"/>
          <p:cNvSpPr/>
          <p:nvPr/>
        </p:nvSpPr>
        <p:spPr>
          <a:xfrm>
            <a:off x="7703530" y="3238872"/>
            <a:ext cx="2892661" cy="808695"/>
          </a:xfrm>
          <a:prstGeom prst="roundRect">
            <a:avLst>
              <a:gd name="adj" fmla="val 7067"/>
            </a:avLst>
          </a:prstGeom>
          <a:solidFill>
            <a:srgbClr val="FFFFFF"/>
          </a:solidFill>
          <a:ln w="11906">
            <a:solidFill>
              <a:srgbClr val="546472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0" name="Text 28"/>
          <p:cNvSpPr/>
          <p:nvPr/>
        </p:nvSpPr>
        <p:spPr>
          <a:xfrm>
            <a:off x="7843496" y="3346028"/>
            <a:ext cx="2612728" cy="632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975" dirty="0">
                <a:solidFill>
                  <a:srgbClr val="9AA5B8"/>
                </a:solidFill>
                <a:highlight>
                  <a:srgbClr val="FFFFFF"/>
                </a:highlight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Capture MLflow UI Interface Experiments · Run detail glisser-déposer ici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8301261" y="4199930"/>
            <a:ext cx="186712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5B8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Projet de Fin d'Études · </a:t>
            </a:r>
            <a:r>
              <a:rPr lang="en-US" sz="825" b="1" dirty="0">
                <a:solidFill>
                  <a:srgbClr val="9AA5B8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25" dirty="0"/>
          </a:p>
        </p:txBody>
      </p:sp>
      <p:sp>
        <p:nvSpPr>
          <p:cNvPr id="32" name="Google Shape;88;p17">
            <a:extLst>
              <a:ext uri="{FF2B5EF4-FFF2-40B4-BE49-F238E27FC236}">
                <a16:creationId xmlns:a16="http://schemas.microsoft.com/office/drawing/2014/main" id="{6CA8DCA2-0F5B-B4C8-DC92-C4267234C9EC}"/>
              </a:ext>
            </a:extLst>
          </p:cNvPr>
          <p:cNvSpPr txBox="1">
            <a:spLocks/>
          </p:cNvSpPr>
          <p:nvPr/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fr" sz="1733" dirty="0">
                <a:latin typeface="Arial" panose="020B0604020202020204" pitchFamily="34" charset="0"/>
                <a:ea typeface="Nunito Black"/>
                <a:cs typeface="Arial" panose="020B0604020202020204" pitchFamily="34" charset="0"/>
                <a:sym typeface="Nunito Black"/>
              </a:rPr>
              <a:t>23</a:t>
            </a:r>
          </a:p>
        </p:txBody>
      </p:sp>
      <p:pic>
        <p:nvPicPr>
          <p:cNvPr id="33" name="Image 4" descr="preencoded.png">
            <a:extLst>
              <a:ext uri="{FF2B5EF4-FFF2-40B4-BE49-F238E27FC236}">
                <a16:creationId xmlns:a16="http://schemas.microsoft.com/office/drawing/2014/main" id="{38208ACA-346D-E60B-8917-876A3E69651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0960274" y="156681"/>
            <a:ext cx="1041974" cy="62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7441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T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283994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BLOC 04 · OPS · MONITORING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11567406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000" b="1" kern="0" spc="-60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Observabilité </a:t>
            </a:r>
            <a:r>
              <a:rPr lang="en-US" sz="3000" b="1" kern="0" spc="-60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de production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38088" y="1501676"/>
            <a:ext cx="11567406" cy="251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On sait en temps réel si le service va bien — et on est alerté </a:t>
            </a:r>
            <a:r>
              <a:rPr lang="en-US" sz="1200" b="1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avant </a:t>
            </a:r>
            <a:r>
              <a:rPr lang="en-US" sz="1200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l’utilisateur.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38088" y="1867049"/>
            <a:ext cx="2710160" cy="1681572"/>
          </a:xfrm>
          <a:prstGeom prst="roundRect">
            <a:avLst>
              <a:gd name="adj" fmla="val 3399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8" name="Shape 5"/>
          <p:cNvSpPr/>
          <p:nvPr/>
        </p:nvSpPr>
        <p:spPr>
          <a:xfrm>
            <a:off x="838088" y="3536714"/>
            <a:ext cx="2710160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9" name="Shape 6"/>
          <p:cNvSpPr/>
          <p:nvPr/>
        </p:nvSpPr>
        <p:spPr>
          <a:xfrm>
            <a:off x="838088" y="1867049"/>
            <a:ext cx="2710160" cy="23813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0" name="Shape 7"/>
          <p:cNvSpPr/>
          <p:nvPr/>
        </p:nvSpPr>
        <p:spPr>
          <a:xfrm>
            <a:off x="838088" y="1867049"/>
            <a:ext cx="11906" cy="1681572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1" name="Shape 8"/>
          <p:cNvSpPr/>
          <p:nvPr/>
        </p:nvSpPr>
        <p:spPr>
          <a:xfrm>
            <a:off x="3536342" y="1867049"/>
            <a:ext cx="11906" cy="1681572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2" name="Text 9"/>
          <p:cNvSpPr/>
          <p:nvPr/>
        </p:nvSpPr>
        <p:spPr>
          <a:xfrm>
            <a:off x="992870" y="2014575"/>
            <a:ext cx="264065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8FA82E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TRAFIC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992870" y="2224050"/>
            <a:ext cx="264065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38" dirty="0">
                <a:solidFill>
                  <a:srgbClr val="525252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Requêtes/s · requêtes actives</a:t>
            </a:r>
            <a:endParaRPr lang="en-US" sz="938" dirty="0"/>
          </a:p>
        </p:txBody>
      </p:sp>
      <p:sp>
        <p:nvSpPr>
          <p:cNvPr id="14" name="Shape 11"/>
          <p:cNvSpPr/>
          <p:nvPr/>
        </p:nvSpPr>
        <p:spPr>
          <a:xfrm>
            <a:off x="992870" y="3189387"/>
            <a:ext cx="1256295" cy="223614"/>
          </a:xfrm>
          <a:prstGeom prst="roundRect">
            <a:avLst>
              <a:gd name="adj" fmla="val 17038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5" name="Text 12"/>
          <p:cNvSpPr/>
          <p:nvPr/>
        </p:nvSpPr>
        <p:spPr>
          <a:xfrm>
            <a:off x="1080976" y="3229868"/>
            <a:ext cx="1156283" cy="180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2A2A2A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rag_active_queries</a:t>
            </a:r>
            <a:endParaRPr lang="en-US" sz="788" dirty="0"/>
          </a:p>
        </p:txBody>
      </p:sp>
      <p:sp>
        <p:nvSpPr>
          <p:cNvPr id="16" name="Shape 13"/>
          <p:cNvSpPr/>
          <p:nvPr/>
        </p:nvSpPr>
        <p:spPr>
          <a:xfrm>
            <a:off x="3662474" y="1867049"/>
            <a:ext cx="2710346" cy="1681572"/>
          </a:xfrm>
          <a:prstGeom prst="roundRect">
            <a:avLst>
              <a:gd name="adj" fmla="val 3399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7" name="Shape 14"/>
          <p:cNvSpPr/>
          <p:nvPr/>
        </p:nvSpPr>
        <p:spPr>
          <a:xfrm>
            <a:off x="3662474" y="3536714"/>
            <a:ext cx="2710346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8" name="Shape 15"/>
          <p:cNvSpPr/>
          <p:nvPr/>
        </p:nvSpPr>
        <p:spPr>
          <a:xfrm>
            <a:off x="3662474" y="1867049"/>
            <a:ext cx="2710346" cy="23813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9" name="Shape 16"/>
          <p:cNvSpPr/>
          <p:nvPr/>
        </p:nvSpPr>
        <p:spPr>
          <a:xfrm>
            <a:off x="3662474" y="1867049"/>
            <a:ext cx="11906" cy="1681572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0" name="Shape 17"/>
          <p:cNvSpPr/>
          <p:nvPr/>
        </p:nvSpPr>
        <p:spPr>
          <a:xfrm>
            <a:off x="6360914" y="1867049"/>
            <a:ext cx="11906" cy="1681572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1" name="Text 18"/>
          <p:cNvSpPr/>
          <p:nvPr/>
        </p:nvSpPr>
        <p:spPr>
          <a:xfrm>
            <a:off x="3817255" y="2014575"/>
            <a:ext cx="264086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8FA82E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LATENCE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3817255" y="2224050"/>
            <a:ext cx="247698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38" dirty="0">
                <a:solidFill>
                  <a:srgbClr val="525252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retrieval ~250 ms · génération ~25–30 s </a:t>
            </a:r>
            <a:r>
              <a:rPr lang="en-US" sz="938" i="1" dirty="0">
                <a:solidFill>
                  <a:srgbClr val="525252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(P95)</a:t>
            </a:r>
            <a:endParaRPr lang="en-US" sz="938" dirty="0"/>
          </a:p>
        </p:txBody>
      </p:sp>
      <p:sp>
        <p:nvSpPr>
          <p:cNvPr id="23" name="Shape 20"/>
          <p:cNvSpPr/>
          <p:nvPr/>
        </p:nvSpPr>
        <p:spPr>
          <a:xfrm>
            <a:off x="3817255" y="3189387"/>
            <a:ext cx="1676177" cy="223614"/>
          </a:xfrm>
          <a:prstGeom prst="roundRect">
            <a:avLst>
              <a:gd name="adj" fmla="val 17038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4" name="Text 21"/>
          <p:cNvSpPr/>
          <p:nvPr/>
        </p:nvSpPr>
        <p:spPr>
          <a:xfrm>
            <a:off x="3905362" y="3229868"/>
            <a:ext cx="1576164" cy="180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2A2A2A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rag_step_duration_seconds</a:t>
            </a:r>
            <a:endParaRPr lang="en-US" sz="788" dirty="0"/>
          </a:p>
        </p:txBody>
      </p:sp>
      <p:sp>
        <p:nvSpPr>
          <p:cNvPr id="25" name="Shape 22"/>
          <p:cNvSpPr/>
          <p:nvPr/>
        </p:nvSpPr>
        <p:spPr>
          <a:xfrm>
            <a:off x="838088" y="3662846"/>
            <a:ext cx="2710160" cy="1681758"/>
          </a:xfrm>
          <a:prstGeom prst="roundRect">
            <a:avLst>
              <a:gd name="adj" fmla="val 3398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6" name="Shape 23"/>
          <p:cNvSpPr/>
          <p:nvPr/>
        </p:nvSpPr>
        <p:spPr>
          <a:xfrm>
            <a:off x="838088" y="5332698"/>
            <a:ext cx="2710160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7" name="Shape 24"/>
          <p:cNvSpPr/>
          <p:nvPr/>
        </p:nvSpPr>
        <p:spPr>
          <a:xfrm>
            <a:off x="838088" y="3662846"/>
            <a:ext cx="2710160" cy="23813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8" name="Shape 25"/>
          <p:cNvSpPr/>
          <p:nvPr/>
        </p:nvSpPr>
        <p:spPr>
          <a:xfrm>
            <a:off x="838088" y="3662846"/>
            <a:ext cx="11906" cy="1681758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9" name="Shape 26"/>
          <p:cNvSpPr/>
          <p:nvPr/>
        </p:nvSpPr>
        <p:spPr>
          <a:xfrm>
            <a:off x="3536342" y="3662846"/>
            <a:ext cx="11906" cy="1681758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0" name="Text 27"/>
          <p:cNvSpPr/>
          <p:nvPr/>
        </p:nvSpPr>
        <p:spPr>
          <a:xfrm>
            <a:off x="992870" y="3810372"/>
            <a:ext cx="264065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8FA82E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ERREURS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992870" y="4019848"/>
            <a:ext cx="24767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38" dirty="0">
                <a:solidFill>
                  <a:srgbClr val="525252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5xx · quality gate · timeouts LLM · retrievals vides</a:t>
            </a:r>
            <a:endParaRPr lang="en-US" sz="938" dirty="0"/>
          </a:p>
        </p:txBody>
      </p:sp>
      <p:sp>
        <p:nvSpPr>
          <p:cNvPr id="32" name="Shape 29"/>
          <p:cNvSpPr/>
          <p:nvPr/>
        </p:nvSpPr>
        <p:spPr>
          <a:xfrm>
            <a:off x="992870" y="4985370"/>
            <a:ext cx="1676177" cy="223614"/>
          </a:xfrm>
          <a:prstGeom prst="roundRect">
            <a:avLst>
              <a:gd name="adj" fmla="val 17038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3" name="Text 30"/>
          <p:cNvSpPr/>
          <p:nvPr/>
        </p:nvSpPr>
        <p:spPr>
          <a:xfrm>
            <a:off x="1080976" y="5025851"/>
            <a:ext cx="1576164" cy="180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2A2A2A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rag_empty_retrieval_total</a:t>
            </a:r>
            <a:endParaRPr lang="en-US" sz="788" dirty="0"/>
          </a:p>
        </p:txBody>
      </p:sp>
      <p:sp>
        <p:nvSpPr>
          <p:cNvPr id="34" name="Shape 31"/>
          <p:cNvSpPr/>
          <p:nvPr/>
        </p:nvSpPr>
        <p:spPr>
          <a:xfrm>
            <a:off x="3662474" y="3662846"/>
            <a:ext cx="2710346" cy="1681758"/>
          </a:xfrm>
          <a:prstGeom prst="roundRect">
            <a:avLst>
              <a:gd name="adj" fmla="val 3398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5" name="Shape 32"/>
          <p:cNvSpPr/>
          <p:nvPr/>
        </p:nvSpPr>
        <p:spPr>
          <a:xfrm>
            <a:off x="3662474" y="5332698"/>
            <a:ext cx="2710346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6" name="Shape 33"/>
          <p:cNvSpPr/>
          <p:nvPr/>
        </p:nvSpPr>
        <p:spPr>
          <a:xfrm>
            <a:off x="3662474" y="3662846"/>
            <a:ext cx="2710346" cy="23813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7" name="Shape 34"/>
          <p:cNvSpPr/>
          <p:nvPr/>
        </p:nvSpPr>
        <p:spPr>
          <a:xfrm>
            <a:off x="3662474" y="3662846"/>
            <a:ext cx="11906" cy="1681758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8" name="Shape 35"/>
          <p:cNvSpPr/>
          <p:nvPr/>
        </p:nvSpPr>
        <p:spPr>
          <a:xfrm>
            <a:off x="6360914" y="3662846"/>
            <a:ext cx="11906" cy="1681758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9" name="Text 36"/>
          <p:cNvSpPr/>
          <p:nvPr/>
        </p:nvSpPr>
        <p:spPr>
          <a:xfrm>
            <a:off x="3817255" y="3810372"/>
            <a:ext cx="264086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8FA82E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SATURATION</a:t>
            </a:r>
            <a:endParaRPr lang="en-US" sz="825" dirty="0"/>
          </a:p>
        </p:txBody>
      </p:sp>
      <p:sp>
        <p:nvSpPr>
          <p:cNvPr id="40" name="Text 37"/>
          <p:cNvSpPr/>
          <p:nvPr/>
        </p:nvSpPr>
        <p:spPr>
          <a:xfrm>
            <a:off x="3817255" y="4019848"/>
            <a:ext cx="264086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38" dirty="0">
                <a:solidFill>
                  <a:srgbClr val="525252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CPU / RAM · file d'attente · tokens</a:t>
            </a:r>
            <a:endParaRPr lang="en-US" sz="938" dirty="0"/>
          </a:p>
        </p:txBody>
      </p:sp>
      <p:sp>
        <p:nvSpPr>
          <p:cNvPr id="41" name="Shape 38"/>
          <p:cNvSpPr/>
          <p:nvPr/>
        </p:nvSpPr>
        <p:spPr>
          <a:xfrm>
            <a:off x="3817255" y="4985370"/>
            <a:ext cx="1136117" cy="223614"/>
          </a:xfrm>
          <a:prstGeom prst="roundRect">
            <a:avLst>
              <a:gd name="adj" fmla="val 17038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2" name="Text 39"/>
          <p:cNvSpPr/>
          <p:nvPr/>
        </p:nvSpPr>
        <p:spPr>
          <a:xfrm>
            <a:off x="3905362" y="5025851"/>
            <a:ext cx="1036104" cy="180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2A2A2A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rag_tokens_total</a:t>
            </a:r>
            <a:endParaRPr lang="en-US" sz="788" dirty="0"/>
          </a:p>
        </p:txBody>
      </p:sp>
      <p:sp>
        <p:nvSpPr>
          <p:cNvPr id="43" name="Shape 40"/>
          <p:cNvSpPr/>
          <p:nvPr/>
        </p:nvSpPr>
        <p:spPr>
          <a:xfrm>
            <a:off x="838088" y="5468317"/>
            <a:ext cx="5534732" cy="780231"/>
          </a:xfrm>
          <a:prstGeom prst="roundRect">
            <a:avLst>
              <a:gd name="adj" fmla="val 7325"/>
            </a:avLst>
          </a:prstGeom>
          <a:solidFill>
            <a:srgbClr val="2A2A2A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4" name="Text 41"/>
          <p:cNvSpPr/>
          <p:nvPr/>
        </p:nvSpPr>
        <p:spPr>
          <a:xfrm>
            <a:off x="990451" y="5698815"/>
            <a:ext cx="1012701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b="1" kern="0" spc="105" dirty="0">
                <a:solidFill>
                  <a:srgbClr val="BDD248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ALERTES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990451" y="5827365"/>
            <a:ext cx="101270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8 · Prometheus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2060153" y="5582543"/>
            <a:ext cx="953430" cy="242590"/>
          </a:xfrm>
          <a:prstGeom prst="roundRect">
            <a:avLst>
              <a:gd name="adj" fmla="val 50000"/>
            </a:avLst>
          </a:prstGeom>
          <a:solidFill>
            <a:srgbClr val="23272F"/>
          </a:solidFill>
          <a:ln w="11906">
            <a:solidFill>
              <a:srgbClr val="BDD24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7" name="Text 44"/>
          <p:cNvSpPr/>
          <p:nvPr/>
        </p:nvSpPr>
        <p:spPr>
          <a:xfrm>
            <a:off x="2176835" y="5632549"/>
            <a:ext cx="796268" cy="18067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6E9EF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Critique API</a:t>
            </a:r>
            <a:endParaRPr lang="en-US" sz="788" dirty="0"/>
          </a:p>
        </p:txBody>
      </p:sp>
      <p:sp>
        <p:nvSpPr>
          <p:cNvPr id="48" name="Shape 45"/>
          <p:cNvSpPr/>
          <p:nvPr/>
        </p:nvSpPr>
        <p:spPr>
          <a:xfrm>
            <a:off x="3080184" y="5582543"/>
            <a:ext cx="653355" cy="242590"/>
          </a:xfrm>
          <a:prstGeom prst="roundRect">
            <a:avLst>
              <a:gd name="adj" fmla="val 50000"/>
            </a:avLst>
          </a:prstGeom>
          <a:solidFill>
            <a:srgbClr val="23272F"/>
          </a:solidFill>
          <a:ln w="11906">
            <a:solidFill>
              <a:srgbClr val="BDD24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9" name="Text 46"/>
          <p:cNvSpPr/>
          <p:nvPr/>
        </p:nvSpPr>
        <p:spPr>
          <a:xfrm>
            <a:off x="3196865" y="5632549"/>
            <a:ext cx="496193" cy="18067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6E9EF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Qualité</a:t>
            </a:r>
            <a:endParaRPr lang="en-US" sz="788" dirty="0"/>
          </a:p>
        </p:txBody>
      </p:sp>
      <p:sp>
        <p:nvSpPr>
          <p:cNvPr id="50" name="Shape 47"/>
          <p:cNvSpPr/>
          <p:nvPr/>
        </p:nvSpPr>
        <p:spPr>
          <a:xfrm>
            <a:off x="3800140" y="5582543"/>
            <a:ext cx="1073423" cy="242590"/>
          </a:xfrm>
          <a:prstGeom prst="roundRect">
            <a:avLst>
              <a:gd name="adj" fmla="val 50000"/>
            </a:avLst>
          </a:prstGeom>
          <a:solidFill>
            <a:srgbClr val="23272F"/>
          </a:solidFill>
          <a:ln w="11906">
            <a:solidFill>
              <a:srgbClr val="BDD24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1" name="Text 48"/>
          <p:cNvSpPr/>
          <p:nvPr/>
        </p:nvSpPr>
        <p:spPr>
          <a:xfrm>
            <a:off x="3916821" y="5632549"/>
            <a:ext cx="916260" cy="18067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6E9EF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Infrastructure</a:t>
            </a:r>
            <a:endParaRPr lang="en-US" sz="788" dirty="0"/>
          </a:p>
        </p:txBody>
      </p:sp>
      <p:sp>
        <p:nvSpPr>
          <p:cNvPr id="52" name="Text 49"/>
          <p:cNvSpPr/>
          <p:nvPr/>
        </p:nvSpPr>
        <p:spPr>
          <a:xfrm>
            <a:off x="2176835" y="5941740"/>
            <a:ext cx="1576313" cy="18067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i="1" dirty="0">
                <a:solidFill>
                  <a:srgbClr val="9AA5B8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déclenchement automatique</a:t>
            </a:r>
            <a:endParaRPr lang="en-US" sz="788" dirty="0"/>
          </a:p>
        </p:txBody>
      </p:sp>
      <p:sp>
        <p:nvSpPr>
          <p:cNvPr id="53" name="Shape 50"/>
          <p:cNvSpPr/>
          <p:nvPr/>
        </p:nvSpPr>
        <p:spPr>
          <a:xfrm>
            <a:off x="6582296" y="1867049"/>
            <a:ext cx="4771616" cy="3510669"/>
          </a:xfrm>
          <a:prstGeom prst="roundRect">
            <a:avLst>
              <a:gd name="adj" fmla="val 1628"/>
            </a:avLst>
          </a:prstGeom>
          <a:solidFill>
            <a:srgbClr val="F4F4F4"/>
          </a:solidFill>
          <a:ln w="11906">
            <a:solidFill>
              <a:srgbClr val="CFCFCF"/>
            </a:solidFill>
            <a:prstDash val="dash"/>
          </a:ln>
        </p:spPr>
        <p:txBody>
          <a:bodyPr/>
          <a:lstStyle/>
          <a:p>
            <a:endParaRPr lang="fr-TN"/>
          </a:p>
        </p:txBody>
      </p:sp>
      <p:sp>
        <p:nvSpPr>
          <p:cNvPr id="54" name="Shape 51"/>
          <p:cNvSpPr/>
          <p:nvPr/>
        </p:nvSpPr>
        <p:spPr>
          <a:xfrm>
            <a:off x="7977560" y="3281660"/>
            <a:ext cx="1980902" cy="681261"/>
          </a:xfrm>
          <a:prstGeom prst="roundRect">
            <a:avLst>
              <a:gd name="adj" fmla="val 5593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5" name="Text 52"/>
          <p:cNvSpPr/>
          <p:nvPr/>
        </p:nvSpPr>
        <p:spPr>
          <a:xfrm>
            <a:off x="8072810" y="3348335"/>
            <a:ext cx="1790402" cy="586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900" dirty="0">
                <a:solidFill>
                  <a:srgbClr val="909090"/>
                </a:solidFill>
                <a:highlight>
                  <a:srgbClr val="F4F4F4"/>
                </a:highlight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Capture dashboard Grafana 8 rangées · 23 panels glisser-déposer ici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6582296" y="5501432"/>
            <a:ext cx="4771616" cy="747117"/>
          </a:xfrm>
          <a:prstGeom prst="roundRect">
            <a:avLst>
              <a:gd name="adj" fmla="val 7649"/>
            </a:avLst>
          </a:prstGeom>
          <a:solidFill>
            <a:srgbClr val="EFF4D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7" name="Shape 54"/>
          <p:cNvSpPr/>
          <p:nvPr/>
        </p:nvSpPr>
        <p:spPr>
          <a:xfrm>
            <a:off x="6582296" y="6236643"/>
            <a:ext cx="4771616" cy="11906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8" name="Shape 55"/>
          <p:cNvSpPr/>
          <p:nvPr/>
        </p:nvSpPr>
        <p:spPr>
          <a:xfrm>
            <a:off x="6582296" y="5501432"/>
            <a:ext cx="4771616" cy="11906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9" name="Shape 56"/>
          <p:cNvSpPr/>
          <p:nvPr/>
        </p:nvSpPr>
        <p:spPr>
          <a:xfrm>
            <a:off x="6582296" y="5501432"/>
            <a:ext cx="23813" cy="747117"/>
          </a:xfrm>
          <a:prstGeom prst="rect">
            <a:avLst/>
          </a:prstGeom>
          <a:solidFill>
            <a:srgbClr val="8FA82E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60" name="Shape 57"/>
          <p:cNvSpPr/>
          <p:nvPr/>
        </p:nvSpPr>
        <p:spPr>
          <a:xfrm>
            <a:off x="11342005" y="5501432"/>
            <a:ext cx="11906" cy="747117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61" name="Text 58"/>
          <p:cNvSpPr/>
          <p:nvPr/>
        </p:nvSpPr>
        <p:spPr>
          <a:xfrm>
            <a:off x="6758471" y="5627563"/>
            <a:ext cx="4874289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50" b="1" kern="0" spc="105" dirty="0">
                <a:solidFill>
                  <a:srgbClr val="8FA82E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MA CONTRIBUTION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6758471" y="5784577"/>
            <a:ext cx="4564107" cy="375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938" dirty="0">
                <a:solidFill>
                  <a:srgbClr val="3F3F3F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Métriques système/HTTP : </a:t>
            </a:r>
            <a:r>
              <a:rPr lang="en-US" sz="938" b="1" dirty="0">
                <a:solidFill>
                  <a:srgbClr val="8FA82E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lib standard</a:t>
            </a:r>
            <a:r>
              <a:rPr lang="en-US" sz="938" dirty="0">
                <a:solidFill>
                  <a:srgbClr val="3F3F3F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. Les </a:t>
            </a:r>
            <a:r>
              <a:rPr lang="en-US" sz="938" b="1" dirty="0">
                <a:solidFill>
                  <a:srgbClr val="8FA82E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12 métriques métier RAG </a:t>
            </a:r>
            <a:r>
              <a:rPr lang="en-US" sz="938" dirty="0">
                <a:solidFill>
                  <a:srgbClr val="3F3F3F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: conçues et implémentées par moi.</a:t>
            </a:r>
            <a:endParaRPr lang="en-US" sz="938" dirty="0"/>
          </a:p>
        </p:txBody>
      </p:sp>
      <p:sp>
        <p:nvSpPr>
          <p:cNvPr id="63" name="Text 60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64" name="Image 1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65" name="Text 61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3F3F3F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13</a:t>
            </a:r>
            <a:endParaRPr lang="en-US" sz="97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495226" y="237939"/>
            <a:ext cx="85576" cy="123713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" name="Text 2"/>
          <p:cNvSpPr/>
          <p:nvPr/>
        </p:nvSpPr>
        <p:spPr>
          <a:xfrm>
            <a:off x="666378" y="228451"/>
            <a:ext cx="21837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3" kern="0" spc="121" dirty="0">
                <a:solidFill>
                  <a:srgbClr val="546472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BLOC 04 · OPS · MONITORING</a:t>
            </a:r>
            <a:endParaRPr lang="en-US" sz="863" dirty="0"/>
          </a:p>
        </p:txBody>
      </p:sp>
      <p:sp>
        <p:nvSpPr>
          <p:cNvPr id="5" name="Text 3"/>
          <p:cNvSpPr/>
          <p:nvPr/>
        </p:nvSpPr>
        <p:spPr>
          <a:xfrm>
            <a:off x="495226" y="447415"/>
            <a:ext cx="5977905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kern="0" spc="-60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Observabilité </a:t>
            </a:r>
            <a:r>
              <a:rPr lang="en-US" sz="3000" b="1" kern="0" spc="-60" dirty="0">
                <a:solidFill>
                  <a:srgbClr val="BDD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production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95226" y="925897"/>
            <a:ext cx="5977905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sait en temps réel si le service va bien — et on est alerté </a:t>
            </a:r>
            <a:r>
              <a:rPr lang="en-US" sz="1200" b="1" dirty="0">
                <a:solidFill>
                  <a:srgbClr val="8FA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</a:t>
            </a:r>
            <a:r>
              <a:rPr lang="en-US" sz="120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l'utilisateur.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280666"/>
            <a:ext cx="3962549" cy="2216051"/>
          </a:xfrm>
          <a:prstGeom prst="roundRect">
            <a:avLst>
              <a:gd name="adj" fmla="val 34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8" name="Shape 6"/>
          <p:cNvSpPr/>
          <p:nvPr/>
        </p:nvSpPr>
        <p:spPr>
          <a:xfrm>
            <a:off x="4572000" y="3484811"/>
            <a:ext cx="3962549" cy="11906"/>
          </a:xfrm>
          <a:prstGeom prst="rect">
            <a:avLst/>
          </a:prstGeom>
          <a:solidFill>
            <a:srgbClr val="546472">
              <a:alpha val="16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9" name="Shape 7"/>
          <p:cNvSpPr/>
          <p:nvPr/>
        </p:nvSpPr>
        <p:spPr>
          <a:xfrm>
            <a:off x="4572000" y="1280666"/>
            <a:ext cx="3962549" cy="23813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0" name="Shape 8"/>
          <p:cNvSpPr/>
          <p:nvPr/>
        </p:nvSpPr>
        <p:spPr>
          <a:xfrm>
            <a:off x="4572000" y="1280666"/>
            <a:ext cx="11906" cy="2216051"/>
          </a:xfrm>
          <a:prstGeom prst="rect">
            <a:avLst/>
          </a:prstGeom>
          <a:solidFill>
            <a:srgbClr val="546472">
              <a:alpha val="16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1" name="Shape 9"/>
          <p:cNvSpPr/>
          <p:nvPr/>
        </p:nvSpPr>
        <p:spPr>
          <a:xfrm>
            <a:off x="8522643" y="1280666"/>
            <a:ext cx="11906" cy="2216051"/>
          </a:xfrm>
          <a:prstGeom prst="rect">
            <a:avLst/>
          </a:prstGeom>
          <a:solidFill>
            <a:srgbClr val="546472">
              <a:alpha val="16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2" name="Text 10"/>
          <p:cNvSpPr/>
          <p:nvPr/>
        </p:nvSpPr>
        <p:spPr>
          <a:xfrm>
            <a:off x="4736269" y="1437680"/>
            <a:ext cx="3997412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b="1" kern="0" spc="90" dirty="0">
                <a:solidFill>
                  <a:srgbClr val="8FA82E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TRAFIC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736269" y="1601949"/>
            <a:ext cx="399741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Requêtes/s · requêtes actives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36269" y="1851980"/>
            <a:ext cx="1307641" cy="211708"/>
          </a:xfrm>
          <a:prstGeom prst="roundRect">
            <a:avLst>
              <a:gd name="adj" fmla="val 17996"/>
            </a:avLst>
          </a:prstGeom>
          <a:solidFill>
            <a:srgbClr val="BDD248">
              <a:alpha val="10000"/>
            </a:srgbClr>
          </a:solidFill>
          <a:ln w="11906">
            <a:solidFill>
              <a:srgbClr val="BDD24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5" name="Text 13"/>
          <p:cNvSpPr/>
          <p:nvPr/>
        </p:nvSpPr>
        <p:spPr>
          <a:xfrm>
            <a:off x="4824375" y="1892461"/>
            <a:ext cx="1207629" cy="168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1C1C24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rag_active_queries</a:t>
            </a:r>
            <a:endParaRPr lang="en-US" sz="825" dirty="0"/>
          </a:p>
        </p:txBody>
      </p:sp>
      <p:sp>
        <p:nvSpPr>
          <p:cNvPr id="16" name="Shape 14"/>
          <p:cNvSpPr/>
          <p:nvPr/>
        </p:nvSpPr>
        <p:spPr>
          <a:xfrm>
            <a:off x="8648774" y="1280666"/>
            <a:ext cx="3048000" cy="2216051"/>
          </a:xfrm>
          <a:prstGeom prst="roundRect">
            <a:avLst>
              <a:gd name="adj" fmla="val 34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7" name="Shape 15"/>
          <p:cNvSpPr/>
          <p:nvPr/>
        </p:nvSpPr>
        <p:spPr>
          <a:xfrm>
            <a:off x="8648774" y="3484811"/>
            <a:ext cx="3048000" cy="11906"/>
          </a:xfrm>
          <a:prstGeom prst="rect">
            <a:avLst/>
          </a:prstGeom>
          <a:solidFill>
            <a:srgbClr val="546472">
              <a:alpha val="16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8" name="Shape 16"/>
          <p:cNvSpPr/>
          <p:nvPr/>
        </p:nvSpPr>
        <p:spPr>
          <a:xfrm>
            <a:off x="8648774" y="1280666"/>
            <a:ext cx="3048000" cy="23813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9" name="Shape 17"/>
          <p:cNvSpPr/>
          <p:nvPr/>
        </p:nvSpPr>
        <p:spPr>
          <a:xfrm>
            <a:off x="8648774" y="1280666"/>
            <a:ext cx="11906" cy="2216051"/>
          </a:xfrm>
          <a:prstGeom prst="rect">
            <a:avLst/>
          </a:prstGeom>
          <a:solidFill>
            <a:srgbClr val="546472">
              <a:alpha val="16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0" name="Shape 18"/>
          <p:cNvSpPr/>
          <p:nvPr/>
        </p:nvSpPr>
        <p:spPr>
          <a:xfrm>
            <a:off x="11684868" y="1280666"/>
            <a:ext cx="11906" cy="2216051"/>
          </a:xfrm>
          <a:prstGeom prst="rect">
            <a:avLst/>
          </a:prstGeom>
          <a:solidFill>
            <a:srgbClr val="546472">
              <a:alpha val="16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1" name="Text 19"/>
          <p:cNvSpPr/>
          <p:nvPr/>
        </p:nvSpPr>
        <p:spPr>
          <a:xfrm>
            <a:off x="8813043" y="1437680"/>
            <a:ext cx="2991408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b="1" kern="0" spc="90" dirty="0">
                <a:solidFill>
                  <a:srgbClr val="8FA82E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LATENCE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813043" y="1601949"/>
            <a:ext cx="280104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~250 ms · génération ~25–30 s (P95)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813043" y="2018667"/>
            <a:ext cx="1747614" cy="211708"/>
          </a:xfrm>
          <a:prstGeom prst="roundRect">
            <a:avLst>
              <a:gd name="adj" fmla="val 17996"/>
            </a:avLst>
          </a:prstGeom>
          <a:solidFill>
            <a:srgbClr val="BDD248">
              <a:alpha val="10000"/>
            </a:srgbClr>
          </a:solidFill>
          <a:ln w="11906">
            <a:solidFill>
              <a:srgbClr val="BDD24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4" name="Text 22"/>
          <p:cNvSpPr/>
          <p:nvPr/>
        </p:nvSpPr>
        <p:spPr>
          <a:xfrm>
            <a:off x="8901150" y="2059149"/>
            <a:ext cx="1647602" cy="168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1C1C24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rag_step_duration_seconds</a:t>
            </a:r>
            <a:endParaRPr lang="en-US" sz="825" dirty="0"/>
          </a:p>
        </p:txBody>
      </p:sp>
      <p:sp>
        <p:nvSpPr>
          <p:cNvPr id="25" name="Shape 23"/>
          <p:cNvSpPr/>
          <p:nvPr/>
        </p:nvSpPr>
        <p:spPr>
          <a:xfrm>
            <a:off x="495226" y="1280666"/>
            <a:ext cx="3962549" cy="4546513"/>
          </a:xfrm>
          <a:prstGeom prst="roundRect">
            <a:avLst>
              <a:gd name="adj" fmla="val 1923"/>
            </a:avLst>
          </a:prstGeom>
          <a:solidFill>
            <a:srgbClr val="F9FAF5"/>
          </a:solidFill>
          <a:ln w="11906">
            <a:solidFill>
              <a:srgbClr val="546472">
                <a:alpha val="18000"/>
              </a:srgbClr>
            </a:solidFill>
            <a:prstDash val="dash"/>
          </a:ln>
        </p:spPr>
        <p:txBody>
          <a:bodyPr/>
          <a:lstStyle/>
          <a:p>
            <a:endParaRPr lang="fr-TN"/>
          </a:p>
        </p:txBody>
      </p:sp>
      <p:sp>
        <p:nvSpPr>
          <p:cNvPr id="26" name="Shape 24"/>
          <p:cNvSpPr/>
          <p:nvPr/>
        </p:nvSpPr>
        <p:spPr>
          <a:xfrm>
            <a:off x="2171774" y="2509614"/>
            <a:ext cx="609451" cy="457088"/>
          </a:xfrm>
          <a:prstGeom prst="roundRect">
            <a:avLst>
              <a:gd name="adj" fmla="val 10419"/>
            </a:avLst>
          </a:prstGeom>
          <a:solidFill>
            <a:srgbClr val="546472">
              <a:alpha val="12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7" name="Shape 25"/>
          <p:cNvSpPr/>
          <p:nvPr/>
        </p:nvSpPr>
        <p:spPr>
          <a:xfrm>
            <a:off x="2238375" y="2576215"/>
            <a:ext cx="476250" cy="76088"/>
          </a:xfrm>
          <a:prstGeom prst="roundRect">
            <a:avLst>
              <a:gd name="adj" fmla="val 25037"/>
            </a:avLst>
          </a:prstGeom>
          <a:solidFill>
            <a:srgbClr val="546472">
              <a:alpha val="20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8" name="Shape 26"/>
          <p:cNvSpPr/>
          <p:nvPr/>
        </p:nvSpPr>
        <p:spPr>
          <a:xfrm>
            <a:off x="1474143" y="3080928"/>
            <a:ext cx="2004715" cy="724049"/>
          </a:xfrm>
          <a:prstGeom prst="roundRect">
            <a:avLst>
              <a:gd name="adj" fmla="val 7893"/>
            </a:avLst>
          </a:prstGeom>
          <a:solidFill>
            <a:srgbClr val="FFFFFF"/>
          </a:solidFill>
          <a:ln w="11906">
            <a:solidFill>
              <a:srgbClr val="546472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9" name="Text 27"/>
          <p:cNvSpPr/>
          <p:nvPr/>
        </p:nvSpPr>
        <p:spPr>
          <a:xfrm>
            <a:off x="1581299" y="3169034"/>
            <a:ext cx="1790402" cy="585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900" dirty="0">
                <a:solidFill>
                  <a:srgbClr val="9AA5B8"/>
                </a:solidFill>
                <a:highlight>
                  <a:srgbClr val="FFFFFF"/>
                </a:highlight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Capture dashboard Grafana 8 rangées · 23 panels glisser-déposer ici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97632" y="3919203"/>
            <a:ext cx="3557736" cy="679028"/>
          </a:xfrm>
          <a:prstGeom prst="roundRect">
            <a:avLst>
              <a:gd name="adj" fmla="val 8416"/>
            </a:avLst>
          </a:prstGeom>
          <a:solidFill>
            <a:srgbClr val="BDD248">
              <a:alpha val="10000"/>
            </a:srgbClr>
          </a:solidFill>
          <a:ln w="11906">
            <a:solidFill>
              <a:srgbClr val="BDD24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1" name="Text 29"/>
          <p:cNvSpPr/>
          <p:nvPr/>
        </p:nvSpPr>
        <p:spPr>
          <a:xfrm>
            <a:off x="842739" y="4026359"/>
            <a:ext cx="3594274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75" kern="0" spc="81" dirty="0">
                <a:solidFill>
                  <a:srgbClr val="8FA82E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MA CONTRIBUTION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842739" y="4171466"/>
            <a:ext cx="3365547" cy="357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Métriques système : </a:t>
            </a:r>
            <a:r>
              <a:rPr lang="en-US" sz="900" b="1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 standard </a:t>
            </a:r>
            <a:r>
              <a:rPr lang="en-US" sz="90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Les </a:t>
            </a:r>
            <a:r>
              <a:rPr lang="en-US" sz="900" b="1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métriques métier RAG </a:t>
            </a:r>
            <a:r>
              <a:rPr lang="en-US" sz="90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conçues par moi.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0" y="3610942"/>
            <a:ext cx="3962549" cy="2216237"/>
          </a:xfrm>
          <a:prstGeom prst="roundRect">
            <a:avLst>
              <a:gd name="adj" fmla="val 343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4" name="Shape 32"/>
          <p:cNvSpPr/>
          <p:nvPr/>
        </p:nvSpPr>
        <p:spPr>
          <a:xfrm>
            <a:off x="4572000" y="5815273"/>
            <a:ext cx="3962549" cy="11906"/>
          </a:xfrm>
          <a:prstGeom prst="rect">
            <a:avLst/>
          </a:prstGeom>
          <a:solidFill>
            <a:srgbClr val="546472">
              <a:alpha val="16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5" name="Shape 33"/>
          <p:cNvSpPr/>
          <p:nvPr/>
        </p:nvSpPr>
        <p:spPr>
          <a:xfrm>
            <a:off x="4572000" y="3610942"/>
            <a:ext cx="3962549" cy="23813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6" name="Shape 34"/>
          <p:cNvSpPr/>
          <p:nvPr/>
        </p:nvSpPr>
        <p:spPr>
          <a:xfrm>
            <a:off x="4572000" y="3610942"/>
            <a:ext cx="11906" cy="2216237"/>
          </a:xfrm>
          <a:prstGeom prst="rect">
            <a:avLst/>
          </a:prstGeom>
          <a:solidFill>
            <a:srgbClr val="546472">
              <a:alpha val="16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7" name="Shape 35"/>
          <p:cNvSpPr/>
          <p:nvPr/>
        </p:nvSpPr>
        <p:spPr>
          <a:xfrm>
            <a:off x="8522643" y="3610942"/>
            <a:ext cx="11906" cy="2216237"/>
          </a:xfrm>
          <a:prstGeom prst="rect">
            <a:avLst/>
          </a:prstGeom>
          <a:solidFill>
            <a:srgbClr val="546472">
              <a:alpha val="16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8" name="Text 36"/>
          <p:cNvSpPr/>
          <p:nvPr/>
        </p:nvSpPr>
        <p:spPr>
          <a:xfrm>
            <a:off x="4736269" y="3767956"/>
            <a:ext cx="3997412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b="1" kern="0" spc="90" dirty="0">
                <a:solidFill>
                  <a:srgbClr val="8FA82E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ERREURS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736269" y="3932225"/>
            <a:ext cx="399741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5xx · quality gate · timeouts LLM · retrievals vides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36269" y="4182256"/>
            <a:ext cx="1747614" cy="211708"/>
          </a:xfrm>
          <a:prstGeom prst="roundRect">
            <a:avLst>
              <a:gd name="adj" fmla="val 17996"/>
            </a:avLst>
          </a:prstGeom>
          <a:solidFill>
            <a:srgbClr val="BDD248">
              <a:alpha val="10000"/>
            </a:srgbClr>
          </a:solidFill>
          <a:ln w="11906">
            <a:solidFill>
              <a:srgbClr val="BDD24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1" name="Text 39"/>
          <p:cNvSpPr/>
          <p:nvPr/>
        </p:nvSpPr>
        <p:spPr>
          <a:xfrm>
            <a:off x="4824375" y="4222738"/>
            <a:ext cx="1647602" cy="168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1C1C24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rag_empty_retrieval_total</a:t>
            </a:r>
            <a:endParaRPr lang="en-US" sz="825" dirty="0"/>
          </a:p>
        </p:txBody>
      </p:sp>
      <p:sp>
        <p:nvSpPr>
          <p:cNvPr id="42" name="Shape 40"/>
          <p:cNvSpPr/>
          <p:nvPr/>
        </p:nvSpPr>
        <p:spPr>
          <a:xfrm>
            <a:off x="8648774" y="3610942"/>
            <a:ext cx="3048000" cy="2216237"/>
          </a:xfrm>
          <a:prstGeom prst="roundRect">
            <a:avLst>
              <a:gd name="adj" fmla="val 343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3" name="Shape 41"/>
          <p:cNvSpPr/>
          <p:nvPr/>
        </p:nvSpPr>
        <p:spPr>
          <a:xfrm>
            <a:off x="8648774" y="5815273"/>
            <a:ext cx="3048000" cy="11906"/>
          </a:xfrm>
          <a:prstGeom prst="rect">
            <a:avLst/>
          </a:prstGeom>
          <a:solidFill>
            <a:srgbClr val="546472">
              <a:alpha val="16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4" name="Shape 42"/>
          <p:cNvSpPr/>
          <p:nvPr/>
        </p:nvSpPr>
        <p:spPr>
          <a:xfrm>
            <a:off x="8648774" y="3610942"/>
            <a:ext cx="3048000" cy="23813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5" name="Shape 43"/>
          <p:cNvSpPr/>
          <p:nvPr/>
        </p:nvSpPr>
        <p:spPr>
          <a:xfrm>
            <a:off x="8648774" y="3610942"/>
            <a:ext cx="11906" cy="2216237"/>
          </a:xfrm>
          <a:prstGeom prst="rect">
            <a:avLst/>
          </a:prstGeom>
          <a:solidFill>
            <a:srgbClr val="546472">
              <a:alpha val="16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6" name="Shape 44"/>
          <p:cNvSpPr/>
          <p:nvPr/>
        </p:nvSpPr>
        <p:spPr>
          <a:xfrm>
            <a:off x="11684868" y="3610942"/>
            <a:ext cx="11906" cy="2216237"/>
          </a:xfrm>
          <a:prstGeom prst="rect">
            <a:avLst/>
          </a:prstGeom>
          <a:solidFill>
            <a:srgbClr val="546472">
              <a:alpha val="16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7" name="Text 45"/>
          <p:cNvSpPr/>
          <p:nvPr/>
        </p:nvSpPr>
        <p:spPr>
          <a:xfrm>
            <a:off x="8813043" y="3767956"/>
            <a:ext cx="2991408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b="1" kern="0" spc="90" dirty="0">
                <a:solidFill>
                  <a:srgbClr val="8FA82E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SATURATION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8813043" y="3932225"/>
            <a:ext cx="2991408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/ RAM · file d'attente · tokens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813043" y="4182256"/>
            <a:ext cx="1181881" cy="211708"/>
          </a:xfrm>
          <a:prstGeom prst="roundRect">
            <a:avLst>
              <a:gd name="adj" fmla="val 17996"/>
            </a:avLst>
          </a:prstGeom>
          <a:solidFill>
            <a:srgbClr val="BDD248">
              <a:alpha val="10000"/>
            </a:srgbClr>
          </a:solidFill>
          <a:ln w="11906">
            <a:solidFill>
              <a:srgbClr val="BDD24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0" name="Text 48"/>
          <p:cNvSpPr/>
          <p:nvPr/>
        </p:nvSpPr>
        <p:spPr>
          <a:xfrm>
            <a:off x="8901150" y="4222738"/>
            <a:ext cx="1081869" cy="168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1C1C24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rag_tokens_total</a:t>
            </a:r>
            <a:endParaRPr lang="en-US" sz="825" dirty="0"/>
          </a:p>
        </p:txBody>
      </p:sp>
      <p:sp>
        <p:nvSpPr>
          <p:cNvPr id="51" name="Shape 49"/>
          <p:cNvSpPr/>
          <p:nvPr/>
        </p:nvSpPr>
        <p:spPr>
          <a:xfrm>
            <a:off x="495226" y="5922429"/>
            <a:ext cx="11201549" cy="495226"/>
          </a:xfrm>
          <a:prstGeom prst="roundRect">
            <a:avLst>
              <a:gd name="adj" fmla="val 15387"/>
            </a:avLst>
          </a:prstGeom>
          <a:solidFill>
            <a:srgbClr val="1C1C2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2" name="Text 50"/>
          <p:cNvSpPr/>
          <p:nvPr/>
        </p:nvSpPr>
        <p:spPr>
          <a:xfrm>
            <a:off x="685726" y="6045026"/>
            <a:ext cx="987958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b="1" kern="0" spc="90" dirty="0">
                <a:solidFill>
                  <a:srgbClr val="BDD248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ALERTES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85726" y="6152183"/>
            <a:ext cx="98795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· Prometheus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1749847" y="6017679"/>
            <a:ext cx="9525" cy="304726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5" name="Shape 53"/>
          <p:cNvSpPr/>
          <p:nvPr/>
        </p:nvSpPr>
        <p:spPr>
          <a:xfrm>
            <a:off x="1911697" y="6054700"/>
            <a:ext cx="1006822" cy="230684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11906">
            <a:solidFill>
              <a:srgbClr val="BDD24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6" name="Text 54"/>
          <p:cNvSpPr/>
          <p:nvPr/>
        </p:nvSpPr>
        <p:spPr>
          <a:xfrm>
            <a:off x="2037904" y="6104706"/>
            <a:ext cx="830610" cy="168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Critique API</a:t>
            </a:r>
            <a:endParaRPr lang="en-US" sz="825" dirty="0"/>
          </a:p>
        </p:txBody>
      </p:sp>
      <p:sp>
        <p:nvSpPr>
          <p:cNvPr id="57" name="Shape 55"/>
          <p:cNvSpPr/>
          <p:nvPr/>
        </p:nvSpPr>
        <p:spPr>
          <a:xfrm>
            <a:off x="2994608" y="6054700"/>
            <a:ext cx="692423" cy="230684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11906">
            <a:solidFill>
              <a:srgbClr val="BDD24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8" name="Text 56"/>
          <p:cNvSpPr/>
          <p:nvPr/>
        </p:nvSpPr>
        <p:spPr>
          <a:xfrm>
            <a:off x="3120814" y="6104706"/>
            <a:ext cx="516210" cy="168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Qualité</a:t>
            </a:r>
            <a:endParaRPr lang="en-US" sz="825" dirty="0"/>
          </a:p>
        </p:txBody>
      </p:sp>
      <p:sp>
        <p:nvSpPr>
          <p:cNvPr id="59" name="Shape 57"/>
          <p:cNvSpPr/>
          <p:nvPr/>
        </p:nvSpPr>
        <p:spPr>
          <a:xfrm>
            <a:off x="3763119" y="6054700"/>
            <a:ext cx="1132396" cy="230684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11906">
            <a:solidFill>
              <a:srgbClr val="BDD24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0" name="Text 58"/>
          <p:cNvSpPr/>
          <p:nvPr/>
        </p:nvSpPr>
        <p:spPr>
          <a:xfrm>
            <a:off x="3889325" y="6104706"/>
            <a:ext cx="956183" cy="168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Infrastructure</a:t>
            </a:r>
            <a:endParaRPr lang="en-US" sz="825" dirty="0"/>
          </a:p>
        </p:txBody>
      </p:sp>
      <p:sp>
        <p:nvSpPr>
          <p:cNvPr id="61" name="Text 59"/>
          <p:cNvSpPr/>
          <p:nvPr/>
        </p:nvSpPr>
        <p:spPr>
          <a:xfrm>
            <a:off x="4971604" y="6054700"/>
            <a:ext cx="1648197" cy="268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i="1" dirty="0">
                <a:solidFill>
                  <a:srgbClr val="FFFFFF">
                    <a:alpha val="35000"/>
                  </a:srgbClr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déclenchement automatique</a:t>
            </a:r>
            <a:endParaRPr lang="en-US" sz="825" dirty="0"/>
          </a:p>
        </p:txBody>
      </p:sp>
      <p:pic>
        <p:nvPicPr>
          <p:cNvPr id="62" name="Image 0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11311124" y="6060467"/>
            <a:ext cx="195151" cy="171338"/>
          </a:xfrm>
          <a:prstGeom prst="rect">
            <a:avLst/>
          </a:prstGeom>
        </p:spPr>
      </p:pic>
      <p:sp>
        <p:nvSpPr>
          <p:cNvPr id="63" name="Shape 60"/>
          <p:cNvSpPr/>
          <p:nvPr/>
        </p:nvSpPr>
        <p:spPr>
          <a:xfrm>
            <a:off x="495226" y="6493743"/>
            <a:ext cx="11201549" cy="11906"/>
          </a:xfrm>
          <a:prstGeom prst="rect">
            <a:avLst/>
          </a:prstGeom>
          <a:solidFill>
            <a:srgbClr val="546472">
              <a:alpha val="14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64" name="Text 61"/>
          <p:cNvSpPr/>
          <p:nvPr/>
        </p:nvSpPr>
        <p:spPr>
          <a:xfrm>
            <a:off x="990451" y="6610387"/>
            <a:ext cx="35425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63" dirty="0">
                <a:solidFill>
                  <a:srgbClr val="546472">
                    <a:alpha val="70000"/>
                  </a:srgbClr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Projet de Fin d'Études · Pipeline MLOps générique</a:t>
            </a:r>
            <a:endParaRPr lang="en-US" sz="863" dirty="0"/>
          </a:p>
        </p:txBody>
      </p:sp>
      <p:sp>
        <p:nvSpPr>
          <p:cNvPr id="66" name="Google Shape;88;p17">
            <a:extLst>
              <a:ext uri="{FF2B5EF4-FFF2-40B4-BE49-F238E27FC236}">
                <a16:creationId xmlns:a16="http://schemas.microsoft.com/office/drawing/2014/main" id="{ECADB262-36DF-AD09-829D-19E76D00B81C}"/>
              </a:ext>
            </a:extLst>
          </p:cNvPr>
          <p:cNvSpPr txBox="1">
            <a:spLocks/>
          </p:cNvSpPr>
          <p:nvPr/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fr" sz="1733" dirty="0">
                <a:latin typeface="Arial" panose="020B0604020202020204" pitchFamily="34" charset="0"/>
                <a:ea typeface="Nunito Black"/>
                <a:cs typeface="Arial" panose="020B0604020202020204" pitchFamily="34" charset="0"/>
                <a:sym typeface="Nunito Black"/>
              </a:rPr>
              <a:t>24</a:t>
            </a:r>
          </a:p>
        </p:txBody>
      </p:sp>
      <p:pic>
        <p:nvPicPr>
          <p:cNvPr id="67" name="Image 4" descr="preencoded.png">
            <a:extLst>
              <a:ext uri="{FF2B5EF4-FFF2-40B4-BE49-F238E27FC236}">
                <a16:creationId xmlns:a16="http://schemas.microsoft.com/office/drawing/2014/main" id="{BFF17824-C6FD-52DA-E3D7-2261195C448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0960274" y="156681"/>
            <a:ext cx="1041974" cy="62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8002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T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444952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OPS · MONITORING · QUALITÉ EN PRODUCTION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11567406" cy="44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700" b="1" kern="0" spc="-54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Surveiller non seulement que ça répond, mais </a:t>
            </a:r>
            <a:r>
              <a:rPr lang="en-US" sz="2700" b="1" kern="0" spc="-54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que ça répond bien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838088" y="1456655"/>
            <a:ext cx="11567406" cy="251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La qualité d’un RAG ne se voit pas dans les métriques système. On l’évalue en continu — sans ralentir l’utilisateur.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38088" y="1822214"/>
            <a:ext cx="807207" cy="482389"/>
          </a:xfrm>
          <a:prstGeom prst="roundRect">
            <a:avLst>
              <a:gd name="adj" fmla="val 15796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8" name="Text 5"/>
          <p:cNvSpPr/>
          <p:nvPr/>
        </p:nvSpPr>
        <p:spPr>
          <a:xfrm>
            <a:off x="983196" y="1919697"/>
            <a:ext cx="593192" cy="187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Requête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83196" y="2088059"/>
            <a:ext cx="59319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kern="0" spc="22" dirty="0">
                <a:solidFill>
                  <a:srgbClr val="8FA82E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API RAG</a:t>
            </a:r>
            <a:endParaRPr lang="en-US" sz="7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545" y="1974205"/>
            <a:ext cx="285750" cy="18082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121545" y="1822214"/>
            <a:ext cx="2570634" cy="482389"/>
          </a:xfrm>
          <a:prstGeom prst="roundRect">
            <a:avLst>
              <a:gd name="adj" fmla="val 15796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2" name="Text 8"/>
          <p:cNvSpPr/>
          <p:nvPr/>
        </p:nvSpPr>
        <p:spPr>
          <a:xfrm>
            <a:off x="2266652" y="1919697"/>
            <a:ext cx="2508461" cy="187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Réponse renvoyée immédiatement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2266652" y="2088059"/>
            <a:ext cx="2508461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kern="0" spc="22" dirty="0">
                <a:solidFill>
                  <a:srgbClr val="8FA82E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à l’utilisateur · sans attendre l’éval</a:t>
            </a:r>
            <a:endParaRPr lang="en-US" sz="7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540" y="2352229"/>
            <a:ext cx="190500" cy="30472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61591" y="2445060"/>
            <a:ext cx="197654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13" kern="0" spc="71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FORK — SANS BLOQUER LA RÉPONSE</a:t>
            </a:r>
            <a:endParaRPr lang="en-US" sz="713" dirty="0"/>
          </a:p>
        </p:txBody>
      </p:sp>
      <p:sp>
        <p:nvSpPr>
          <p:cNvPr id="16" name="Shape 11"/>
          <p:cNvSpPr/>
          <p:nvPr/>
        </p:nvSpPr>
        <p:spPr>
          <a:xfrm>
            <a:off x="838088" y="2704579"/>
            <a:ext cx="10515823" cy="890922"/>
          </a:xfrm>
          <a:prstGeom prst="roundRect">
            <a:avLst>
              <a:gd name="adj" fmla="val 12829"/>
            </a:avLst>
          </a:prstGeom>
          <a:solidFill>
            <a:srgbClr val="2A2A2A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7" name="Text 12"/>
          <p:cNvSpPr/>
          <p:nvPr/>
        </p:nvSpPr>
        <p:spPr>
          <a:xfrm>
            <a:off x="990451" y="2809317"/>
            <a:ext cx="11232207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b="1" kern="0" spc="105" dirty="0">
                <a:solidFill>
                  <a:srgbClr val="BDD248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EN ARRIÈRE-PLAN · BACKGROUNDTASK</a:t>
            </a:r>
            <a:endParaRPr lang="en-US" sz="750" dirty="0"/>
          </a:p>
        </p:txBody>
      </p:sp>
      <p:sp>
        <p:nvSpPr>
          <p:cNvPr id="18" name="Shape 13"/>
          <p:cNvSpPr/>
          <p:nvPr/>
        </p:nvSpPr>
        <p:spPr>
          <a:xfrm>
            <a:off x="990451" y="3013956"/>
            <a:ext cx="1699989" cy="457833"/>
          </a:xfrm>
          <a:prstGeom prst="roundRect">
            <a:avLst>
              <a:gd name="adj" fmla="val 16644"/>
            </a:avLst>
          </a:prstGeom>
          <a:solidFill>
            <a:srgbClr val="23272F"/>
          </a:solidFill>
          <a:ln w="11906">
            <a:solidFill>
              <a:srgbClr val="BDD248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9" name="Text 14"/>
          <p:cNvSpPr/>
          <p:nvPr/>
        </p:nvSpPr>
        <p:spPr>
          <a:xfrm>
            <a:off x="1126071" y="3101950"/>
            <a:ext cx="1571625" cy="181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Échantillonnage</a:t>
            </a:r>
            <a:endParaRPr lang="en-US" sz="1013" dirty="0"/>
          </a:p>
        </p:txBody>
      </p:sp>
      <p:sp>
        <p:nvSpPr>
          <p:cNvPr id="20" name="Text 15"/>
          <p:cNvSpPr/>
          <p:nvPr/>
        </p:nvSpPr>
        <p:spPr>
          <a:xfrm>
            <a:off x="1126071" y="3264731"/>
            <a:ext cx="1571625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AA5B8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1 requête / 10 · hash MD5</a:t>
            </a:r>
            <a:endParaRPr lang="en-US" sz="7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6017" y="3153668"/>
            <a:ext cx="285750" cy="180826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3147343" y="3013956"/>
            <a:ext cx="1151930" cy="457833"/>
          </a:xfrm>
          <a:prstGeom prst="roundRect">
            <a:avLst>
              <a:gd name="adj" fmla="val 16644"/>
            </a:avLst>
          </a:prstGeom>
          <a:solidFill>
            <a:srgbClr val="23272F"/>
          </a:solidFill>
          <a:ln w="11906">
            <a:solidFill>
              <a:srgbClr val="BDD248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3" name="Text 17"/>
          <p:cNvSpPr/>
          <p:nvPr/>
        </p:nvSpPr>
        <p:spPr>
          <a:xfrm>
            <a:off x="3282962" y="3101950"/>
            <a:ext cx="956890" cy="181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RAGAS évalue</a:t>
            </a:r>
            <a:endParaRPr lang="en-US" sz="1013" dirty="0"/>
          </a:p>
        </p:txBody>
      </p:sp>
      <p:sp>
        <p:nvSpPr>
          <p:cNvPr id="24" name="Text 18"/>
          <p:cNvSpPr/>
          <p:nvPr/>
        </p:nvSpPr>
        <p:spPr>
          <a:xfrm>
            <a:off x="3282962" y="3264731"/>
            <a:ext cx="95689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AA5B8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juge qwen2:0.5b</a:t>
            </a:r>
            <a:endParaRPr lang="en-US" sz="75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4849" y="3153668"/>
            <a:ext cx="285750" cy="180826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4756175" y="3013956"/>
            <a:ext cx="1300014" cy="457833"/>
          </a:xfrm>
          <a:prstGeom prst="roundRect">
            <a:avLst>
              <a:gd name="adj" fmla="val 16644"/>
            </a:avLst>
          </a:prstGeom>
          <a:solidFill>
            <a:srgbClr val="23272F"/>
          </a:solidFill>
          <a:ln w="11906">
            <a:solidFill>
              <a:srgbClr val="BDD248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7" name="Text 20"/>
          <p:cNvSpPr/>
          <p:nvPr/>
        </p:nvSpPr>
        <p:spPr>
          <a:xfrm>
            <a:off x="4891794" y="3101950"/>
            <a:ext cx="1104974" cy="181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Prometheus</a:t>
            </a:r>
            <a:endParaRPr lang="en-US" sz="1013" dirty="0"/>
          </a:p>
        </p:txBody>
      </p:sp>
      <p:sp>
        <p:nvSpPr>
          <p:cNvPr id="28" name="Text 21"/>
          <p:cNvSpPr/>
          <p:nvPr/>
        </p:nvSpPr>
        <p:spPr>
          <a:xfrm>
            <a:off x="4891794" y="3264731"/>
            <a:ext cx="1104974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AA5B8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métriques publiées</a:t>
            </a:r>
            <a:endParaRPr lang="en-US" sz="75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1765" y="3153668"/>
            <a:ext cx="285750" cy="180826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6513091" y="3013956"/>
            <a:ext cx="754931" cy="457833"/>
          </a:xfrm>
          <a:prstGeom prst="roundRect">
            <a:avLst>
              <a:gd name="adj" fmla="val 16644"/>
            </a:avLst>
          </a:prstGeom>
          <a:solidFill>
            <a:srgbClr val="23272F"/>
          </a:solidFill>
          <a:ln w="11906">
            <a:solidFill>
              <a:srgbClr val="BDD248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1" name="Text 23"/>
          <p:cNvSpPr/>
          <p:nvPr/>
        </p:nvSpPr>
        <p:spPr>
          <a:xfrm>
            <a:off x="6648710" y="3101950"/>
            <a:ext cx="559891" cy="181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Grafana</a:t>
            </a:r>
            <a:endParaRPr lang="en-US" sz="1013" dirty="0"/>
          </a:p>
        </p:txBody>
      </p:sp>
      <p:sp>
        <p:nvSpPr>
          <p:cNvPr id="32" name="Text 24"/>
          <p:cNvSpPr/>
          <p:nvPr/>
        </p:nvSpPr>
        <p:spPr>
          <a:xfrm>
            <a:off x="6648710" y="3264731"/>
            <a:ext cx="559891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AA5B8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visibles</a:t>
            </a:r>
            <a:endParaRPr lang="en-US" sz="750" dirty="0"/>
          </a:p>
        </p:txBody>
      </p:sp>
      <p:sp>
        <p:nvSpPr>
          <p:cNvPr id="33" name="Shape 25"/>
          <p:cNvSpPr/>
          <p:nvPr/>
        </p:nvSpPr>
        <p:spPr>
          <a:xfrm>
            <a:off x="838088" y="3738376"/>
            <a:ext cx="5191311" cy="431788"/>
          </a:xfrm>
          <a:prstGeom prst="roundRect">
            <a:avLst>
              <a:gd name="adj" fmla="val 13236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4" name="Shape 26"/>
          <p:cNvSpPr/>
          <p:nvPr/>
        </p:nvSpPr>
        <p:spPr>
          <a:xfrm>
            <a:off x="838088" y="4158258"/>
            <a:ext cx="5191311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5" name="Shape 27"/>
          <p:cNvSpPr/>
          <p:nvPr/>
        </p:nvSpPr>
        <p:spPr>
          <a:xfrm>
            <a:off x="838088" y="3738376"/>
            <a:ext cx="5191311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6" name="Shape 28"/>
          <p:cNvSpPr/>
          <p:nvPr/>
        </p:nvSpPr>
        <p:spPr>
          <a:xfrm>
            <a:off x="838088" y="3738376"/>
            <a:ext cx="23813" cy="431788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7" name="Shape 29"/>
          <p:cNvSpPr/>
          <p:nvPr/>
        </p:nvSpPr>
        <p:spPr>
          <a:xfrm>
            <a:off x="6017493" y="3738376"/>
            <a:ext cx="11906" cy="431788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8" name="Text 30"/>
          <p:cNvSpPr/>
          <p:nvPr/>
        </p:nvSpPr>
        <p:spPr>
          <a:xfrm>
            <a:off x="1014301" y="3864583"/>
            <a:ext cx="5006532" cy="217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2A2A2A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Éval en arrière-plan : </a:t>
            </a:r>
            <a:r>
              <a:rPr lang="en-US" sz="975" dirty="0">
                <a:solidFill>
                  <a:srgbClr val="525252"/>
                </a:solidFill>
                <a:highlight>
                  <a:srgbClr val="F4F4F4"/>
                </a:highlight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la latence utilisateur n’est </a:t>
            </a:r>
            <a:r>
              <a:rPr lang="en-US" sz="975" b="1" dirty="0">
                <a:solidFill>
                  <a:srgbClr val="8FA82E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jamais </a:t>
            </a:r>
            <a:r>
              <a:rPr lang="en-US" sz="975" dirty="0">
                <a:solidFill>
                  <a:srgbClr val="525252"/>
                </a:solidFill>
                <a:highlight>
                  <a:srgbClr val="F4F4F4"/>
                </a:highlight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impactée.</a:t>
            </a:r>
            <a:endParaRPr lang="en-US" sz="975" dirty="0"/>
          </a:p>
        </p:txBody>
      </p:sp>
      <p:sp>
        <p:nvSpPr>
          <p:cNvPr id="39" name="Shape 31"/>
          <p:cNvSpPr/>
          <p:nvPr/>
        </p:nvSpPr>
        <p:spPr>
          <a:xfrm>
            <a:off x="6162601" y="3738376"/>
            <a:ext cx="5191311" cy="431788"/>
          </a:xfrm>
          <a:prstGeom prst="roundRect">
            <a:avLst>
              <a:gd name="adj" fmla="val 13236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0" name="Shape 32"/>
          <p:cNvSpPr/>
          <p:nvPr/>
        </p:nvSpPr>
        <p:spPr>
          <a:xfrm>
            <a:off x="6162601" y="4158258"/>
            <a:ext cx="5191311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1" name="Shape 33"/>
          <p:cNvSpPr/>
          <p:nvPr/>
        </p:nvSpPr>
        <p:spPr>
          <a:xfrm>
            <a:off x="6162601" y="3738376"/>
            <a:ext cx="5191311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2" name="Shape 34"/>
          <p:cNvSpPr/>
          <p:nvPr/>
        </p:nvSpPr>
        <p:spPr>
          <a:xfrm>
            <a:off x="6162601" y="3738376"/>
            <a:ext cx="23813" cy="431788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3" name="Shape 35"/>
          <p:cNvSpPr/>
          <p:nvPr/>
        </p:nvSpPr>
        <p:spPr>
          <a:xfrm>
            <a:off x="11342005" y="3738376"/>
            <a:ext cx="11906" cy="431788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4" name="Text 36"/>
          <p:cNvSpPr/>
          <p:nvPr/>
        </p:nvSpPr>
        <p:spPr>
          <a:xfrm>
            <a:off x="6338813" y="3864583"/>
            <a:ext cx="5006532" cy="217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2A2A2A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Échantillonnage déterministe (hash MD5) : </a:t>
            </a:r>
            <a:r>
              <a:rPr lang="en-US" sz="975" dirty="0">
                <a:solidFill>
                  <a:srgbClr val="525252"/>
                </a:solidFill>
                <a:highlight>
                  <a:srgbClr val="F4F4F4"/>
                </a:highlight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reproductible, même en multi-instances.</a:t>
            </a:r>
            <a:endParaRPr lang="en-US" sz="975" dirty="0"/>
          </a:p>
        </p:txBody>
      </p:sp>
      <p:sp>
        <p:nvSpPr>
          <p:cNvPr id="45" name="Shape 37"/>
          <p:cNvSpPr/>
          <p:nvPr/>
        </p:nvSpPr>
        <p:spPr>
          <a:xfrm>
            <a:off x="838088" y="4313039"/>
            <a:ext cx="5191311" cy="841251"/>
          </a:xfrm>
          <a:prstGeom prst="roundRect">
            <a:avLst>
              <a:gd name="adj" fmla="val 6793"/>
            </a:avLst>
          </a:prstGeom>
          <a:solidFill>
            <a:srgbClr val="2A2A2A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6" name="Text 38"/>
          <p:cNvSpPr/>
          <p:nvPr/>
        </p:nvSpPr>
        <p:spPr>
          <a:xfrm>
            <a:off x="1009427" y="4436752"/>
            <a:ext cx="5333498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b="1" kern="0" spc="105" dirty="0">
                <a:solidFill>
                  <a:srgbClr val="BDD248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PREUVE</a:t>
            </a:r>
            <a:endParaRPr lang="en-US" sz="750" dirty="0"/>
          </a:p>
        </p:txBody>
      </p:sp>
      <p:sp>
        <p:nvSpPr>
          <p:cNvPr id="47" name="Text 39"/>
          <p:cNvSpPr/>
          <p:nvPr/>
        </p:nvSpPr>
        <p:spPr>
          <a:xfrm>
            <a:off x="1009427" y="4603440"/>
            <a:ext cx="5333498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faithfulness = </a:t>
            </a:r>
            <a:r>
              <a:rPr lang="en-US" sz="1200" b="1" dirty="0">
                <a:solidFill>
                  <a:srgbClr val="BDD248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1.0 </a:t>
            </a:r>
            <a:r>
              <a:rPr lang="en-US" sz="975" b="1" dirty="0">
                <a:solidFill>
                  <a:srgbClr val="9AA5B8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— premier run validé sur le jeu d'évaluation</a:t>
            </a:r>
            <a:endParaRPr lang="en-US" sz="1200" dirty="0"/>
          </a:p>
        </p:txBody>
      </p:sp>
      <p:sp>
        <p:nvSpPr>
          <p:cNvPr id="48" name="Text 40"/>
          <p:cNvSpPr/>
          <p:nvPr/>
        </p:nvSpPr>
        <p:spPr>
          <a:xfrm>
            <a:off x="1009427" y="4877284"/>
            <a:ext cx="5333498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63" i="1" dirty="0">
                <a:solidFill>
                  <a:srgbClr val="9AA5B8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answer_relevancy plus fragile avec un juge léger (slide suivante).</a:t>
            </a:r>
            <a:endParaRPr lang="en-US" sz="863" dirty="0"/>
          </a:p>
        </p:txBody>
      </p:sp>
      <p:sp>
        <p:nvSpPr>
          <p:cNvPr id="49" name="Shape 41"/>
          <p:cNvSpPr/>
          <p:nvPr/>
        </p:nvSpPr>
        <p:spPr>
          <a:xfrm>
            <a:off x="6162601" y="4313039"/>
            <a:ext cx="5191311" cy="841251"/>
          </a:xfrm>
          <a:prstGeom prst="roundRect">
            <a:avLst>
              <a:gd name="adj" fmla="val 6793"/>
            </a:avLst>
          </a:prstGeom>
          <a:solidFill>
            <a:srgbClr val="EFF4D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0" name="Shape 42"/>
          <p:cNvSpPr/>
          <p:nvPr/>
        </p:nvSpPr>
        <p:spPr>
          <a:xfrm>
            <a:off x="6162601" y="5142384"/>
            <a:ext cx="5191311" cy="11906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1" name="Shape 43"/>
          <p:cNvSpPr/>
          <p:nvPr/>
        </p:nvSpPr>
        <p:spPr>
          <a:xfrm>
            <a:off x="6162601" y="4313039"/>
            <a:ext cx="5191311" cy="11906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2" name="Shape 44"/>
          <p:cNvSpPr/>
          <p:nvPr/>
        </p:nvSpPr>
        <p:spPr>
          <a:xfrm>
            <a:off x="6162601" y="4313039"/>
            <a:ext cx="23813" cy="841251"/>
          </a:xfrm>
          <a:prstGeom prst="rect">
            <a:avLst/>
          </a:prstGeom>
          <a:solidFill>
            <a:srgbClr val="8FA82E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3" name="Shape 45"/>
          <p:cNvSpPr/>
          <p:nvPr/>
        </p:nvSpPr>
        <p:spPr>
          <a:xfrm>
            <a:off x="11342005" y="4313039"/>
            <a:ext cx="11906" cy="841251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4" name="Text 46"/>
          <p:cNvSpPr/>
          <p:nvPr/>
        </p:nvSpPr>
        <p:spPr>
          <a:xfrm>
            <a:off x="6357751" y="4448659"/>
            <a:ext cx="5294207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50" b="1" kern="0" spc="105" dirty="0">
                <a:solidFill>
                  <a:srgbClr val="8FA82E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MA CONTRIBUTION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6357751" y="4615346"/>
            <a:ext cx="5294207" cy="217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dirty="0">
                <a:solidFill>
                  <a:srgbClr val="3F3F3F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Éval async, échantillonnage et métriques de qualité conçus et implémentés par moi.</a:t>
            </a:r>
            <a:endParaRPr lang="en-US" sz="975" dirty="0"/>
          </a:p>
        </p:txBody>
      </p:sp>
      <p:sp>
        <p:nvSpPr>
          <p:cNvPr id="56" name="Text 48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57" name="Image 6" descr="preencoded.png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11099416" y="6418585"/>
            <a:ext cx="254496" cy="15236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5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495226" y="237939"/>
            <a:ext cx="85576" cy="123713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" name="Text 2"/>
          <p:cNvSpPr/>
          <p:nvPr/>
        </p:nvSpPr>
        <p:spPr>
          <a:xfrm>
            <a:off x="666378" y="228451"/>
            <a:ext cx="33396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3" kern="0" spc="121" dirty="0">
                <a:solidFill>
                  <a:srgbClr val="546472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OPS · MONITORING · QUALITÉ EN PRODUCTION</a:t>
            </a:r>
            <a:endParaRPr lang="en-US" sz="863" dirty="0"/>
          </a:p>
        </p:txBody>
      </p:sp>
      <p:sp>
        <p:nvSpPr>
          <p:cNvPr id="5" name="Text 3"/>
          <p:cNvSpPr/>
          <p:nvPr/>
        </p:nvSpPr>
        <p:spPr>
          <a:xfrm>
            <a:off x="495226" y="447415"/>
            <a:ext cx="12321704" cy="43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kern="0" spc="-54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Surveiller non seulement que ça répond, mais </a:t>
            </a:r>
            <a:r>
              <a:rPr lang="en-US" sz="2700" b="1" kern="0" spc="-54" dirty="0">
                <a:solidFill>
                  <a:srgbClr val="8FA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ça répond bien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95226" y="878272"/>
            <a:ext cx="12321704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qualité d'un RAG ne se voit pas dans les métriques système. On l'évalue en continu — sans ralentir l'utilisateur.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5226" y="1213879"/>
            <a:ext cx="11201549" cy="956965"/>
          </a:xfrm>
          <a:prstGeom prst="roundRect">
            <a:avLst>
              <a:gd name="adj" fmla="val 9953"/>
            </a:avLst>
          </a:prstGeom>
          <a:solidFill>
            <a:srgbClr val="1C1C2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8" name="Text 6"/>
          <p:cNvSpPr/>
          <p:nvPr/>
        </p:nvSpPr>
        <p:spPr>
          <a:xfrm>
            <a:off x="685726" y="1366242"/>
            <a:ext cx="11902604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kern="0" spc="90" dirty="0">
                <a:solidFill>
                  <a:srgbClr val="BDD248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FLUX ASYNCHRONE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85726" y="1580555"/>
            <a:ext cx="794556" cy="437927"/>
          </a:xfrm>
          <a:prstGeom prst="roundRect">
            <a:avLst>
              <a:gd name="adj" fmla="val 13050"/>
            </a:avLst>
          </a:prstGeom>
          <a:solidFill>
            <a:srgbClr val="BDD248">
              <a:alpha val="10000"/>
            </a:srgbClr>
          </a:solidFill>
          <a:ln w="11906">
            <a:solidFill>
              <a:srgbClr val="BDD24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0" name="Text 8"/>
          <p:cNvSpPr/>
          <p:nvPr/>
        </p:nvSpPr>
        <p:spPr>
          <a:xfrm>
            <a:off x="830833" y="1668549"/>
            <a:ext cx="58054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Requête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30833" y="1811424"/>
            <a:ext cx="580541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FFF">
                    <a:alpha val="40000"/>
                  </a:srgbClr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API RAG</a:t>
            </a:r>
            <a:endParaRPr lang="en-US" sz="7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56370" y="1713756"/>
            <a:ext cx="266588" cy="17133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899047" y="1580555"/>
            <a:ext cx="1476189" cy="437927"/>
          </a:xfrm>
          <a:prstGeom prst="roundRect">
            <a:avLst>
              <a:gd name="adj" fmla="val 13050"/>
            </a:avLst>
          </a:prstGeom>
          <a:solidFill>
            <a:srgbClr val="BDD248">
              <a:alpha val="10000"/>
            </a:srgbClr>
          </a:solidFill>
          <a:ln w="11906">
            <a:solidFill>
              <a:srgbClr val="BDD24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4" name="Text 11"/>
          <p:cNvSpPr/>
          <p:nvPr/>
        </p:nvSpPr>
        <p:spPr>
          <a:xfrm>
            <a:off x="2044154" y="1668549"/>
            <a:ext cx="126217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Réponse immédiate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067411" y="2007367"/>
            <a:ext cx="1262174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FFF">
                    <a:alpha val="40000"/>
                  </a:srgbClr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sans attendre l'éval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3489424" y="1734034"/>
            <a:ext cx="422300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>
                    <a:alpha val="40000"/>
                  </a:srgbClr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fork ↓</a:t>
            </a:r>
            <a:endParaRPr lang="en-US" sz="825" dirty="0"/>
          </a:p>
        </p:txBody>
      </p:sp>
      <p:sp>
        <p:nvSpPr>
          <p:cNvPr id="17" name="Shape 14"/>
          <p:cNvSpPr/>
          <p:nvPr/>
        </p:nvSpPr>
        <p:spPr>
          <a:xfrm>
            <a:off x="3980594" y="1586508"/>
            <a:ext cx="1547626" cy="426021"/>
          </a:xfrm>
          <a:prstGeom prst="roundRect">
            <a:avLst>
              <a:gd name="adj" fmla="val 13415"/>
            </a:avLst>
          </a:prstGeom>
          <a:solidFill>
            <a:srgbClr val="23272F"/>
          </a:solidFill>
          <a:ln w="11906">
            <a:solidFill>
              <a:srgbClr val="BDD24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8" name="Text 15"/>
          <p:cNvSpPr/>
          <p:nvPr/>
        </p:nvSpPr>
        <p:spPr>
          <a:xfrm>
            <a:off x="4125702" y="1674502"/>
            <a:ext cx="1383153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BDD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Échantillonnage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4125702" y="1805471"/>
            <a:ext cx="1383153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FFF">
                    <a:alpha val="40000"/>
                  </a:srgbClr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1 req. / 10 · hash MD5</a:t>
            </a:r>
            <a:endParaRPr lang="en-US" sz="75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04309" y="1713756"/>
            <a:ext cx="266588" cy="171338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5946986" y="1586508"/>
            <a:ext cx="1147465" cy="426021"/>
          </a:xfrm>
          <a:prstGeom prst="roundRect">
            <a:avLst>
              <a:gd name="adj" fmla="val 13415"/>
            </a:avLst>
          </a:prstGeom>
          <a:solidFill>
            <a:srgbClr val="23272F"/>
          </a:solidFill>
          <a:ln w="11906">
            <a:solidFill>
              <a:srgbClr val="BDD24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2" name="Text 18"/>
          <p:cNvSpPr/>
          <p:nvPr/>
        </p:nvSpPr>
        <p:spPr>
          <a:xfrm>
            <a:off x="6092093" y="1674502"/>
            <a:ext cx="933450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BDD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RAGAS évalue</a:t>
            </a:r>
            <a:endParaRPr lang="en-US" sz="975" dirty="0"/>
          </a:p>
        </p:txBody>
      </p:sp>
      <p:sp>
        <p:nvSpPr>
          <p:cNvPr id="23" name="Text 19"/>
          <p:cNvSpPr/>
          <p:nvPr/>
        </p:nvSpPr>
        <p:spPr>
          <a:xfrm>
            <a:off x="6092093" y="1805471"/>
            <a:ext cx="93345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FFF">
                    <a:alpha val="40000"/>
                  </a:srgbClr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juge qwen2:0.5b</a:t>
            </a:r>
            <a:endParaRPr lang="en-US" sz="75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70539" y="1713756"/>
            <a:ext cx="266588" cy="171338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7513216" y="1586508"/>
            <a:ext cx="1318989" cy="426021"/>
          </a:xfrm>
          <a:prstGeom prst="roundRect">
            <a:avLst>
              <a:gd name="adj" fmla="val 13415"/>
            </a:avLst>
          </a:prstGeom>
          <a:solidFill>
            <a:srgbClr val="23272F"/>
          </a:solidFill>
          <a:ln w="11906">
            <a:solidFill>
              <a:srgbClr val="BDD24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6" name="Text 21"/>
          <p:cNvSpPr/>
          <p:nvPr/>
        </p:nvSpPr>
        <p:spPr>
          <a:xfrm>
            <a:off x="7658323" y="1674502"/>
            <a:ext cx="1104974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BDD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</a:t>
            </a:r>
            <a:endParaRPr lang="en-US" sz="975" dirty="0"/>
          </a:p>
        </p:txBody>
      </p:sp>
      <p:sp>
        <p:nvSpPr>
          <p:cNvPr id="27" name="Text 22"/>
          <p:cNvSpPr/>
          <p:nvPr/>
        </p:nvSpPr>
        <p:spPr>
          <a:xfrm>
            <a:off x="7658323" y="1805471"/>
            <a:ext cx="1104974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FFF">
                    <a:alpha val="40000"/>
                  </a:srgbClr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métriques publiées</a:t>
            </a:r>
            <a:endParaRPr lang="en-US" sz="75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08293" y="1713756"/>
            <a:ext cx="266588" cy="171338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9250970" y="1586508"/>
            <a:ext cx="747489" cy="426021"/>
          </a:xfrm>
          <a:prstGeom prst="roundRect">
            <a:avLst>
              <a:gd name="adj" fmla="val 13415"/>
            </a:avLst>
          </a:prstGeom>
          <a:solidFill>
            <a:srgbClr val="23272F"/>
          </a:solidFill>
          <a:ln w="11906">
            <a:solidFill>
              <a:srgbClr val="BDD24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0" name="Text 24"/>
          <p:cNvSpPr/>
          <p:nvPr/>
        </p:nvSpPr>
        <p:spPr>
          <a:xfrm>
            <a:off x="9396078" y="1674502"/>
            <a:ext cx="533474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BDD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</a:t>
            </a:r>
            <a:endParaRPr lang="en-US" sz="975" dirty="0"/>
          </a:p>
        </p:txBody>
      </p:sp>
      <p:sp>
        <p:nvSpPr>
          <p:cNvPr id="31" name="Text 25"/>
          <p:cNvSpPr/>
          <p:nvPr/>
        </p:nvSpPr>
        <p:spPr>
          <a:xfrm>
            <a:off x="9396078" y="1805471"/>
            <a:ext cx="533474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FFF">
                    <a:alpha val="40000"/>
                  </a:srgbClr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visibles</a:t>
            </a:r>
            <a:endParaRPr lang="en-US" sz="750" dirty="0"/>
          </a:p>
        </p:txBody>
      </p:sp>
      <p:sp>
        <p:nvSpPr>
          <p:cNvPr id="32" name="Shape 26"/>
          <p:cNvSpPr/>
          <p:nvPr/>
        </p:nvSpPr>
        <p:spPr>
          <a:xfrm>
            <a:off x="495226" y="2285070"/>
            <a:ext cx="3657637" cy="4056311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3" name="Shape 27"/>
          <p:cNvSpPr/>
          <p:nvPr/>
        </p:nvSpPr>
        <p:spPr>
          <a:xfrm>
            <a:off x="495226" y="6329474"/>
            <a:ext cx="3657637" cy="11906"/>
          </a:xfrm>
          <a:prstGeom prst="rect">
            <a:avLst/>
          </a:prstGeom>
          <a:solidFill>
            <a:srgbClr val="546472">
              <a:alpha val="16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4" name="Shape 28"/>
          <p:cNvSpPr/>
          <p:nvPr/>
        </p:nvSpPr>
        <p:spPr>
          <a:xfrm>
            <a:off x="495226" y="2285070"/>
            <a:ext cx="3657637" cy="11906"/>
          </a:xfrm>
          <a:prstGeom prst="rect">
            <a:avLst/>
          </a:prstGeom>
          <a:solidFill>
            <a:srgbClr val="546472">
              <a:alpha val="16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5" name="Shape 29"/>
          <p:cNvSpPr/>
          <p:nvPr/>
        </p:nvSpPr>
        <p:spPr>
          <a:xfrm>
            <a:off x="495226" y="2285070"/>
            <a:ext cx="23813" cy="4056311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6" name="Shape 30"/>
          <p:cNvSpPr/>
          <p:nvPr/>
        </p:nvSpPr>
        <p:spPr>
          <a:xfrm>
            <a:off x="4140957" y="2285070"/>
            <a:ext cx="11906" cy="4056311"/>
          </a:xfrm>
          <a:prstGeom prst="rect">
            <a:avLst/>
          </a:prstGeom>
          <a:solidFill>
            <a:srgbClr val="546472">
              <a:alpha val="16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7" name="Text 31"/>
          <p:cNvSpPr/>
          <p:nvPr/>
        </p:nvSpPr>
        <p:spPr>
          <a:xfrm>
            <a:off x="671401" y="2430177"/>
            <a:ext cx="364891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Éval en arrière-plan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671401" y="2620677"/>
            <a:ext cx="3648912" cy="2246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latence utilisateur n'est </a:t>
            </a:r>
            <a:r>
              <a:rPr lang="en-US" sz="1050" dirty="0">
                <a:solidFill>
                  <a:srgbClr val="8FA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jamais </a:t>
            </a:r>
            <a:r>
              <a:rPr lang="en-US" sz="105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impactée.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4267088" y="2285070"/>
            <a:ext cx="3657637" cy="4056311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0" name="Shape 34"/>
          <p:cNvSpPr/>
          <p:nvPr/>
        </p:nvSpPr>
        <p:spPr>
          <a:xfrm>
            <a:off x="4267088" y="6329474"/>
            <a:ext cx="3657637" cy="11906"/>
          </a:xfrm>
          <a:prstGeom prst="rect">
            <a:avLst/>
          </a:prstGeom>
          <a:solidFill>
            <a:srgbClr val="546472">
              <a:alpha val="16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1" name="Shape 35"/>
          <p:cNvSpPr/>
          <p:nvPr/>
        </p:nvSpPr>
        <p:spPr>
          <a:xfrm>
            <a:off x="4267088" y="2285070"/>
            <a:ext cx="3657637" cy="11906"/>
          </a:xfrm>
          <a:prstGeom prst="rect">
            <a:avLst/>
          </a:prstGeom>
          <a:solidFill>
            <a:srgbClr val="546472">
              <a:alpha val="16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2" name="Shape 36"/>
          <p:cNvSpPr/>
          <p:nvPr/>
        </p:nvSpPr>
        <p:spPr>
          <a:xfrm>
            <a:off x="4267088" y="2285070"/>
            <a:ext cx="23813" cy="4056311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3" name="Shape 37"/>
          <p:cNvSpPr/>
          <p:nvPr/>
        </p:nvSpPr>
        <p:spPr>
          <a:xfrm>
            <a:off x="7912819" y="2285070"/>
            <a:ext cx="11906" cy="4056311"/>
          </a:xfrm>
          <a:prstGeom prst="rect">
            <a:avLst/>
          </a:prstGeom>
          <a:solidFill>
            <a:srgbClr val="546472">
              <a:alpha val="16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4" name="Text 38"/>
          <p:cNvSpPr/>
          <p:nvPr/>
        </p:nvSpPr>
        <p:spPr>
          <a:xfrm>
            <a:off x="4443264" y="2430177"/>
            <a:ext cx="364891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Échantillonnage déterministe</a:t>
            </a:r>
            <a:endParaRPr lang="en-US" sz="1050" dirty="0"/>
          </a:p>
        </p:txBody>
      </p:sp>
      <p:sp>
        <p:nvSpPr>
          <p:cNvPr id="45" name="Text 39"/>
          <p:cNvSpPr/>
          <p:nvPr/>
        </p:nvSpPr>
        <p:spPr>
          <a:xfrm>
            <a:off x="4443264" y="2620677"/>
            <a:ext cx="3648912" cy="2246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MD5 — reproductible, même en multi-instances.</a:t>
            </a:r>
            <a:endParaRPr lang="en-US" sz="1050" dirty="0"/>
          </a:p>
        </p:txBody>
      </p:sp>
      <p:sp>
        <p:nvSpPr>
          <p:cNvPr id="46" name="Shape 40"/>
          <p:cNvSpPr/>
          <p:nvPr/>
        </p:nvSpPr>
        <p:spPr>
          <a:xfrm>
            <a:off x="8038951" y="2285070"/>
            <a:ext cx="3657823" cy="683121"/>
          </a:xfrm>
          <a:prstGeom prst="roundRect">
            <a:avLst>
              <a:gd name="adj" fmla="val 11155"/>
            </a:avLst>
          </a:prstGeom>
          <a:solidFill>
            <a:srgbClr val="1C1C2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7" name="Text 41"/>
          <p:cNvSpPr/>
          <p:nvPr/>
        </p:nvSpPr>
        <p:spPr>
          <a:xfrm>
            <a:off x="8172152" y="2399295"/>
            <a:ext cx="3730563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75" kern="0" spc="81" dirty="0">
                <a:solidFill>
                  <a:srgbClr val="BDD248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PREUVE</a:t>
            </a:r>
            <a:endParaRPr lang="en-US" sz="675" dirty="0"/>
          </a:p>
        </p:txBody>
      </p:sp>
      <p:sp>
        <p:nvSpPr>
          <p:cNvPr id="48" name="Text 42"/>
          <p:cNvSpPr/>
          <p:nvPr/>
        </p:nvSpPr>
        <p:spPr>
          <a:xfrm>
            <a:off x="8172152" y="2544403"/>
            <a:ext cx="3730563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faithfulness = </a:t>
            </a:r>
            <a:r>
              <a:rPr lang="en-US" sz="1200" b="1" dirty="0">
                <a:solidFill>
                  <a:srgbClr val="BDD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1200" dirty="0"/>
          </a:p>
        </p:txBody>
      </p:sp>
      <p:sp>
        <p:nvSpPr>
          <p:cNvPr id="49" name="Text 43"/>
          <p:cNvSpPr/>
          <p:nvPr/>
        </p:nvSpPr>
        <p:spPr>
          <a:xfrm>
            <a:off x="8172152" y="2722997"/>
            <a:ext cx="3730563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 run validé sur le jeu d'évaluation</a:t>
            </a:r>
            <a:endParaRPr lang="en-US" sz="900" dirty="0"/>
          </a:p>
        </p:txBody>
      </p:sp>
      <p:sp>
        <p:nvSpPr>
          <p:cNvPr id="50" name="Shape 44"/>
          <p:cNvSpPr/>
          <p:nvPr/>
        </p:nvSpPr>
        <p:spPr>
          <a:xfrm>
            <a:off x="8038951" y="3044279"/>
            <a:ext cx="3657823" cy="730746"/>
          </a:xfrm>
          <a:prstGeom prst="roundRect">
            <a:avLst>
              <a:gd name="adj" fmla="val 10428"/>
            </a:avLst>
          </a:prstGeom>
          <a:solidFill>
            <a:srgbClr val="BDD248">
              <a:alpha val="10000"/>
            </a:srgbClr>
          </a:solidFill>
          <a:ln w="11906">
            <a:solidFill>
              <a:srgbClr val="BDD24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1" name="Text 45"/>
          <p:cNvSpPr/>
          <p:nvPr/>
        </p:nvSpPr>
        <p:spPr>
          <a:xfrm>
            <a:off x="8184059" y="3170411"/>
            <a:ext cx="3704369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75" kern="0" spc="81" dirty="0">
                <a:solidFill>
                  <a:srgbClr val="8FA82E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MA CONTRIBUTION</a:t>
            </a:r>
            <a:endParaRPr lang="en-US" sz="675" dirty="0"/>
          </a:p>
        </p:txBody>
      </p:sp>
      <p:sp>
        <p:nvSpPr>
          <p:cNvPr id="52" name="Text 46"/>
          <p:cNvSpPr/>
          <p:nvPr/>
        </p:nvSpPr>
        <p:spPr>
          <a:xfrm>
            <a:off x="8184059" y="3315519"/>
            <a:ext cx="346863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38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Éval async, échantillonnage et métriques de qualité conçus et implémentés par moi.</a:t>
            </a:r>
            <a:endParaRPr lang="en-US" sz="938" dirty="0"/>
          </a:p>
        </p:txBody>
      </p:sp>
      <p:sp>
        <p:nvSpPr>
          <p:cNvPr id="53" name="Shape 47"/>
          <p:cNvSpPr/>
          <p:nvPr/>
        </p:nvSpPr>
        <p:spPr>
          <a:xfrm>
            <a:off x="495226" y="6436630"/>
            <a:ext cx="11201549" cy="11906"/>
          </a:xfrm>
          <a:prstGeom prst="rect">
            <a:avLst/>
          </a:prstGeom>
          <a:solidFill>
            <a:srgbClr val="546472">
              <a:alpha val="14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4" name="Text 48"/>
          <p:cNvSpPr/>
          <p:nvPr/>
        </p:nvSpPr>
        <p:spPr>
          <a:xfrm>
            <a:off x="990451" y="6581738"/>
            <a:ext cx="35425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63" dirty="0">
                <a:solidFill>
                  <a:srgbClr val="546472">
                    <a:alpha val="70000"/>
                  </a:srgbClr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Projet de Fin d'Études · Pipeline MLOps générique</a:t>
            </a:r>
            <a:endParaRPr lang="en-US" sz="863" dirty="0"/>
          </a:p>
        </p:txBody>
      </p:sp>
      <p:pic>
        <p:nvPicPr>
          <p:cNvPr id="55" name="Image 4" descr="preencoded.png"/>
          <p:cNvPicPr>
            <a:picLocks noChangeAspect="1"/>
          </p:cNvPicPr>
          <p:nvPr/>
        </p:nvPicPr>
        <p:blipFill>
          <a:blip r:embed="rId8">
            <a:alphaModFix amt="85000"/>
          </a:blip>
          <a:stretch>
            <a:fillRect/>
          </a:stretch>
        </p:blipFill>
        <p:spPr>
          <a:xfrm>
            <a:off x="10867616" y="6553274"/>
            <a:ext cx="333933" cy="199988"/>
          </a:xfrm>
          <a:prstGeom prst="rect">
            <a:avLst/>
          </a:prstGeom>
        </p:spPr>
      </p:pic>
      <p:sp>
        <p:nvSpPr>
          <p:cNvPr id="56" name="Google Shape;88;p17">
            <a:extLst>
              <a:ext uri="{FF2B5EF4-FFF2-40B4-BE49-F238E27FC236}">
                <a16:creationId xmlns:a16="http://schemas.microsoft.com/office/drawing/2014/main" id="{75BC0C51-DCA3-2EA7-D2C0-C8BC0969E3F3}"/>
              </a:ext>
            </a:extLst>
          </p:cNvPr>
          <p:cNvSpPr txBox="1">
            <a:spLocks/>
          </p:cNvSpPr>
          <p:nvPr/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fr" sz="1733" dirty="0">
                <a:latin typeface="Arial" panose="020B0604020202020204" pitchFamily="34" charset="0"/>
                <a:ea typeface="Nunito Black"/>
                <a:cs typeface="Arial" panose="020B0604020202020204" pitchFamily="34" charset="0"/>
                <a:sym typeface="Nunito Black"/>
              </a:rPr>
              <a:t>25</a:t>
            </a:r>
          </a:p>
        </p:txBody>
      </p:sp>
      <p:pic>
        <p:nvPicPr>
          <p:cNvPr id="57" name="Image 4" descr="preencoded.png">
            <a:extLst>
              <a:ext uri="{FF2B5EF4-FFF2-40B4-BE49-F238E27FC236}">
                <a16:creationId xmlns:a16="http://schemas.microsoft.com/office/drawing/2014/main" id="{7B3D8D73-9194-A656-69B0-9013E7C6F700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>
            <a:off x="10960274" y="156681"/>
            <a:ext cx="1041974" cy="62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1917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T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351213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BLOC 04 · OPS · CONTENEURISATION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19014"/>
            <a:ext cx="11567406" cy="44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700" b="1" kern="0" spc="-54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Build once, </a:t>
            </a:r>
            <a:r>
              <a:rPr lang="en-US" sz="2700" b="1" kern="0" spc="-54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run anywhere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838088" y="1428192"/>
            <a:ext cx="11567406" cy="251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Le même environnement </a:t>
            </a:r>
            <a:r>
              <a:rPr lang="en-US" sz="1200" b="1" dirty="0">
                <a:solidFill>
                  <a:srgbClr val="2A2A2A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du dev à la prod </a:t>
            </a:r>
            <a:r>
              <a:rPr lang="en-US" sz="1200" dirty="0">
                <a:solidFill>
                  <a:srgbClr val="525252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— zéro « ça marche chez moi » — et toute la stack démarre </a:t>
            </a:r>
            <a:r>
              <a:rPr lang="en-US" sz="1200" b="1" dirty="0">
                <a:solidFill>
                  <a:srgbClr val="2A2A2A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en une commande</a:t>
            </a:r>
            <a:r>
              <a:rPr lang="en-US" sz="1200" dirty="0">
                <a:solidFill>
                  <a:srgbClr val="525252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38088" y="1850864"/>
            <a:ext cx="8005056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50" kern="0" spc="90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HÉRITAGE DES IMAGES · FROM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838088" y="2055502"/>
            <a:ext cx="7277323" cy="611684"/>
          </a:xfrm>
          <a:prstGeom prst="roundRect">
            <a:avLst>
              <a:gd name="adj" fmla="val 9343"/>
            </a:avLst>
          </a:prstGeom>
          <a:solidFill>
            <a:srgbClr val="2A2A2A"/>
          </a:solidFill>
          <a:ln/>
          <a:effectLst>
            <a:outerShdw blurRad="228600" dist="76200" dir="5400000" algn="bl" rotWithShape="0">
              <a:srgbClr val="2A2A2A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9" name="Shape 6"/>
          <p:cNvSpPr/>
          <p:nvPr/>
        </p:nvSpPr>
        <p:spPr>
          <a:xfrm>
            <a:off x="838088" y="2055502"/>
            <a:ext cx="7277323" cy="23813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0" name="Shape 7"/>
          <p:cNvSpPr/>
          <p:nvPr/>
        </p:nvSpPr>
        <p:spPr>
          <a:xfrm>
            <a:off x="1009427" y="2214190"/>
            <a:ext cx="520898" cy="317934"/>
          </a:xfrm>
          <a:prstGeom prst="roundRect">
            <a:avLst>
              <a:gd name="adj" fmla="val 8988"/>
            </a:avLst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1" name="Text 8"/>
          <p:cNvSpPr/>
          <p:nvPr/>
        </p:nvSpPr>
        <p:spPr>
          <a:xfrm>
            <a:off x="1133512" y="2249909"/>
            <a:ext cx="34874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25" b="1" kern="0" spc="41" dirty="0">
                <a:solidFill>
                  <a:srgbClr val="2A2A2A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BASE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1066577" y="2387389"/>
            <a:ext cx="406598" cy="135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38" kern="0" spc="51" dirty="0">
                <a:solidFill>
                  <a:srgbClr val="2A2A2A">
                    <a:alpha val="70000"/>
                  </a:srgbClr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cachée</a:t>
            </a:r>
            <a:endParaRPr lang="en-US" sz="638" dirty="0"/>
          </a:p>
        </p:txBody>
      </p:sp>
      <p:sp>
        <p:nvSpPr>
          <p:cNvPr id="13" name="Text 10"/>
          <p:cNvSpPr/>
          <p:nvPr/>
        </p:nvSpPr>
        <p:spPr>
          <a:xfrm>
            <a:off x="1682688" y="2193541"/>
            <a:ext cx="2964191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1" dirty="0">
                <a:solidFill>
                  <a:srgbClr val="FFFFFF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python:3.11-slim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682688" y="2388691"/>
            <a:ext cx="2964191" cy="2023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63" dirty="0">
                <a:solidFill>
                  <a:srgbClr val="BDD248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torch · faiss · numpy + src/core + config</a:t>
            </a:r>
            <a:endParaRPr lang="en-US" sz="863" dirty="0"/>
          </a:p>
        </p:txBody>
      </p:sp>
      <p:sp>
        <p:nvSpPr>
          <p:cNvPr id="15" name="Shape 12"/>
          <p:cNvSpPr/>
          <p:nvPr/>
        </p:nvSpPr>
        <p:spPr>
          <a:xfrm rot="5400000">
            <a:off x="876021" y="2755143"/>
            <a:ext cx="104775" cy="161925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6" name="Shape 13"/>
          <p:cNvSpPr/>
          <p:nvPr/>
        </p:nvSpPr>
        <p:spPr>
          <a:xfrm>
            <a:off x="1085515" y="2724299"/>
            <a:ext cx="789161" cy="223614"/>
          </a:xfrm>
          <a:prstGeom prst="roundRect">
            <a:avLst>
              <a:gd name="adj" fmla="val 12779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" name="Text 14"/>
          <p:cNvSpPr/>
          <p:nvPr/>
        </p:nvSpPr>
        <p:spPr>
          <a:xfrm>
            <a:off x="1183146" y="2764780"/>
            <a:ext cx="670099" cy="180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25" dirty="0">
                <a:solidFill>
                  <a:srgbClr val="8FA82E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FROM base</a:t>
            </a:r>
            <a:endParaRPr lang="en-US" sz="825" dirty="0"/>
          </a:p>
        </p:txBody>
      </p:sp>
      <p:sp>
        <p:nvSpPr>
          <p:cNvPr id="18" name="Shape 15"/>
          <p:cNvSpPr/>
          <p:nvPr/>
        </p:nvSpPr>
        <p:spPr>
          <a:xfrm>
            <a:off x="1979414" y="2830153"/>
            <a:ext cx="3993059" cy="11906"/>
          </a:xfrm>
          <a:prstGeom prst="rect">
            <a:avLst/>
          </a:prstGeom>
          <a:solidFill>
            <a:srgbClr val="CFCFCF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9" name="Text 16"/>
          <p:cNvSpPr/>
          <p:nvPr/>
        </p:nvSpPr>
        <p:spPr>
          <a:xfrm>
            <a:off x="6077210" y="2776575"/>
            <a:ext cx="2200275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chaque image hérite de la fondation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838088" y="3005026"/>
            <a:ext cx="3918626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13" b="1" kern="0" spc="71" dirty="0">
                <a:solidFill>
                  <a:srgbClr val="8FA82E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IMAGES USE-CASE</a:t>
            </a:r>
            <a:endParaRPr lang="en-US" sz="713" dirty="0"/>
          </a:p>
        </p:txBody>
      </p:sp>
      <p:sp>
        <p:nvSpPr>
          <p:cNvPr id="21" name="Shape 18"/>
          <p:cNvSpPr/>
          <p:nvPr/>
        </p:nvSpPr>
        <p:spPr>
          <a:xfrm>
            <a:off x="838088" y="3190689"/>
            <a:ext cx="3562387" cy="512341"/>
          </a:xfrm>
          <a:prstGeom prst="roundRect">
            <a:avLst>
              <a:gd name="adj" fmla="val 5577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2" name="Shape 19"/>
          <p:cNvSpPr/>
          <p:nvPr/>
        </p:nvSpPr>
        <p:spPr>
          <a:xfrm>
            <a:off x="838088" y="3691124"/>
            <a:ext cx="3562387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3" name="Shape 20"/>
          <p:cNvSpPr/>
          <p:nvPr/>
        </p:nvSpPr>
        <p:spPr>
          <a:xfrm>
            <a:off x="838088" y="3190689"/>
            <a:ext cx="3562387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4" name="Shape 21"/>
          <p:cNvSpPr/>
          <p:nvPr/>
        </p:nvSpPr>
        <p:spPr>
          <a:xfrm>
            <a:off x="838088" y="3190689"/>
            <a:ext cx="23813" cy="512341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5" name="Shape 22"/>
          <p:cNvSpPr/>
          <p:nvPr/>
        </p:nvSpPr>
        <p:spPr>
          <a:xfrm>
            <a:off x="4388569" y="3190689"/>
            <a:ext cx="11906" cy="512341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6" name="Text 23"/>
          <p:cNvSpPr/>
          <p:nvPr/>
        </p:nvSpPr>
        <p:spPr>
          <a:xfrm>
            <a:off x="985614" y="3254871"/>
            <a:ext cx="817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pipeline-rag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803053" y="3314402"/>
            <a:ext cx="581285" cy="137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13" kern="0" spc="14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FROM base</a:t>
            </a:r>
            <a:endParaRPr lang="en-US" sz="713" dirty="0"/>
          </a:p>
        </p:txBody>
      </p:sp>
      <p:sp>
        <p:nvSpPr>
          <p:cNvPr id="28" name="Text 25"/>
          <p:cNvSpPr/>
          <p:nvPr/>
        </p:nvSpPr>
        <p:spPr>
          <a:xfrm>
            <a:off x="985614" y="3463230"/>
            <a:ext cx="3607166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825" dirty="0">
                <a:solidFill>
                  <a:srgbClr val="8FA82E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+ langchain · ragas · sentence-transformers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838088" y="3779118"/>
            <a:ext cx="3918626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1 image par use case (ml_classic, …)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552838" y="3005026"/>
            <a:ext cx="3918831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13" b="1" kern="0" spc="71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IMAGES SERVICES</a:t>
            </a:r>
            <a:endParaRPr lang="en-US" sz="713" dirty="0"/>
          </a:p>
        </p:txBody>
      </p:sp>
      <p:sp>
        <p:nvSpPr>
          <p:cNvPr id="31" name="Shape 28"/>
          <p:cNvSpPr/>
          <p:nvPr/>
        </p:nvSpPr>
        <p:spPr>
          <a:xfrm>
            <a:off x="4552838" y="3190689"/>
            <a:ext cx="3562573" cy="512341"/>
          </a:xfrm>
          <a:prstGeom prst="roundRect">
            <a:avLst>
              <a:gd name="adj" fmla="val 5577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2" name="Shape 29"/>
          <p:cNvSpPr/>
          <p:nvPr/>
        </p:nvSpPr>
        <p:spPr>
          <a:xfrm>
            <a:off x="4552838" y="3691124"/>
            <a:ext cx="3562573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3" name="Shape 30"/>
          <p:cNvSpPr/>
          <p:nvPr/>
        </p:nvSpPr>
        <p:spPr>
          <a:xfrm>
            <a:off x="4552838" y="3190689"/>
            <a:ext cx="3562573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4" name="Shape 31"/>
          <p:cNvSpPr/>
          <p:nvPr/>
        </p:nvSpPr>
        <p:spPr>
          <a:xfrm>
            <a:off x="4552838" y="3190689"/>
            <a:ext cx="23813" cy="512341"/>
          </a:xfrm>
          <a:prstGeom prst="rect">
            <a:avLst/>
          </a:prstGeom>
          <a:solidFill>
            <a:srgbClr val="525252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5" name="Shape 32"/>
          <p:cNvSpPr/>
          <p:nvPr/>
        </p:nvSpPr>
        <p:spPr>
          <a:xfrm>
            <a:off x="8103505" y="3190689"/>
            <a:ext cx="11906" cy="512341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6" name="Text 33"/>
          <p:cNvSpPr/>
          <p:nvPr/>
        </p:nvSpPr>
        <p:spPr>
          <a:xfrm>
            <a:off x="4700364" y="3254871"/>
            <a:ext cx="267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api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4967511" y="3314402"/>
            <a:ext cx="468920" cy="137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13" kern="0" spc="14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FastAPI</a:t>
            </a:r>
            <a:endParaRPr lang="en-US" sz="713" dirty="0"/>
          </a:p>
        </p:txBody>
      </p:sp>
      <p:sp>
        <p:nvSpPr>
          <p:cNvPr id="38" name="Text 35"/>
          <p:cNvSpPr/>
          <p:nvPr/>
        </p:nvSpPr>
        <p:spPr>
          <a:xfrm>
            <a:off x="4700364" y="3463230"/>
            <a:ext cx="3607371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825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expose les pipelines en REST</a:t>
            </a:r>
            <a:endParaRPr lang="en-US" sz="825" dirty="0"/>
          </a:p>
        </p:txBody>
      </p:sp>
      <p:sp>
        <p:nvSpPr>
          <p:cNvPr id="39" name="Shape 36"/>
          <p:cNvSpPr/>
          <p:nvPr/>
        </p:nvSpPr>
        <p:spPr>
          <a:xfrm>
            <a:off x="4552838" y="3769630"/>
            <a:ext cx="3562573" cy="512341"/>
          </a:xfrm>
          <a:prstGeom prst="roundRect">
            <a:avLst>
              <a:gd name="adj" fmla="val 5577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0" name="Shape 37"/>
          <p:cNvSpPr/>
          <p:nvPr/>
        </p:nvSpPr>
        <p:spPr>
          <a:xfrm>
            <a:off x="4552838" y="4270065"/>
            <a:ext cx="3562573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1" name="Shape 38"/>
          <p:cNvSpPr/>
          <p:nvPr/>
        </p:nvSpPr>
        <p:spPr>
          <a:xfrm>
            <a:off x="4552838" y="3769630"/>
            <a:ext cx="3562573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2" name="Shape 39"/>
          <p:cNvSpPr/>
          <p:nvPr/>
        </p:nvSpPr>
        <p:spPr>
          <a:xfrm>
            <a:off x="4552838" y="3769630"/>
            <a:ext cx="23813" cy="512341"/>
          </a:xfrm>
          <a:prstGeom prst="rect">
            <a:avLst/>
          </a:prstGeom>
          <a:solidFill>
            <a:srgbClr val="525252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3" name="Shape 40"/>
          <p:cNvSpPr/>
          <p:nvPr/>
        </p:nvSpPr>
        <p:spPr>
          <a:xfrm>
            <a:off x="8103505" y="3769630"/>
            <a:ext cx="11906" cy="512341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4" name="Text 41"/>
          <p:cNvSpPr/>
          <p:nvPr/>
        </p:nvSpPr>
        <p:spPr>
          <a:xfrm>
            <a:off x="4700364" y="3833812"/>
            <a:ext cx="58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tracking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5283212" y="3893344"/>
            <a:ext cx="412924" cy="137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13" kern="0" spc="14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MLflow</a:t>
            </a:r>
            <a:endParaRPr lang="en-US" sz="713" dirty="0"/>
          </a:p>
        </p:txBody>
      </p:sp>
      <p:sp>
        <p:nvSpPr>
          <p:cNvPr id="46" name="Text 43"/>
          <p:cNvSpPr/>
          <p:nvPr/>
        </p:nvSpPr>
        <p:spPr>
          <a:xfrm>
            <a:off x="4700364" y="4042172"/>
            <a:ext cx="3607371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825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serveur d'expériences &amp; modèles</a:t>
            </a:r>
            <a:endParaRPr lang="en-US" sz="825" dirty="0"/>
          </a:p>
        </p:txBody>
      </p:sp>
      <p:sp>
        <p:nvSpPr>
          <p:cNvPr id="47" name="Shape 44"/>
          <p:cNvSpPr/>
          <p:nvPr/>
        </p:nvSpPr>
        <p:spPr>
          <a:xfrm>
            <a:off x="8305912" y="1850864"/>
            <a:ext cx="3048000" cy="2431107"/>
          </a:xfrm>
          <a:prstGeom prst="roundRect">
            <a:avLst>
              <a:gd name="adj" fmla="val 2351"/>
            </a:avLst>
          </a:prstGeom>
          <a:solidFill>
            <a:srgbClr val="1A1A1A"/>
          </a:solidFill>
          <a:ln/>
          <a:effectLst>
            <a:outerShdw blurRad="342900" dist="114300" dir="5400000" algn="bl" rotWithShape="0">
              <a:srgbClr val="1A1A1A">
                <a:alpha val="22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8" name="Text 45"/>
          <p:cNvSpPr/>
          <p:nvPr/>
        </p:nvSpPr>
        <p:spPr>
          <a:xfrm>
            <a:off x="8458274" y="1984065"/>
            <a:ext cx="301760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50" kern="0" spc="90" dirty="0">
                <a:solidFill>
                  <a:srgbClr val="BDD248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LAYER CACHING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8458274" y="2361158"/>
            <a:ext cx="85576" cy="85576"/>
          </a:xfrm>
          <a:prstGeom prst="roundRect">
            <a:avLst>
              <a:gd name="adj" fmla="val 22261"/>
            </a:avLst>
          </a:prstGeom>
          <a:solidFill>
            <a:srgbClr val="5CC2D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0" name="Text 47"/>
          <p:cNvSpPr/>
          <p:nvPr/>
        </p:nvSpPr>
        <p:spPr>
          <a:xfrm>
            <a:off x="8639101" y="2255490"/>
            <a:ext cx="1914599" cy="335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CDD3E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couche BASE </a:t>
            </a:r>
            <a:r>
              <a:rPr lang="en-US" sz="900" dirty="0">
                <a:solidFill>
                  <a:srgbClr val="606878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· torch faiss numpy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10572750" y="2309999"/>
            <a:ext cx="628799" cy="187896"/>
          </a:xfrm>
          <a:prstGeom prst="roundRect">
            <a:avLst>
              <a:gd name="adj" fmla="val 50000"/>
            </a:avLst>
          </a:prstGeom>
          <a:solidFill>
            <a:srgbClr val="5CC2D8">
              <a:alpha val="10000"/>
            </a:srgbClr>
          </a:solidFill>
          <a:ln w="11906">
            <a:solidFill>
              <a:srgbClr val="5CC2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2" name="Text 49"/>
          <p:cNvSpPr/>
          <p:nvPr/>
        </p:nvSpPr>
        <p:spPr>
          <a:xfrm>
            <a:off x="10660856" y="2350480"/>
            <a:ext cx="528786" cy="145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675" b="1" kern="0" spc="41" dirty="0">
                <a:solidFill>
                  <a:srgbClr val="5CC2D8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EN CACHE</a:t>
            </a:r>
            <a:endParaRPr lang="en-US" sz="675" dirty="0"/>
          </a:p>
        </p:txBody>
      </p:sp>
      <p:sp>
        <p:nvSpPr>
          <p:cNvPr id="53" name="Shape 50"/>
          <p:cNvSpPr/>
          <p:nvPr/>
        </p:nvSpPr>
        <p:spPr>
          <a:xfrm>
            <a:off x="8458274" y="2686906"/>
            <a:ext cx="85576" cy="85576"/>
          </a:xfrm>
          <a:prstGeom prst="roundRect">
            <a:avLst>
              <a:gd name="adj" fmla="val 22261"/>
            </a:avLst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4" name="Text 51"/>
          <p:cNvSpPr/>
          <p:nvPr/>
        </p:nvSpPr>
        <p:spPr>
          <a:xfrm>
            <a:off x="8639101" y="2655466"/>
            <a:ext cx="2110848" cy="186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CDD3E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couche CODE </a:t>
            </a:r>
            <a:r>
              <a:rPr lang="en-US" sz="900" dirty="0">
                <a:solidFill>
                  <a:srgbClr val="606878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· src/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10653303" y="2647652"/>
            <a:ext cx="548246" cy="164083"/>
          </a:xfrm>
          <a:prstGeom prst="roundRect">
            <a:avLst>
              <a:gd name="adj" fmla="val 50000"/>
            </a:avLst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6" name="Text 53"/>
          <p:cNvSpPr/>
          <p:nvPr/>
        </p:nvSpPr>
        <p:spPr>
          <a:xfrm>
            <a:off x="10729503" y="2676227"/>
            <a:ext cx="472046" cy="145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75" b="1" kern="0" spc="41" dirty="0">
                <a:solidFill>
                  <a:srgbClr val="2A2A2A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REBUILD</a:t>
            </a:r>
            <a:endParaRPr lang="en-US" sz="675" dirty="0"/>
          </a:p>
        </p:txBody>
      </p:sp>
      <p:sp>
        <p:nvSpPr>
          <p:cNvPr id="57" name="Shape 54"/>
          <p:cNvSpPr/>
          <p:nvPr/>
        </p:nvSpPr>
        <p:spPr>
          <a:xfrm>
            <a:off x="8458274" y="3632895"/>
            <a:ext cx="2743274" cy="11906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8" name="Text 55"/>
          <p:cNvSpPr/>
          <p:nvPr/>
        </p:nvSpPr>
        <p:spPr>
          <a:xfrm>
            <a:off x="8458274" y="3749539"/>
            <a:ext cx="882662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75" b="1" kern="0" spc="-22" dirty="0">
                <a:solidFill>
                  <a:srgbClr val="BDD248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&lt; 30 s</a:t>
            </a:r>
            <a:endParaRPr lang="en-US" sz="2175" dirty="0"/>
          </a:p>
        </p:txBody>
      </p:sp>
      <p:sp>
        <p:nvSpPr>
          <p:cNvPr id="59" name="Text 56"/>
          <p:cNvSpPr/>
          <p:nvPr/>
        </p:nvSpPr>
        <p:spPr>
          <a:xfrm>
            <a:off x="9369475" y="3868601"/>
            <a:ext cx="1908274" cy="318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88" dirty="0">
                <a:solidFill>
                  <a:srgbClr val="9AA5B8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un </a:t>
            </a:r>
            <a:r>
              <a:rPr lang="en-US" sz="788" b="1" dirty="0">
                <a:solidFill>
                  <a:srgbClr val="CDD3E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Δ code </a:t>
            </a:r>
            <a:r>
              <a:rPr lang="en-US" sz="788" dirty="0">
                <a:solidFill>
                  <a:srgbClr val="9AA5B8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ne rebuild que sa couche</a:t>
            </a:r>
            <a:endParaRPr lang="en-US" sz="788" dirty="0"/>
          </a:p>
        </p:txBody>
      </p:sp>
      <p:sp>
        <p:nvSpPr>
          <p:cNvPr id="60" name="Shape 57"/>
          <p:cNvSpPr/>
          <p:nvPr/>
        </p:nvSpPr>
        <p:spPr>
          <a:xfrm>
            <a:off x="838088" y="4405685"/>
            <a:ext cx="10515823" cy="728700"/>
          </a:xfrm>
          <a:prstGeom prst="roundRect">
            <a:avLst>
              <a:gd name="adj" fmla="val 7843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1" name="Text 58"/>
          <p:cNvSpPr/>
          <p:nvPr/>
        </p:nvSpPr>
        <p:spPr>
          <a:xfrm>
            <a:off x="1002357" y="4601766"/>
            <a:ext cx="94312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 kern="0" spc="75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ORCHESTRATION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1002357" y="4758779"/>
            <a:ext cx="1257151" cy="217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docker‑compose</a:t>
            </a:r>
            <a:endParaRPr lang="en-US" sz="975" dirty="0"/>
          </a:p>
        </p:txBody>
      </p:sp>
      <p:sp>
        <p:nvSpPr>
          <p:cNvPr id="63" name="Shape 60"/>
          <p:cNvSpPr/>
          <p:nvPr/>
        </p:nvSpPr>
        <p:spPr>
          <a:xfrm>
            <a:off x="2335671" y="4655716"/>
            <a:ext cx="646658" cy="2286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06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4" name="Text 61"/>
          <p:cNvSpPr/>
          <p:nvPr/>
        </p:nvSpPr>
        <p:spPr>
          <a:xfrm>
            <a:off x="2461878" y="4715247"/>
            <a:ext cx="470446" cy="1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3" dirty="0">
                <a:solidFill>
                  <a:srgbClr val="3F3F3F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mlflow</a:t>
            </a:r>
            <a:endParaRPr lang="en-US" sz="863" dirty="0"/>
          </a:p>
        </p:txBody>
      </p:sp>
      <p:sp>
        <p:nvSpPr>
          <p:cNvPr id="65" name="Shape 62"/>
          <p:cNvSpPr/>
          <p:nvPr/>
        </p:nvSpPr>
        <p:spPr>
          <a:xfrm>
            <a:off x="3048930" y="4655716"/>
            <a:ext cx="449461" cy="2286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06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6" name="Text 63"/>
          <p:cNvSpPr/>
          <p:nvPr/>
        </p:nvSpPr>
        <p:spPr>
          <a:xfrm>
            <a:off x="3175136" y="4715247"/>
            <a:ext cx="273248" cy="1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3" dirty="0">
                <a:solidFill>
                  <a:srgbClr val="3F3F3F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api</a:t>
            </a:r>
            <a:endParaRPr lang="en-US" sz="863" dirty="0"/>
          </a:p>
        </p:txBody>
      </p:sp>
      <p:sp>
        <p:nvSpPr>
          <p:cNvPr id="67" name="Shape 64"/>
          <p:cNvSpPr/>
          <p:nvPr/>
        </p:nvSpPr>
        <p:spPr>
          <a:xfrm>
            <a:off x="3564992" y="4655716"/>
            <a:ext cx="646658" cy="2286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06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8" name="Text 65"/>
          <p:cNvSpPr/>
          <p:nvPr/>
        </p:nvSpPr>
        <p:spPr>
          <a:xfrm>
            <a:off x="3691198" y="4715247"/>
            <a:ext cx="470446" cy="1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3" dirty="0">
                <a:solidFill>
                  <a:srgbClr val="3F3F3F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ollama</a:t>
            </a:r>
            <a:endParaRPr lang="en-US" sz="863" dirty="0"/>
          </a:p>
        </p:txBody>
      </p:sp>
      <p:sp>
        <p:nvSpPr>
          <p:cNvPr id="69" name="Shape 66"/>
          <p:cNvSpPr/>
          <p:nvPr/>
        </p:nvSpPr>
        <p:spPr>
          <a:xfrm>
            <a:off x="4278250" y="4655716"/>
            <a:ext cx="646658" cy="2286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06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0" name="Text 67"/>
          <p:cNvSpPr/>
          <p:nvPr/>
        </p:nvSpPr>
        <p:spPr>
          <a:xfrm>
            <a:off x="4404457" y="4715247"/>
            <a:ext cx="470446" cy="1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3" dirty="0">
                <a:solidFill>
                  <a:srgbClr val="3F3F3F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qdrant</a:t>
            </a:r>
            <a:endParaRPr lang="en-US" sz="863" dirty="0"/>
          </a:p>
        </p:txBody>
      </p:sp>
      <p:sp>
        <p:nvSpPr>
          <p:cNvPr id="71" name="Shape 68"/>
          <p:cNvSpPr/>
          <p:nvPr/>
        </p:nvSpPr>
        <p:spPr>
          <a:xfrm>
            <a:off x="4991509" y="4655716"/>
            <a:ext cx="909526" cy="2286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06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2" name="Text 69"/>
          <p:cNvSpPr/>
          <p:nvPr/>
        </p:nvSpPr>
        <p:spPr>
          <a:xfrm>
            <a:off x="5117716" y="4715247"/>
            <a:ext cx="733313" cy="1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3" dirty="0">
                <a:solidFill>
                  <a:srgbClr val="3F3F3F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prometheus</a:t>
            </a:r>
            <a:endParaRPr lang="en-US" sz="863" dirty="0"/>
          </a:p>
        </p:txBody>
      </p:sp>
      <p:sp>
        <p:nvSpPr>
          <p:cNvPr id="73" name="Shape 70"/>
          <p:cNvSpPr/>
          <p:nvPr/>
        </p:nvSpPr>
        <p:spPr>
          <a:xfrm>
            <a:off x="5967636" y="4655716"/>
            <a:ext cx="712329" cy="2286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06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4" name="Text 71"/>
          <p:cNvSpPr/>
          <p:nvPr/>
        </p:nvSpPr>
        <p:spPr>
          <a:xfrm>
            <a:off x="6093842" y="4715247"/>
            <a:ext cx="536116" cy="1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3" dirty="0">
                <a:solidFill>
                  <a:srgbClr val="3F3F3F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grafana</a:t>
            </a:r>
            <a:endParaRPr lang="en-US" sz="863" dirty="0"/>
          </a:p>
        </p:txBody>
      </p:sp>
      <p:sp>
        <p:nvSpPr>
          <p:cNvPr id="75" name="Shape 72"/>
          <p:cNvSpPr/>
          <p:nvPr/>
        </p:nvSpPr>
        <p:spPr>
          <a:xfrm>
            <a:off x="9351429" y="4522329"/>
            <a:ext cx="9525" cy="495412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76" name="Shape 73"/>
          <p:cNvSpPr/>
          <p:nvPr/>
        </p:nvSpPr>
        <p:spPr>
          <a:xfrm>
            <a:off x="9513280" y="4522329"/>
            <a:ext cx="1050541" cy="204453"/>
          </a:xfrm>
          <a:prstGeom prst="roundRect">
            <a:avLst>
              <a:gd name="adj" fmla="val 50000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7" name="Text 74"/>
          <p:cNvSpPr/>
          <p:nvPr/>
        </p:nvSpPr>
        <p:spPr>
          <a:xfrm>
            <a:off x="9629961" y="4572335"/>
            <a:ext cx="893378" cy="14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5" b="1" dirty="0">
                <a:solidFill>
                  <a:srgbClr val="8FA82E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--profile rag</a:t>
            </a:r>
            <a:endParaRPr lang="en-US" sz="825" dirty="0"/>
          </a:p>
        </p:txBody>
      </p:sp>
      <p:sp>
        <p:nvSpPr>
          <p:cNvPr id="78" name="Text 75"/>
          <p:cNvSpPr/>
          <p:nvPr/>
        </p:nvSpPr>
        <p:spPr>
          <a:xfrm>
            <a:off x="9513280" y="4764732"/>
            <a:ext cx="1752563" cy="291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13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pipeline lancé à la demande — tourne puis sort</a:t>
            </a:r>
            <a:endParaRPr lang="en-US" sz="713" dirty="0"/>
          </a:p>
        </p:txBody>
      </p:sp>
      <p:sp>
        <p:nvSpPr>
          <p:cNvPr id="79" name="Shape 76"/>
          <p:cNvSpPr/>
          <p:nvPr/>
        </p:nvSpPr>
        <p:spPr>
          <a:xfrm>
            <a:off x="838088" y="5258098"/>
            <a:ext cx="10515823" cy="426393"/>
          </a:xfrm>
          <a:prstGeom prst="roundRect">
            <a:avLst>
              <a:gd name="adj" fmla="val 13403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80" name="Shape 77"/>
          <p:cNvSpPr/>
          <p:nvPr/>
        </p:nvSpPr>
        <p:spPr>
          <a:xfrm>
            <a:off x="1021333" y="5374742"/>
            <a:ext cx="37951" cy="193104"/>
          </a:xfrm>
          <a:prstGeom prst="roundRect">
            <a:avLst>
              <a:gd name="adj" fmla="val 50000"/>
            </a:avLst>
          </a:prstGeom>
          <a:solidFill>
            <a:srgbClr val="6E8523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81" name="Text 78"/>
          <p:cNvSpPr/>
          <p:nvPr/>
        </p:nvSpPr>
        <p:spPr>
          <a:xfrm>
            <a:off x="1192485" y="5374742"/>
            <a:ext cx="9566039" cy="2312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88" b="1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Le design Docker reflète l'architecture du code : </a:t>
            </a:r>
            <a:r>
              <a:rPr lang="en-US" sz="1088" b="1" dirty="0">
                <a:solidFill>
                  <a:srgbClr val="4B5A18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une base générique + des extensions par use case</a:t>
            </a:r>
            <a:r>
              <a:rPr lang="en-US" sz="1088" b="1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. Même philosophie, du code à l'infra.</a:t>
            </a:r>
            <a:endParaRPr lang="en-US" sz="1088" dirty="0"/>
          </a:p>
        </p:txBody>
      </p:sp>
      <p:sp>
        <p:nvSpPr>
          <p:cNvPr id="82" name="Text 79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Projet de Fin d'Études · Pipeline MLOps générique</a:t>
            </a:r>
            <a:endParaRPr lang="en-US" sz="975" dirty="0"/>
          </a:p>
        </p:txBody>
      </p:sp>
      <p:sp>
        <p:nvSpPr>
          <p:cNvPr id="85" name="Google Shape;88;p17">
            <a:extLst>
              <a:ext uri="{FF2B5EF4-FFF2-40B4-BE49-F238E27FC236}">
                <a16:creationId xmlns:a16="http://schemas.microsoft.com/office/drawing/2014/main" id="{BE5D9766-BBD4-6C80-1F96-FA3DB370E56B}"/>
              </a:ext>
            </a:extLst>
          </p:cNvPr>
          <p:cNvSpPr txBox="1">
            <a:spLocks/>
          </p:cNvSpPr>
          <p:nvPr/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fr" sz="1733" dirty="0">
                <a:latin typeface="Arial" panose="020B0604020202020204" pitchFamily="34" charset="0"/>
                <a:ea typeface="Nunito Black"/>
                <a:cs typeface="Arial" panose="020B0604020202020204" pitchFamily="34" charset="0"/>
                <a:sym typeface="Nunito Black"/>
              </a:rPr>
              <a:t>26</a:t>
            </a:r>
          </a:p>
        </p:txBody>
      </p:sp>
      <p:pic>
        <p:nvPicPr>
          <p:cNvPr id="86" name="Image 4" descr="preencoded.png">
            <a:extLst>
              <a:ext uri="{FF2B5EF4-FFF2-40B4-BE49-F238E27FC236}">
                <a16:creationId xmlns:a16="http://schemas.microsoft.com/office/drawing/2014/main" id="{C2D81513-4C6C-9D1B-04D5-63EE1E6181F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0960274" y="156681"/>
            <a:ext cx="1041974" cy="62381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T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216091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BLOC 04 · OPS · CI/CT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19014"/>
            <a:ext cx="11567406" cy="44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700" b="1" kern="0" spc="-54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Intègre &amp; ré-entraîne en continu, </a:t>
            </a:r>
            <a:r>
              <a:rPr lang="en-US" sz="2700" b="1" kern="0" spc="-54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déploie sur décision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838088" y="1428192"/>
            <a:ext cx="11567406" cy="251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L'intégration et l'entraînement sont automatisés et validés ; </a:t>
            </a:r>
            <a:r>
              <a:rPr lang="en-US" sz="1200" b="1" dirty="0">
                <a:solidFill>
                  <a:srgbClr val="2A2A2A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le déploiement reste manuel, conditionné à la qualité.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38088" y="1984251"/>
            <a:ext cx="1894582" cy="1416286"/>
          </a:xfrm>
          <a:prstGeom prst="roundRect">
            <a:avLst>
              <a:gd name="adj" fmla="val 4035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8" name="Shape 5"/>
          <p:cNvSpPr/>
          <p:nvPr/>
        </p:nvSpPr>
        <p:spPr>
          <a:xfrm>
            <a:off x="838088" y="3388630"/>
            <a:ext cx="1894582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9" name="Shape 6"/>
          <p:cNvSpPr/>
          <p:nvPr/>
        </p:nvSpPr>
        <p:spPr>
          <a:xfrm>
            <a:off x="838088" y="1984251"/>
            <a:ext cx="1894582" cy="23813"/>
          </a:xfrm>
          <a:prstGeom prst="rect">
            <a:avLst/>
          </a:prstGeom>
          <a:solidFill>
            <a:srgbClr val="525252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0" name="Shape 7"/>
          <p:cNvSpPr/>
          <p:nvPr/>
        </p:nvSpPr>
        <p:spPr>
          <a:xfrm>
            <a:off x="838088" y="1984251"/>
            <a:ext cx="11906" cy="141628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1" name="Shape 8"/>
          <p:cNvSpPr/>
          <p:nvPr/>
        </p:nvSpPr>
        <p:spPr>
          <a:xfrm>
            <a:off x="2720764" y="1984251"/>
            <a:ext cx="11906" cy="141628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2" name="Shape 9"/>
          <p:cNvSpPr/>
          <p:nvPr/>
        </p:nvSpPr>
        <p:spPr>
          <a:xfrm>
            <a:off x="849995" y="2008063"/>
            <a:ext cx="1870770" cy="241660"/>
          </a:xfrm>
          <a:prstGeom prst="rect">
            <a:avLst/>
          </a:prstGeom>
          <a:solidFill>
            <a:srgbClr val="EAEAEA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3" name="Text 10"/>
          <p:cNvSpPr/>
          <p:nvPr/>
        </p:nvSpPr>
        <p:spPr>
          <a:xfrm>
            <a:off x="992870" y="2074738"/>
            <a:ext cx="1661220" cy="146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13" b="1" kern="0" spc="64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DÉCLENCHEUR</a:t>
            </a:r>
            <a:endParaRPr lang="en-US" sz="713" dirty="0"/>
          </a:p>
        </p:txBody>
      </p:sp>
      <p:sp>
        <p:nvSpPr>
          <p:cNvPr id="14" name="Text 11"/>
          <p:cNvSpPr/>
          <p:nvPr/>
        </p:nvSpPr>
        <p:spPr>
          <a:xfrm>
            <a:off x="1011845" y="2402086"/>
            <a:ext cx="17017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01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1011845" y="2582912"/>
            <a:ext cx="1701775" cy="22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Commit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011845" y="2857128"/>
            <a:ext cx="1623268" cy="380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git push feature branch</a:t>
            </a:r>
            <a:endParaRPr lang="en-US" sz="9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2670" y="2578075"/>
            <a:ext cx="361838" cy="228451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2999259" y="1984251"/>
            <a:ext cx="1894768" cy="1416286"/>
          </a:xfrm>
          <a:prstGeom prst="roundRect">
            <a:avLst>
              <a:gd name="adj" fmla="val 4035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9" name="Shape 15"/>
          <p:cNvSpPr/>
          <p:nvPr/>
        </p:nvSpPr>
        <p:spPr>
          <a:xfrm>
            <a:off x="2999259" y="3388630"/>
            <a:ext cx="1894768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0" name="Shape 16"/>
          <p:cNvSpPr/>
          <p:nvPr/>
        </p:nvSpPr>
        <p:spPr>
          <a:xfrm>
            <a:off x="2999259" y="1984251"/>
            <a:ext cx="1894768" cy="23813"/>
          </a:xfrm>
          <a:prstGeom prst="rect">
            <a:avLst/>
          </a:prstGeom>
          <a:solidFill>
            <a:srgbClr val="CFCFCF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1" name="Shape 17"/>
          <p:cNvSpPr/>
          <p:nvPr/>
        </p:nvSpPr>
        <p:spPr>
          <a:xfrm>
            <a:off x="2999259" y="1984251"/>
            <a:ext cx="11906" cy="141628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2" name="Shape 18"/>
          <p:cNvSpPr/>
          <p:nvPr/>
        </p:nvSpPr>
        <p:spPr>
          <a:xfrm>
            <a:off x="4882121" y="1984251"/>
            <a:ext cx="11906" cy="141628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3" name="Shape 19"/>
          <p:cNvSpPr/>
          <p:nvPr/>
        </p:nvSpPr>
        <p:spPr>
          <a:xfrm>
            <a:off x="3011165" y="2008063"/>
            <a:ext cx="1870956" cy="241660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4" name="Text 20"/>
          <p:cNvSpPr/>
          <p:nvPr/>
        </p:nvSpPr>
        <p:spPr>
          <a:xfrm>
            <a:off x="3154040" y="2074738"/>
            <a:ext cx="1661406" cy="146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13" b="1" kern="0" spc="64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ROADMAP</a:t>
            </a:r>
            <a:endParaRPr lang="en-US" sz="713" dirty="0"/>
          </a:p>
        </p:txBody>
      </p:sp>
      <p:sp>
        <p:nvSpPr>
          <p:cNvPr id="25" name="Text 21"/>
          <p:cNvSpPr/>
          <p:nvPr/>
        </p:nvSpPr>
        <p:spPr>
          <a:xfrm>
            <a:off x="3173016" y="2402086"/>
            <a:ext cx="17019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02</a:t>
            </a:r>
            <a:endParaRPr lang="en-US" sz="825" dirty="0"/>
          </a:p>
        </p:txBody>
      </p:sp>
      <p:sp>
        <p:nvSpPr>
          <p:cNvPr id="26" name="Text 22"/>
          <p:cNvSpPr/>
          <p:nvPr/>
        </p:nvSpPr>
        <p:spPr>
          <a:xfrm>
            <a:off x="3173016" y="2582912"/>
            <a:ext cx="1701980" cy="22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525252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Lint · Tests</a:t>
            </a:r>
            <a:endParaRPr lang="en-US" sz="1350" dirty="0"/>
          </a:p>
        </p:txBody>
      </p:sp>
      <p:sp>
        <p:nvSpPr>
          <p:cNvPr id="27" name="Text 23"/>
          <p:cNvSpPr/>
          <p:nvPr/>
        </p:nvSpPr>
        <p:spPr>
          <a:xfrm>
            <a:off x="3173016" y="2857128"/>
            <a:ext cx="1623454" cy="380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ruff · pytest tests à écrire</a:t>
            </a:r>
            <a:endParaRPr lang="en-US" sz="9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4027" y="2578075"/>
            <a:ext cx="361838" cy="228451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5160615" y="1984251"/>
            <a:ext cx="1894582" cy="1416286"/>
          </a:xfrm>
          <a:prstGeom prst="roundRect">
            <a:avLst>
              <a:gd name="adj" fmla="val 4035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0" name="Shape 25"/>
          <p:cNvSpPr/>
          <p:nvPr/>
        </p:nvSpPr>
        <p:spPr>
          <a:xfrm>
            <a:off x="5160615" y="3388630"/>
            <a:ext cx="1894582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1" name="Shape 26"/>
          <p:cNvSpPr/>
          <p:nvPr/>
        </p:nvSpPr>
        <p:spPr>
          <a:xfrm>
            <a:off x="5160615" y="1984251"/>
            <a:ext cx="1894582" cy="23813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2" name="Shape 27"/>
          <p:cNvSpPr/>
          <p:nvPr/>
        </p:nvSpPr>
        <p:spPr>
          <a:xfrm>
            <a:off x="5160615" y="1984251"/>
            <a:ext cx="11906" cy="141628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3" name="Shape 28"/>
          <p:cNvSpPr/>
          <p:nvPr/>
        </p:nvSpPr>
        <p:spPr>
          <a:xfrm>
            <a:off x="7043291" y="1984251"/>
            <a:ext cx="11906" cy="141628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4" name="Shape 29"/>
          <p:cNvSpPr/>
          <p:nvPr/>
        </p:nvSpPr>
        <p:spPr>
          <a:xfrm>
            <a:off x="5172521" y="2008063"/>
            <a:ext cx="1870770" cy="241660"/>
          </a:xfrm>
          <a:prstGeom prst="rect">
            <a:avLst/>
          </a:prstGeom>
          <a:solidFill>
            <a:srgbClr val="EFF4D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5" name="Text 30"/>
          <p:cNvSpPr/>
          <p:nvPr/>
        </p:nvSpPr>
        <p:spPr>
          <a:xfrm>
            <a:off x="5315396" y="2074738"/>
            <a:ext cx="1661220" cy="146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13" b="1" kern="0" spc="64" dirty="0">
                <a:solidFill>
                  <a:srgbClr val="8FA82E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✓ FAIT</a:t>
            </a:r>
            <a:endParaRPr lang="en-US" sz="713" dirty="0"/>
          </a:p>
        </p:txBody>
      </p:sp>
      <p:sp>
        <p:nvSpPr>
          <p:cNvPr id="36" name="Text 31"/>
          <p:cNvSpPr/>
          <p:nvPr/>
        </p:nvSpPr>
        <p:spPr>
          <a:xfrm>
            <a:off x="5334372" y="2402086"/>
            <a:ext cx="17017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03</a:t>
            </a:r>
            <a:endParaRPr lang="en-US" sz="825" dirty="0"/>
          </a:p>
        </p:txBody>
      </p:sp>
      <p:sp>
        <p:nvSpPr>
          <p:cNvPr id="37" name="Text 32"/>
          <p:cNvSpPr/>
          <p:nvPr/>
        </p:nvSpPr>
        <p:spPr>
          <a:xfrm>
            <a:off x="5334372" y="2582912"/>
            <a:ext cx="1701775" cy="22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Pipeline ML</a:t>
            </a:r>
            <a:endParaRPr lang="en-US" sz="1350" dirty="0"/>
          </a:p>
        </p:txBody>
      </p:sp>
      <p:sp>
        <p:nvSpPr>
          <p:cNvPr id="38" name="Text 33"/>
          <p:cNvSpPr/>
          <p:nvPr/>
        </p:nvSpPr>
        <p:spPr>
          <a:xfrm>
            <a:off x="5334372" y="2857128"/>
            <a:ext cx="1623268" cy="380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run complet 5 phases (RAG)</a:t>
            </a:r>
            <a:endParaRPr lang="en-US" sz="900" dirty="0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197" y="2578075"/>
            <a:ext cx="361838" cy="228451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7321786" y="1984251"/>
            <a:ext cx="1894768" cy="1416286"/>
          </a:xfrm>
          <a:prstGeom prst="roundRect">
            <a:avLst>
              <a:gd name="adj" fmla="val 4035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1" name="Shape 35"/>
          <p:cNvSpPr/>
          <p:nvPr/>
        </p:nvSpPr>
        <p:spPr>
          <a:xfrm>
            <a:off x="7321786" y="3388630"/>
            <a:ext cx="1894768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2" name="Shape 36"/>
          <p:cNvSpPr/>
          <p:nvPr/>
        </p:nvSpPr>
        <p:spPr>
          <a:xfrm>
            <a:off x="7321786" y="1984251"/>
            <a:ext cx="1894768" cy="23813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3" name="Shape 37"/>
          <p:cNvSpPr/>
          <p:nvPr/>
        </p:nvSpPr>
        <p:spPr>
          <a:xfrm>
            <a:off x="7321786" y="1984251"/>
            <a:ext cx="11906" cy="141628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4" name="Shape 38"/>
          <p:cNvSpPr/>
          <p:nvPr/>
        </p:nvSpPr>
        <p:spPr>
          <a:xfrm>
            <a:off x="9204647" y="1984251"/>
            <a:ext cx="11906" cy="141628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5" name="Shape 39"/>
          <p:cNvSpPr/>
          <p:nvPr/>
        </p:nvSpPr>
        <p:spPr>
          <a:xfrm>
            <a:off x="7333692" y="2008063"/>
            <a:ext cx="1870956" cy="241660"/>
          </a:xfrm>
          <a:prstGeom prst="rect">
            <a:avLst/>
          </a:prstGeom>
          <a:solidFill>
            <a:srgbClr val="EFF4D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6" name="Text 40"/>
          <p:cNvSpPr/>
          <p:nvPr/>
        </p:nvSpPr>
        <p:spPr>
          <a:xfrm>
            <a:off x="7476567" y="2074738"/>
            <a:ext cx="1661406" cy="146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13" b="1" kern="0" spc="64" dirty="0">
                <a:solidFill>
                  <a:srgbClr val="8FA82E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✓ FAIT</a:t>
            </a:r>
            <a:endParaRPr lang="en-US" sz="713" dirty="0"/>
          </a:p>
        </p:txBody>
      </p:sp>
      <p:sp>
        <p:nvSpPr>
          <p:cNvPr id="47" name="Shape 41"/>
          <p:cNvSpPr/>
          <p:nvPr/>
        </p:nvSpPr>
        <p:spPr>
          <a:xfrm>
            <a:off x="7333692" y="2249723"/>
            <a:ext cx="1870956" cy="1138907"/>
          </a:xfrm>
          <a:prstGeom prst="rect">
            <a:avLst/>
          </a:prstGeom>
          <a:solidFill>
            <a:srgbClr val="EFF4D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8" name="Text 42"/>
          <p:cNvSpPr/>
          <p:nvPr/>
        </p:nvSpPr>
        <p:spPr>
          <a:xfrm>
            <a:off x="7495542" y="2402086"/>
            <a:ext cx="17019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04</a:t>
            </a:r>
            <a:endParaRPr lang="en-US" sz="825" dirty="0"/>
          </a:p>
        </p:txBody>
      </p:sp>
      <p:sp>
        <p:nvSpPr>
          <p:cNvPr id="49" name="Text 43"/>
          <p:cNvSpPr/>
          <p:nvPr/>
        </p:nvSpPr>
        <p:spPr>
          <a:xfrm>
            <a:off x="7495542" y="2582912"/>
            <a:ext cx="1701980" cy="22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Quality Gate</a:t>
            </a:r>
            <a:endParaRPr lang="en-US" sz="1350" dirty="0"/>
          </a:p>
        </p:txBody>
      </p:sp>
      <p:sp>
        <p:nvSpPr>
          <p:cNvPr id="50" name="Text 44"/>
          <p:cNvSpPr/>
          <p:nvPr/>
        </p:nvSpPr>
        <p:spPr>
          <a:xfrm>
            <a:off x="7495542" y="2857128"/>
            <a:ext cx="1623454" cy="380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score ≥ seuil ? exit 0 / exit 1</a:t>
            </a:r>
            <a:endParaRPr lang="en-US" sz="900" dirty="0"/>
          </a:p>
        </p:txBody>
      </p:sp>
      <p:pic>
        <p:nvPicPr>
          <p:cNvPr id="5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6554" y="2578075"/>
            <a:ext cx="361838" cy="228451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9389604" y="1984251"/>
            <a:ext cx="2057846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675" kern="0" spc="68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DÉCISION DU GATE</a:t>
            </a:r>
            <a:endParaRPr lang="en-US" sz="675" dirty="0"/>
          </a:p>
        </p:txBody>
      </p:sp>
      <p:sp>
        <p:nvSpPr>
          <p:cNvPr id="53" name="Shape 46"/>
          <p:cNvSpPr/>
          <p:nvPr/>
        </p:nvSpPr>
        <p:spPr>
          <a:xfrm>
            <a:off x="9483142" y="2186471"/>
            <a:ext cx="1870770" cy="638101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4" name="Shape 47"/>
          <p:cNvSpPr/>
          <p:nvPr/>
        </p:nvSpPr>
        <p:spPr>
          <a:xfrm>
            <a:off x="9483142" y="2812666"/>
            <a:ext cx="1870770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5" name="Shape 48"/>
          <p:cNvSpPr/>
          <p:nvPr/>
        </p:nvSpPr>
        <p:spPr>
          <a:xfrm>
            <a:off x="9483142" y="2186471"/>
            <a:ext cx="1870770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6" name="Shape 49"/>
          <p:cNvSpPr/>
          <p:nvPr/>
        </p:nvSpPr>
        <p:spPr>
          <a:xfrm>
            <a:off x="9483142" y="2186471"/>
            <a:ext cx="23813" cy="638101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7" name="Shape 50"/>
          <p:cNvSpPr/>
          <p:nvPr/>
        </p:nvSpPr>
        <p:spPr>
          <a:xfrm>
            <a:off x="11342005" y="2186471"/>
            <a:ext cx="11906" cy="638101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8" name="Shape 51"/>
          <p:cNvSpPr/>
          <p:nvPr/>
        </p:nvSpPr>
        <p:spPr>
          <a:xfrm>
            <a:off x="9630668" y="2405621"/>
            <a:ext cx="564059" cy="199802"/>
          </a:xfrm>
          <a:prstGeom prst="roundRect">
            <a:avLst>
              <a:gd name="adj" fmla="val 50000"/>
            </a:avLst>
          </a:prstGeom>
          <a:solidFill>
            <a:srgbClr val="EFF4D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9" name="Text 52"/>
          <p:cNvSpPr/>
          <p:nvPr/>
        </p:nvSpPr>
        <p:spPr>
          <a:xfrm>
            <a:off x="9716393" y="2434196"/>
            <a:ext cx="468809" cy="18075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8FA82E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✓ PASS</a:t>
            </a:r>
            <a:endParaRPr lang="en-US" sz="825" dirty="0"/>
          </a:p>
        </p:txBody>
      </p:sp>
      <p:sp>
        <p:nvSpPr>
          <p:cNvPr id="60" name="Text 53"/>
          <p:cNvSpPr/>
          <p:nvPr/>
        </p:nvSpPr>
        <p:spPr>
          <a:xfrm>
            <a:off x="10280303" y="2283954"/>
            <a:ext cx="1014189" cy="481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13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Déploiement autorisé </a:t>
            </a:r>
            <a:r>
              <a:rPr lang="en-US" sz="1013" dirty="0">
                <a:solidFill>
                  <a:srgbClr val="909090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(manuel)</a:t>
            </a:r>
            <a:endParaRPr lang="en-US" sz="1013" dirty="0"/>
          </a:p>
        </p:txBody>
      </p:sp>
      <p:sp>
        <p:nvSpPr>
          <p:cNvPr id="61" name="Shape 54"/>
          <p:cNvSpPr/>
          <p:nvPr/>
        </p:nvSpPr>
        <p:spPr>
          <a:xfrm>
            <a:off x="9483142" y="2910148"/>
            <a:ext cx="1870770" cy="490389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62" name="Shape 55"/>
          <p:cNvSpPr/>
          <p:nvPr/>
        </p:nvSpPr>
        <p:spPr>
          <a:xfrm>
            <a:off x="9483142" y="3388630"/>
            <a:ext cx="1870770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63" name="Shape 56"/>
          <p:cNvSpPr/>
          <p:nvPr/>
        </p:nvSpPr>
        <p:spPr>
          <a:xfrm>
            <a:off x="9483142" y="2910148"/>
            <a:ext cx="1870770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64" name="Shape 57"/>
          <p:cNvSpPr/>
          <p:nvPr/>
        </p:nvSpPr>
        <p:spPr>
          <a:xfrm>
            <a:off x="9483142" y="2910148"/>
            <a:ext cx="23813" cy="490389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65" name="Shape 58"/>
          <p:cNvSpPr/>
          <p:nvPr/>
        </p:nvSpPr>
        <p:spPr>
          <a:xfrm>
            <a:off x="11342005" y="2910148"/>
            <a:ext cx="11906" cy="490389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66" name="Shape 59"/>
          <p:cNvSpPr/>
          <p:nvPr/>
        </p:nvSpPr>
        <p:spPr>
          <a:xfrm>
            <a:off x="9630668" y="3055441"/>
            <a:ext cx="571128" cy="199802"/>
          </a:xfrm>
          <a:prstGeom prst="roundRect">
            <a:avLst>
              <a:gd name="adj" fmla="val 50000"/>
            </a:avLst>
          </a:prstGeom>
          <a:solidFill>
            <a:srgbClr val="FBE7E9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67" name="Text 60"/>
          <p:cNvSpPr/>
          <p:nvPr/>
        </p:nvSpPr>
        <p:spPr>
          <a:xfrm>
            <a:off x="9716393" y="3084016"/>
            <a:ext cx="475878" cy="18075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DC3545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✗ FAIL</a:t>
            </a:r>
            <a:endParaRPr lang="en-US" sz="825" dirty="0"/>
          </a:p>
        </p:txBody>
      </p:sp>
      <p:sp>
        <p:nvSpPr>
          <p:cNvPr id="68" name="Text 61"/>
          <p:cNvSpPr/>
          <p:nvPr/>
        </p:nvSpPr>
        <p:spPr>
          <a:xfrm>
            <a:off x="10287372" y="3007630"/>
            <a:ext cx="1007120" cy="333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13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Bloqué — alerte</a:t>
            </a:r>
            <a:endParaRPr lang="en-US" sz="1013" dirty="0"/>
          </a:p>
        </p:txBody>
      </p:sp>
      <p:sp>
        <p:nvSpPr>
          <p:cNvPr id="69" name="Shape 62"/>
          <p:cNvSpPr/>
          <p:nvPr/>
        </p:nvSpPr>
        <p:spPr>
          <a:xfrm>
            <a:off x="838088" y="3571875"/>
            <a:ext cx="5181637" cy="1686223"/>
          </a:xfrm>
          <a:prstGeom prst="roundRect">
            <a:avLst>
              <a:gd name="adj" fmla="val 3389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0" name="Shape 63"/>
          <p:cNvSpPr/>
          <p:nvPr/>
        </p:nvSpPr>
        <p:spPr>
          <a:xfrm>
            <a:off x="1040495" y="3739679"/>
            <a:ext cx="133201" cy="133201"/>
          </a:xfrm>
          <a:prstGeom prst="ellipse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71" name="Text 64"/>
          <p:cNvSpPr/>
          <p:nvPr/>
        </p:nvSpPr>
        <p:spPr>
          <a:xfrm>
            <a:off x="1002395" y="3739679"/>
            <a:ext cx="209401" cy="171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78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✓</a:t>
            </a:r>
            <a:endParaRPr lang="en-US" sz="750" dirty="0"/>
          </a:p>
        </p:txBody>
      </p:sp>
      <p:sp>
        <p:nvSpPr>
          <p:cNvPr id="72" name="Text 65"/>
          <p:cNvSpPr/>
          <p:nvPr/>
        </p:nvSpPr>
        <p:spPr>
          <a:xfrm>
            <a:off x="1259272" y="3716982"/>
            <a:ext cx="375903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78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FAIT</a:t>
            </a:r>
            <a:endParaRPr lang="en-US" sz="975" dirty="0"/>
          </a:p>
        </p:txBody>
      </p:sp>
      <p:sp>
        <p:nvSpPr>
          <p:cNvPr id="73" name="Text 66"/>
          <p:cNvSpPr/>
          <p:nvPr/>
        </p:nvSpPr>
        <p:spPr>
          <a:xfrm>
            <a:off x="5104061" y="3752701"/>
            <a:ext cx="789459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75" b="1" kern="0" spc="27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déjà en place</a:t>
            </a:r>
            <a:endParaRPr lang="en-US" sz="675" dirty="0"/>
          </a:p>
        </p:txBody>
      </p:sp>
      <p:sp>
        <p:nvSpPr>
          <p:cNvPr id="74" name="Shape 67"/>
          <p:cNvSpPr/>
          <p:nvPr/>
        </p:nvSpPr>
        <p:spPr>
          <a:xfrm>
            <a:off x="1040495" y="4009802"/>
            <a:ext cx="123713" cy="199988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75" name="Text 68"/>
          <p:cNvSpPr/>
          <p:nvPr/>
        </p:nvSpPr>
        <p:spPr>
          <a:xfrm>
            <a:off x="1278620" y="4000314"/>
            <a:ext cx="4674861" cy="403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013" b="1" dirty="0">
                <a:solidFill>
                  <a:srgbClr val="2A2A2A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Quality gate opérationnel </a:t>
            </a:r>
            <a:r>
              <a:rPr lang="en-US" sz="1013" dirty="0">
                <a:solidFill>
                  <a:srgbClr val="525252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dans l'orchestrateur — </a:t>
            </a:r>
            <a:r>
              <a:rPr lang="en-US" sz="900" dirty="0">
                <a:solidFill>
                  <a:srgbClr val="3F3F3F"/>
                </a:solidFill>
                <a:highlight>
                  <a:srgbClr val="F2F2F2"/>
                </a:highlight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exit 1 </a:t>
            </a:r>
            <a:r>
              <a:rPr lang="en-US" sz="1013" dirty="0">
                <a:solidFill>
                  <a:srgbClr val="525252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si score &lt; seuil → déploiement bloqué.</a:t>
            </a:r>
            <a:endParaRPr lang="en-US" sz="1013" dirty="0"/>
          </a:p>
        </p:txBody>
      </p:sp>
      <p:sp>
        <p:nvSpPr>
          <p:cNvPr id="76" name="Shape 69"/>
          <p:cNvSpPr/>
          <p:nvPr/>
        </p:nvSpPr>
        <p:spPr>
          <a:xfrm>
            <a:off x="1040495" y="4470053"/>
            <a:ext cx="123713" cy="199988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77" name="Text 70"/>
          <p:cNvSpPr/>
          <p:nvPr/>
        </p:nvSpPr>
        <p:spPr>
          <a:xfrm>
            <a:off x="1278620" y="4460565"/>
            <a:ext cx="4674861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013" b="1" dirty="0">
                <a:solidFill>
                  <a:srgbClr val="2A2A2A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Structure </a:t>
            </a:r>
            <a:r>
              <a:rPr lang="en-US" sz="900" b="1" dirty="0">
                <a:solidFill>
                  <a:srgbClr val="3F3F3F"/>
                </a:solidFill>
                <a:highlight>
                  <a:srgbClr val="F2F2F2"/>
                </a:highlight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.gitlab-ci.yml </a:t>
            </a:r>
            <a:r>
              <a:rPr lang="en-US" sz="1013" b="1" dirty="0">
                <a:solidFill>
                  <a:srgbClr val="2A2A2A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écrite </a:t>
            </a:r>
            <a:r>
              <a:rPr lang="en-US" sz="1013" dirty="0">
                <a:solidFill>
                  <a:srgbClr val="525252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— 2 pipelines : code rapide + ML complet.</a:t>
            </a:r>
            <a:endParaRPr lang="en-US" sz="1013" dirty="0"/>
          </a:p>
        </p:txBody>
      </p:sp>
      <p:sp>
        <p:nvSpPr>
          <p:cNvPr id="78" name="Shape 71"/>
          <p:cNvSpPr/>
          <p:nvPr/>
        </p:nvSpPr>
        <p:spPr>
          <a:xfrm>
            <a:off x="6172088" y="3571875"/>
            <a:ext cx="5181823" cy="1686223"/>
          </a:xfrm>
          <a:prstGeom prst="roundRect">
            <a:avLst>
              <a:gd name="adj" fmla="val 3389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79" name="Shape 72"/>
          <p:cNvSpPr/>
          <p:nvPr/>
        </p:nvSpPr>
        <p:spPr>
          <a:xfrm>
            <a:off x="6172088" y="5246191"/>
            <a:ext cx="5181823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80" name="Shape 73"/>
          <p:cNvSpPr/>
          <p:nvPr/>
        </p:nvSpPr>
        <p:spPr>
          <a:xfrm>
            <a:off x="6172088" y="3571875"/>
            <a:ext cx="5181823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81" name="Shape 74"/>
          <p:cNvSpPr/>
          <p:nvPr/>
        </p:nvSpPr>
        <p:spPr>
          <a:xfrm>
            <a:off x="6172088" y="3571875"/>
            <a:ext cx="23813" cy="1686223"/>
          </a:xfrm>
          <a:prstGeom prst="rect">
            <a:avLst/>
          </a:prstGeom>
          <a:solidFill>
            <a:srgbClr val="CFCFCF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82" name="Shape 75"/>
          <p:cNvSpPr/>
          <p:nvPr/>
        </p:nvSpPr>
        <p:spPr>
          <a:xfrm>
            <a:off x="11342005" y="3571875"/>
            <a:ext cx="11906" cy="1686223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83" name="Shape 76"/>
          <p:cNvSpPr/>
          <p:nvPr/>
        </p:nvSpPr>
        <p:spPr>
          <a:xfrm>
            <a:off x="6386401" y="3744330"/>
            <a:ext cx="123713" cy="123713"/>
          </a:xfrm>
          <a:prstGeom prst="ellipse">
            <a:avLst/>
          </a:prstGeom>
          <a:ln w="11906">
            <a:solidFill>
              <a:srgbClr val="525252"/>
            </a:solidFill>
            <a:prstDash val="dash"/>
          </a:ln>
        </p:spPr>
        <p:txBody>
          <a:bodyPr/>
          <a:lstStyle/>
          <a:p>
            <a:endParaRPr lang="fr-TN"/>
          </a:p>
        </p:txBody>
      </p:sp>
      <p:sp>
        <p:nvSpPr>
          <p:cNvPr id="84" name="Text 77"/>
          <p:cNvSpPr/>
          <p:nvPr/>
        </p:nvSpPr>
        <p:spPr>
          <a:xfrm>
            <a:off x="6595690" y="3716982"/>
            <a:ext cx="783878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78" dirty="0">
                <a:solidFill>
                  <a:srgbClr val="525252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ROADMAP</a:t>
            </a:r>
            <a:endParaRPr lang="en-US" sz="975" dirty="0"/>
          </a:p>
        </p:txBody>
      </p:sp>
      <p:sp>
        <p:nvSpPr>
          <p:cNvPr id="85" name="Text 78"/>
          <p:cNvSpPr/>
          <p:nvPr/>
        </p:nvSpPr>
        <p:spPr>
          <a:xfrm>
            <a:off x="10438247" y="3752701"/>
            <a:ext cx="789459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75" b="1" kern="0" spc="27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à automatiser</a:t>
            </a:r>
            <a:endParaRPr lang="en-US" sz="675" dirty="0"/>
          </a:p>
        </p:txBody>
      </p:sp>
      <p:sp>
        <p:nvSpPr>
          <p:cNvPr id="86" name="Shape 79"/>
          <p:cNvSpPr/>
          <p:nvPr/>
        </p:nvSpPr>
        <p:spPr>
          <a:xfrm>
            <a:off x="6386401" y="4038265"/>
            <a:ext cx="104738" cy="104738"/>
          </a:xfrm>
          <a:prstGeom prst="ellipse">
            <a:avLst/>
          </a:prstGeom>
          <a:ln w="11906">
            <a:solidFill>
              <a:srgbClr val="525252"/>
            </a:solidFill>
            <a:prstDash val="dash"/>
          </a:ln>
        </p:spPr>
        <p:txBody>
          <a:bodyPr/>
          <a:lstStyle/>
          <a:p>
            <a:endParaRPr lang="fr-TN"/>
          </a:p>
        </p:txBody>
      </p:sp>
      <p:sp>
        <p:nvSpPr>
          <p:cNvPr id="87" name="Text 80"/>
          <p:cNvSpPr/>
          <p:nvPr/>
        </p:nvSpPr>
        <p:spPr>
          <a:xfrm>
            <a:off x="6624526" y="4000314"/>
            <a:ext cx="4979677" cy="22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013" b="1" dirty="0">
                <a:solidFill>
                  <a:srgbClr val="2A2A2A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Écrire les tests </a:t>
            </a:r>
            <a:r>
              <a:rPr lang="en-US" sz="1013" dirty="0">
                <a:solidFill>
                  <a:srgbClr val="525252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unitaires &amp; intégration (</a:t>
            </a:r>
            <a:r>
              <a:rPr lang="en-US" sz="900" dirty="0" err="1">
                <a:solidFill>
                  <a:srgbClr val="3F3F3F"/>
                </a:solidFill>
                <a:highlight>
                  <a:srgbClr val="F2F2F2"/>
                </a:highlight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pytest</a:t>
            </a:r>
            <a:r>
              <a:rPr lang="en-US" sz="1013" dirty="0">
                <a:solidFill>
                  <a:srgbClr val="525252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) </a:t>
            </a:r>
            <a:r>
              <a:rPr lang="en-US" sz="1013" dirty="0" err="1">
                <a:solidFill>
                  <a:srgbClr val="525252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iejflfjkefj;llll</a:t>
            </a:r>
            <a:endParaRPr lang="en-US" sz="1013" dirty="0"/>
          </a:p>
        </p:txBody>
      </p:sp>
      <p:sp>
        <p:nvSpPr>
          <p:cNvPr id="88" name="Shape 81"/>
          <p:cNvSpPr/>
          <p:nvPr/>
        </p:nvSpPr>
        <p:spPr>
          <a:xfrm>
            <a:off x="6386401" y="4316016"/>
            <a:ext cx="104738" cy="104738"/>
          </a:xfrm>
          <a:prstGeom prst="ellipse">
            <a:avLst/>
          </a:prstGeom>
          <a:ln w="11906">
            <a:solidFill>
              <a:srgbClr val="525252"/>
            </a:solidFill>
            <a:prstDash val="dash"/>
          </a:ln>
        </p:spPr>
        <p:txBody>
          <a:bodyPr/>
          <a:lstStyle/>
          <a:p>
            <a:endParaRPr lang="fr-TN"/>
          </a:p>
        </p:txBody>
      </p:sp>
      <p:sp>
        <p:nvSpPr>
          <p:cNvPr id="89" name="Text 82"/>
          <p:cNvSpPr/>
          <p:nvPr/>
        </p:nvSpPr>
        <p:spPr>
          <a:xfrm>
            <a:off x="6624526" y="4278064"/>
            <a:ext cx="4662789" cy="403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013" b="1" dirty="0">
                <a:solidFill>
                  <a:srgbClr val="2A2A2A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Valider sur un runner CI </a:t>
            </a:r>
            <a:r>
              <a:rPr lang="en-US" sz="1013" dirty="0">
                <a:solidFill>
                  <a:srgbClr val="525252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— contrainte : temps de run du pipeline ML en environnement isolé.</a:t>
            </a:r>
            <a:endParaRPr lang="en-US" sz="1013" dirty="0"/>
          </a:p>
        </p:txBody>
      </p:sp>
      <p:sp>
        <p:nvSpPr>
          <p:cNvPr id="90" name="Shape 83"/>
          <p:cNvSpPr/>
          <p:nvPr/>
        </p:nvSpPr>
        <p:spPr>
          <a:xfrm>
            <a:off x="6386401" y="4776267"/>
            <a:ext cx="104738" cy="104738"/>
          </a:xfrm>
          <a:prstGeom prst="ellipse">
            <a:avLst/>
          </a:prstGeom>
          <a:ln w="11906">
            <a:solidFill>
              <a:srgbClr val="525252"/>
            </a:solidFill>
            <a:prstDash val="dash"/>
          </a:ln>
        </p:spPr>
        <p:txBody>
          <a:bodyPr/>
          <a:lstStyle/>
          <a:p>
            <a:endParaRPr lang="fr-TN"/>
          </a:p>
        </p:txBody>
      </p:sp>
      <p:sp>
        <p:nvSpPr>
          <p:cNvPr id="91" name="Text 84"/>
          <p:cNvSpPr/>
          <p:nvPr/>
        </p:nvSpPr>
        <p:spPr>
          <a:xfrm>
            <a:off x="6624526" y="4738315"/>
            <a:ext cx="4662789" cy="403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013" b="1" dirty="0">
                <a:solidFill>
                  <a:srgbClr val="2A2A2A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Le déploiement (CD) reste manuel </a:t>
            </a:r>
            <a:r>
              <a:rPr lang="en-US" sz="1013" dirty="0">
                <a:solidFill>
                  <a:srgbClr val="525252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— conçu comme perspective, non automatisé.</a:t>
            </a:r>
            <a:endParaRPr lang="en-US" sz="1013" dirty="0"/>
          </a:p>
        </p:txBody>
      </p:sp>
      <p:sp>
        <p:nvSpPr>
          <p:cNvPr id="92" name="Shape 85"/>
          <p:cNvSpPr/>
          <p:nvPr/>
        </p:nvSpPr>
        <p:spPr>
          <a:xfrm>
            <a:off x="838088" y="5391299"/>
            <a:ext cx="10515823" cy="689074"/>
          </a:xfrm>
          <a:prstGeom prst="roundRect">
            <a:avLst>
              <a:gd name="adj" fmla="val 8294"/>
            </a:avLst>
          </a:prstGeom>
          <a:solidFill>
            <a:srgbClr val="2A2A2A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93" name="Shape 86"/>
          <p:cNvSpPr/>
          <p:nvPr/>
        </p:nvSpPr>
        <p:spPr>
          <a:xfrm>
            <a:off x="1047564" y="5515012"/>
            <a:ext cx="37951" cy="441647"/>
          </a:xfrm>
          <a:prstGeom prst="roundRect">
            <a:avLst>
              <a:gd name="adj" fmla="val 50000"/>
            </a:avLst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94" name="Text 87"/>
          <p:cNvSpPr/>
          <p:nvPr/>
        </p:nvSpPr>
        <p:spPr>
          <a:xfrm>
            <a:off x="1237878" y="5515012"/>
            <a:ext cx="10203755" cy="479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BDD248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Automatiser la CI/CT = priorité n°1 de la roadmap. </a:t>
            </a:r>
            <a:r>
              <a:rPr lang="en-US" sz="1200" b="1" dirty="0">
                <a:solidFill>
                  <a:srgbClr val="E6E9E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La mécanique de qualité existe déjà ; il reste à la lancer sur un runner. Le déploiement, lui, reste une décision manuelle.</a:t>
            </a:r>
            <a:endParaRPr lang="en-US" sz="1200" dirty="0"/>
          </a:p>
        </p:txBody>
      </p:sp>
      <p:sp>
        <p:nvSpPr>
          <p:cNvPr id="95" name="Text 88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Projet de Fin d'Études · Pipeline MLOps générique</a:t>
            </a:r>
            <a:endParaRPr lang="en-US" sz="975" dirty="0"/>
          </a:p>
        </p:txBody>
      </p:sp>
      <p:sp>
        <p:nvSpPr>
          <p:cNvPr id="98" name="Google Shape;88;p17">
            <a:extLst>
              <a:ext uri="{FF2B5EF4-FFF2-40B4-BE49-F238E27FC236}">
                <a16:creationId xmlns:a16="http://schemas.microsoft.com/office/drawing/2014/main" id="{E8FD2789-030E-EA2E-E69A-353AFF9234B2}"/>
              </a:ext>
            </a:extLst>
          </p:cNvPr>
          <p:cNvSpPr txBox="1">
            <a:spLocks/>
          </p:cNvSpPr>
          <p:nvPr/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fr" sz="1733" dirty="0">
                <a:latin typeface="Arial" panose="020B0604020202020204" pitchFamily="34" charset="0"/>
                <a:ea typeface="Nunito Black"/>
                <a:cs typeface="Arial" panose="020B0604020202020204" pitchFamily="34" charset="0"/>
                <a:sym typeface="Nunito Black"/>
              </a:rPr>
              <a:t>27</a:t>
            </a:r>
          </a:p>
        </p:txBody>
      </p:sp>
      <p:pic>
        <p:nvPicPr>
          <p:cNvPr id="99" name="Image 4" descr="preencoded.png">
            <a:extLst>
              <a:ext uri="{FF2B5EF4-FFF2-40B4-BE49-F238E27FC236}">
                <a16:creationId xmlns:a16="http://schemas.microsoft.com/office/drawing/2014/main" id="{646C931B-3CCA-4193-A31E-2F8E71B8221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0960274" y="156681"/>
            <a:ext cx="1041974" cy="62381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0" y="1021333"/>
            <a:ext cx="12192000" cy="11906"/>
          </a:xfrm>
          <a:prstGeom prst="rect">
            <a:avLst/>
          </a:prstGeom>
          <a:solidFill>
            <a:srgbClr val="546472">
              <a:alpha val="12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" name="Shape 2"/>
          <p:cNvSpPr/>
          <p:nvPr/>
        </p:nvSpPr>
        <p:spPr>
          <a:xfrm>
            <a:off x="495226" y="218963"/>
            <a:ext cx="85576" cy="123713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" name="Text 3"/>
          <p:cNvSpPr/>
          <p:nvPr/>
        </p:nvSpPr>
        <p:spPr>
          <a:xfrm>
            <a:off x="666378" y="209476"/>
            <a:ext cx="805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3" kern="0" spc="121" dirty="0">
                <a:solidFill>
                  <a:srgbClr val="546472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RÉSULTATS</a:t>
            </a:r>
            <a:endParaRPr lang="en-US" sz="863" dirty="0"/>
          </a:p>
        </p:txBody>
      </p:sp>
      <p:sp>
        <p:nvSpPr>
          <p:cNvPr id="6" name="Text 4"/>
          <p:cNvSpPr/>
          <p:nvPr/>
        </p:nvSpPr>
        <p:spPr>
          <a:xfrm>
            <a:off x="495226" y="428439"/>
            <a:ext cx="4343251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kern="0" spc="-75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plateforme </a:t>
            </a:r>
            <a:r>
              <a:rPr lang="en-US" sz="3000" b="1" kern="0" spc="-75" dirty="0">
                <a:solidFill>
                  <a:srgbClr val="BDD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chiffres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95999" y="618939"/>
            <a:ext cx="5074016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n'est pas une promesse : </a:t>
            </a:r>
            <a:r>
              <a:rPr lang="en-US" sz="1200" b="1" dirty="0">
                <a:solidFill>
                  <a:srgbClr val="54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voici ce que la plateforme fait, mesuré.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3933713"/>
            <a:ext cx="6096000" cy="11906"/>
          </a:xfrm>
          <a:prstGeom prst="rect">
            <a:avLst/>
          </a:prstGeom>
          <a:solidFill>
            <a:srgbClr val="546472">
              <a:alpha val="10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9" name="Shape 7"/>
          <p:cNvSpPr/>
          <p:nvPr/>
        </p:nvSpPr>
        <p:spPr>
          <a:xfrm>
            <a:off x="0" y="1033239"/>
            <a:ext cx="6096000" cy="35719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0" name="Shape 8"/>
          <p:cNvSpPr/>
          <p:nvPr/>
        </p:nvSpPr>
        <p:spPr>
          <a:xfrm>
            <a:off x="6084094" y="1033239"/>
            <a:ext cx="11906" cy="2912380"/>
          </a:xfrm>
          <a:prstGeom prst="rect">
            <a:avLst/>
          </a:prstGeom>
          <a:solidFill>
            <a:srgbClr val="546472">
              <a:alpha val="10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1" name="Shape 9"/>
          <p:cNvSpPr/>
          <p:nvPr/>
        </p:nvSpPr>
        <p:spPr>
          <a:xfrm>
            <a:off x="342863" y="1297409"/>
            <a:ext cx="85576" cy="133201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2" name="Text 10"/>
          <p:cNvSpPr/>
          <p:nvPr/>
        </p:nvSpPr>
        <p:spPr>
          <a:xfrm>
            <a:off x="504527" y="1304479"/>
            <a:ext cx="185934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90" dirty="0">
                <a:solidFill>
                  <a:srgbClr val="8FA82E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GÉNÉRICITÉ &amp; EXTENSIBILITÉ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42863" y="1563812"/>
            <a:ext cx="1797955" cy="556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800" b="1" kern="0" spc="-144" dirty="0">
                <a:solidFill>
                  <a:srgbClr val="BDD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342863" y="2139032"/>
            <a:ext cx="1797955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5B8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phases (contrat universel)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2167868" y="1563812"/>
            <a:ext cx="1452321" cy="556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800" b="1" kern="0" spc="-144" dirty="0">
                <a:solidFill>
                  <a:srgbClr val="BDD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2167868" y="2139032"/>
            <a:ext cx="1452321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5B8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catégories composants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3678659" y="1563812"/>
            <a:ext cx="1521489" cy="556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800" b="1" kern="0" spc="-144" dirty="0">
                <a:solidFill>
                  <a:srgbClr val="BDD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3678659" y="2139032"/>
            <a:ext cx="1521489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5B8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vector stores intégrés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342863" y="2460501"/>
            <a:ext cx="1728788" cy="556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800" b="1" kern="0" spc="-144" dirty="0">
                <a:solidFill>
                  <a:srgbClr val="BDD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</a:t>
            </a:r>
            <a:r>
              <a:rPr lang="en-US" sz="2100" b="1" kern="0" spc="-144" dirty="0">
                <a:solidFill>
                  <a:srgbClr val="BDD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ligne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342863" y="3035722"/>
            <a:ext cx="1728788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5B8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pour ajouter un composant</a:t>
            </a:r>
            <a:endParaRPr lang="en-US" sz="825" dirty="0"/>
          </a:p>
        </p:txBody>
      </p:sp>
      <p:sp>
        <p:nvSpPr>
          <p:cNvPr id="21" name="Shape 19"/>
          <p:cNvSpPr/>
          <p:nvPr/>
        </p:nvSpPr>
        <p:spPr>
          <a:xfrm>
            <a:off x="6096000" y="3933713"/>
            <a:ext cx="6096000" cy="11906"/>
          </a:xfrm>
          <a:prstGeom prst="rect">
            <a:avLst/>
          </a:prstGeom>
          <a:solidFill>
            <a:srgbClr val="546472">
              <a:alpha val="10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2" name="Shape 20"/>
          <p:cNvSpPr/>
          <p:nvPr/>
        </p:nvSpPr>
        <p:spPr>
          <a:xfrm>
            <a:off x="6096000" y="1033239"/>
            <a:ext cx="6096000" cy="35719"/>
          </a:xfrm>
          <a:prstGeom prst="rect">
            <a:avLst/>
          </a:prstGeom>
          <a:solidFill>
            <a:srgbClr val="546472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3" name="Shape 21"/>
          <p:cNvSpPr/>
          <p:nvPr/>
        </p:nvSpPr>
        <p:spPr>
          <a:xfrm>
            <a:off x="6438863" y="1297409"/>
            <a:ext cx="85576" cy="133201"/>
          </a:xfrm>
          <a:prstGeom prst="rect">
            <a:avLst/>
          </a:prstGeom>
          <a:solidFill>
            <a:srgbClr val="546472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4" name="Text 22"/>
          <p:cNvSpPr/>
          <p:nvPr/>
        </p:nvSpPr>
        <p:spPr>
          <a:xfrm>
            <a:off x="6600527" y="1304479"/>
            <a:ext cx="17907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90" dirty="0">
                <a:solidFill>
                  <a:srgbClr val="546472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REPRODUCTIBILITÉ · MLFLOW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438863" y="1563812"/>
            <a:ext cx="1521489" cy="556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800" b="1" kern="0" spc="-144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4800" dirty="0"/>
          </a:p>
        </p:txBody>
      </p:sp>
      <p:sp>
        <p:nvSpPr>
          <p:cNvPr id="26" name="Text 24"/>
          <p:cNvSpPr/>
          <p:nvPr/>
        </p:nvSpPr>
        <p:spPr>
          <a:xfrm>
            <a:off x="6438863" y="2139032"/>
            <a:ext cx="1521489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5B8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params trackés (vs 80)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8012534" y="1563812"/>
            <a:ext cx="1144972" cy="556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800" b="1" kern="0" spc="-144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215</a:t>
            </a:r>
            <a:endParaRPr lang="en-US" sz="4800" dirty="0"/>
          </a:p>
        </p:txBody>
      </p:sp>
      <p:sp>
        <p:nvSpPr>
          <p:cNvPr id="28" name="Text 26"/>
          <p:cNvSpPr/>
          <p:nvPr/>
        </p:nvSpPr>
        <p:spPr>
          <a:xfrm>
            <a:off x="8012534" y="2139032"/>
            <a:ext cx="1144972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5B8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packages capturés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9271806" y="1563812"/>
            <a:ext cx="1383153" cy="556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800" b="1" kern="0" spc="-144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800" dirty="0"/>
          </a:p>
        </p:txBody>
      </p:sp>
      <p:sp>
        <p:nvSpPr>
          <p:cNvPr id="30" name="Text 28"/>
          <p:cNvSpPr/>
          <p:nvPr/>
        </p:nvSpPr>
        <p:spPr>
          <a:xfrm>
            <a:off x="9271806" y="2139032"/>
            <a:ext cx="1383153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5B8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expériences séparées</a:t>
            </a:r>
            <a:endParaRPr lang="en-US" sz="825" dirty="0"/>
          </a:p>
        </p:txBody>
      </p:sp>
      <p:sp>
        <p:nvSpPr>
          <p:cNvPr id="31" name="Shape 29"/>
          <p:cNvSpPr/>
          <p:nvPr/>
        </p:nvSpPr>
        <p:spPr>
          <a:xfrm>
            <a:off x="0" y="3945620"/>
            <a:ext cx="6096000" cy="35719"/>
          </a:xfrm>
          <a:prstGeom prst="rect">
            <a:avLst/>
          </a:prstGeom>
          <a:solidFill>
            <a:srgbClr val="00AE4E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2" name="Shape 30"/>
          <p:cNvSpPr/>
          <p:nvPr/>
        </p:nvSpPr>
        <p:spPr>
          <a:xfrm>
            <a:off x="6084094" y="3945620"/>
            <a:ext cx="11906" cy="2912380"/>
          </a:xfrm>
          <a:prstGeom prst="rect">
            <a:avLst/>
          </a:prstGeom>
          <a:solidFill>
            <a:srgbClr val="546472">
              <a:alpha val="10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3" name="Shape 31"/>
          <p:cNvSpPr/>
          <p:nvPr/>
        </p:nvSpPr>
        <p:spPr>
          <a:xfrm>
            <a:off x="342863" y="4209790"/>
            <a:ext cx="85576" cy="133201"/>
          </a:xfrm>
          <a:prstGeom prst="rect">
            <a:avLst/>
          </a:prstGeom>
          <a:solidFill>
            <a:srgbClr val="00AE4E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4" name="Text 32"/>
          <p:cNvSpPr/>
          <p:nvPr/>
        </p:nvSpPr>
        <p:spPr>
          <a:xfrm>
            <a:off x="504527" y="4216859"/>
            <a:ext cx="185934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90" dirty="0">
                <a:solidFill>
                  <a:srgbClr val="00AE4E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OBSERVABILITÉ · MONITORING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42863" y="4476192"/>
            <a:ext cx="1383153" cy="556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800" b="1" kern="0" spc="-144" dirty="0">
                <a:solidFill>
                  <a:srgbClr val="00A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800" dirty="0"/>
          </a:p>
        </p:txBody>
      </p:sp>
      <p:sp>
        <p:nvSpPr>
          <p:cNvPr id="36" name="Text 34"/>
          <p:cNvSpPr/>
          <p:nvPr/>
        </p:nvSpPr>
        <p:spPr>
          <a:xfrm>
            <a:off x="342863" y="5051413"/>
            <a:ext cx="1383153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5B8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métriques métier RAG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1790774" y="4476192"/>
            <a:ext cx="956332" cy="556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800" b="1" kern="0" spc="-144" dirty="0">
                <a:solidFill>
                  <a:srgbClr val="00A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4800" dirty="0"/>
          </a:p>
        </p:txBody>
      </p:sp>
      <p:sp>
        <p:nvSpPr>
          <p:cNvPr id="38" name="Text 36"/>
          <p:cNvSpPr/>
          <p:nvPr/>
        </p:nvSpPr>
        <p:spPr>
          <a:xfrm>
            <a:off x="1790774" y="5051413"/>
            <a:ext cx="956332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5B8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panels Grafana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2861407" y="4476192"/>
            <a:ext cx="1383153" cy="556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800" b="1" kern="0" spc="-144" dirty="0">
                <a:solidFill>
                  <a:srgbClr val="00A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800" dirty="0"/>
          </a:p>
        </p:txBody>
      </p:sp>
      <p:sp>
        <p:nvSpPr>
          <p:cNvPr id="40" name="Text 38"/>
          <p:cNvSpPr/>
          <p:nvPr/>
        </p:nvSpPr>
        <p:spPr>
          <a:xfrm>
            <a:off x="2861407" y="5051413"/>
            <a:ext cx="1383153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5B8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alertes automatiques</a:t>
            </a:r>
            <a:endParaRPr lang="en-US" sz="825" dirty="0"/>
          </a:p>
        </p:txBody>
      </p:sp>
      <p:sp>
        <p:nvSpPr>
          <p:cNvPr id="41" name="Shape 39"/>
          <p:cNvSpPr/>
          <p:nvPr/>
        </p:nvSpPr>
        <p:spPr>
          <a:xfrm>
            <a:off x="6096000" y="3945620"/>
            <a:ext cx="6096000" cy="35719"/>
          </a:xfrm>
          <a:prstGeom prst="rect">
            <a:avLst/>
          </a:prstGeom>
          <a:solidFill>
            <a:srgbClr val="1C1C2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2" name="Shape 40"/>
          <p:cNvSpPr/>
          <p:nvPr/>
        </p:nvSpPr>
        <p:spPr>
          <a:xfrm>
            <a:off x="6438863" y="4209790"/>
            <a:ext cx="85576" cy="133201"/>
          </a:xfrm>
          <a:prstGeom prst="rect">
            <a:avLst/>
          </a:prstGeom>
          <a:solidFill>
            <a:srgbClr val="1C1C2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3" name="Text 41"/>
          <p:cNvSpPr/>
          <p:nvPr/>
        </p:nvSpPr>
        <p:spPr>
          <a:xfrm>
            <a:off x="6600527" y="4216859"/>
            <a:ext cx="151648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90" dirty="0">
                <a:solidFill>
                  <a:srgbClr val="1C1C24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PERFORMANCE &amp; QUALITÉ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438863" y="4476192"/>
            <a:ext cx="1590656" cy="426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600" b="1" kern="0" spc="-108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~250</a:t>
            </a:r>
            <a:r>
              <a:rPr lang="en-US" sz="1800" b="1" kern="0" spc="-108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</a:t>
            </a:r>
            <a:endParaRPr lang="en-US" sz="3600" dirty="0"/>
          </a:p>
        </p:txBody>
      </p:sp>
      <p:sp>
        <p:nvSpPr>
          <p:cNvPr id="45" name="Text 43"/>
          <p:cNvSpPr/>
          <p:nvPr/>
        </p:nvSpPr>
        <p:spPr>
          <a:xfrm>
            <a:off x="6438863" y="4921932"/>
            <a:ext cx="1590656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5B8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latence retrieval (P95)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8037277" y="4476192"/>
            <a:ext cx="1433903" cy="426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600" b="1" kern="0" spc="-108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25–30</a:t>
            </a:r>
            <a:r>
              <a:rPr lang="en-US" sz="1800" b="1" kern="0" spc="-108" dirty="0">
                <a:solidFill>
                  <a:srgbClr val="1C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3600" dirty="0"/>
          </a:p>
        </p:txBody>
      </p:sp>
      <p:sp>
        <p:nvSpPr>
          <p:cNvPr id="47" name="Text 45"/>
          <p:cNvSpPr/>
          <p:nvPr/>
        </p:nvSpPr>
        <p:spPr>
          <a:xfrm>
            <a:off x="8037277" y="4921932"/>
            <a:ext cx="1433903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5B8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génération (CPU)</a:t>
            </a:r>
            <a:endParaRPr lang="en-US" sz="825" dirty="0"/>
          </a:p>
        </p:txBody>
      </p:sp>
      <p:sp>
        <p:nvSpPr>
          <p:cNvPr id="48" name="Text 46"/>
          <p:cNvSpPr/>
          <p:nvPr/>
        </p:nvSpPr>
        <p:spPr>
          <a:xfrm>
            <a:off x="9493188" y="4476192"/>
            <a:ext cx="1521489" cy="556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800" b="1" kern="0" spc="-144" dirty="0">
                <a:solidFill>
                  <a:srgbClr val="BDD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4800" dirty="0"/>
          </a:p>
        </p:txBody>
      </p:sp>
      <p:sp>
        <p:nvSpPr>
          <p:cNvPr id="49" name="Text 47"/>
          <p:cNvSpPr/>
          <p:nvPr/>
        </p:nvSpPr>
        <p:spPr>
          <a:xfrm>
            <a:off x="9493188" y="5051413"/>
            <a:ext cx="1521489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5B8"/>
                </a:solidFill>
                <a:latin typeface="Arial" panose="020B0604020202020204" pitchFamily="34" charset="0"/>
                <a:ea typeface="Courier New" pitchFamily="34" charset="-122"/>
                <a:cs typeface="Courier New" pitchFamily="34" charset="-120"/>
              </a:rPr>
              <a:t>faithfulness (1er run)</a:t>
            </a:r>
            <a:endParaRPr lang="en-US" sz="825" dirty="0"/>
          </a:p>
        </p:txBody>
      </p:sp>
      <p:sp>
        <p:nvSpPr>
          <p:cNvPr id="50" name="Google Shape;88;p17">
            <a:extLst>
              <a:ext uri="{FF2B5EF4-FFF2-40B4-BE49-F238E27FC236}">
                <a16:creationId xmlns:a16="http://schemas.microsoft.com/office/drawing/2014/main" id="{2E11A461-63AC-937D-F38B-2041A4E135D1}"/>
              </a:ext>
            </a:extLst>
          </p:cNvPr>
          <p:cNvSpPr txBox="1">
            <a:spLocks/>
          </p:cNvSpPr>
          <p:nvPr/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fr" sz="1733" dirty="0">
                <a:latin typeface="Arial" panose="020B0604020202020204" pitchFamily="34" charset="0"/>
                <a:ea typeface="Nunito Black"/>
                <a:cs typeface="Arial" panose="020B0604020202020204" pitchFamily="34" charset="0"/>
                <a:sym typeface="Nunito Black"/>
              </a:rPr>
              <a:t>28</a:t>
            </a:r>
          </a:p>
        </p:txBody>
      </p:sp>
      <p:pic>
        <p:nvPicPr>
          <p:cNvPr id="51" name="Image 4" descr="preencoded.png">
            <a:extLst>
              <a:ext uri="{FF2B5EF4-FFF2-40B4-BE49-F238E27FC236}">
                <a16:creationId xmlns:a16="http://schemas.microsoft.com/office/drawing/2014/main" id="{A8A9018E-AA90-6015-1EDA-1DC9CC6BDA5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0960274" y="156681"/>
            <a:ext cx="1041974" cy="62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7144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T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105790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INTERFACE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11567406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000" b="1" kern="0" spc="-60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Une interface, </a:t>
            </a:r>
            <a:r>
              <a:rPr lang="en-US" sz="3000" b="1" kern="0" spc="-60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deux audiences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809750" y="1577764"/>
            <a:ext cx="4076774" cy="2123777"/>
          </a:xfrm>
          <a:prstGeom prst="roundRect">
            <a:avLst>
              <a:gd name="adj" fmla="val 2691"/>
            </a:avLst>
          </a:prstGeom>
          <a:solidFill>
            <a:srgbClr val="F4F4F4"/>
          </a:solidFill>
          <a:ln/>
          <a:effectLst>
            <a:outerShdw blurRad="76200" dist="19050" dir="5400000" algn="bl" rotWithShape="0">
              <a:srgbClr val="2A2A2A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7" name="Shape 4"/>
          <p:cNvSpPr/>
          <p:nvPr/>
        </p:nvSpPr>
        <p:spPr>
          <a:xfrm>
            <a:off x="1809750" y="3689635"/>
            <a:ext cx="4076774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8" name="Shape 5"/>
          <p:cNvSpPr/>
          <p:nvPr/>
        </p:nvSpPr>
        <p:spPr>
          <a:xfrm>
            <a:off x="1809750" y="1577764"/>
            <a:ext cx="4076774" cy="35719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9" name="Shape 6"/>
          <p:cNvSpPr/>
          <p:nvPr/>
        </p:nvSpPr>
        <p:spPr>
          <a:xfrm>
            <a:off x="1809750" y="1577764"/>
            <a:ext cx="11906" cy="2123777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0" name="Shape 7"/>
          <p:cNvSpPr/>
          <p:nvPr/>
        </p:nvSpPr>
        <p:spPr>
          <a:xfrm>
            <a:off x="5874618" y="1577764"/>
            <a:ext cx="11906" cy="2123777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1" name="Shape 8"/>
          <p:cNvSpPr/>
          <p:nvPr/>
        </p:nvSpPr>
        <p:spPr>
          <a:xfrm>
            <a:off x="2050107" y="1803983"/>
            <a:ext cx="457088" cy="457088"/>
          </a:xfrm>
          <a:prstGeom prst="roundRect">
            <a:avLst>
              <a:gd name="adj" fmla="val 25006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2" name="Text 9"/>
          <p:cNvSpPr/>
          <p:nvPr/>
        </p:nvSpPr>
        <p:spPr>
          <a:xfrm>
            <a:off x="2023914" y="1815889"/>
            <a:ext cx="509476" cy="4713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 dirty="0">
                <a:solidFill>
                  <a:srgbClr val="3F3F3F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👤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2640397" y="1820540"/>
            <a:ext cx="1620106" cy="311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Non-développeur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640397" y="2107406"/>
            <a:ext cx="1698296" cy="1393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13" kern="0" spc="86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UTILISATEUR MÉTIER</a:t>
            </a:r>
            <a:endParaRPr lang="en-US" sz="713" dirty="0"/>
          </a:p>
        </p:txBody>
      </p:sp>
      <p:sp>
        <p:nvSpPr>
          <p:cNvPr id="15" name="Shape 12"/>
          <p:cNvSpPr/>
          <p:nvPr/>
        </p:nvSpPr>
        <p:spPr>
          <a:xfrm>
            <a:off x="2309999" y="2413434"/>
            <a:ext cx="870831" cy="293191"/>
          </a:xfrm>
          <a:prstGeom prst="roundRect">
            <a:avLst>
              <a:gd name="adj" fmla="val 19492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6" name="Text 13"/>
          <p:cNvSpPr/>
          <p:nvPr/>
        </p:nvSpPr>
        <p:spPr>
          <a:xfrm>
            <a:off x="2398105" y="2492015"/>
            <a:ext cx="694618" cy="17412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5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Documents</a:t>
            </a:r>
            <a:endParaRPr lang="en-US" sz="975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7430" y="2470733"/>
            <a:ext cx="285750" cy="18082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599780" y="2413434"/>
            <a:ext cx="547688" cy="293191"/>
          </a:xfrm>
          <a:prstGeom prst="roundRect">
            <a:avLst>
              <a:gd name="adj" fmla="val 19492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9" name="Text 15"/>
          <p:cNvSpPr/>
          <p:nvPr/>
        </p:nvSpPr>
        <p:spPr>
          <a:xfrm>
            <a:off x="3687887" y="2492015"/>
            <a:ext cx="371475" cy="17412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5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Profil</a:t>
            </a:r>
            <a:endParaRPr lang="en-US" sz="975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4068" y="2470733"/>
            <a:ext cx="285750" cy="180826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566419" y="2413434"/>
            <a:ext cx="467506" cy="293191"/>
          </a:xfrm>
          <a:prstGeom prst="roundRect">
            <a:avLst>
              <a:gd name="adj" fmla="val 19492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2" name="Text 17"/>
          <p:cNvSpPr/>
          <p:nvPr/>
        </p:nvSpPr>
        <p:spPr>
          <a:xfrm>
            <a:off x="4654525" y="2492015"/>
            <a:ext cx="291294" cy="17412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5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Run</a:t>
            </a:r>
            <a:endParaRPr lang="en-US" sz="975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0526" y="2470733"/>
            <a:ext cx="285750" cy="180826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3502856" y="2773226"/>
            <a:ext cx="690376" cy="293191"/>
          </a:xfrm>
          <a:prstGeom prst="roundRect">
            <a:avLst>
              <a:gd name="adj" fmla="val 19492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5" name="Text 19"/>
          <p:cNvSpPr/>
          <p:nvPr/>
        </p:nvSpPr>
        <p:spPr>
          <a:xfrm>
            <a:off x="3590962" y="2851807"/>
            <a:ext cx="514164" cy="17412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5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Chatbot</a:t>
            </a:r>
            <a:endParaRPr lang="en-US" sz="975" dirty="0"/>
          </a:p>
        </p:txBody>
      </p:sp>
      <p:sp>
        <p:nvSpPr>
          <p:cNvPr id="26" name="Shape 20"/>
          <p:cNvSpPr/>
          <p:nvPr/>
        </p:nvSpPr>
        <p:spPr>
          <a:xfrm>
            <a:off x="2050107" y="3209292"/>
            <a:ext cx="3596060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7" name="Text 21"/>
          <p:cNvSpPr/>
          <p:nvPr/>
        </p:nvSpPr>
        <p:spPr>
          <a:xfrm>
            <a:off x="1996167" y="3345024"/>
            <a:ext cx="3703941" cy="2113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75" i="1" dirty="0">
                <a:solidFill>
                  <a:srgbClr val="525252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Utilise la pipeline sans toucher au code.</a:t>
            </a:r>
            <a:endParaRPr lang="en-US" sz="975" dirty="0"/>
          </a:p>
        </p:txBody>
      </p:sp>
      <p:sp>
        <p:nvSpPr>
          <p:cNvPr id="28" name="Shape 22"/>
          <p:cNvSpPr/>
          <p:nvPr/>
        </p:nvSpPr>
        <p:spPr>
          <a:xfrm>
            <a:off x="6305476" y="1577764"/>
            <a:ext cx="4076774" cy="2123777"/>
          </a:xfrm>
          <a:prstGeom prst="roundRect">
            <a:avLst>
              <a:gd name="adj" fmla="val 2691"/>
            </a:avLst>
          </a:prstGeom>
          <a:solidFill>
            <a:srgbClr val="F4F4F4"/>
          </a:solidFill>
          <a:ln/>
          <a:effectLst>
            <a:outerShdw blurRad="76200" dist="19050" dir="5400000" algn="bl" rotWithShape="0">
              <a:srgbClr val="2A2A2A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9" name="Shape 23"/>
          <p:cNvSpPr/>
          <p:nvPr/>
        </p:nvSpPr>
        <p:spPr>
          <a:xfrm>
            <a:off x="6305476" y="3689635"/>
            <a:ext cx="4076774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0" name="Shape 24"/>
          <p:cNvSpPr/>
          <p:nvPr/>
        </p:nvSpPr>
        <p:spPr>
          <a:xfrm>
            <a:off x="6305476" y="1577764"/>
            <a:ext cx="4076774" cy="35719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1" name="Shape 25"/>
          <p:cNvSpPr/>
          <p:nvPr/>
        </p:nvSpPr>
        <p:spPr>
          <a:xfrm>
            <a:off x="6305476" y="1577764"/>
            <a:ext cx="11906" cy="2123777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2" name="Shape 26"/>
          <p:cNvSpPr/>
          <p:nvPr/>
        </p:nvSpPr>
        <p:spPr>
          <a:xfrm>
            <a:off x="10370344" y="1577764"/>
            <a:ext cx="11906" cy="2123777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3" name="Shape 27"/>
          <p:cNvSpPr/>
          <p:nvPr/>
        </p:nvSpPr>
        <p:spPr>
          <a:xfrm>
            <a:off x="6545833" y="1803983"/>
            <a:ext cx="457088" cy="457088"/>
          </a:xfrm>
          <a:prstGeom prst="roundRect">
            <a:avLst>
              <a:gd name="adj" fmla="val 25006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4" name="Text 28"/>
          <p:cNvSpPr/>
          <p:nvPr/>
        </p:nvSpPr>
        <p:spPr>
          <a:xfrm>
            <a:off x="6519639" y="1815889"/>
            <a:ext cx="509476" cy="4713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 dirty="0">
                <a:solidFill>
                  <a:srgbClr val="3F3F3F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🛠️</a:t>
            </a:r>
            <a:endParaRPr lang="en-US" sz="1875" dirty="0"/>
          </a:p>
        </p:txBody>
      </p:sp>
      <p:sp>
        <p:nvSpPr>
          <p:cNvPr id="35" name="Text 29"/>
          <p:cNvSpPr/>
          <p:nvPr/>
        </p:nvSpPr>
        <p:spPr>
          <a:xfrm>
            <a:off x="7136123" y="1820540"/>
            <a:ext cx="1554249" cy="311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Développeur ML</a:t>
            </a:r>
            <a:endParaRPr lang="en-US" sz="1500" dirty="0"/>
          </a:p>
        </p:txBody>
      </p:sp>
      <p:sp>
        <p:nvSpPr>
          <p:cNvPr id="36" name="Text 30"/>
          <p:cNvSpPr/>
          <p:nvPr/>
        </p:nvSpPr>
        <p:spPr>
          <a:xfrm>
            <a:off x="7136123" y="2107406"/>
            <a:ext cx="1625854" cy="1393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13" kern="0" spc="86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BUILDER DE PIPELINE</a:t>
            </a:r>
            <a:endParaRPr lang="en-US" sz="713" dirty="0"/>
          </a:p>
        </p:txBody>
      </p:sp>
      <p:sp>
        <p:nvSpPr>
          <p:cNvPr id="37" name="Shape 31"/>
          <p:cNvSpPr/>
          <p:nvPr/>
        </p:nvSpPr>
        <p:spPr>
          <a:xfrm>
            <a:off x="7006270" y="2413434"/>
            <a:ext cx="934641" cy="293191"/>
          </a:xfrm>
          <a:prstGeom prst="roundRect">
            <a:avLst>
              <a:gd name="adj" fmla="val 19492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8" name="Text 32"/>
          <p:cNvSpPr/>
          <p:nvPr/>
        </p:nvSpPr>
        <p:spPr>
          <a:xfrm>
            <a:off x="7094376" y="2492015"/>
            <a:ext cx="758428" cy="17412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5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Composants</a:t>
            </a:r>
            <a:endParaRPr lang="en-US" sz="975" dirty="0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7511" y="2470733"/>
            <a:ext cx="285750" cy="180826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8359862" y="2413434"/>
            <a:ext cx="969057" cy="293191"/>
          </a:xfrm>
          <a:prstGeom prst="roundRect">
            <a:avLst>
              <a:gd name="adj" fmla="val 19492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1" name="Text 34"/>
          <p:cNvSpPr/>
          <p:nvPr/>
        </p:nvSpPr>
        <p:spPr>
          <a:xfrm>
            <a:off x="8447968" y="2492015"/>
            <a:ext cx="792845" cy="17412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5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YAML expert</a:t>
            </a:r>
            <a:endParaRPr lang="en-US" sz="975" dirty="0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5520" y="2470733"/>
            <a:ext cx="285750" cy="180826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7798036" y="2773226"/>
            <a:ext cx="1091468" cy="293191"/>
          </a:xfrm>
          <a:prstGeom prst="roundRect">
            <a:avLst>
              <a:gd name="adj" fmla="val 19492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4" name="Text 36"/>
          <p:cNvSpPr/>
          <p:nvPr/>
        </p:nvSpPr>
        <p:spPr>
          <a:xfrm>
            <a:off x="7886142" y="2851807"/>
            <a:ext cx="915256" cy="17412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5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Documentation</a:t>
            </a:r>
            <a:endParaRPr lang="en-US" sz="975" dirty="0"/>
          </a:p>
        </p:txBody>
      </p:sp>
      <p:sp>
        <p:nvSpPr>
          <p:cNvPr id="45" name="Shape 37"/>
          <p:cNvSpPr/>
          <p:nvPr/>
        </p:nvSpPr>
        <p:spPr>
          <a:xfrm>
            <a:off x="6545833" y="3209292"/>
            <a:ext cx="3596060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6" name="Text 38"/>
          <p:cNvSpPr/>
          <p:nvPr/>
        </p:nvSpPr>
        <p:spPr>
          <a:xfrm>
            <a:off x="6491892" y="3345024"/>
            <a:ext cx="3703941" cy="2113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75" i="1" dirty="0">
                <a:solidFill>
                  <a:srgbClr val="525252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Étend la pipeline.</a:t>
            </a:r>
            <a:endParaRPr lang="en-US" sz="975" dirty="0"/>
          </a:p>
        </p:txBody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09750" y="3720517"/>
            <a:ext cx="8572500" cy="552338"/>
          </a:xfrm>
          <a:prstGeom prst="rect">
            <a:avLst/>
          </a:prstGeom>
        </p:spPr>
      </p:pic>
      <p:sp>
        <p:nvSpPr>
          <p:cNvPr id="48" name="Shape 39"/>
          <p:cNvSpPr/>
          <p:nvPr/>
        </p:nvSpPr>
        <p:spPr>
          <a:xfrm>
            <a:off x="3301008" y="4272855"/>
            <a:ext cx="5589984" cy="642751"/>
          </a:xfrm>
          <a:prstGeom prst="roundRect">
            <a:avLst>
              <a:gd name="adj" fmla="val 20747"/>
            </a:avLst>
          </a:prstGeom>
          <a:gradFill rotWithShape="1">
            <a:gsLst>
              <a:gs pos="0">
                <a:srgbClr val="BDD248">
                  <a:alpha val="100000"/>
                </a:srgbClr>
              </a:gs>
              <a:gs pos="100000">
                <a:srgbClr val="8FA82E">
                  <a:alpha val="100000"/>
                </a:srgbClr>
              </a:gs>
            </a:gsLst>
            <a:lin ang="2700000" scaled="0"/>
          </a:gradFill>
          <a:ln/>
          <a:effectLst>
            <a:outerShdw blurRad="209550" dist="76200" dir="5400000" algn="bl" rotWithShape="0">
              <a:srgbClr val="8FA82E">
                <a:alpha val="34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9" name="Text 40"/>
          <p:cNvSpPr/>
          <p:nvPr/>
        </p:nvSpPr>
        <p:spPr>
          <a:xfrm>
            <a:off x="4338777" y="4415730"/>
            <a:ext cx="351426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50" b="1" kern="0" spc="135" dirty="0">
                <a:solidFill>
                  <a:srgbClr val="2A2A2A">
                    <a:alpha val="62000"/>
                  </a:srgbClr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DEUX PORTES D’ENTRÉE · UNE SEULE PLATEFORME</a:t>
            </a:r>
            <a:endParaRPr lang="en-US" sz="750" dirty="0"/>
          </a:p>
        </p:txBody>
      </p:sp>
      <p:sp>
        <p:nvSpPr>
          <p:cNvPr id="50" name="Text 41"/>
          <p:cNvSpPr/>
          <p:nvPr/>
        </p:nvSpPr>
        <p:spPr>
          <a:xfrm>
            <a:off x="3440609" y="4563256"/>
            <a:ext cx="5310783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kern="0" spc="-15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MÊME PLATEFORME · MÊME CONTRAT </a:t>
            </a:r>
            <a:r>
              <a:rPr lang="en-US" sz="1200" b="1" kern="0" spc="-15" dirty="0">
                <a:solidFill>
                  <a:srgbClr val="2A2A2A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(BasePipeline)</a:t>
            </a:r>
            <a:endParaRPr lang="en-US" sz="1500" dirty="0"/>
          </a:p>
        </p:txBody>
      </p:sp>
      <p:sp>
        <p:nvSpPr>
          <p:cNvPr id="51" name="Shape 42"/>
          <p:cNvSpPr/>
          <p:nvPr/>
        </p:nvSpPr>
        <p:spPr>
          <a:xfrm>
            <a:off x="838088" y="5067970"/>
            <a:ext cx="10515823" cy="693911"/>
          </a:xfrm>
          <a:prstGeom prst="roundRect">
            <a:avLst>
              <a:gd name="adj" fmla="val 8236"/>
            </a:avLst>
          </a:prstGeom>
          <a:solidFill>
            <a:srgbClr val="2A2A2A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2" name="Shape 43"/>
          <p:cNvSpPr/>
          <p:nvPr/>
        </p:nvSpPr>
        <p:spPr>
          <a:xfrm>
            <a:off x="1085701" y="5220333"/>
            <a:ext cx="1178533" cy="280913"/>
          </a:xfrm>
          <a:prstGeom prst="roundRect">
            <a:avLst>
              <a:gd name="adj" fmla="val 6781"/>
            </a:avLst>
          </a:prstGeom>
          <a:ln w="11906">
            <a:solidFill>
              <a:srgbClr val="BDD24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3" name="Text 44"/>
          <p:cNvSpPr/>
          <p:nvPr/>
        </p:nvSpPr>
        <p:spPr>
          <a:xfrm>
            <a:off x="1211907" y="5289389"/>
            <a:ext cx="1002320" cy="1809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BDD248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DOCUMENTATION</a:t>
            </a:r>
            <a:endParaRPr lang="en-US" sz="825" dirty="0"/>
          </a:p>
        </p:txBody>
      </p:sp>
      <p:sp>
        <p:nvSpPr>
          <p:cNvPr id="54" name="Text 45"/>
          <p:cNvSpPr/>
          <p:nvPr/>
        </p:nvSpPr>
        <p:spPr>
          <a:xfrm>
            <a:off x="2435572" y="5220333"/>
            <a:ext cx="8930848" cy="427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6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Une page </a:t>
            </a:r>
            <a:r>
              <a:rPr lang="en-US" sz="1050" b="1" dirty="0">
                <a:solidFill>
                  <a:srgbClr val="BDD248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Documentation </a:t>
            </a:r>
            <a:r>
              <a:rPr lang="en-US" sz="1050" dirty="0">
                <a:solidFill>
                  <a:srgbClr val="E6E9E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détaillée guide le développeur ML, pas à pas, pour </a:t>
            </a:r>
            <a:r>
              <a:rPr lang="en-US" sz="1050" b="1" dirty="0">
                <a:solidFill>
                  <a:srgbClr val="BDD248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ajouter </a:t>
            </a:r>
            <a:r>
              <a:rPr lang="en-US" sz="1050" dirty="0">
                <a:solidFill>
                  <a:srgbClr val="E6E9E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son propre use case ou son propre composant — hériter de </a:t>
            </a:r>
            <a:r>
              <a:rPr lang="en-US" sz="1050" b="1" dirty="0">
                <a:solidFill>
                  <a:srgbClr val="BDD248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BasePipeline</a:t>
            </a:r>
            <a:r>
              <a:rPr lang="en-US" sz="1050" dirty="0">
                <a:solidFill>
                  <a:srgbClr val="E6E9E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, </a:t>
            </a:r>
            <a:r>
              <a:rPr lang="en-US" sz="1050" b="1" dirty="0">
                <a:solidFill>
                  <a:srgbClr val="BDD248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register</a:t>
            </a:r>
            <a:r>
              <a:rPr lang="en-US" sz="1050" dirty="0">
                <a:solidFill>
                  <a:srgbClr val="E6E9E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, et hériter automatiquement de MLflow, monitoring, Docker et CI/CT.</a:t>
            </a:r>
            <a:endParaRPr lang="en-US" sz="1050" dirty="0"/>
          </a:p>
        </p:txBody>
      </p:sp>
      <p:sp>
        <p:nvSpPr>
          <p:cNvPr id="55" name="Text 46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Projet de Fin d'Études · Pipeline MLOps générique</a:t>
            </a:r>
            <a:endParaRPr lang="en-US" sz="975" dirty="0"/>
          </a:p>
        </p:txBody>
      </p:sp>
      <p:sp>
        <p:nvSpPr>
          <p:cNvPr id="58" name="Google Shape;88;p17">
            <a:extLst>
              <a:ext uri="{FF2B5EF4-FFF2-40B4-BE49-F238E27FC236}">
                <a16:creationId xmlns:a16="http://schemas.microsoft.com/office/drawing/2014/main" id="{F3CA4D69-165D-6555-4AC0-71CA07067463}"/>
              </a:ext>
            </a:extLst>
          </p:cNvPr>
          <p:cNvSpPr txBox="1">
            <a:spLocks/>
          </p:cNvSpPr>
          <p:nvPr/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fr" sz="1733" dirty="0">
                <a:latin typeface="Arial" panose="020B0604020202020204" pitchFamily="34" charset="0"/>
                <a:ea typeface="Nunito Black"/>
                <a:cs typeface="Arial" panose="020B0604020202020204" pitchFamily="34" charset="0"/>
                <a:sym typeface="Nunito Black"/>
              </a:rPr>
              <a:t>29</a:t>
            </a:r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ADB240B6-7ED7-3DE4-327E-4C1EC934353C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>
            <a:off x="10960274" y="156681"/>
            <a:ext cx="1041974" cy="62381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TN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277862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DÉMONSTRATION · ÉTAPE 1/3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11567406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000" b="1" kern="0" spc="-60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Créer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38088" y="1530139"/>
            <a:ext cx="657076" cy="280913"/>
          </a:xfrm>
          <a:prstGeom prst="roundRect">
            <a:avLst>
              <a:gd name="adj" fmla="val 16954"/>
            </a:avLst>
          </a:prstGeom>
          <a:solidFill>
            <a:srgbClr val="8FA82E"/>
          </a:solidFill>
          <a:ln w="11906">
            <a:solidFill>
              <a:srgbClr val="8FA82E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" name="Text 4"/>
          <p:cNvSpPr/>
          <p:nvPr/>
        </p:nvSpPr>
        <p:spPr>
          <a:xfrm>
            <a:off x="983345" y="1599195"/>
            <a:ext cx="442764" cy="1809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83" dirty="0">
                <a:solidFill>
                  <a:srgbClr val="FFFFFF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CRÉER</a:t>
            </a:r>
            <a:endParaRPr lang="en-US" sz="825" dirty="0"/>
          </a:p>
        </p:txBody>
      </p:sp>
      <p:sp>
        <p:nvSpPr>
          <p:cNvPr id="8" name="Shape 5"/>
          <p:cNvSpPr/>
          <p:nvPr/>
        </p:nvSpPr>
        <p:spPr>
          <a:xfrm>
            <a:off x="1580741" y="1613483"/>
            <a:ext cx="85576" cy="114226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9" name="Shape 6"/>
          <p:cNvSpPr/>
          <p:nvPr/>
        </p:nvSpPr>
        <p:spPr>
          <a:xfrm>
            <a:off x="1751893" y="1530139"/>
            <a:ext cx="876970" cy="280913"/>
          </a:xfrm>
          <a:prstGeom prst="roundRect">
            <a:avLst>
              <a:gd name="adj" fmla="val 16954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0" name="Text 7"/>
          <p:cNvSpPr/>
          <p:nvPr/>
        </p:nvSpPr>
        <p:spPr>
          <a:xfrm>
            <a:off x="1897149" y="1599195"/>
            <a:ext cx="662657" cy="1809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83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EXÉCUTER</a:t>
            </a:r>
            <a:endParaRPr lang="en-US" sz="825" dirty="0"/>
          </a:p>
        </p:txBody>
      </p:sp>
      <p:sp>
        <p:nvSpPr>
          <p:cNvPr id="11" name="Shape 8"/>
          <p:cNvSpPr/>
          <p:nvPr/>
        </p:nvSpPr>
        <p:spPr>
          <a:xfrm>
            <a:off x="2714439" y="1613483"/>
            <a:ext cx="85576" cy="11422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2" name="Shape 9"/>
          <p:cNvSpPr/>
          <p:nvPr/>
        </p:nvSpPr>
        <p:spPr>
          <a:xfrm>
            <a:off x="2885591" y="1530139"/>
            <a:ext cx="876970" cy="280913"/>
          </a:xfrm>
          <a:prstGeom prst="roundRect">
            <a:avLst>
              <a:gd name="adj" fmla="val 16954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3" name="Text 10"/>
          <p:cNvSpPr/>
          <p:nvPr/>
        </p:nvSpPr>
        <p:spPr>
          <a:xfrm>
            <a:off x="3030848" y="1599195"/>
            <a:ext cx="662657" cy="1809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83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OBSERVER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8498793" y="1581299"/>
            <a:ext cx="2855119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88" i="1" dirty="0">
                <a:solidFill>
                  <a:srgbClr val="525252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Uploader les documents, choisir la config</a:t>
            </a:r>
            <a:endParaRPr lang="en-US" sz="1088" dirty="0"/>
          </a:p>
        </p:txBody>
      </p:sp>
      <p:sp>
        <p:nvSpPr>
          <p:cNvPr id="15" name="Shape 12"/>
          <p:cNvSpPr/>
          <p:nvPr/>
        </p:nvSpPr>
        <p:spPr>
          <a:xfrm>
            <a:off x="838088" y="1925092"/>
            <a:ext cx="7563259" cy="4323457"/>
          </a:xfrm>
          <a:prstGeom prst="roundRect">
            <a:avLst>
              <a:gd name="adj" fmla="val 3525"/>
            </a:avLst>
          </a:prstGeom>
          <a:gradFill rotWithShape="1">
            <a:gsLst>
              <a:gs pos="0">
                <a:srgbClr val="FAFBF3">
                  <a:alpha val="100000"/>
                </a:srgbClr>
              </a:gs>
              <a:gs pos="100000">
                <a:srgbClr val="EEF1E2">
                  <a:alpha val="100000"/>
                </a:srgbClr>
              </a:gs>
            </a:gsLst>
            <a:lin ang="4200000" scaled="0"/>
          </a:gradFill>
          <a:ln w="11906">
            <a:solidFill>
              <a:srgbClr val="BDD248"/>
            </a:solidFill>
            <a:prstDash val="solid"/>
          </a:ln>
          <a:effectLst>
            <a:outerShdw blurRad="76200" dist="19050" dir="5400000" algn="bl" rotWithShape="0">
              <a:srgbClr val="2A2A2A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6" name="Text 13"/>
          <p:cNvSpPr/>
          <p:nvPr/>
        </p:nvSpPr>
        <p:spPr>
          <a:xfrm>
            <a:off x="7951329" y="2089361"/>
            <a:ext cx="342974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kern="0" spc="75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16:9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286250" y="3439232"/>
            <a:ext cx="666750" cy="666750"/>
          </a:xfrm>
          <a:prstGeom prst="ellipse">
            <a:avLst/>
          </a:prstGeom>
          <a:solidFill>
            <a:srgbClr val="8FA82E"/>
          </a:solidFill>
          <a:ln/>
          <a:effectLst>
            <a:outerShdw blurRad="190500" dist="76200" dir="5400000" algn="bl" rotWithShape="0">
              <a:srgbClr val="8FA82E">
                <a:alpha val="4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8" name="Shape 15"/>
          <p:cNvSpPr/>
          <p:nvPr/>
        </p:nvSpPr>
        <p:spPr>
          <a:xfrm>
            <a:off x="4534979" y="3629732"/>
            <a:ext cx="226219" cy="2857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9" name="Text 16"/>
          <p:cNvSpPr/>
          <p:nvPr/>
        </p:nvSpPr>
        <p:spPr>
          <a:xfrm>
            <a:off x="3549365" y="4229695"/>
            <a:ext cx="2354573" cy="2762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Vidéo de la démo — Créer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3651498" y="4591534"/>
            <a:ext cx="21298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Glisser-déposer la vidéo ici</a:t>
            </a:r>
            <a:endParaRPr lang="en-US" sz="825" dirty="0"/>
          </a:p>
        </p:txBody>
      </p:sp>
      <p:sp>
        <p:nvSpPr>
          <p:cNvPr id="21" name="Shape 18"/>
          <p:cNvSpPr/>
          <p:nvPr/>
        </p:nvSpPr>
        <p:spPr>
          <a:xfrm>
            <a:off x="8610823" y="1925092"/>
            <a:ext cx="2743088" cy="4323457"/>
          </a:xfrm>
          <a:prstGeom prst="roundRect">
            <a:avLst>
              <a:gd name="adj" fmla="val 4861"/>
            </a:avLst>
          </a:prstGeom>
          <a:solidFill>
            <a:srgbClr val="2A2A2A"/>
          </a:solidFill>
          <a:ln/>
          <a:effectLst>
            <a:outerShdw blurRad="76200" dist="19050" dir="5400000" algn="bl" rotWithShape="0">
              <a:srgbClr val="2A2A2A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2" name="Text 19"/>
          <p:cNvSpPr/>
          <p:nvPr/>
        </p:nvSpPr>
        <p:spPr>
          <a:xfrm>
            <a:off x="8820299" y="2134567"/>
            <a:ext cx="243446" cy="190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0" spc="116" dirty="0">
                <a:solidFill>
                  <a:srgbClr val="BDD248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👁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073121" y="2139218"/>
            <a:ext cx="85159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BDD248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À REGARDER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8716953" y="2458269"/>
            <a:ext cx="2503683" cy="7753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63" b="1" dirty="0">
                <a:solidFill>
                  <a:srgbClr val="E6E9E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Choix du use case + de la config YAML</a:t>
            </a:r>
            <a:endParaRPr lang="en-US" sz="1163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163" b="1" dirty="0">
                <a:solidFill>
                  <a:srgbClr val="E6E9E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Zéro ligne de code</a:t>
            </a:r>
            <a:endParaRPr lang="en-US" sz="1163" dirty="0"/>
          </a:p>
        </p:txBody>
      </p:sp>
      <p:sp>
        <p:nvSpPr>
          <p:cNvPr id="25" name="Text 22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Projet de Fin d'Études · Pipeline MLOps générique</a:t>
            </a:r>
            <a:endParaRPr lang="en-US" sz="975" dirty="0"/>
          </a:p>
        </p:txBody>
      </p:sp>
      <p:sp>
        <p:nvSpPr>
          <p:cNvPr id="28" name="Google Shape;88;p17">
            <a:extLst>
              <a:ext uri="{FF2B5EF4-FFF2-40B4-BE49-F238E27FC236}">
                <a16:creationId xmlns:a16="http://schemas.microsoft.com/office/drawing/2014/main" id="{51F2944F-3FEC-4398-DDC6-D6AB23ADB2C8}"/>
              </a:ext>
            </a:extLst>
          </p:cNvPr>
          <p:cNvSpPr txBox="1">
            <a:spLocks/>
          </p:cNvSpPr>
          <p:nvPr/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fr" sz="1733" dirty="0">
                <a:latin typeface="Arial" panose="020B0604020202020204" pitchFamily="34" charset="0"/>
                <a:ea typeface="Nunito Black"/>
                <a:cs typeface="Arial" panose="020B0604020202020204" pitchFamily="34" charset="0"/>
                <a:sym typeface="Nunito Black"/>
              </a:rPr>
              <a:t>30</a:t>
            </a:r>
          </a:p>
        </p:txBody>
      </p:sp>
      <p:pic>
        <p:nvPicPr>
          <p:cNvPr id="29" name="Image 4" descr="preencoded.png">
            <a:extLst>
              <a:ext uri="{FF2B5EF4-FFF2-40B4-BE49-F238E27FC236}">
                <a16:creationId xmlns:a16="http://schemas.microsoft.com/office/drawing/2014/main" id="{3786DFB8-3880-9705-20CB-E894B3E1E74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0960274" y="156681"/>
            <a:ext cx="1041974" cy="62381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T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27989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DÉMONSTRATION · ÉTAPE 2/3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11567406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000" b="1" kern="0" spc="-60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Exécuter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38088" y="1530139"/>
            <a:ext cx="657076" cy="280913"/>
          </a:xfrm>
          <a:prstGeom prst="roundRect">
            <a:avLst>
              <a:gd name="adj" fmla="val 16954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" name="Text 4"/>
          <p:cNvSpPr/>
          <p:nvPr/>
        </p:nvSpPr>
        <p:spPr>
          <a:xfrm>
            <a:off x="983345" y="1599195"/>
            <a:ext cx="442764" cy="1809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83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CRÉER</a:t>
            </a:r>
            <a:endParaRPr lang="en-US" sz="825" dirty="0"/>
          </a:p>
        </p:txBody>
      </p:sp>
      <p:sp>
        <p:nvSpPr>
          <p:cNvPr id="8" name="Shape 5"/>
          <p:cNvSpPr/>
          <p:nvPr/>
        </p:nvSpPr>
        <p:spPr>
          <a:xfrm>
            <a:off x="1580741" y="1613483"/>
            <a:ext cx="85576" cy="114226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9" name="Shape 6"/>
          <p:cNvSpPr/>
          <p:nvPr/>
        </p:nvSpPr>
        <p:spPr>
          <a:xfrm>
            <a:off x="1751893" y="1530139"/>
            <a:ext cx="876970" cy="280913"/>
          </a:xfrm>
          <a:prstGeom prst="roundRect">
            <a:avLst>
              <a:gd name="adj" fmla="val 16954"/>
            </a:avLst>
          </a:prstGeom>
          <a:solidFill>
            <a:srgbClr val="8FA82E"/>
          </a:solidFill>
          <a:ln w="11906">
            <a:solidFill>
              <a:srgbClr val="8FA82E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0" name="Text 7"/>
          <p:cNvSpPr/>
          <p:nvPr/>
        </p:nvSpPr>
        <p:spPr>
          <a:xfrm>
            <a:off x="1897149" y="1599195"/>
            <a:ext cx="662657" cy="1809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83" dirty="0">
                <a:solidFill>
                  <a:srgbClr val="FFFFFF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EXÉCUTER</a:t>
            </a:r>
            <a:endParaRPr lang="en-US" sz="825" dirty="0"/>
          </a:p>
        </p:txBody>
      </p:sp>
      <p:sp>
        <p:nvSpPr>
          <p:cNvPr id="11" name="Shape 8"/>
          <p:cNvSpPr/>
          <p:nvPr/>
        </p:nvSpPr>
        <p:spPr>
          <a:xfrm>
            <a:off x="2714439" y="1613483"/>
            <a:ext cx="85576" cy="114226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2" name="Shape 9"/>
          <p:cNvSpPr/>
          <p:nvPr/>
        </p:nvSpPr>
        <p:spPr>
          <a:xfrm>
            <a:off x="2885591" y="1530139"/>
            <a:ext cx="876970" cy="280913"/>
          </a:xfrm>
          <a:prstGeom prst="roundRect">
            <a:avLst>
              <a:gd name="adj" fmla="val 16954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3" name="Text 10"/>
          <p:cNvSpPr/>
          <p:nvPr/>
        </p:nvSpPr>
        <p:spPr>
          <a:xfrm>
            <a:off x="3030848" y="1599195"/>
            <a:ext cx="662657" cy="1809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83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OBSERVER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8831740" y="1581299"/>
            <a:ext cx="2522172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88" i="1" dirty="0">
                <a:solidFill>
                  <a:srgbClr val="525252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Lancer la pipeline, suivre le DAG live</a:t>
            </a:r>
            <a:endParaRPr lang="en-US" sz="1088" dirty="0"/>
          </a:p>
        </p:txBody>
      </p:sp>
      <p:sp>
        <p:nvSpPr>
          <p:cNvPr id="15" name="Shape 12"/>
          <p:cNvSpPr/>
          <p:nvPr/>
        </p:nvSpPr>
        <p:spPr>
          <a:xfrm>
            <a:off x="838088" y="1925092"/>
            <a:ext cx="7563259" cy="4323457"/>
          </a:xfrm>
          <a:prstGeom prst="roundRect">
            <a:avLst>
              <a:gd name="adj" fmla="val 3525"/>
            </a:avLst>
          </a:prstGeom>
          <a:gradFill rotWithShape="1">
            <a:gsLst>
              <a:gs pos="0">
                <a:srgbClr val="FAFBF3">
                  <a:alpha val="100000"/>
                </a:srgbClr>
              </a:gs>
              <a:gs pos="100000">
                <a:srgbClr val="EEF1E2">
                  <a:alpha val="100000"/>
                </a:srgbClr>
              </a:gs>
            </a:gsLst>
            <a:lin ang="4200000" scaled="0"/>
          </a:gradFill>
          <a:ln w="11906">
            <a:solidFill>
              <a:srgbClr val="BDD248"/>
            </a:solidFill>
            <a:prstDash val="solid"/>
          </a:ln>
          <a:effectLst>
            <a:outerShdw blurRad="76200" dist="19050" dir="5400000" algn="bl" rotWithShape="0">
              <a:srgbClr val="2A2A2A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6" name="Text 13"/>
          <p:cNvSpPr/>
          <p:nvPr/>
        </p:nvSpPr>
        <p:spPr>
          <a:xfrm>
            <a:off x="7951329" y="2089361"/>
            <a:ext cx="342974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kern="0" spc="75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16:9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286250" y="3439232"/>
            <a:ext cx="666750" cy="666750"/>
          </a:xfrm>
          <a:prstGeom prst="ellipse">
            <a:avLst/>
          </a:prstGeom>
          <a:solidFill>
            <a:srgbClr val="8FA82E"/>
          </a:solidFill>
          <a:ln/>
          <a:effectLst>
            <a:outerShdw blurRad="190500" dist="76200" dir="5400000" algn="bl" rotWithShape="0">
              <a:srgbClr val="8FA82E">
                <a:alpha val="4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8" name="Shape 15"/>
          <p:cNvSpPr/>
          <p:nvPr/>
        </p:nvSpPr>
        <p:spPr>
          <a:xfrm>
            <a:off x="4534979" y="3629732"/>
            <a:ext cx="226219" cy="2857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9" name="Text 16"/>
          <p:cNvSpPr/>
          <p:nvPr/>
        </p:nvSpPr>
        <p:spPr>
          <a:xfrm>
            <a:off x="3428628" y="4229695"/>
            <a:ext cx="2620398" cy="2762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Vidéo de la démo — Exécuter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3651498" y="4591534"/>
            <a:ext cx="21298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Glisser-déposer la vidéo ici</a:t>
            </a:r>
            <a:endParaRPr lang="en-US" sz="825" dirty="0"/>
          </a:p>
        </p:txBody>
      </p:sp>
      <p:sp>
        <p:nvSpPr>
          <p:cNvPr id="21" name="Shape 18"/>
          <p:cNvSpPr/>
          <p:nvPr/>
        </p:nvSpPr>
        <p:spPr>
          <a:xfrm>
            <a:off x="8610823" y="1925092"/>
            <a:ext cx="2743088" cy="4323457"/>
          </a:xfrm>
          <a:prstGeom prst="roundRect">
            <a:avLst>
              <a:gd name="adj" fmla="val 4861"/>
            </a:avLst>
          </a:prstGeom>
          <a:solidFill>
            <a:srgbClr val="2A2A2A"/>
          </a:solidFill>
          <a:ln/>
          <a:effectLst>
            <a:outerShdw blurRad="76200" dist="19050" dir="5400000" algn="bl" rotWithShape="0">
              <a:srgbClr val="2A2A2A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2" name="Text 19"/>
          <p:cNvSpPr/>
          <p:nvPr/>
        </p:nvSpPr>
        <p:spPr>
          <a:xfrm>
            <a:off x="8820299" y="2134567"/>
            <a:ext cx="243446" cy="190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0" spc="116" dirty="0">
                <a:solidFill>
                  <a:srgbClr val="BDD248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👁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073121" y="2139218"/>
            <a:ext cx="85159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BDD248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À REGARDER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8716953" y="2458269"/>
            <a:ext cx="2503683" cy="7753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63" b="1" dirty="0">
                <a:solidFill>
                  <a:srgbClr val="E6E9E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Les 5 phases s'enchaînent en direct</a:t>
            </a:r>
            <a:endParaRPr lang="en-US" sz="1163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163" b="1" dirty="0">
                <a:solidFill>
                  <a:srgbClr val="E6E9E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Le quality gate</a:t>
            </a:r>
            <a:endParaRPr lang="en-US" sz="1163" dirty="0"/>
          </a:p>
        </p:txBody>
      </p:sp>
      <p:sp>
        <p:nvSpPr>
          <p:cNvPr id="25" name="Text 22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Projet de Fin d'Études · Pipeline MLOps générique</a:t>
            </a:r>
            <a:endParaRPr lang="en-US" sz="975" dirty="0"/>
          </a:p>
        </p:txBody>
      </p:sp>
      <p:sp>
        <p:nvSpPr>
          <p:cNvPr id="28" name="Google Shape;88;p17">
            <a:extLst>
              <a:ext uri="{FF2B5EF4-FFF2-40B4-BE49-F238E27FC236}">
                <a16:creationId xmlns:a16="http://schemas.microsoft.com/office/drawing/2014/main" id="{7E765F1D-D5DE-8083-D185-BEC2E8750EF9}"/>
              </a:ext>
            </a:extLst>
          </p:cNvPr>
          <p:cNvSpPr txBox="1">
            <a:spLocks/>
          </p:cNvSpPr>
          <p:nvPr/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fr" sz="1733" dirty="0">
                <a:latin typeface="Arial" panose="020B0604020202020204" pitchFamily="34" charset="0"/>
                <a:ea typeface="Nunito Black"/>
                <a:cs typeface="Arial" panose="020B0604020202020204" pitchFamily="34" charset="0"/>
                <a:sym typeface="Nunito Black"/>
              </a:rPr>
              <a:t>31</a:t>
            </a:r>
          </a:p>
        </p:txBody>
      </p:sp>
      <p:pic>
        <p:nvPicPr>
          <p:cNvPr id="29" name="Image 4" descr="preencoded.png">
            <a:extLst>
              <a:ext uri="{FF2B5EF4-FFF2-40B4-BE49-F238E27FC236}">
                <a16:creationId xmlns:a16="http://schemas.microsoft.com/office/drawing/2014/main" id="{057DC090-F4F6-EE4B-7A09-5EDC9BD5C46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0960274" y="156681"/>
            <a:ext cx="1041974" cy="62381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TN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279204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DÉMONSTRATION · ÉTAPE 3/3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11567406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000" b="1" kern="0" spc="-60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Observer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38088" y="1530139"/>
            <a:ext cx="657076" cy="280913"/>
          </a:xfrm>
          <a:prstGeom prst="roundRect">
            <a:avLst>
              <a:gd name="adj" fmla="val 16954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" name="Text 4"/>
          <p:cNvSpPr/>
          <p:nvPr/>
        </p:nvSpPr>
        <p:spPr>
          <a:xfrm>
            <a:off x="983345" y="1599195"/>
            <a:ext cx="442764" cy="1809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83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CRÉER</a:t>
            </a:r>
            <a:endParaRPr lang="en-US" sz="825" dirty="0"/>
          </a:p>
        </p:txBody>
      </p:sp>
      <p:sp>
        <p:nvSpPr>
          <p:cNvPr id="8" name="Shape 5"/>
          <p:cNvSpPr/>
          <p:nvPr/>
        </p:nvSpPr>
        <p:spPr>
          <a:xfrm>
            <a:off x="1580741" y="1613483"/>
            <a:ext cx="85576" cy="11422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9" name="Shape 6"/>
          <p:cNvSpPr/>
          <p:nvPr/>
        </p:nvSpPr>
        <p:spPr>
          <a:xfrm>
            <a:off x="1751893" y="1530139"/>
            <a:ext cx="876970" cy="280913"/>
          </a:xfrm>
          <a:prstGeom prst="roundRect">
            <a:avLst>
              <a:gd name="adj" fmla="val 16954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0" name="Text 7"/>
          <p:cNvSpPr/>
          <p:nvPr/>
        </p:nvSpPr>
        <p:spPr>
          <a:xfrm>
            <a:off x="1897149" y="1599195"/>
            <a:ext cx="662657" cy="1809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83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EXÉCUTER</a:t>
            </a:r>
            <a:endParaRPr lang="en-US" sz="825" dirty="0"/>
          </a:p>
        </p:txBody>
      </p:sp>
      <p:sp>
        <p:nvSpPr>
          <p:cNvPr id="11" name="Shape 8"/>
          <p:cNvSpPr/>
          <p:nvPr/>
        </p:nvSpPr>
        <p:spPr>
          <a:xfrm>
            <a:off x="2714439" y="1613483"/>
            <a:ext cx="85576" cy="114226"/>
          </a:xfrm>
          <a:prstGeom prst="rect">
            <a:avLst/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2" name="Shape 9"/>
          <p:cNvSpPr/>
          <p:nvPr/>
        </p:nvSpPr>
        <p:spPr>
          <a:xfrm>
            <a:off x="2885591" y="1530139"/>
            <a:ext cx="876970" cy="280913"/>
          </a:xfrm>
          <a:prstGeom prst="roundRect">
            <a:avLst>
              <a:gd name="adj" fmla="val 16954"/>
            </a:avLst>
          </a:prstGeom>
          <a:solidFill>
            <a:srgbClr val="8FA82E"/>
          </a:solidFill>
          <a:ln w="11906">
            <a:solidFill>
              <a:srgbClr val="8FA82E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3" name="Text 10"/>
          <p:cNvSpPr/>
          <p:nvPr/>
        </p:nvSpPr>
        <p:spPr>
          <a:xfrm>
            <a:off x="3030848" y="1599195"/>
            <a:ext cx="662657" cy="1809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83" dirty="0">
                <a:solidFill>
                  <a:srgbClr val="FFFFFF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OBSERVER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7707864" y="1581299"/>
            <a:ext cx="3646047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88" i="1" dirty="0">
                <a:solidFill>
                  <a:srgbClr val="525252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Métriques RAGAS, runs MLflow, dashboard Grafana</a:t>
            </a:r>
            <a:endParaRPr lang="en-US" sz="1088" dirty="0"/>
          </a:p>
        </p:txBody>
      </p:sp>
      <p:sp>
        <p:nvSpPr>
          <p:cNvPr id="15" name="Shape 12"/>
          <p:cNvSpPr/>
          <p:nvPr/>
        </p:nvSpPr>
        <p:spPr>
          <a:xfrm>
            <a:off x="838088" y="1925092"/>
            <a:ext cx="7563259" cy="3757166"/>
          </a:xfrm>
          <a:prstGeom prst="roundRect">
            <a:avLst>
              <a:gd name="adj" fmla="val 4056"/>
            </a:avLst>
          </a:prstGeom>
          <a:gradFill rotWithShape="1">
            <a:gsLst>
              <a:gs pos="0">
                <a:srgbClr val="FAFBF3">
                  <a:alpha val="100000"/>
                </a:srgbClr>
              </a:gs>
              <a:gs pos="100000">
                <a:srgbClr val="EEF1E2">
                  <a:alpha val="100000"/>
                </a:srgbClr>
              </a:gs>
            </a:gsLst>
            <a:lin ang="4200000" scaled="0"/>
          </a:gradFill>
          <a:ln w="11906">
            <a:solidFill>
              <a:srgbClr val="BDD248"/>
            </a:solidFill>
            <a:prstDash val="solid"/>
          </a:ln>
          <a:effectLst>
            <a:outerShdw blurRad="76200" dist="19050" dir="5400000" algn="bl" rotWithShape="0">
              <a:srgbClr val="2A2A2A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6" name="Text 13"/>
          <p:cNvSpPr/>
          <p:nvPr/>
        </p:nvSpPr>
        <p:spPr>
          <a:xfrm>
            <a:off x="7951329" y="2089361"/>
            <a:ext cx="342974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kern="0" spc="75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16:9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286250" y="3156086"/>
            <a:ext cx="666750" cy="666750"/>
          </a:xfrm>
          <a:prstGeom prst="ellipse">
            <a:avLst/>
          </a:prstGeom>
          <a:solidFill>
            <a:srgbClr val="8FA82E"/>
          </a:solidFill>
          <a:ln/>
          <a:effectLst>
            <a:outerShdw blurRad="190500" dist="76200" dir="5400000" algn="bl" rotWithShape="0">
              <a:srgbClr val="8FA82E">
                <a:alpha val="4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8" name="Shape 15"/>
          <p:cNvSpPr/>
          <p:nvPr/>
        </p:nvSpPr>
        <p:spPr>
          <a:xfrm>
            <a:off x="4534979" y="3346586"/>
            <a:ext cx="226219" cy="2857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9" name="Text 16"/>
          <p:cNvSpPr/>
          <p:nvPr/>
        </p:nvSpPr>
        <p:spPr>
          <a:xfrm>
            <a:off x="3399420" y="3946550"/>
            <a:ext cx="2684655" cy="2762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Vidéo de la démo — Observer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3651498" y="4308388"/>
            <a:ext cx="21298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Glisser-déposer la vidéo ici</a:t>
            </a:r>
            <a:endParaRPr lang="en-US" sz="825" dirty="0"/>
          </a:p>
        </p:txBody>
      </p:sp>
      <p:sp>
        <p:nvSpPr>
          <p:cNvPr id="21" name="Shape 18"/>
          <p:cNvSpPr/>
          <p:nvPr/>
        </p:nvSpPr>
        <p:spPr>
          <a:xfrm>
            <a:off x="8610823" y="1925092"/>
            <a:ext cx="2743088" cy="3757166"/>
          </a:xfrm>
          <a:prstGeom prst="roundRect">
            <a:avLst>
              <a:gd name="adj" fmla="val 4861"/>
            </a:avLst>
          </a:prstGeom>
          <a:solidFill>
            <a:srgbClr val="2A2A2A"/>
          </a:solidFill>
          <a:ln/>
          <a:effectLst>
            <a:outerShdw blurRad="76200" dist="19050" dir="5400000" algn="bl" rotWithShape="0">
              <a:srgbClr val="2A2A2A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2" name="Text 19"/>
          <p:cNvSpPr/>
          <p:nvPr/>
        </p:nvSpPr>
        <p:spPr>
          <a:xfrm>
            <a:off x="8820299" y="2134567"/>
            <a:ext cx="243446" cy="190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0" spc="116" dirty="0">
                <a:solidFill>
                  <a:srgbClr val="BDD248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👁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073121" y="2139218"/>
            <a:ext cx="85159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BDD248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À REGARDER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8716953" y="2458269"/>
            <a:ext cx="2503683" cy="580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63" b="1" dirty="0">
                <a:solidFill>
                  <a:srgbClr val="E6E9E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Faithfulness &amp; latences</a:t>
            </a:r>
            <a:endParaRPr lang="en-US" sz="1163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163" b="1" dirty="0">
                <a:solidFill>
                  <a:srgbClr val="E6E9E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Le run rejouable</a:t>
            </a:r>
            <a:endParaRPr lang="en-US" sz="1163" dirty="0"/>
          </a:p>
        </p:txBody>
      </p:sp>
      <p:sp>
        <p:nvSpPr>
          <p:cNvPr id="25" name="Shape 22"/>
          <p:cNvSpPr/>
          <p:nvPr/>
        </p:nvSpPr>
        <p:spPr>
          <a:xfrm>
            <a:off x="838088" y="5815459"/>
            <a:ext cx="10515823" cy="433090"/>
          </a:xfrm>
          <a:prstGeom prst="roundRect">
            <a:avLst>
              <a:gd name="adj" fmla="val 6598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6" name="Shape 23"/>
          <p:cNvSpPr/>
          <p:nvPr/>
        </p:nvSpPr>
        <p:spPr>
          <a:xfrm>
            <a:off x="838088" y="6236643"/>
            <a:ext cx="10515823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7" name="Shape 24"/>
          <p:cNvSpPr/>
          <p:nvPr/>
        </p:nvSpPr>
        <p:spPr>
          <a:xfrm>
            <a:off x="838088" y="5815459"/>
            <a:ext cx="10515823" cy="1190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8" name="Shape 25"/>
          <p:cNvSpPr/>
          <p:nvPr/>
        </p:nvSpPr>
        <p:spPr>
          <a:xfrm>
            <a:off x="838088" y="5815459"/>
            <a:ext cx="23813" cy="433090"/>
          </a:xfrm>
          <a:prstGeom prst="rect">
            <a:avLst/>
          </a:prstGeom>
          <a:solidFill>
            <a:srgbClr val="909090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9" name="Shape 26"/>
          <p:cNvSpPr/>
          <p:nvPr/>
        </p:nvSpPr>
        <p:spPr>
          <a:xfrm>
            <a:off x="11342005" y="5815459"/>
            <a:ext cx="11906" cy="433090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0" name="Shape 27"/>
          <p:cNvSpPr/>
          <p:nvPr/>
        </p:nvSpPr>
        <p:spPr>
          <a:xfrm>
            <a:off x="1033239" y="5932103"/>
            <a:ext cx="435136" cy="199802"/>
          </a:xfrm>
          <a:prstGeom prst="roundRect">
            <a:avLst>
              <a:gd name="adj" fmla="val 9534"/>
            </a:avLst>
          </a:prstGeom>
          <a:solidFill>
            <a:srgbClr val="F0F0F0"/>
          </a:solidFill>
          <a:ln w="11906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1" name="Text 28"/>
          <p:cNvSpPr/>
          <p:nvPr/>
        </p:nvSpPr>
        <p:spPr>
          <a:xfrm>
            <a:off x="1121346" y="5972584"/>
            <a:ext cx="335124" cy="15693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kern="0" spc="60" dirty="0">
                <a:solidFill>
                  <a:srgbClr val="909090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NOTE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1601577" y="5932103"/>
            <a:ext cx="8638822" cy="21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i="1" dirty="0">
                <a:solidFill>
                  <a:srgbClr val="909090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L’output (runs MLflow, métriques, monitoring) est déjà détaillé dans les slides précédentes — la démo montre le </a:t>
            </a:r>
            <a:r>
              <a:rPr lang="en-US" sz="975" b="1" dirty="0">
                <a:solidFill>
                  <a:srgbClr val="3F3F3F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parcours de bout en bout</a:t>
            </a:r>
            <a:r>
              <a:rPr lang="en-US" sz="975" i="1" dirty="0">
                <a:solidFill>
                  <a:srgbClr val="909090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.</a:t>
            </a:r>
            <a:endParaRPr lang="en-US" sz="975" dirty="0"/>
          </a:p>
        </p:txBody>
      </p:sp>
      <p:sp>
        <p:nvSpPr>
          <p:cNvPr id="33" name="Text 30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Projet de Fin d'Études · Pipeline MLOps générique</a:t>
            </a:r>
            <a:endParaRPr lang="en-US" sz="975" dirty="0"/>
          </a:p>
        </p:txBody>
      </p:sp>
      <p:sp>
        <p:nvSpPr>
          <p:cNvPr id="35" name="Text 31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endParaRPr lang="en-US" sz="975" dirty="0"/>
          </a:p>
        </p:txBody>
      </p:sp>
      <p:sp>
        <p:nvSpPr>
          <p:cNvPr id="36" name="Google Shape;88;p17">
            <a:extLst>
              <a:ext uri="{FF2B5EF4-FFF2-40B4-BE49-F238E27FC236}">
                <a16:creationId xmlns:a16="http://schemas.microsoft.com/office/drawing/2014/main" id="{406FF752-C65C-42CB-7335-216D782A21EA}"/>
              </a:ext>
            </a:extLst>
          </p:cNvPr>
          <p:cNvSpPr txBox="1">
            <a:spLocks/>
          </p:cNvSpPr>
          <p:nvPr/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fr" sz="1733" dirty="0">
                <a:latin typeface="Arial" panose="020B0604020202020204" pitchFamily="34" charset="0"/>
                <a:ea typeface="Nunito Black"/>
                <a:cs typeface="Arial" panose="020B0604020202020204" pitchFamily="34" charset="0"/>
                <a:sym typeface="Nunito Black"/>
              </a:rPr>
              <a:t>32</a:t>
            </a:r>
          </a:p>
        </p:txBody>
      </p:sp>
      <p:pic>
        <p:nvPicPr>
          <p:cNvPr id="37" name="Image 4" descr="preencoded.png">
            <a:extLst>
              <a:ext uri="{FF2B5EF4-FFF2-40B4-BE49-F238E27FC236}">
                <a16:creationId xmlns:a16="http://schemas.microsoft.com/office/drawing/2014/main" id="{4DEAC39D-4965-A166-B56A-3A0462C1758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0960274" y="156681"/>
            <a:ext cx="1041974" cy="623814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fr-T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1286173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8FA82E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CONCLUSION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11567406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000" b="1" kern="0" spc="-60" dirty="0">
                <a:solidFill>
                  <a:srgbClr val="FFFFF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Bilan et </a:t>
            </a:r>
            <a:r>
              <a:rPr lang="en-US" sz="3000" b="1" kern="0" spc="-60" dirty="0">
                <a:solidFill>
                  <a:srgbClr val="BDD248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perspectives</a:t>
            </a:r>
            <a:endParaRPr lang="en-US" sz="3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8" y="1634877"/>
            <a:ext cx="104738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8402" y="1634877"/>
            <a:ext cx="209207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16" dirty="0">
                <a:solidFill>
                  <a:srgbClr val="BDD248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BILAN · CE QUI A ÉTÉ LIVRÉ</a:t>
            </a:r>
            <a:endParaRPr lang="en-US" sz="825" dirty="0"/>
          </a:p>
        </p:txBody>
      </p:sp>
      <p:sp>
        <p:nvSpPr>
          <p:cNvPr id="8" name="Shape 4"/>
          <p:cNvSpPr/>
          <p:nvPr/>
        </p:nvSpPr>
        <p:spPr>
          <a:xfrm>
            <a:off x="838088" y="1920627"/>
            <a:ext cx="1494979" cy="276076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1906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9" name="Text 5"/>
          <p:cNvSpPr/>
          <p:nvPr/>
        </p:nvSpPr>
        <p:spPr>
          <a:xfrm>
            <a:off x="983345" y="1999208"/>
            <a:ext cx="1280666" cy="157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8" dirty="0">
                <a:solidFill>
                  <a:srgbClr val="E6E9EF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Socle générique</a:t>
            </a:r>
            <a:endParaRPr lang="en-US" sz="938" dirty="0"/>
          </a:p>
        </p:txBody>
      </p:sp>
      <p:sp>
        <p:nvSpPr>
          <p:cNvPr id="10" name="Shape 6"/>
          <p:cNvSpPr/>
          <p:nvPr/>
        </p:nvSpPr>
        <p:spPr>
          <a:xfrm>
            <a:off x="2418643" y="1920627"/>
            <a:ext cx="1209229" cy="276076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1906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1" name="Text 7"/>
          <p:cNvSpPr/>
          <p:nvPr/>
        </p:nvSpPr>
        <p:spPr>
          <a:xfrm>
            <a:off x="2563899" y="1999208"/>
            <a:ext cx="994916" cy="157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8" dirty="0">
                <a:solidFill>
                  <a:srgbClr val="E6E9EF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RAG complet</a:t>
            </a:r>
            <a:endParaRPr lang="en-US" sz="938" dirty="0"/>
          </a:p>
        </p:txBody>
      </p:sp>
      <p:sp>
        <p:nvSpPr>
          <p:cNvPr id="12" name="Shape 8"/>
          <p:cNvSpPr/>
          <p:nvPr/>
        </p:nvSpPr>
        <p:spPr>
          <a:xfrm>
            <a:off x="3713448" y="1920627"/>
            <a:ext cx="1494979" cy="276076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1906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3" name="Text 9"/>
          <p:cNvSpPr/>
          <p:nvPr/>
        </p:nvSpPr>
        <p:spPr>
          <a:xfrm>
            <a:off x="3858704" y="1999208"/>
            <a:ext cx="1280666" cy="157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8" dirty="0">
                <a:solidFill>
                  <a:srgbClr val="E6E9EF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Tracking MLflow</a:t>
            </a:r>
            <a:endParaRPr lang="en-US" sz="938" dirty="0"/>
          </a:p>
        </p:txBody>
      </p:sp>
      <p:sp>
        <p:nvSpPr>
          <p:cNvPr id="14" name="Shape 10"/>
          <p:cNvSpPr/>
          <p:nvPr/>
        </p:nvSpPr>
        <p:spPr>
          <a:xfrm>
            <a:off x="838088" y="2282279"/>
            <a:ext cx="1137791" cy="276076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1906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5" name="Text 11"/>
          <p:cNvSpPr/>
          <p:nvPr/>
        </p:nvSpPr>
        <p:spPr>
          <a:xfrm>
            <a:off x="983345" y="2360861"/>
            <a:ext cx="923479" cy="157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8" dirty="0">
                <a:solidFill>
                  <a:srgbClr val="E6E9EF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Monitoring</a:t>
            </a:r>
            <a:endParaRPr lang="en-US" sz="938" dirty="0"/>
          </a:p>
        </p:txBody>
      </p:sp>
      <p:sp>
        <p:nvSpPr>
          <p:cNvPr id="16" name="Shape 12"/>
          <p:cNvSpPr/>
          <p:nvPr/>
        </p:nvSpPr>
        <p:spPr>
          <a:xfrm>
            <a:off x="2061456" y="2282279"/>
            <a:ext cx="1566416" cy="276076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1906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" name="Text 13"/>
          <p:cNvSpPr/>
          <p:nvPr/>
        </p:nvSpPr>
        <p:spPr>
          <a:xfrm>
            <a:off x="2206712" y="2360861"/>
            <a:ext cx="1352104" cy="157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8" dirty="0">
                <a:solidFill>
                  <a:srgbClr val="E6E9EF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Conteneurisation</a:t>
            </a:r>
            <a:endParaRPr lang="en-US" sz="938" dirty="0"/>
          </a:p>
        </p:txBody>
      </p:sp>
      <p:sp>
        <p:nvSpPr>
          <p:cNvPr id="18" name="Shape 14"/>
          <p:cNvSpPr/>
          <p:nvPr/>
        </p:nvSpPr>
        <p:spPr>
          <a:xfrm>
            <a:off x="3713448" y="2282279"/>
            <a:ext cx="1566416" cy="276076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1906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9" name="Text 15"/>
          <p:cNvSpPr/>
          <p:nvPr/>
        </p:nvSpPr>
        <p:spPr>
          <a:xfrm>
            <a:off x="3858704" y="2360861"/>
            <a:ext cx="1352104" cy="157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8" dirty="0">
                <a:solidFill>
                  <a:srgbClr val="E6E9EF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CI/CT automatisé</a:t>
            </a:r>
            <a:endParaRPr lang="en-US" sz="938" dirty="0"/>
          </a:p>
        </p:txBody>
      </p:sp>
      <p:sp>
        <p:nvSpPr>
          <p:cNvPr id="20" name="Shape 16"/>
          <p:cNvSpPr/>
          <p:nvPr/>
        </p:nvSpPr>
        <p:spPr>
          <a:xfrm>
            <a:off x="838088" y="2643932"/>
            <a:ext cx="1280666" cy="276076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1906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1" name="Text 17"/>
          <p:cNvSpPr/>
          <p:nvPr/>
        </p:nvSpPr>
        <p:spPr>
          <a:xfrm>
            <a:off x="983345" y="2722513"/>
            <a:ext cx="1066354" cy="157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8" dirty="0">
                <a:solidFill>
                  <a:srgbClr val="E6E9EF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Quality gate</a:t>
            </a:r>
            <a:endParaRPr lang="en-US" sz="938" dirty="0"/>
          </a:p>
        </p:txBody>
      </p:sp>
      <p:sp>
        <p:nvSpPr>
          <p:cNvPr id="22" name="Shape 18"/>
          <p:cNvSpPr/>
          <p:nvPr/>
        </p:nvSpPr>
        <p:spPr>
          <a:xfrm>
            <a:off x="838088" y="3091346"/>
            <a:ext cx="5504036" cy="735583"/>
          </a:xfrm>
          <a:prstGeom prst="roundRect">
            <a:avLst>
              <a:gd name="adj" fmla="val 7769"/>
            </a:avLst>
          </a:prstGeom>
          <a:solidFill>
            <a:srgbClr val="BDD248">
              <a:alpha val="10000"/>
            </a:srgbClr>
          </a:solidFill>
          <a:ln w="11906">
            <a:solidFill>
              <a:srgbClr val="BDD24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3" name="Shape 19"/>
          <p:cNvSpPr/>
          <p:nvPr/>
        </p:nvSpPr>
        <p:spPr>
          <a:xfrm>
            <a:off x="1040495" y="3246127"/>
            <a:ext cx="835298" cy="426021"/>
          </a:xfrm>
          <a:prstGeom prst="roundRect">
            <a:avLst>
              <a:gd name="adj" fmla="val 8943"/>
            </a:avLst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4" name="Text 20"/>
          <p:cNvSpPr/>
          <p:nvPr/>
        </p:nvSpPr>
        <p:spPr>
          <a:xfrm>
            <a:off x="1126220" y="3322327"/>
            <a:ext cx="663848" cy="311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38" b="1" kern="0" spc="28" dirty="0">
                <a:solidFill>
                  <a:srgbClr val="2A2A2A"/>
                </a:solidFill>
                <a:highlight>
                  <a:srgbClr val="BDD248"/>
                </a:highlight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NIVEAU 1 ATTEINT</a:t>
            </a:r>
            <a:endParaRPr lang="en-US" sz="938" dirty="0"/>
          </a:p>
        </p:txBody>
      </p:sp>
      <p:sp>
        <p:nvSpPr>
          <p:cNvPr id="25" name="Text 21"/>
          <p:cNvSpPr/>
          <p:nvPr/>
        </p:nvSpPr>
        <p:spPr>
          <a:xfrm>
            <a:off x="2028155" y="3259150"/>
            <a:ext cx="4234910" cy="438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Automatisation de la chaîne ML &amp; entraînement continu </a:t>
            </a:r>
            <a:r>
              <a:rPr lang="en-US" sz="1125" b="1" dirty="0">
                <a:solidFill>
                  <a:srgbClr val="E6E9EF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— sur le modèle de maturité MLOps.</a:t>
            </a:r>
            <a:endParaRPr lang="en-US" sz="1125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8713" y="1634877"/>
            <a:ext cx="104738" cy="14287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799027" y="1634877"/>
            <a:ext cx="100674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16" dirty="0">
                <a:solidFill>
                  <a:srgbClr val="BDD248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PERSPECTIVES</a:t>
            </a:r>
            <a:endParaRPr lang="en-US" sz="825" dirty="0"/>
          </a:p>
        </p:txBody>
      </p:sp>
      <p:sp>
        <p:nvSpPr>
          <p:cNvPr id="28" name="Shape 23"/>
          <p:cNvSpPr/>
          <p:nvPr/>
        </p:nvSpPr>
        <p:spPr>
          <a:xfrm>
            <a:off x="6608713" y="2374739"/>
            <a:ext cx="4745199" cy="11906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fr-TN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8713" y="2063316"/>
            <a:ext cx="104738" cy="152363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875301" y="2044340"/>
            <a:ext cx="4926471" cy="2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63" dirty="0">
                <a:solidFill>
                  <a:srgbClr val="E6E9EF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Automatiser le </a:t>
            </a:r>
            <a:r>
              <a:rPr lang="en-US" sz="1163" b="1" dirty="0">
                <a:solidFill>
                  <a:srgbClr val="FFFFFF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déploiement continu (CD) </a:t>
            </a:r>
            <a:r>
              <a:rPr lang="en-US" sz="1163" dirty="0">
                <a:solidFill>
                  <a:srgbClr val="E6E9EF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sur un runner.</a:t>
            </a:r>
            <a:endParaRPr lang="en-US" sz="1163" dirty="0"/>
          </a:p>
        </p:txBody>
      </p:sp>
      <p:sp>
        <p:nvSpPr>
          <p:cNvPr id="31" name="Shape 25"/>
          <p:cNvSpPr/>
          <p:nvPr/>
        </p:nvSpPr>
        <p:spPr>
          <a:xfrm>
            <a:off x="6608713" y="2866058"/>
            <a:ext cx="4745199" cy="11906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fr-TN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8713" y="2529334"/>
            <a:ext cx="104738" cy="152363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875301" y="2510358"/>
            <a:ext cx="4926471" cy="270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63" dirty="0">
                <a:solidFill>
                  <a:srgbClr val="E6E9EF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Un </a:t>
            </a:r>
            <a:r>
              <a:rPr lang="en-US" sz="1163" b="1" dirty="0">
                <a:solidFill>
                  <a:srgbClr val="FFFFFF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2</a:t>
            </a:r>
            <a:r>
              <a:rPr lang="en-US" sz="969" b="1" baseline="30000" dirty="0">
                <a:solidFill>
                  <a:srgbClr val="FFFFFF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e </a:t>
            </a:r>
            <a:r>
              <a:rPr lang="en-US" sz="1163" b="1" dirty="0">
                <a:solidFill>
                  <a:srgbClr val="FFFFFF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use case </a:t>
            </a:r>
            <a:r>
              <a:rPr lang="en-US" sz="1163" dirty="0">
                <a:solidFill>
                  <a:srgbClr val="E6E9EF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(</a:t>
            </a:r>
            <a:r>
              <a:rPr lang="en-US" sz="1163" b="1" dirty="0">
                <a:solidFill>
                  <a:srgbClr val="FFFFFF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ml_classic</a:t>
            </a:r>
            <a:r>
              <a:rPr lang="en-US" sz="1163" dirty="0">
                <a:solidFill>
                  <a:srgbClr val="E6E9EF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) pour prouver la généricité.</a:t>
            </a:r>
            <a:endParaRPr lang="en-US" sz="1163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8713" y="3020653"/>
            <a:ext cx="104738" cy="152363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875301" y="3001677"/>
            <a:ext cx="4926471" cy="2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63" dirty="0">
                <a:solidFill>
                  <a:srgbClr val="E6E9EF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Le </a:t>
            </a:r>
            <a:r>
              <a:rPr lang="en-US" sz="1163" b="1" dirty="0">
                <a:solidFill>
                  <a:srgbClr val="FFFFFF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passage à l'échelle</a:t>
            </a:r>
            <a:r>
              <a:rPr lang="en-US" sz="1163" dirty="0">
                <a:solidFill>
                  <a:srgbClr val="E6E9EF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.</a:t>
            </a:r>
            <a:endParaRPr lang="en-US" sz="1163" dirty="0"/>
          </a:p>
        </p:txBody>
      </p:sp>
      <p:sp>
        <p:nvSpPr>
          <p:cNvPr id="36" name="Shape 28"/>
          <p:cNvSpPr/>
          <p:nvPr/>
        </p:nvSpPr>
        <p:spPr>
          <a:xfrm>
            <a:off x="838088" y="4017429"/>
            <a:ext cx="10515823" cy="529642"/>
          </a:xfrm>
          <a:prstGeom prst="roundRect">
            <a:avLst>
              <a:gd name="adj" fmla="val 10790"/>
            </a:avLst>
          </a:prstGeom>
          <a:solidFill>
            <a:srgbClr val="BDD248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7" name="Text 29"/>
          <p:cNvSpPr/>
          <p:nvPr/>
        </p:nvSpPr>
        <p:spPr>
          <a:xfrm>
            <a:off x="1066540" y="4210720"/>
            <a:ext cx="137169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83" dirty="0">
                <a:solidFill>
                  <a:srgbClr val="2A2A2A">
                    <a:alpha val="60000"/>
                  </a:srgbClr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t>APPORT POUR ACTIA</a:t>
            </a:r>
            <a:endParaRPr lang="en-US" sz="825" dirty="0"/>
          </a:p>
        </p:txBody>
      </p:sp>
      <p:sp>
        <p:nvSpPr>
          <p:cNvPr id="38" name="Shape 30"/>
          <p:cNvSpPr/>
          <p:nvPr/>
        </p:nvSpPr>
        <p:spPr>
          <a:xfrm>
            <a:off x="2484872" y="4169792"/>
            <a:ext cx="9525" cy="224917"/>
          </a:xfrm>
          <a:prstGeom prst="rect">
            <a:avLst/>
          </a:prstGeom>
          <a:solidFill>
            <a:srgbClr val="2A2A2A">
              <a:alpha val="22000"/>
            </a:srgbClr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9" name="Text 31"/>
          <p:cNvSpPr/>
          <p:nvPr/>
        </p:nvSpPr>
        <p:spPr>
          <a:xfrm>
            <a:off x="2665698" y="4169792"/>
            <a:ext cx="4617876" cy="263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13" b="1" dirty="0">
                <a:solidFill>
                  <a:srgbClr val="2A2A2A"/>
                </a:solidFill>
                <a:latin typeface="Arial" panose="020B0604020202020204" pitchFamily="34" charset="0"/>
                <a:ea typeface="Jost" pitchFamily="34" charset="-122"/>
                <a:cs typeface="Arial" panose="020B0604020202020204" pitchFamily="34" charset="0"/>
              </a:rPr>
              <a:t>Un socle réutilisable, local et souverain — documenté.</a:t>
            </a:r>
            <a:endParaRPr lang="en-US" sz="1313" dirty="0"/>
          </a:p>
        </p:txBody>
      </p:sp>
      <p:sp>
        <p:nvSpPr>
          <p:cNvPr id="40" name="Text 32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AA5B8"/>
                </a:solidFill>
                <a:latin typeface="Arial" panose="020B0604020202020204" pitchFamily="34" charset="0"/>
                <a:ea typeface="Mulish" pitchFamily="34" charset="-122"/>
                <a:cs typeface="Arial" panose="020B0604020202020204" pitchFamily="34" charset="0"/>
              </a:rPr>
              <a:t>Projet de Fin d'Études · Pipeline MLOps générique</a:t>
            </a:r>
            <a:endParaRPr lang="en-US" sz="975" dirty="0"/>
          </a:p>
        </p:txBody>
      </p:sp>
      <p:sp>
        <p:nvSpPr>
          <p:cNvPr id="42" name="Text 33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endParaRPr lang="en-US" sz="975" dirty="0"/>
          </a:p>
        </p:txBody>
      </p:sp>
      <p:sp>
        <p:nvSpPr>
          <p:cNvPr id="43" name="Google Shape;88;p17">
            <a:extLst>
              <a:ext uri="{FF2B5EF4-FFF2-40B4-BE49-F238E27FC236}">
                <a16:creationId xmlns:a16="http://schemas.microsoft.com/office/drawing/2014/main" id="{99BB70A9-338A-CE93-C700-F4DD28FAEB84}"/>
              </a:ext>
            </a:extLst>
          </p:cNvPr>
          <p:cNvSpPr txBox="1">
            <a:spLocks/>
          </p:cNvSpPr>
          <p:nvPr/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fr" sz="1733" dirty="0">
                <a:solidFill>
                  <a:schemeClr val="bg1"/>
                </a:solidFill>
                <a:latin typeface="Arial" panose="020B0604020202020204" pitchFamily="34" charset="0"/>
                <a:ea typeface="Nunito Black"/>
                <a:cs typeface="Arial" panose="020B0604020202020204" pitchFamily="34" charset="0"/>
                <a:sym typeface="Nunito Black"/>
              </a:rPr>
              <a:t>33</a:t>
            </a:r>
          </a:p>
        </p:txBody>
      </p:sp>
      <p:pic>
        <p:nvPicPr>
          <p:cNvPr id="44" name="Image 4" descr="preencoded.png">
            <a:extLst>
              <a:ext uri="{FF2B5EF4-FFF2-40B4-BE49-F238E27FC236}">
                <a16:creationId xmlns:a16="http://schemas.microsoft.com/office/drawing/2014/main" id="{9D671CA1-D961-3080-D4B7-F0114C1BAFD9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0960274" y="156681"/>
            <a:ext cx="1041974" cy="6238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8680977-7eb7-491e-b810-114f29070ed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EAA15627B454488AE1EF6EC8B1A620" ma:contentTypeVersion="5" ma:contentTypeDescription="Create a new document." ma:contentTypeScope="" ma:versionID="b1449a212197dc3da73e830014df4761">
  <xsd:schema xmlns:xsd="http://www.w3.org/2001/XMLSchema" xmlns:xs="http://www.w3.org/2001/XMLSchema" xmlns:p="http://schemas.microsoft.com/office/2006/metadata/properties" xmlns:ns3="d8680977-7eb7-491e-b810-114f29070ed4" targetNamespace="http://schemas.microsoft.com/office/2006/metadata/properties" ma:root="true" ma:fieldsID="69fdfe9a9c9b6909e1a874cdd0adf1b5" ns3:_="">
    <xsd:import namespace="d8680977-7eb7-491e-b810-114f29070ed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680977-7eb7-491e-b810-114f29070ed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875F3D0-7A18-407A-9D59-EBC18FD9D32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56498F5-B85E-4773-970E-763AA064487B}">
  <ds:schemaRefs>
    <ds:schemaRef ds:uri="http://purl.org/dc/terms/"/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d8680977-7eb7-491e-b810-114f29070ed4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3FACE687-4BC5-43EA-B384-3EF7E369CA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680977-7eb7-491e-b810-114f29070ed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1913</TotalTime>
  <Words>3717</Words>
  <Application>Microsoft Office PowerPoint</Application>
  <PresentationFormat>Widescreen</PresentationFormat>
  <Paragraphs>882</Paragraphs>
  <Slides>44</Slides>
  <Notes>42</Notes>
  <HiddenSlides>10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8" baseType="lpstr">
      <vt:lpstr>Arial</vt:lpstr>
      <vt:lpstr>Arial Black</vt:lpstr>
      <vt:lpstr>Arial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hiba zaibi</cp:lastModifiedBy>
  <cp:revision>13</cp:revision>
  <dcterms:created xsi:type="dcterms:W3CDTF">2026-06-22T10:48:21Z</dcterms:created>
  <dcterms:modified xsi:type="dcterms:W3CDTF">2026-06-25T08:58:47Z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0x010100FBEAA15627B454488AE1EF6EC8B1A620</vt:lpwstr>
  </property>
</Properties>
</file>