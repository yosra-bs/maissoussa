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svg"/><Relationship Id="rId9" Type="http://schemas.openxmlformats.org/officeDocument/2006/relationships/image" Target="../media/image-2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0201" y="2000250"/>
            <a:ext cx="1428750" cy="2857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0" y="2000250"/>
            <a:ext cx="1428750" cy="28575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838088" y="609451"/>
            <a:ext cx="325562" cy="2857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291898" y="674936"/>
            <a:ext cx="226821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98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PROJET DE FIN D'ÉTUDES</a:t>
            </a:r>
            <a:endParaRPr lang="en-US" sz="90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88" y="1903140"/>
            <a:ext cx="123713" cy="17133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76027" y="1905372"/>
            <a:ext cx="3295799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MLOPS · INDUSTRIALISATION ML &amp; LLM</a:t>
            </a:r>
            <a:endParaRPr lang="en-US" sz="975" dirty="0"/>
          </a:p>
        </p:txBody>
      </p:sp>
      <p:sp>
        <p:nvSpPr>
          <p:cNvPr id="9" name="Text 3"/>
          <p:cNvSpPr/>
          <p:nvPr/>
        </p:nvSpPr>
        <p:spPr>
          <a:xfrm>
            <a:off x="838088" y="2264978"/>
            <a:ext cx="7248075" cy="1265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b="1" spc="-116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Pipeline MLOps locale et </a:t>
            </a:r>
            <a:pPr algn="l" indent="0" marL="0">
              <a:lnSpc>
                <a:spcPct val="104000"/>
              </a:lnSpc>
              <a:buNone/>
            </a:pPr>
            <a:r>
              <a:rPr lang="en-US" sz="4650" b="1" spc="-116" kern="0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générique</a:t>
            </a:r>
            <a:endParaRPr lang="en-US" sz="4650" dirty="0"/>
          </a:p>
        </p:txBody>
      </p:sp>
      <p:sp>
        <p:nvSpPr>
          <p:cNvPr id="10" name="Shape 4"/>
          <p:cNvSpPr/>
          <p:nvPr/>
        </p:nvSpPr>
        <p:spPr>
          <a:xfrm>
            <a:off x="838088" y="3778560"/>
            <a:ext cx="762000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11" name="Text 5"/>
          <p:cNvSpPr/>
          <p:nvPr/>
        </p:nvSpPr>
        <p:spPr>
          <a:xfrm>
            <a:off x="838088" y="4045148"/>
            <a:ext cx="5408176" cy="5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 socle d'industrialisation pour modèles ML et LLM, 100 % local.</a:t>
            </a:r>
            <a:endParaRPr lang="en-US" sz="1575" dirty="0"/>
          </a:p>
        </p:txBody>
      </p:sp>
      <p:sp>
        <p:nvSpPr>
          <p:cNvPr id="12" name="Shape 6"/>
          <p:cNvSpPr/>
          <p:nvPr/>
        </p:nvSpPr>
        <p:spPr>
          <a:xfrm>
            <a:off x="838088" y="5612867"/>
            <a:ext cx="10515823" cy="11906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7"/>
          <p:cNvSpPr/>
          <p:nvPr/>
        </p:nvSpPr>
        <p:spPr>
          <a:xfrm>
            <a:off x="838088" y="6081861"/>
            <a:ext cx="478793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Projet de Fin d'Études · ACTIA Engineering Services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7353226" y="5834249"/>
            <a:ext cx="133772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05" kern="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ÉTUDIANTE</a:t>
            </a:r>
            <a:endParaRPr lang="en-US" sz="750" dirty="0"/>
          </a:p>
        </p:txBody>
      </p:sp>
      <p:sp>
        <p:nvSpPr>
          <p:cNvPr id="15" name="Text 9"/>
          <p:cNvSpPr/>
          <p:nvPr/>
        </p:nvSpPr>
        <p:spPr>
          <a:xfrm>
            <a:off x="7353226" y="6010424"/>
            <a:ext cx="1337723" cy="216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Yosra Ben Salha</a:t>
            </a:r>
            <a:endParaRPr lang="en-US" sz="1275" dirty="0"/>
          </a:p>
        </p:txBody>
      </p:sp>
      <p:sp>
        <p:nvSpPr>
          <p:cNvPr id="16" name="Text 10"/>
          <p:cNvSpPr/>
          <p:nvPr/>
        </p:nvSpPr>
        <p:spPr>
          <a:xfrm>
            <a:off x="9007450" y="5834249"/>
            <a:ext cx="162831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05" kern="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ENCADRANTE ENTREPRISE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9007450" y="6010424"/>
            <a:ext cx="1628310" cy="216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Lyna Attalah</a:t>
            </a:r>
            <a:endParaRPr lang="en-US" sz="1275" dirty="0"/>
          </a:p>
        </p:txBody>
      </p:sp>
      <p:sp>
        <p:nvSpPr>
          <p:cNvPr id="18" name="Text 12"/>
          <p:cNvSpPr/>
          <p:nvPr/>
        </p:nvSpPr>
        <p:spPr>
          <a:xfrm>
            <a:off x="10925845" y="5834249"/>
            <a:ext cx="50426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05" kern="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ANNÉE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10925845" y="6010424"/>
            <a:ext cx="50426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2026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10474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SOMMAIRE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6713990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 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programme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38088" y="2608399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01" y="1982205"/>
            <a:ext cx="190500" cy="3237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33314" y="1953555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60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2152427" y="1889373"/>
            <a:ext cx="530669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75" b="1" spc="-19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problème &amp; l'objectif</a:t>
            </a:r>
            <a:endParaRPr lang="en-US" sz="1875" dirty="0"/>
          </a:p>
        </p:txBody>
      </p:sp>
      <p:sp>
        <p:nvSpPr>
          <p:cNvPr id="10" name="Text 6"/>
          <p:cNvSpPr/>
          <p:nvPr/>
        </p:nvSpPr>
        <p:spPr>
          <a:xfrm>
            <a:off x="2152427" y="2198936"/>
            <a:ext cx="5306690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fossé entre code ML et production — une plateforme MLOps générique</a:t>
            </a:r>
            <a:endParaRPr lang="en-US" sz="1125" dirty="0"/>
          </a:p>
        </p:txBody>
      </p:sp>
      <p:sp>
        <p:nvSpPr>
          <p:cNvPr id="11" name="Shape 7"/>
          <p:cNvSpPr/>
          <p:nvPr/>
        </p:nvSpPr>
        <p:spPr>
          <a:xfrm>
            <a:off x="838088" y="3548807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201" y="2922612"/>
            <a:ext cx="190500" cy="3237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33314" y="2893963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60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2152427" y="2829781"/>
            <a:ext cx="48771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75" b="1" spc="-19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L'architecture générique</a:t>
            </a:r>
            <a:endParaRPr lang="en-US" sz="1875" dirty="0"/>
          </a:p>
        </p:txBody>
      </p:sp>
      <p:sp>
        <p:nvSpPr>
          <p:cNvPr id="15" name="Text 10"/>
          <p:cNvSpPr/>
          <p:nvPr/>
        </p:nvSpPr>
        <p:spPr>
          <a:xfrm>
            <a:off x="2152427" y="3139343"/>
            <a:ext cx="4877153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4 couches d'abstraction, 5 phases, registry, composants pluggables</a:t>
            </a:r>
            <a:endParaRPr lang="en-US" sz="1125" dirty="0"/>
          </a:p>
        </p:txBody>
      </p:sp>
      <p:sp>
        <p:nvSpPr>
          <p:cNvPr id="16" name="Shape 11"/>
          <p:cNvSpPr/>
          <p:nvPr/>
        </p:nvSpPr>
        <p:spPr>
          <a:xfrm>
            <a:off x="838088" y="4489214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201" y="3863020"/>
            <a:ext cx="190500" cy="32370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33314" y="3834371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60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3"/>
          <p:cNvSpPr/>
          <p:nvPr/>
        </p:nvSpPr>
        <p:spPr>
          <a:xfrm>
            <a:off x="2152427" y="3770188"/>
            <a:ext cx="44592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75" b="1" spc="-19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use case RAG en pratique</a:t>
            </a:r>
            <a:endParaRPr lang="en-US" sz="1875" dirty="0"/>
          </a:p>
        </p:txBody>
      </p:sp>
      <p:sp>
        <p:nvSpPr>
          <p:cNvPr id="20" name="Text 14"/>
          <p:cNvSpPr/>
          <p:nvPr/>
        </p:nvSpPr>
        <p:spPr>
          <a:xfrm>
            <a:off x="2152427" y="4079751"/>
            <a:ext cx="4459281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contrat appliqué de bout en bout : ingestion → index → API</a:t>
            </a:r>
            <a:endParaRPr lang="en-US" sz="1125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201" y="4803428"/>
            <a:ext cx="190500" cy="32370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33314" y="4774778"/>
            <a:ext cx="647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spc="-60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16"/>
          <p:cNvSpPr/>
          <p:nvPr/>
        </p:nvSpPr>
        <p:spPr>
          <a:xfrm>
            <a:off x="2152427" y="4710596"/>
            <a:ext cx="443615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75" b="1" spc="-19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Les services OPS (MLOps)</a:t>
            </a:r>
            <a:endParaRPr lang="en-US" sz="1875" dirty="0"/>
          </a:p>
        </p:txBody>
      </p:sp>
      <p:sp>
        <p:nvSpPr>
          <p:cNvPr id="24" name="Text 17"/>
          <p:cNvSpPr/>
          <p:nvPr/>
        </p:nvSpPr>
        <p:spPr>
          <a:xfrm>
            <a:off x="2152427" y="5020159"/>
            <a:ext cx="4436157" cy="238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Tracking MLflow, monitoring Grafana, conteneurisation, CI/CT</a:t>
            </a:r>
            <a:endParaRPr lang="en-US" sz="1125" dirty="0"/>
          </a:p>
        </p:txBody>
      </p:sp>
      <p:sp>
        <p:nvSpPr>
          <p:cNvPr id="25" name="Text 18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1099416" y="6418585"/>
            <a:ext cx="254496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86000"/>
            <a:ext cx="1238250" cy="2286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37" y="2286000"/>
            <a:ext cx="1238250" cy="228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088" y="2145543"/>
            <a:ext cx="947190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1 · 01 / 04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2743088" y="2464594"/>
            <a:ext cx="7793606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problème &amp; l'objectif</a:t>
            </a:r>
            <a:endParaRPr lang="en-US" sz="4500" dirty="0"/>
          </a:p>
        </p:txBody>
      </p:sp>
      <p:sp>
        <p:nvSpPr>
          <p:cNvPr id="7" name="Shape 3"/>
          <p:cNvSpPr/>
          <p:nvPr/>
        </p:nvSpPr>
        <p:spPr>
          <a:xfrm>
            <a:off x="2743088" y="3931109"/>
            <a:ext cx="685726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8" name="Text 4"/>
          <p:cNvSpPr/>
          <p:nvPr/>
        </p:nvSpPr>
        <p:spPr>
          <a:xfrm>
            <a:off x="2743088" y="4197697"/>
            <a:ext cx="3602385" cy="552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fossé entre code ML et production — et la plateforme qui le comble.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913377" y="2230841"/>
            <a:ext cx="4203688" cy="2434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000"/>
              </a:lnSpc>
              <a:buNone/>
            </a:pPr>
            <a:r>
              <a:rPr lang="en-US" sz="25500" b="1" spc="-1020" kern="0" dirty="0">
                <a:solidFill>
                  <a:srgbClr val="BDD248">
                    <a:alpha val="8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25500" dirty="0"/>
          </a:p>
        </p:txBody>
      </p:sp>
      <p:sp>
        <p:nvSpPr>
          <p:cNvPr id="10" name="Text 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364990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01 · CADRAGE · PROBLÉMATIQUE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6858327" cy="102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fossé entre 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code ML 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et production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38088" y="2193354"/>
            <a:ext cx="2476500" cy="3238500"/>
          </a:xfrm>
          <a:prstGeom prst="roundRect">
            <a:avLst>
              <a:gd name="adj" fmla="val 2308"/>
            </a:avLst>
          </a:prstGeom>
          <a:solidFill>
            <a:srgbClr val="F4F4F4"/>
          </a:solidFill>
          <a:ln/>
        </p:spPr>
      </p:sp>
      <p:sp>
        <p:nvSpPr>
          <p:cNvPr id="7" name="Shape 4"/>
          <p:cNvSpPr/>
          <p:nvPr/>
        </p:nvSpPr>
        <p:spPr>
          <a:xfrm>
            <a:off x="838088" y="5419948"/>
            <a:ext cx="2476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2193354"/>
            <a:ext cx="2476500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3302682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Text 8"/>
          <p:cNvSpPr/>
          <p:nvPr/>
        </p:nvSpPr>
        <p:spPr>
          <a:xfrm>
            <a:off x="1059470" y="2457524"/>
            <a:ext cx="22371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CÔTÉ DEV</a:t>
            </a:r>
            <a:endParaRPr lang="en-US" sz="825" dirty="0"/>
          </a:p>
        </p:txBody>
      </p:sp>
      <p:sp>
        <p:nvSpPr>
          <p:cNvPr id="12" name="Shape 9"/>
          <p:cNvSpPr/>
          <p:nvPr/>
        </p:nvSpPr>
        <p:spPr>
          <a:xfrm>
            <a:off x="1059470" y="2733601"/>
            <a:ext cx="609451" cy="609451"/>
          </a:xfrm>
          <a:prstGeom prst="roundRect">
            <a:avLst>
              <a:gd name="adj" fmla="val 4689"/>
            </a:avLst>
          </a:prstGeom>
          <a:solidFill>
            <a:srgbClr val="EFF4D8"/>
          </a:solidFill>
          <a:ln/>
        </p:spPr>
      </p:sp>
      <p:sp>
        <p:nvSpPr>
          <p:cNvPr id="13" name="Shape 10"/>
          <p:cNvSpPr/>
          <p:nvPr/>
        </p:nvSpPr>
        <p:spPr>
          <a:xfrm>
            <a:off x="1164208" y="2800201"/>
            <a:ext cx="399976" cy="476250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42715" y="2888196"/>
            <a:ext cx="145666" cy="18976"/>
          </a:xfrm>
          <a:prstGeom prst="roundRect">
            <a:avLst>
              <a:gd name="adj" fmla="val 49999"/>
            </a:avLst>
          </a:prstGeom>
          <a:solidFill>
            <a:srgbClr val="BDD248"/>
          </a:solidFill>
          <a:ln/>
        </p:spPr>
      </p:sp>
      <p:sp>
        <p:nvSpPr>
          <p:cNvPr id="15" name="Shape 12"/>
          <p:cNvSpPr/>
          <p:nvPr/>
        </p:nvSpPr>
        <p:spPr>
          <a:xfrm>
            <a:off x="1242715" y="2954796"/>
            <a:ext cx="242962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6" name="Shape 13"/>
          <p:cNvSpPr/>
          <p:nvPr/>
        </p:nvSpPr>
        <p:spPr>
          <a:xfrm>
            <a:off x="1242715" y="3021397"/>
            <a:ext cx="194221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7" name="Shape 14"/>
          <p:cNvSpPr/>
          <p:nvPr/>
        </p:nvSpPr>
        <p:spPr>
          <a:xfrm>
            <a:off x="1242715" y="3087998"/>
            <a:ext cx="133573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8" name="Text 15"/>
          <p:cNvSpPr/>
          <p:nvPr/>
        </p:nvSpPr>
        <p:spPr>
          <a:xfrm>
            <a:off x="1059470" y="4220580"/>
            <a:ext cx="2237110" cy="289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spc="-18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Code ML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59470" y="4490889"/>
            <a:ext cx="22371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du développeur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059470" y="4771802"/>
            <a:ext cx="203373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1" name="Text 18"/>
          <p:cNvSpPr/>
          <p:nvPr/>
        </p:nvSpPr>
        <p:spPr>
          <a:xfrm>
            <a:off x="1059470" y="4878958"/>
            <a:ext cx="2109936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63" spc="35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notebook.ipynb script.py · model.pkl</a:t>
            </a:r>
            <a:endParaRPr lang="en-US" sz="863" dirty="0"/>
          </a:p>
        </p:txBody>
      </p:sp>
      <p:sp>
        <p:nvSpPr>
          <p:cNvPr id="22" name="Text 19"/>
          <p:cNvSpPr/>
          <p:nvPr/>
        </p:nvSpPr>
        <p:spPr>
          <a:xfrm>
            <a:off x="3036447" y="2193354"/>
            <a:ext cx="6119106" cy="327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0" b="1" spc="-960" kern="0" dirty="0">
                <a:solidFill>
                  <a:srgbClr val="E1ECB6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?</a:t>
            </a:r>
            <a:endParaRPr lang="en-US" sz="24000" dirty="0"/>
          </a:p>
        </p:txBody>
      </p:sp>
      <p:sp>
        <p:nvSpPr>
          <p:cNvPr id="23" name="Shape 20"/>
          <p:cNvSpPr/>
          <p:nvPr/>
        </p:nvSpPr>
        <p:spPr>
          <a:xfrm>
            <a:off x="4093332" y="2452315"/>
            <a:ext cx="1110630" cy="3426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  <a:effectLst>
            <a:outerShdw sx="100000" sy="100000" kx="0" ky="0" algn="bl" rotWithShape="0" blurRad="19050" dist="9525" dir="5400000">
              <a:srgbClr val="2A2A2A">
                <a:alpha val="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257638" y="2540422"/>
            <a:ext cx="858217" cy="204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tracking </a:t>
            </a:r>
            <a:pPr algn="l" indent="0" marL="0">
              <a:buNone/>
            </a:pPr>
            <a:r>
              <a:rPr lang="en-US" sz="1050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?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050546" y="2646722"/>
            <a:ext cx="1270620" cy="3426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  <a:effectLst>
            <a:outerShdw sx="100000" sy="100000" kx="0" ky="0" algn="bl" rotWithShape="0" blurRad="19050" dist="9525" dir="5400000">
              <a:srgbClr val="2A2A2A">
                <a:alpha val="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214853" y="2734828"/>
            <a:ext cx="1018208" cy="204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monitoring </a:t>
            </a:r>
            <a:pPr algn="l" indent="0" marL="0">
              <a:buNone/>
            </a:pPr>
            <a:r>
              <a:rPr lang="en-US" sz="1050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?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759584" y="4506330"/>
            <a:ext cx="1350615" cy="3426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  <a:effectLst>
            <a:outerShdw sx="100000" sy="100000" kx="0" ky="0" algn="bl" rotWithShape="0" blurRad="19050" dist="9525" dir="5400000">
              <a:srgbClr val="2A2A2A">
                <a:alpha val="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923891" y="4594436"/>
            <a:ext cx="1098203" cy="204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déploiement </a:t>
            </a:r>
            <a:pPr algn="l" indent="0" marL="0">
              <a:buNone/>
            </a:pPr>
            <a:r>
              <a:rPr lang="en-US" sz="1050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?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347892" y="4765477"/>
            <a:ext cx="1750777" cy="34267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  <a:effectLst>
            <a:outerShdw sx="100000" sy="100000" kx="0" ky="0" algn="bl" rotWithShape="0" blurRad="19050" dist="9525" dir="5400000">
              <a:srgbClr val="2A2A2A">
                <a:alpha val="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512198" y="4853583"/>
            <a:ext cx="1498364" cy="204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reproductibilité </a:t>
            </a:r>
            <a:pPr algn="l" indent="0" marL="0">
              <a:buNone/>
            </a:pPr>
            <a:r>
              <a:rPr lang="en-US" sz="1050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?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877412" y="2193354"/>
            <a:ext cx="2476500" cy="3238500"/>
          </a:xfrm>
          <a:prstGeom prst="roundRect">
            <a:avLst>
              <a:gd name="adj" fmla="val 2308"/>
            </a:avLst>
          </a:prstGeom>
          <a:solidFill>
            <a:srgbClr val="F4F4F4"/>
          </a:solidFill>
          <a:ln/>
        </p:spPr>
      </p:sp>
      <p:sp>
        <p:nvSpPr>
          <p:cNvPr id="32" name="Shape 29"/>
          <p:cNvSpPr/>
          <p:nvPr/>
        </p:nvSpPr>
        <p:spPr>
          <a:xfrm>
            <a:off x="8877412" y="5419948"/>
            <a:ext cx="2476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3" name="Shape 30"/>
          <p:cNvSpPr/>
          <p:nvPr/>
        </p:nvSpPr>
        <p:spPr>
          <a:xfrm>
            <a:off x="8877412" y="2193354"/>
            <a:ext cx="2476500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4" name="Shape 31"/>
          <p:cNvSpPr/>
          <p:nvPr/>
        </p:nvSpPr>
        <p:spPr>
          <a:xfrm>
            <a:off x="8877412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32"/>
          <p:cNvSpPr/>
          <p:nvPr/>
        </p:nvSpPr>
        <p:spPr>
          <a:xfrm>
            <a:off x="11342005" y="2193354"/>
            <a:ext cx="11906" cy="32385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6" name="Text 33"/>
          <p:cNvSpPr/>
          <p:nvPr/>
        </p:nvSpPr>
        <p:spPr>
          <a:xfrm>
            <a:off x="9098793" y="2457524"/>
            <a:ext cx="22371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CÔTÉ PROD</a:t>
            </a:r>
            <a:endParaRPr lang="en-US" sz="825" dirty="0"/>
          </a:p>
        </p:txBody>
      </p:sp>
      <p:sp>
        <p:nvSpPr>
          <p:cNvPr id="37" name="Shape 34"/>
          <p:cNvSpPr/>
          <p:nvPr/>
        </p:nvSpPr>
        <p:spPr>
          <a:xfrm>
            <a:off x="9098793" y="2733601"/>
            <a:ext cx="609451" cy="609451"/>
          </a:xfrm>
          <a:prstGeom prst="roundRect">
            <a:avLst>
              <a:gd name="adj" fmla="val 4689"/>
            </a:avLst>
          </a:prstGeom>
          <a:solidFill>
            <a:srgbClr val="EFF4D8"/>
          </a:solidFill>
          <a:ln/>
        </p:spPr>
      </p:sp>
      <p:sp>
        <p:nvSpPr>
          <p:cNvPr id="38" name="Shape 35"/>
          <p:cNvSpPr/>
          <p:nvPr/>
        </p:nvSpPr>
        <p:spPr>
          <a:xfrm>
            <a:off x="9165394" y="2819177"/>
            <a:ext cx="476250" cy="114226"/>
          </a:xfrm>
          <a:prstGeom prst="roundRect">
            <a:avLst>
              <a:gd name="adj" fmla="val 16677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165394" y="2981027"/>
            <a:ext cx="476250" cy="114226"/>
          </a:xfrm>
          <a:prstGeom prst="roundRect">
            <a:avLst>
              <a:gd name="adj" fmla="val 16677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165394" y="3142878"/>
            <a:ext cx="476250" cy="114226"/>
          </a:xfrm>
          <a:prstGeom prst="roundRect">
            <a:avLst>
              <a:gd name="adj" fmla="val 16677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098793" y="4220580"/>
            <a:ext cx="2237110" cy="289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spc="-18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9098793" y="4490889"/>
            <a:ext cx="22371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utilisateur final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9098793" y="4771802"/>
            <a:ext cx="203373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Text 41"/>
          <p:cNvSpPr/>
          <p:nvPr/>
        </p:nvSpPr>
        <p:spPr>
          <a:xfrm>
            <a:off x="9098793" y="4878958"/>
            <a:ext cx="2109936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863" spc="35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· scale monitoring · SLA</a:t>
            </a:r>
            <a:endParaRPr lang="en-US" sz="863" dirty="0"/>
          </a:p>
        </p:txBody>
      </p:sp>
      <p:sp>
        <p:nvSpPr>
          <p:cNvPr id="45" name="Shape 42"/>
          <p:cNvSpPr/>
          <p:nvPr/>
        </p:nvSpPr>
        <p:spPr>
          <a:xfrm>
            <a:off x="838088" y="5736580"/>
            <a:ext cx="3403699" cy="614288"/>
          </a:xfrm>
          <a:prstGeom prst="roundRect">
            <a:avLst>
              <a:gd name="adj" fmla="val 9303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495" y="5900849"/>
            <a:ext cx="171338" cy="285750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1345034" y="5948474"/>
            <a:ext cx="2933086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Plomberie OPS refaite à chaque projet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4394150" y="5736580"/>
            <a:ext cx="3403699" cy="614288"/>
          </a:xfrm>
          <a:prstGeom prst="roundRect">
            <a:avLst>
              <a:gd name="adj" fmla="val 9303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557" y="5900849"/>
            <a:ext cx="171338" cy="28575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4901096" y="5948474"/>
            <a:ext cx="1700752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Pas de standardisation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7950212" y="5736580"/>
            <a:ext cx="3403699" cy="614288"/>
          </a:xfrm>
          <a:prstGeom prst="roundRect">
            <a:avLst>
              <a:gd name="adj" fmla="val 9303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619" y="5900849"/>
            <a:ext cx="171338" cy="285750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8457158" y="5948474"/>
            <a:ext cx="1545636" cy="228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Mise en prod fragile</a:t>
            </a:r>
            <a:endParaRPr lang="en-US" sz="1200" dirty="0"/>
          </a:p>
        </p:txBody>
      </p:sp>
      <p:sp>
        <p:nvSpPr>
          <p:cNvPr id="54" name="Text 48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953956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01 · CADRAGE · OBJECTIF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7429919" cy="102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Une plateforme MLOps 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générique 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, as-a-service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38088" y="2231492"/>
            <a:ext cx="1790588" cy="2000250"/>
          </a:xfrm>
          <a:prstGeom prst="roundRect">
            <a:avLst>
              <a:gd name="adj" fmla="val 3192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40495" y="2452874"/>
            <a:ext cx="15243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AVANT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1040495" y="2709974"/>
            <a:ext cx="533363" cy="533363"/>
          </a:xfrm>
          <a:prstGeom prst="roundRect">
            <a:avLst>
              <a:gd name="adj" fmla="val 5358"/>
            </a:avLst>
          </a:prstGeom>
          <a:solidFill>
            <a:srgbClr val="EFF4D8"/>
          </a:solidFill>
          <a:ln/>
        </p:spPr>
      </p:sp>
      <p:sp>
        <p:nvSpPr>
          <p:cNvPr id="9" name="Shape 6"/>
          <p:cNvSpPr/>
          <p:nvPr/>
        </p:nvSpPr>
        <p:spPr>
          <a:xfrm>
            <a:off x="1116583" y="2757599"/>
            <a:ext cx="381000" cy="43811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5602" y="2836106"/>
            <a:ext cx="145666" cy="18976"/>
          </a:xfrm>
          <a:prstGeom prst="roundRect">
            <a:avLst>
              <a:gd name="adj" fmla="val 49999"/>
            </a:avLst>
          </a:prstGeom>
          <a:solidFill>
            <a:srgbClr val="BDD248"/>
          </a:solidFill>
          <a:ln/>
        </p:spPr>
      </p:sp>
      <p:sp>
        <p:nvSpPr>
          <p:cNvPr id="11" name="Shape 8"/>
          <p:cNvSpPr/>
          <p:nvPr/>
        </p:nvSpPr>
        <p:spPr>
          <a:xfrm>
            <a:off x="1185602" y="2893033"/>
            <a:ext cx="242962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2" name="Shape 9"/>
          <p:cNvSpPr/>
          <p:nvPr/>
        </p:nvSpPr>
        <p:spPr>
          <a:xfrm>
            <a:off x="1185602" y="2949959"/>
            <a:ext cx="194221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3" name="Shape 10"/>
          <p:cNvSpPr/>
          <p:nvPr/>
        </p:nvSpPr>
        <p:spPr>
          <a:xfrm>
            <a:off x="1185602" y="3006886"/>
            <a:ext cx="133573" cy="18976"/>
          </a:xfrm>
          <a:prstGeom prst="roundRect">
            <a:avLst>
              <a:gd name="adj" fmla="val 49999"/>
            </a:avLst>
          </a:prstGeom>
          <a:solidFill>
            <a:srgbClr val="525252"/>
          </a:solidFill>
          <a:ln/>
        </p:spPr>
      </p:sp>
      <p:sp>
        <p:nvSpPr>
          <p:cNvPr id="14" name="Text 11"/>
          <p:cNvSpPr/>
          <p:nvPr/>
        </p:nvSpPr>
        <p:spPr>
          <a:xfrm>
            <a:off x="1040495" y="3585270"/>
            <a:ext cx="1524353" cy="23232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Code ML</a:t>
            </a:r>
            <a:endParaRPr lang="en-US" sz="1275" dirty="0"/>
          </a:p>
        </p:txBody>
      </p:sp>
      <p:sp>
        <p:nvSpPr>
          <p:cNvPr id="15" name="Shape 12"/>
          <p:cNvSpPr/>
          <p:nvPr/>
        </p:nvSpPr>
        <p:spPr>
          <a:xfrm>
            <a:off x="1040495" y="3836603"/>
            <a:ext cx="138577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6" name="Text 13"/>
          <p:cNvSpPr/>
          <p:nvPr/>
        </p:nvSpPr>
        <p:spPr>
          <a:xfrm>
            <a:off x="1040495" y="3905659"/>
            <a:ext cx="1461976" cy="18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notebook · script</a:t>
            </a:r>
            <a:endParaRPr lang="en-US" sz="825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652" y="3093579"/>
            <a:ext cx="438113" cy="27607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104741" y="2231492"/>
            <a:ext cx="5334744" cy="200025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9" name="Text 15"/>
          <p:cNvSpPr/>
          <p:nvPr/>
        </p:nvSpPr>
        <p:spPr>
          <a:xfrm>
            <a:off x="3409466" y="2548310"/>
            <a:ext cx="500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PLATEFORME MLOPS · ACTIA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09466" y="2772110"/>
            <a:ext cx="50091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spc="-22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 </a:t>
            </a:r>
            <a:pPr algn="l" indent="0" marL="0">
              <a:lnSpc>
                <a:spcPct val="100000"/>
              </a:lnSpc>
              <a:buNone/>
            </a:pPr>
            <a:r>
              <a:rPr lang="en-US" sz="2250" b="1" spc="-22" kern="0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contrat</a:t>
            </a:r>
            <a:pPr algn="l" indent="0" marL="0">
              <a:lnSpc>
                <a:spcPct val="100000"/>
              </a:lnSpc>
              <a:buNone/>
            </a:pPr>
            <a:r>
              <a:rPr lang="en-US" sz="2250" b="1" spc="-22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, tout l'outillage</a:t>
            </a:r>
            <a:endParaRPr lang="en-US" sz="2250" dirty="0"/>
          </a:p>
        </p:txBody>
      </p:sp>
      <p:sp>
        <p:nvSpPr>
          <p:cNvPr id="21" name="Shape 17"/>
          <p:cNvSpPr/>
          <p:nvPr/>
        </p:nvSpPr>
        <p:spPr>
          <a:xfrm>
            <a:off x="3409466" y="3229198"/>
            <a:ext cx="1018729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45198" y="3298254"/>
            <a:ext cx="823466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0" kern="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tracking</a:t>
            </a:r>
            <a:endParaRPr lang="en-US" sz="975" dirty="0"/>
          </a:p>
        </p:txBody>
      </p:sp>
      <p:sp>
        <p:nvSpPr>
          <p:cNvPr id="23" name="Shape 19"/>
          <p:cNvSpPr/>
          <p:nvPr/>
        </p:nvSpPr>
        <p:spPr>
          <a:xfrm>
            <a:off x="4504283" y="3229198"/>
            <a:ext cx="1172208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640014" y="3298254"/>
            <a:ext cx="976945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0" kern="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monitoring</a:t>
            </a:r>
            <a:endParaRPr lang="en-US" sz="975" dirty="0"/>
          </a:p>
        </p:txBody>
      </p:sp>
      <p:sp>
        <p:nvSpPr>
          <p:cNvPr id="25" name="Shape 21"/>
          <p:cNvSpPr/>
          <p:nvPr/>
        </p:nvSpPr>
        <p:spPr>
          <a:xfrm>
            <a:off x="5752579" y="3229198"/>
            <a:ext cx="1249040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888310" y="3298254"/>
            <a:ext cx="1053778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0" kern="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déploiement</a:t>
            </a:r>
            <a:endParaRPr lang="en-US" sz="975" dirty="0"/>
          </a:p>
        </p:txBody>
      </p:sp>
      <p:sp>
        <p:nvSpPr>
          <p:cNvPr id="27" name="Shape 23"/>
          <p:cNvSpPr/>
          <p:nvPr/>
        </p:nvSpPr>
        <p:spPr>
          <a:xfrm>
            <a:off x="3409466" y="3610012"/>
            <a:ext cx="1632831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545198" y="3679068"/>
            <a:ext cx="1437568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0" kern="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reproductibilité</a:t>
            </a:r>
            <a:endParaRPr lang="en-US" sz="975" dirty="0"/>
          </a:p>
        </p:txBody>
      </p:sp>
      <p:sp>
        <p:nvSpPr>
          <p:cNvPr id="29" name="Shape 25"/>
          <p:cNvSpPr/>
          <p:nvPr/>
        </p:nvSpPr>
        <p:spPr>
          <a:xfrm>
            <a:off x="5118385" y="3610012"/>
            <a:ext cx="1325873" cy="304726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11906">
            <a:solidFill>
              <a:srgbClr val="3F3F3F">
                <a:alpha val="18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254117" y="3679068"/>
            <a:ext cx="1130610" cy="204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20" kern="0" dirty="0">
                <a:solidFill>
                  <a:srgbClr val="3F3F3F"/>
                </a:solidFill>
                <a:highlight>
                  <a:srgbClr val="FFFF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quality gate</a:t>
            </a:r>
            <a:endParaRPr lang="en-US" sz="975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460" y="3093579"/>
            <a:ext cx="438113" cy="276076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8915549" y="2231492"/>
            <a:ext cx="2438363" cy="2000250"/>
          </a:xfrm>
          <a:prstGeom prst="roundRect">
            <a:avLst>
              <a:gd name="adj" fmla="val 2857"/>
            </a:avLst>
          </a:prstGeom>
          <a:solidFill>
            <a:srgbClr val="F4F4F4"/>
          </a:solidFill>
          <a:ln/>
        </p:spPr>
      </p:sp>
      <p:sp>
        <p:nvSpPr>
          <p:cNvPr id="33" name="Shape 28"/>
          <p:cNvSpPr/>
          <p:nvPr/>
        </p:nvSpPr>
        <p:spPr>
          <a:xfrm>
            <a:off x="8915549" y="4219835"/>
            <a:ext cx="243836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29"/>
          <p:cNvSpPr/>
          <p:nvPr/>
        </p:nvSpPr>
        <p:spPr>
          <a:xfrm>
            <a:off x="8915549" y="2231492"/>
            <a:ext cx="243836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30"/>
          <p:cNvSpPr/>
          <p:nvPr/>
        </p:nvSpPr>
        <p:spPr>
          <a:xfrm>
            <a:off x="8915549" y="2231492"/>
            <a:ext cx="35719" cy="200025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6" name="Shape 31"/>
          <p:cNvSpPr/>
          <p:nvPr/>
        </p:nvSpPr>
        <p:spPr>
          <a:xfrm>
            <a:off x="11342005" y="2231492"/>
            <a:ext cx="11906" cy="200025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7" name="Text 32"/>
          <p:cNvSpPr/>
          <p:nvPr/>
        </p:nvSpPr>
        <p:spPr>
          <a:xfrm>
            <a:off x="9122606" y="2452874"/>
            <a:ext cx="22317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APRÈS</a:t>
            </a:r>
            <a:endParaRPr lang="en-US" sz="825" dirty="0"/>
          </a:p>
        </p:txBody>
      </p:sp>
      <p:sp>
        <p:nvSpPr>
          <p:cNvPr id="38" name="Shape 33"/>
          <p:cNvSpPr/>
          <p:nvPr/>
        </p:nvSpPr>
        <p:spPr>
          <a:xfrm>
            <a:off x="9122606" y="2709974"/>
            <a:ext cx="533363" cy="533363"/>
          </a:xfrm>
          <a:prstGeom prst="roundRect">
            <a:avLst>
              <a:gd name="adj" fmla="val 5358"/>
            </a:avLst>
          </a:prstGeom>
          <a:solidFill>
            <a:srgbClr val="D7E491"/>
          </a:solidFill>
          <a:ln/>
        </p:spPr>
      </p:sp>
      <p:sp>
        <p:nvSpPr>
          <p:cNvPr id="39" name="Shape 34"/>
          <p:cNvSpPr/>
          <p:nvPr/>
        </p:nvSpPr>
        <p:spPr>
          <a:xfrm>
            <a:off x="9160743" y="2781412"/>
            <a:ext cx="457088" cy="104738"/>
          </a:xfrm>
          <a:prstGeom prst="roundRect">
            <a:avLst>
              <a:gd name="adj" fmla="val 18188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9160743" y="2924101"/>
            <a:ext cx="457088" cy="104738"/>
          </a:xfrm>
          <a:prstGeom prst="roundRect">
            <a:avLst>
              <a:gd name="adj" fmla="val 18188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9160743" y="3066790"/>
            <a:ext cx="457088" cy="104738"/>
          </a:xfrm>
          <a:prstGeom prst="roundRect">
            <a:avLst>
              <a:gd name="adj" fmla="val 18188"/>
            </a:avLst>
          </a:prstGeom>
          <a:solidFill>
            <a:srgbClr val="FFFFFF"/>
          </a:solidFill>
          <a:ln w="11906">
            <a:solidFill>
              <a:srgbClr val="3F3F3F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9122606" y="3585270"/>
            <a:ext cx="2231789" cy="23232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ML production-ready</a:t>
            </a:r>
            <a:endParaRPr lang="en-US" sz="1275" dirty="0"/>
          </a:p>
        </p:txBody>
      </p:sp>
      <p:sp>
        <p:nvSpPr>
          <p:cNvPr id="43" name="Shape 38"/>
          <p:cNvSpPr/>
          <p:nvPr/>
        </p:nvSpPr>
        <p:spPr>
          <a:xfrm>
            <a:off x="9122606" y="3836603"/>
            <a:ext cx="202889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Text 39"/>
          <p:cNvSpPr/>
          <p:nvPr/>
        </p:nvSpPr>
        <p:spPr>
          <a:xfrm>
            <a:off x="9122606" y="3905659"/>
            <a:ext cx="2105099" cy="180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3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· gates · runs</a:t>
            </a:r>
            <a:endParaRPr lang="en-US" sz="825" dirty="0"/>
          </a:p>
        </p:txBody>
      </p:sp>
      <p:sp>
        <p:nvSpPr>
          <p:cNvPr id="45" name="Shape 40"/>
          <p:cNvSpPr/>
          <p:nvPr/>
        </p:nvSpPr>
        <p:spPr>
          <a:xfrm>
            <a:off x="838088" y="4691807"/>
            <a:ext cx="37951" cy="857250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46" name="Text 41"/>
          <p:cNvSpPr/>
          <p:nvPr/>
        </p:nvSpPr>
        <p:spPr>
          <a:xfrm>
            <a:off x="1104491" y="4650693"/>
            <a:ext cx="1127436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PROMESSE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1104491" y="4893469"/>
            <a:ext cx="7191356" cy="734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250" b="1" spc="-22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développeur adopte un </a:t>
            </a:r>
            <a:pPr algn="l" indent="0" marL="0">
              <a:lnSpc>
                <a:spcPct val="122000"/>
              </a:lnSpc>
              <a:buNone/>
            </a:pPr>
            <a:r>
              <a:rPr lang="en-US" sz="2250" b="1" spc="-22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contrat→ </a:t>
            </a:r>
            <a:pPr algn="l" indent="0" marL="0">
              <a:lnSpc>
                <a:spcPct val="122000"/>
              </a:lnSpc>
              <a:buNone/>
            </a:pPr>
            <a:r>
              <a:rPr lang="en-US" sz="2250" b="1" spc="-22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il </a:t>
            </a:r>
            <a:pPr algn="l" indent="0" marL="0">
              <a:lnSpc>
                <a:spcPct val="122000"/>
              </a:lnSpc>
              <a:buNone/>
            </a:pPr>
            <a:r>
              <a:rPr lang="en-US" sz="2250" b="1" spc="-22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hérite </a:t>
            </a:r>
            <a:pPr algn="l" indent="0" marL="0">
              <a:lnSpc>
                <a:spcPct val="122000"/>
              </a:lnSpc>
              <a:buNone/>
            </a:pPr>
            <a:r>
              <a:rPr lang="en-US" sz="2250" b="1" spc="-22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tout l'outillage de production.</a:t>
            </a:r>
            <a:endParaRPr lang="en-US" sz="2250" dirty="0"/>
          </a:p>
        </p:txBody>
      </p:sp>
      <p:sp>
        <p:nvSpPr>
          <p:cNvPr id="48" name="Text 43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377790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01 · CADRAGE · POSITIONNEMENT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65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850" b="1" spc="-57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Pourquoi pas une </a:t>
            </a:r>
            <a:pPr algn="l" indent="0" marL="0">
              <a:lnSpc>
                <a:spcPct val="118000"/>
              </a:lnSpc>
              <a:buNone/>
            </a:pPr>
            <a:r>
              <a:rPr lang="en-US" sz="2850" b="1" spc="-57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plateforme existante </a:t>
            </a:r>
            <a:pPr algn="l" indent="0" marL="0">
              <a:lnSpc>
                <a:spcPct val="118000"/>
              </a:lnSpc>
              <a:buNone/>
            </a:pPr>
            <a:r>
              <a:rPr lang="en-US" sz="2850" b="1" spc="-57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?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838088" y="1631528"/>
            <a:ext cx="5162662" cy="2659373"/>
          </a:xfrm>
          <a:prstGeom prst="roundRect">
            <a:avLst>
              <a:gd name="adj" fmla="val 2149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607" y="1852910"/>
            <a:ext cx="270675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-1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Les plateformes du marché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3857253" y="1960066"/>
            <a:ext cx="2072376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Kubeflow · ZenML · Databricks</a:t>
            </a:r>
            <a:endParaRPr lang="en-US" sz="825" dirty="0"/>
          </a:p>
        </p:txBody>
      </p:sp>
      <p:sp>
        <p:nvSpPr>
          <p:cNvPr id="9" name="Shape 6"/>
          <p:cNvSpPr/>
          <p:nvPr/>
        </p:nvSpPr>
        <p:spPr>
          <a:xfrm>
            <a:off x="1097607" y="2271861"/>
            <a:ext cx="4643624" cy="952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607" y="2735461"/>
            <a:ext cx="464362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8"/>
          <p:cNvSpPr/>
          <p:nvPr/>
        </p:nvSpPr>
        <p:spPr>
          <a:xfrm>
            <a:off x="1097607" y="2443014"/>
            <a:ext cx="123713" cy="123713"/>
          </a:xfrm>
          <a:prstGeom prst="ellipse">
            <a:avLst/>
          </a:prstGeom>
          <a:ln w="11906">
            <a:solidFill>
              <a:srgbClr val="CFCF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92659" y="2414550"/>
            <a:ext cx="4783429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Cloud-first </a:t>
            </a:r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ou Kubernetes requis</a:t>
            </a:r>
            <a:endParaRPr lang="en-US" sz="1163" dirty="0"/>
          </a:p>
        </p:txBody>
      </p:sp>
      <p:sp>
        <p:nvSpPr>
          <p:cNvPr id="13" name="Shape 10"/>
          <p:cNvSpPr/>
          <p:nvPr/>
        </p:nvSpPr>
        <p:spPr>
          <a:xfrm>
            <a:off x="1097607" y="3182503"/>
            <a:ext cx="464362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4" name="Shape 11"/>
          <p:cNvSpPr/>
          <p:nvPr/>
        </p:nvSpPr>
        <p:spPr>
          <a:xfrm>
            <a:off x="1097607" y="2890056"/>
            <a:ext cx="123713" cy="123713"/>
          </a:xfrm>
          <a:prstGeom prst="ellipse">
            <a:avLst/>
          </a:prstGeom>
          <a:ln w="11906">
            <a:solidFill>
              <a:srgbClr val="CFCF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92659" y="2861593"/>
            <a:ext cx="4783429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Infrastructure </a:t>
            </a:r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lourde </a:t>
            </a:r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à déployer</a:t>
            </a:r>
            <a:endParaRPr lang="en-US" sz="1163" dirty="0"/>
          </a:p>
        </p:txBody>
      </p:sp>
      <p:sp>
        <p:nvSpPr>
          <p:cNvPr id="16" name="Shape 13"/>
          <p:cNvSpPr/>
          <p:nvPr/>
        </p:nvSpPr>
        <p:spPr>
          <a:xfrm>
            <a:off x="1097607" y="3629546"/>
            <a:ext cx="464362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7" name="Shape 14"/>
          <p:cNvSpPr/>
          <p:nvPr/>
        </p:nvSpPr>
        <p:spPr>
          <a:xfrm>
            <a:off x="1097607" y="3337099"/>
            <a:ext cx="123713" cy="123713"/>
          </a:xfrm>
          <a:prstGeom prst="ellipse">
            <a:avLst/>
          </a:prstGeom>
          <a:ln w="11906">
            <a:solidFill>
              <a:srgbClr val="CFCF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92659" y="3308635"/>
            <a:ext cx="4783429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Une </a:t>
            </a:r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équipe DevOps </a:t>
            </a:r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nécessaire</a:t>
            </a:r>
            <a:endParaRPr lang="en-US" sz="1163" dirty="0"/>
          </a:p>
        </p:txBody>
      </p:sp>
      <p:sp>
        <p:nvSpPr>
          <p:cNvPr id="19" name="Shape 16"/>
          <p:cNvSpPr/>
          <p:nvPr/>
        </p:nvSpPr>
        <p:spPr>
          <a:xfrm>
            <a:off x="1097607" y="4076588"/>
            <a:ext cx="464362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Shape 17"/>
          <p:cNvSpPr/>
          <p:nvPr/>
        </p:nvSpPr>
        <p:spPr>
          <a:xfrm>
            <a:off x="1097607" y="3784141"/>
            <a:ext cx="123713" cy="123713"/>
          </a:xfrm>
          <a:prstGeom prst="ellipse">
            <a:avLst/>
          </a:prstGeom>
          <a:ln w="11906">
            <a:solidFill>
              <a:srgbClr val="CFCFC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92659" y="3755678"/>
            <a:ext cx="4783429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Données souvent </a:t>
            </a:r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dans le cloud</a:t>
            </a:r>
            <a:endParaRPr lang="en-US" sz="1163" dirty="0"/>
          </a:p>
        </p:txBody>
      </p:sp>
      <p:sp>
        <p:nvSpPr>
          <p:cNvPr id="22" name="Shape 19"/>
          <p:cNvSpPr/>
          <p:nvPr/>
        </p:nvSpPr>
        <p:spPr>
          <a:xfrm>
            <a:off x="6191250" y="1631528"/>
            <a:ext cx="5162662" cy="2659373"/>
          </a:xfrm>
          <a:prstGeom prst="roundRect">
            <a:avLst>
              <a:gd name="adj" fmla="val 2149"/>
            </a:avLst>
          </a:prstGeom>
          <a:solidFill>
            <a:srgbClr val="2A2A2A"/>
          </a:solidFill>
          <a:ln/>
        </p:spPr>
      </p:sp>
      <p:sp>
        <p:nvSpPr>
          <p:cNvPr id="23" name="Shape 20"/>
          <p:cNvSpPr/>
          <p:nvPr/>
        </p:nvSpPr>
        <p:spPr>
          <a:xfrm>
            <a:off x="6191250" y="1631528"/>
            <a:ext cx="516266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4" name="Text 21"/>
          <p:cNvSpPr/>
          <p:nvPr/>
        </p:nvSpPr>
        <p:spPr>
          <a:xfrm>
            <a:off x="6438863" y="1864816"/>
            <a:ext cx="85178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-16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Ce socle</a:t>
            </a:r>
            <a:endParaRPr lang="en-US" sz="1575" dirty="0"/>
          </a:p>
        </p:txBody>
      </p:sp>
      <p:sp>
        <p:nvSpPr>
          <p:cNvPr id="25" name="Text 22"/>
          <p:cNvSpPr/>
          <p:nvPr/>
        </p:nvSpPr>
        <p:spPr>
          <a:xfrm>
            <a:off x="10391552" y="1971973"/>
            <a:ext cx="790947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7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Local-first</a:t>
            </a:r>
            <a:endParaRPr lang="en-US" sz="825" dirty="0"/>
          </a:p>
        </p:txBody>
      </p:sp>
      <p:sp>
        <p:nvSpPr>
          <p:cNvPr id="26" name="Shape 23"/>
          <p:cNvSpPr/>
          <p:nvPr/>
        </p:nvSpPr>
        <p:spPr>
          <a:xfrm>
            <a:off x="6438863" y="2283768"/>
            <a:ext cx="4667436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438863" y="2747367"/>
            <a:ext cx="4667436" cy="1190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438863" y="2445432"/>
            <a:ext cx="114226" cy="17133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9" name="Text 26"/>
          <p:cNvSpPr/>
          <p:nvPr/>
        </p:nvSpPr>
        <p:spPr>
          <a:xfrm>
            <a:off x="6733915" y="2426457"/>
            <a:ext cx="4809623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100 % local </a:t>
            </a:r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— aucun cloud requis</a:t>
            </a:r>
            <a:endParaRPr lang="en-US" sz="1163" dirty="0"/>
          </a:p>
        </p:txBody>
      </p:sp>
      <p:sp>
        <p:nvSpPr>
          <p:cNvPr id="30" name="Shape 27"/>
          <p:cNvSpPr/>
          <p:nvPr/>
        </p:nvSpPr>
        <p:spPr>
          <a:xfrm>
            <a:off x="6438863" y="3194410"/>
            <a:ext cx="4667436" cy="1190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438863" y="2892475"/>
            <a:ext cx="114226" cy="17133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2" name="Text 29"/>
          <p:cNvSpPr/>
          <p:nvPr/>
        </p:nvSpPr>
        <p:spPr>
          <a:xfrm>
            <a:off x="6733915" y="2873499"/>
            <a:ext cx="4809623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Souverain </a:t>
            </a:r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— les données ne quittent pas l'entreprise</a:t>
            </a:r>
            <a:endParaRPr lang="en-US" sz="1163" dirty="0"/>
          </a:p>
        </p:txBody>
      </p:sp>
      <p:sp>
        <p:nvSpPr>
          <p:cNvPr id="33" name="Shape 30"/>
          <p:cNvSpPr/>
          <p:nvPr/>
        </p:nvSpPr>
        <p:spPr>
          <a:xfrm>
            <a:off x="6438863" y="3641452"/>
            <a:ext cx="4667436" cy="1190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438863" y="3339517"/>
            <a:ext cx="114226" cy="17133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5" name="Text 32"/>
          <p:cNvSpPr/>
          <p:nvPr/>
        </p:nvSpPr>
        <p:spPr>
          <a:xfrm>
            <a:off x="6733915" y="3320542"/>
            <a:ext cx="4809623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Léger </a:t>
            </a:r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— tourne sur un laptop</a:t>
            </a:r>
            <a:endParaRPr lang="en-US" sz="1163" dirty="0"/>
          </a:p>
        </p:txBody>
      </p:sp>
      <p:sp>
        <p:nvSpPr>
          <p:cNvPr id="36" name="Shape 33"/>
          <p:cNvSpPr/>
          <p:nvPr/>
        </p:nvSpPr>
        <p:spPr>
          <a:xfrm>
            <a:off x="6438863" y="4088495"/>
            <a:ext cx="4667436" cy="1190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6438863" y="3786560"/>
            <a:ext cx="114226" cy="17133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8" name="Text 35"/>
          <p:cNvSpPr/>
          <p:nvPr/>
        </p:nvSpPr>
        <p:spPr>
          <a:xfrm>
            <a:off x="6733915" y="3767584"/>
            <a:ext cx="4809623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Maîtrisable </a:t>
            </a:r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par un seul développeur</a:t>
            </a:r>
            <a:endParaRPr lang="en-US" sz="1163" dirty="0"/>
          </a:p>
        </p:txBody>
      </p:sp>
      <p:sp>
        <p:nvSpPr>
          <p:cNvPr id="39" name="Shape 36"/>
          <p:cNvSpPr/>
          <p:nvPr/>
        </p:nvSpPr>
        <p:spPr>
          <a:xfrm>
            <a:off x="838088" y="4462239"/>
            <a:ext cx="10515823" cy="749722"/>
          </a:xfrm>
          <a:prstGeom prst="roundRect">
            <a:avLst>
              <a:gd name="adj" fmla="val 7623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59470" y="4617021"/>
            <a:ext cx="37951" cy="440159"/>
          </a:xfrm>
          <a:prstGeom prst="roundRect">
            <a:avLst>
              <a:gd name="adj" fmla="val 50000"/>
            </a:avLst>
          </a:prstGeom>
          <a:solidFill>
            <a:srgbClr val="6E8523"/>
          </a:solidFill>
          <a:ln/>
        </p:spPr>
      </p:sp>
      <p:sp>
        <p:nvSpPr>
          <p:cNvPr id="41" name="Text 38"/>
          <p:cNvSpPr/>
          <p:nvPr/>
        </p:nvSpPr>
        <p:spPr>
          <a:xfrm>
            <a:off x="1249784" y="4617021"/>
            <a:ext cx="10179228" cy="478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L'objectif n'est pas de </a:t>
            </a:r>
            <a:pPr algn="l" indent="0" marL="0">
              <a:lnSpc>
                <a:spcPct val="140000"/>
              </a:lnSpc>
              <a:buNone/>
            </a:pPr>
            <a:r>
              <a:rPr lang="en-US" sz="1238" b="1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concurrencer </a:t>
            </a:r>
            <a:pPr algn="l" indent="0" marL="0">
              <a:lnSpc>
                <a:spcPct val="140000"/>
              </a:lnSpc>
              <a:buNone/>
            </a:pP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ces plateformes, mais de </a:t>
            </a:r>
            <a:pPr algn="l" indent="0" marL="0">
              <a:lnSpc>
                <a:spcPct val="140000"/>
              </a:lnSpc>
              <a:buNone/>
            </a:pPr>
            <a:r>
              <a:rPr lang="en-US" sz="1238" b="1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démontrer leurs principes </a:t>
            </a:r>
            <a:pPr algn="l" indent="0" marL="0">
              <a:lnSpc>
                <a:spcPct val="140000"/>
              </a:lnSpc>
              <a:buNone/>
            </a:pP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dans un contexte où le cloud n'est pas une option.</a:t>
            </a:r>
            <a:endParaRPr lang="en-US" sz="1238" dirty="0"/>
          </a:p>
        </p:txBody>
      </p:sp>
      <p:sp>
        <p:nvSpPr>
          <p:cNvPr id="42" name="Text 39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1099416" y="6418585"/>
            <a:ext cx="254496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86000"/>
            <a:ext cx="1238250" cy="2286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37" y="2286000"/>
            <a:ext cx="1238250" cy="228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088" y="2145543"/>
            <a:ext cx="947190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2 · 02 / 04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2743088" y="2464594"/>
            <a:ext cx="7793606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L'architecture générique</a:t>
            </a:r>
            <a:endParaRPr lang="en-US" sz="4500" dirty="0"/>
          </a:p>
        </p:txBody>
      </p:sp>
      <p:sp>
        <p:nvSpPr>
          <p:cNvPr id="7" name="Shape 3"/>
          <p:cNvSpPr/>
          <p:nvPr/>
        </p:nvSpPr>
        <p:spPr>
          <a:xfrm>
            <a:off x="2743088" y="3931109"/>
            <a:ext cx="685726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8" name="Text 4"/>
          <p:cNvSpPr/>
          <p:nvPr/>
        </p:nvSpPr>
        <p:spPr>
          <a:xfrm>
            <a:off x="2743088" y="4197697"/>
            <a:ext cx="3602385" cy="552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4 couches, 5 phases, un registry : l'ossature commune à tous les use cases.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913377" y="2230841"/>
            <a:ext cx="4203688" cy="2434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000"/>
              </a:lnSpc>
              <a:buNone/>
            </a:pPr>
            <a:r>
              <a:rPr lang="en-US" sz="25500" b="1" spc="-1020" kern="0" dirty="0">
                <a:solidFill>
                  <a:srgbClr val="BDD248">
                    <a:alpha val="8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25500" dirty="0"/>
          </a:p>
        </p:txBody>
      </p:sp>
      <p:sp>
        <p:nvSpPr>
          <p:cNvPr id="10" name="Text 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4113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02 · ARCHITECTURE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6713990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4 couches 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d'abstraction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38088" y="1718035"/>
            <a:ext cx="6744146" cy="3619500"/>
          </a:xfrm>
          <a:prstGeom prst="roundRect">
            <a:avLst>
              <a:gd name="adj" fmla="val 1579"/>
            </a:avLst>
          </a:prstGeom>
          <a:ln/>
          <a:effectLst>
            <a:outerShdw sx="100000" sy="100000" kx="0" ky="0" algn="bl" rotWithShape="0" blurRad="228600" dist="76200" dir="5400000">
              <a:srgbClr val="2A2A2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38088" y="1718035"/>
            <a:ext cx="6744146" cy="925711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2631839"/>
            <a:ext cx="6744146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1718035"/>
            <a:ext cx="6744146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0" name="Text 7"/>
          <p:cNvSpPr/>
          <p:nvPr/>
        </p:nvSpPr>
        <p:spPr>
          <a:xfrm>
            <a:off x="7139657" y="1895140"/>
            <a:ext cx="347439" cy="62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FFFFFF">
                    <a:alpha val="7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4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1123838" y="1967322"/>
            <a:ext cx="6789911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25" b="1" spc="43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SERVICES OPS TRANSVERSAUX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1123838" y="2232980"/>
            <a:ext cx="6789911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spc="20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MLflow · Prometheus / Grafana · Docker · CI/CT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838088" y="2643746"/>
            <a:ext cx="6744146" cy="90189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4" name="Shape 11"/>
          <p:cNvSpPr/>
          <p:nvPr/>
        </p:nvSpPr>
        <p:spPr>
          <a:xfrm>
            <a:off x="838088" y="3533738"/>
            <a:ext cx="6744146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838088" y="2643746"/>
            <a:ext cx="35719" cy="90189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6" name="Text 13"/>
          <p:cNvSpPr/>
          <p:nvPr/>
        </p:nvSpPr>
        <p:spPr>
          <a:xfrm>
            <a:off x="7170353" y="2797039"/>
            <a:ext cx="316743" cy="62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3F3F3F">
                    <a:alpha val="7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</a:t>
            </a:r>
            <a:endParaRPr lang="en-US" sz="3150" dirty="0"/>
          </a:p>
        </p:txBody>
      </p:sp>
      <p:sp>
        <p:nvSpPr>
          <p:cNvPr id="17" name="Text 14"/>
          <p:cNvSpPr/>
          <p:nvPr/>
        </p:nvSpPr>
        <p:spPr>
          <a:xfrm>
            <a:off x="1159557" y="2869220"/>
            <a:ext cx="6750621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25" b="1" spc="43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COMPOSANTS PLUGGABLES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1159557" y="3134878"/>
            <a:ext cx="6750621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spc="2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chunkers · embedders · vector stores · generators</a:t>
            </a:r>
            <a:endParaRPr lang="en-US" sz="975" dirty="0"/>
          </a:p>
        </p:txBody>
      </p:sp>
      <p:sp>
        <p:nvSpPr>
          <p:cNvPr id="19" name="Shape 16"/>
          <p:cNvSpPr/>
          <p:nvPr/>
        </p:nvSpPr>
        <p:spPr>
          <a:xfrm>
            <a:off x="838088" y="3545644"/>
            <a:ext cx="6744146" cy="90189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0" name="Shape 17"/>
          <p:cNvSpPr/>
          <p:nvPr/>
        </p:nvSpPr>
        <p:spPr>
          <a:xfrm>
            <a:off x="838088" y="4435636"/>
            <a:ext cx="6744146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7156400" y="3698937"/>
            <a:ext cx="330696" cy="62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3F3F3F">
                    <a:alpha val="7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</a:t>
            </a:r>
            <a:endParaRPr lang="en-US" sz="3150" dirty="0"/>
          </a:p>
        </p:txBody>
      </p:sp>
      <p:sp>
        <p:nvSpPr>
          <p:cNvPr id="22" name="Text 19"/>
          <p:cNvSpPr/>
          <p:nvPr/>
        </p:nvSpPr>
        <p:spPr>
          <a:xfrm>
            <a:off x="1123838" y="3766840"/>
            <a:ext cx="6789911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25" b="1" spc="43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USE CASES</a:t>
            </a:r>
            <a:endParaRPr lang="en-US" sz="1425" dirty="0"/>
          </a:p>
        </p:txBody>
      </p:sp>
      <p:sp>
        <p:nvSpPr>
          <p:cNvPr id="23" name="Text 20"/>
          <p:cNvSpPr/>
          <p:nvPr/>
        </p:nvSpPr>
        <p:spPr>
          <a:xfrm>
            <a:off x="1123838" y="4036591"/>
            <a:ext cx="306698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spc="20" kern="0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1411449" y="4044218"/>
            <a:ext cx="690563" cy="157944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25" name="Text 22"/>
          <p:cNvSpPr/>
          <p:nvPr/>
        </p:nvSpPr>
        <p:spPr>
          <a:xfrm>
            <a:off x="1478124" y="4063268"/>
            <a:ext cx="633413" cy="15794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spc="34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IMPLÉMENTÉ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2168612" y="4036591"/>
            <a:ext cx="153033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spc="20" kern="0" dirty="0">
                <a:solidFill>
                  <a:srgbClr val="1C1C1C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2312045" y="4036591"/>
            <a:ext cx="997632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spc="20" kern="0" dirty="0">
                <a:solidFill>
                  <a:srgbClr val="1C1C1C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 classique</a:t>
            </a:r>
            <a:endParaRPr lang="en-US" sz="975" dirty="0"/>
          </a:p>
        </p:txBody>
      </p:sp>
      <p:sp>
        <p:nvSpPr>
          <p:cNvPr id="28" name="Shape 25"/>
          <p:cNvSpPr/>
          <p:nvPr/>
        </p:nvSpPr>
        <p:spPr>
          <a:xfrm>
            <a:off x="3290590" y="4032498"/>
            <a:ext cx="547129" cy="181756"/>
          </a:xfrm>
          <a:prstGeom prst="roundRect">
            <a:avLst>
              <a:gd name="adj" fmla="val 50000"/>
            </a:avLst>
          </a:prstGeom>
          <a:ln w="11906">
            <a:solidFill>
              <a:srgbClr val="1C1C1C">
                <a:alpha val="50000"/>
              </a:srgbClr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3369171" y="4063454"/>
            <a:ext cx="466167" cy="15794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spc="34" kern="0" dirty="0">
                <a:solidFill>
                  <a:srgbClr val="1C1C1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EXEMPLE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3904320" y="4036591"/>
            <a:ext cx="153033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spc="20" kern="0" dirty="0">
                <a:solidFill>
                  <a:srgbClr val="1C1C1C">
                    <a:alpha val="3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4047753" y="4036591"/>
            <a:ext cx="920800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spc="20" kern="0" dirty="0">
                <a:solidFill>
                  <a:srgbClr val="1C1C1C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Fine-tuning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4949465" y="4032498"/>
            <a:ext cx="547129" cy="181756"/>
          </a:xfrm>
          <a:prstGeom prst="roundRect">
            <a:avLst>
              <a:gd name="adj" fmla="val 50000"/>
            </a:avLst>
          </a:prstGeom>
          <a:ln w="11906">
            <a:solidFill>
              <a:srgbClr val="1C1C1C">
                <a:alpha val="50000"/>
              </a:srgbClr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5028047" y="4063454"/>
            <a:ext cx="466167" cy="15794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675" b="1" spc="34" kern="0" dirty="0">
                <a:solidFill>
                  <a:srgbClr val="1C1C1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EXEMPLE</a:t>
            </a:r>
            <a:endParaRPr lang="en-US" sz="675" dirty="0"/>
          </a:p>
        </p:txBody>
      </p:sp>
      <p:sp>
        <p:nvSpPr>
          <p:cNvPr id="34" name="Shape 31"/>
          <p:cNvSpPr/>
          <p:nvPr/>
        </p:nvSpPr>
        <p:spPr>
          <a:xfrm>
            <a:off x="838088" y="4447542"/>
            <a:ext cx="6744146" cy="889992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5" name="Text 32"/>
          <p:cNvSpPr/>
          <p:nvPr/>
        </p:nvSpPr>
        <p:spPr>
          <a:xfrm>
            <a:off x="7215188" y="4600835"/>
            <a:ext cx="271909" cy="621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FFFFFF">
                    <a:alpha val="7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</a:t>
            </a:r>
            <a:endParaRPr lang="en-US" sz="3150" dirty="0"/>
          </a:p>
        </p:txBody>
      </p:sp>
      <p:sp>
        <p:nvSpPr>
          <p:cNvPr id="36" name="Text 33"/>
          <p:cNvSpPr/>
          <p:nvPr/>
        </p:nvSpPr>
        <p:spPr>
          <a:xfrm>
            <a:off x="1123838" y="4673017"/>
            <a:ext cx="6789911" cy="237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25" b="1" spc="43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MOTEUR GÉNÉRIQUE</a:t>
            </a:r>
            <a:endParaRPr lang="en-US" sz="1425" dirty="0"/>
          </a:p>
        </p:txBody>
      </p:sp>
      <p:sp>
        <p:nvSpPr>
          <p:cNvPr id="37" name="Text 34"/>
          <p:cNvSpPr/>
          <p:nvPr/>
        </p:nvSpPr>
        <p:spPr>
          <a:xfrm>
            <a:off x="1123838" y="4938675"/>
            <a:ext cx="6789911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spc="20" kern="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phases · Registry · Context</a:t>
            </a:r>
            <a:endParaRPr lang="en-US" sz="975" dirty="0"/>
          </a:p>
        </p:txBody>
      </p:sp>
      <p:sp>
        <p:nvSpPr>
          <p:cNvPr id="38" name="Shape 35"/>
          <p:cNvSpPr/>
          <p:nvPr/>
        </p:nvSpPr>
        <p:spPr>
          <a:xfrm>
            <a:off x="7734598" y="1718035"/>
            <a:ext cx="1600088" cy="3619500"/>
          </a:xfrm>
          <a:prstGeom prst="roundRect">
            <a:avLst>
              <a:gd name="adj" fmla="val 3572"/>
            </a:avLst>
          </a:prstGeom>
          <a:ln/>
          <a:effectLst>
            <a:outerShdw sx="100000" sy="100000" kx="0" ky="0" algn="bl" rotWithShape="0" blurRad="76200" dist="19050" dir="5400000">
              <a:srgbClr val="2A2A2A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734598" y="1718035"/>
            <a:ext cx="1600088" cy="907852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0" name="Shape 37"/>
          <p:cNvSpPr/>
          <p:nvPr/>
        </p:nvSpPr>
        <p:spPr>
          <a:xfrm>
            <a:off x="7734598" y="2613980"/>
            <a:ext cx="160008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1" name="Text 38"/>
          <p:cNvSpPr/>
          <p:nvPr/>
        </p:nvSpPr>
        <p:spPr>
          <a:xfrm>
            <a:off x="7886960" y="1927882"/>
            <a:ext cx="1424899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 ?</a:t>
            </a:r>
            <a:endParaRPr lang="en-US" sz="675" dirty="0"/>
          </a:p>
        </p:txBody>
      </p:sp>
      <p:sp>
        <p:nvSpPr>
          <p:cNvPr id="42" name="Text 39"/>
          <p:cNvSpPr/>
          <p:nvPr/>
        </p:nvSpPr>
        <p:spPr>
          <a:xfrm>
            <a:off x="7886960" y="2082664"/>
            <a:ext cx="1371563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fournis automatiquement</a:t>
            </a:r>
            <a:endParaRPr lang="en-US" sz="938" dirty="0"/>
          </a:p>
        </p:txBody>
      </p:sp>
      <p:sp>
        <p:nvSpPr>
          <p:cNvPr id="43" name="Shape 40"/>
          <p:cNvSpPr/>
          <p:nvPr/>
        </p:nvSpPr>
        <p:spPr>
          <a:xfrm>
            <a:off x="7734598" y="2625886"/>
            <a:ext cx="1600088" cy="907852"/>
          </a:xfrm>
          <a:prstGeom prst="rect">
            <a:avLst/>
          </a:prstGeom>
          <a:solidFill>
            <a:srgbClr val="EFF4D8"/>
          </a:solidFill>
          <a:ln/>
        </p:spPr>
      </p:sp>
      <p:sp>
        <p:nvSpPr>
          <p:cNvPr id="44" name="Shape 41"/>
          <p:cNvSpPr/>
          <p:nvPr/>
        </p:nvSpPr>
        <p:spPr>
          <a:xfrm>
            <a:off x="7734598" y="3521832"/>
            <a:ext cx="160008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5" name="Shape 42"/>
          <p:cNvSpPr/>
          <p:nvPr/>
        </p:nvSpPr>
        <p:spPr>
          <a:xfrm>
            <a:off x="7734598" y="2625886"/>
            <a:ext cx="23813" cy="90785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6" name="Text 43"/>
          <p:cNvSpPr/>
          <p:nvPr/>
        </p:nvSpPr>
        <p:spPr>
          <a:xfrm>
            <a:off x="7910773" y="2675000"/>
            <a:ext cx="1398705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8FA82E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 ?</a:t>
            </a:r>
            <a:endParaRPr lang="en-US" sz="675" dirty="0"/>
          </a:p>
        </p:txBody>
      </p:sp>
      <p:sp>
        <p:nvSpPr>
          <p:cNvPr id="47" name="Text 44"/>
          <p:cNvSpPr/>
          <p:nvPr/>
        </p:nvSpPr>
        <p:spPr>
          <a:xfrm>
            <a:off x="7910773" y="2829781"/>
            <a:ext cx="134775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38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choisis dans le catalogue ou ajoutés par le dev (1 classe + 1 ligne)</a:t>
            </a:r>
            <a:endParaRPr lang="en-US" sz="938" dirty="0"/>
          </a:p>
        </p:txBody>
      </p:sp>
      <p:sp>
        <p:nvSpPr>
          <p:cNvPr id="48" name="Shape 45"/>
          <p:cNvSpPr/>
          <p:nvPr/>
        </p:nvSpPr>
        <p:spPr>
          <a:xfrm>
            <a:off x="7734598" y="3533738"/>
            <a:ext cx="1600088" cy="907852"/>
          </a:xfrm>
          <a:prstGeom prst="rect">
            <a:avLst/>
          </a:prstGeom>
          <a:solidFill>
            <a:srgbClr val="EFF4D8"/>
          </a:solidFill>
          <a:ln/>
        </p:spPr>
      </p:sp>
      <p:sp>
        <p:nvSpPr>
          <p:cNvPr id="49" name="Shape 46"/>
          <p:cNvSpPr/>
          <p:nvPr/>
        </p:nvSpPr>
        <p:spPr>
          <a:xfrm>
            <a:off x="7734598" y="4429683"/>
            <a:ext cx="160008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0" name="Shape 47"/>
          <p:cNvSpPr/>
          <p:nvPr/>
        </p:nvSpPr>
        <p:spPr>
          <a:xfrm>
            <a:off x="7734598" y="3533738"/>
            <a:ext cx="23813" cy="90785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1" name="Text 48"/>
          <p:cNvSpPr/>
          <p:nvPr/>
        </p:nvSpPr>
        <p:spPr>
          <a:xfrm>
            <a:off x="7910773" y="3743585"/>
            <a:ext cx="1398705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8FA82E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 ?</a:t>
            </a:r>
            <a:endParaRPr lang="en-US" sz="675" dirty="0"/>
          </a:p>
        </p:txBody>
      </p:sp>
      <p:sp>
        <p:nvSpPr>
          <p:cNvPr id="52" name="Text 49"/>
          <p:cNvSpPr/>
          <p:nvPr/>
        </p:nvSpPr>
        <p:spPr>
          <a:xfrm>
            <a:off x="7910773" y="3898367"/>
            <a:ext cx="134775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38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écrit par le développeur ML</a:t>
            </a:r>
            <a:endParaRPr lang="en-US" sz="938" dirty="0"/>
          </a:p>
        </p:txBody>
      </p:sp>
      <p:sp>
        <p:nvSpPr>
          <p:cNvPr id="53" name="Shape 50"/>
          <p:cNvSpPr/>
          <p:nvPr/>
        </p:nvSpPr>
        <p:spPr>
          <a:xfrm>
            <a:off x="7734598" y="4441589"/>
            <a:ext cx="1600088" cy="895945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4" name="Text 51"/>
          <p:cNvSpPr/>
          <p:nvPr/>
        </p:nvSpPr>
        <p:spPr>
          <a:xfrm>
            <a:off x="7886960" y="4731804"/>
            <a:ext cx="1424899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95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 ?</a:t>
            </a:r>
            <a:endParaRPr lang="en-US" sz="675" dirty="0"/>
          </a:p>
        </p:txBody>
      </p:sp>
      <p:sp>
        <p:nvSpPr>
          <p:cNvPr id="55" name="Text 52"/>
          <p:cNvSpPr/>
          <p:nvPr/>
        </p:nvSpPr>
        <p:spPr>
          <a:xfrm>
            <a:off x="7886960" y="4886585"/>
            <a:ext cx="1424899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fourni par la plateforme</a:t>
            </a:r>
            <a:endParaRPr lang="en-US" sz="938" dirty="0"/>
          </a:p>
        </p:txBody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87049" y="1718035"/>
            <a:ext cx="342863" cy="3619500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9963113" y="2598539"/>
            <a:ext cx="1466999" cy="189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développeur </a:t>
            </a:r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écrit </a:t>
            </a:r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sa couche use case </a:t>
            </a:r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(2) </a:t>
            </a:r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et, si besoin, ajoute ses propres composants </a:t>
            </a:r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(3) </a:t>
            </a:r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— la couche 3 est extensible. Il </a:t>
            </a:r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hérite </a:t>
            </a:r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gratuitement du moteur </a:t>
            </a:r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(1) </a:t>
            </a:r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et des services OPS </a:t>
            </a:r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(4)</a:t>
            </a:r>
            <a:pPr algn="l" indent="0" marL="0">
              <a:lnSpc>
                <a:spcPct val="15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</a:t>
            </a:r>
            <a:endParaRPr lang="en-US" sz="975" dirty="0"/>
          </a:p>
        </p:txBody>
      </p:sp>
      <p:sp>
        <p:nvSpPr>
          <p:cNvPr id="58" name="Text 54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9319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02 · MOTEUR GÉNÉRIQUE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6713990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 contrat universel : 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 phases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38088" y="1737196"/>
            <a:ext cx="1798216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7" name="Shape 4"/>
          <p:cNvSpPr/>
          <p:nvPr/>
        </p:nvSpPr>
        <p:spPr>
          <a:xfrm>
            <a:off x="838088" y="3063255"/>
            <a:ext cx="179821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1737196"/>
            <a:ext cx="1798216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2624398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Text 8"/>
          <p:cNvSpPr/>
          <p:nvPr/>
        </p:nvSpPr>
        <p:spPr>
          <a:xfrm>
            <a:off x="1021333" y="1982391"/>
            <a:ext cx="1574899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21333" y="2213260"/>
            <a:ext cx="157489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PREPARE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021333" y="2522823"/>
            <a:ext cx="143172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4" name="Text 11"/>
          <p:cNvSpPr/>
          <p:nvPr/>
        </p:nvSpPr>
        <p:spPr>
          <a:xfrm>
            <a:off x="1021333" y="2687129"/>
            <a:ext cx="1507927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données</a:t>
            </a:r>
            <a:endParaRPr lang="en-US" sz="10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792" y="2291953"/>
            <a:ext cx="361838" cy="228451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017304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17" name="Shape 13"/>
          <p:cNvSpPr/>
          <p:nvPr/>
        </p:nvSpPr>
        <p:spPr>
          <a:xfrm>
            <a:off x="3017304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8" name="Shape 14"/>
          <p:cNvSpPr/>
          <p:nvPr/>
        </p:nvSpPr>
        <p:spPr>
          <a:xfrm>
            <a:off x="3017304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9" name="Shape 15"/>
          <p:cNvSpPr/>
          <p:nvPr/>
        </p:nvSpPr>
        <p:spPr>
          <a:xfrm>
            <a:off x="3017304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Shape 16"/>
          <p:cNvSpPr/>
          <p:nvPr/>
        </p:nvSpPr>
        <p:spPr>
          <a:xfrm>
            <a:off x="4803800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1" name="Text 17"/>
          <p:cNvSpPr/>
          <p:nvPr/>
        </p:nvSpPr>
        <p:spPr>
          <a:xfrm>
            <a:off x="3200549" y="1982391"/>
            <a:ext cx="157510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200549" y="2213260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PROCESS</a:t>
            </a:r>
            <a:endParaRPr lang="en-US" sz="1650" dirty="0"/>
          </a:p>
        </p:txBody>
      </p:sp>
      <p:sp>
        <p:nvSpPr>
          <p:cNvPr id="23" name="Shape 19"/>
          <p:cNvSpPr/>
          <p:nvPr/>
        </p:nvSpPr>
        <p:spPr>
          <a:xfrm>
            <a:off x="3200549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Text 20"/>
          <p:cNvSpPr/>
          <p:nvPr/>
        </p:nvSpPr>
        <p:spPr>
          <a:xfrm>
            <a:off x="3200549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features</a:t>
            </a:r>
            <a:endParaRPr lang="en-US" sz="10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194" y="2291953"/>
            <a:ext cx="361838" cy="228451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196706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27" name="Shape 22"/>
          <p:cNvSpPr/>
          <p:nvPr/>
        </p:nvSpPr>
        <p:spPr>
          <a:xfrm>
            <a:off x="5196706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8" name="Shape 23"/>
          <p:cNvSpPr/>
          <p:nvPr/>
        </p:nvSpPr>
        <p:spPr>
          <a:xfrm>
            <a:off x="5196706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9" name="Shape 24"/>
          <p:cNvSpPr/>
          <p:nvPr/>
        </p:nvSpPr>
        <p:spPr>
          <a:xfrm>
            <a:off x="5196706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5"/>
          <p:cNvSpPr/>
          <p:nvPr/>
        </p:nvSpPr>
        <p:spPr>
          <a:xfrm>
            <a:off x="6983202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1" name="Text 26"/>
          <p:cNvSpPr/>
          <p:nvPr/>
        </p:nvSpPr>
        <p:spPr>
          <a:xfrm>
            <a:off x="5379951" y="1982391"/>
            <a:ext cx="157510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379951" y="2213260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BUILD</a:t>
            </a:r>
            <a:endParaRPr lang="en-US" sz="1650" dirty="0"/>
          </a:p>
        </p:txBody>
      </p:sp>
      <p:sp>
        <p:nvSpPr>
          <p:cNvPr id="33" name="Shape 28"/>
          <p:cNvSpPr/>
          <p:nvPr/>
        </p:nvSpPr>
        <p:spPr>
          <a:xfrm>
            <a:off x="5379951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Text 29"/>
          <p:cNvSpPr/>
          <p:nvPr/>
        </p:nvSpPr>
        <p:spPr>
          <a:xfrm>
            <a:off x="5379951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index · modèle</a:t>
            </a:r>
            <a:endParaRPr lang="en-US" sz="105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596" y="2291953"/>
            <a:ext cx="361838" cy="228451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376108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37" name="Shape 31"/>
          <p:cNvSpPr/>
          <p:nvPr/>
        </p:nvSpPr>
        <p:spPr>
          <a:xfrm>
            <a:off x="7376108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Shape 32"/>
          <p:cNvSpPr/>
          <p:nvPr/>
        </p:nvSpPr>
        <p:spPr>
          <a:xfrm>
            <a:off x="7376108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9" name="Shape 33"/>
          <p:cNvSpPr/>
          <p:nvPr/>
        </p:nvSpPr>
        <p:spPr>
          <a:xfrm>
            <a:off x="7376108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Shape 34"/>
          <p:cNvSpPr/>
          <p:nvPr/>
        </p:nvSpPr>
        <p:spPr>
          <a:xfrm>
            <a:off x="9162604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1" name="Text 35"/>
          <p:cNvSpPr/>
          <p:nvPr/>
        </p:nvSpPr>
        <p:spPr>
          <a:xfrm>
            <a:off x="7559353" y="1982391"/>
            <a:ext cx="157510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7559353" y="2213260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EVALUATE</a:t>
            </a:r>
            <a:endParaRPr lang="en-US" sz="1650" dirty="0"/>
          </a:p>
        </p:txBody>
      </p:sp>
      <p:sp>
        <p:nvSpPr>
          <p:cNvPr id="43" name="Shape 37"/>
          <p:cNvSpPr/>
          <p:nvPr/>
        </p:nvSpPr>
        <p:spPr>
          <a:xfrm>
            <a:off x="7559353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Text 38"/>
          <p:cNvSpPr/>
          <p:nvPr/>
        </p:nvSpPr>
        <p:spPr>
          <a:xfrm>
            <a:off x="7559353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qualité</a:t>
            </a:r>
            <a:endParaRPr lang="en-US" sz="105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3998" y="2291953"/>
            <a:ext cx="361838" cy="228451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9555510" y="1737196"/>
            <a:ext cx="1798402" cy="1337965"/>
          </a:xfrm>
          <a:prstGeom prst="roundRect">
            <a:avLst>
              <a:gd name="adj" fmla="val 4271"/>
            </a:avLst>
          </a:prstGeom>
          <a:solidFill>
            <a:srgbClr val="F4F4F4"/>
          </a:solidFill>
          <a:ln/>
        </p:spPr>
      </p:sp>
      <p:sp>
        <p:nvSpPr>
          <p:cNvPr id="47" name="Shape 40"/>
          <p:cNvSpPr/>
          <p:nvPr/>
        </p:nvSpPr>
        <p:spPr>
          <a:xfrm>
            <a:off x="9555510" y="3063255"/>
            <a:ext cx="179840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8" name="Shape 41"/>
          <p:cNvSpPr/>
          <p:nvPr/>
        </p:nvSpPr>
        <p:spPr>
          <a:xfrm>
            <a:off x="9555510" y="1737196"/>
            <a:ext cx="1798402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9" name="Shape 42"/>
          <p:cNvSpPr/>
          <p:nvPr/>
        </p:nvSpPr>
        <p:spPr>
          <a:xfrm>
            <a:off x="9555510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0" name="Shape 43"/>
          <p:cNvSpPr/>
          <p:nvPr/>
        </p:nvSpPr>
        <p:spPr>
          <a:xfrm>
            <a:off x="11342005" y="1737196"/>
            <a:ext cx="11906" cy="1337965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1" name="Text 44"/>
          <p:cNvSpPr/>
          <p:nvPr/>
        </p:nvSpPr>
        <p:spPr>
          <a:xfrm>
            <a:off x="9738754" y="1982391"/>
            <a:ext cx="157510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4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9738754" y="2213260"/>
            <a:ext cx="157510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DEPLOY</a:t>
            </a:r>
            <a:endParaRPr lang="en-US" sz="1650" dirty="0"/>
          </a:p>
        </p:txBody>
      </p:sp>
      <p:sp>
        <p:nvSpPr>
          <p:cNvPr id="53" name="Shape 46"/>
          <p:cNvSpPr/>
          <p:nvPr/>
        </p:nvSpPr>
        <p:spPr>
          <a:xfrm>
            <a:off x="9738754" y="2522823"/>
            <a:ext cx="143191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4" name="Text 47"/>
          <p:cNvSpPr/>
          <p:nvPr/>
        </p:nvSpPr>
        <p:spPr>
          <a:xfrm>
            <a:off x="9738754" y="2687129"/>
            <a:ext cx="1508113" cy="204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serving</a:t>
            </a:r>
            <a:endParaRPr lang="en-US" sz="1050" dirty="0"/>
          </a:p>
        </p:txBody>
      </p:sp>
      <p:sp>
        <p:nvSpPr>
          <p:cNvPr id="55" name="Shape 48"/>
          <p:cNvSpPr/>
          <p:nvPr/>
        </p:nvSpPr>
        <p:spPr>
          <a:xfrm>
            <a:off x="838088" y="3303612"/>
            <a:ext cx="10515823" cy="822647"/>
          </a:xfrm>
          <a:prstGeom prst="roundRect">
            <a:avLst>
              <a:gd name="adj" fmla="val 6947"/>
            </a:avLst>
          </a:prstGeom>
          <a:solidFill>
            <a:srgbClr val="2A2A2A"/>
          </a:solidFill>
          <a:ln/>
        </p:spPr>
      </p:sp>
      <p:sp>
        <p:nvSpPr>
          <p:cNvPr id="56" name="Shape 49"/>
          <p:cNvSpPr/>
          <p:nvPr/>
        </p:nvSpPr>
        <p:spPr>
          <a:xfrm>
            <a:off x="1104677" y="3543598"/>
            <a:ext cx="2879824" cy="342677"/>
          </a:xfrm>
          <a:prstGeom prst="roundRect">
            <a:avLst>
              <a:gd name="adj" fmla="val 8339"/>
            </a:avLst>
          </a:prstGeom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1268983" y="3631704"/>
            <a:ext cx="2637606" cy="2045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spc="41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BasePipeline · classe abstraite</a:t>
            </a:r>
            <a:endParaRPr lang="en-US" sz="1013" dirty="0"/>
          </a:p>
        </p:txBody>
      </p:sp>
      <p:sp>
        <p:nvSpPr>
          <p:cNvPr id="58" name="Text 51"/>
          <p:cNvSpPr/>
          <p:nvPr/>
        </p:nvSpPr>
        <p:spPr>
          <a:xfrm>
            <a:off x="4251089" y="3494112"/>
            <a:ext cx="7041321" cy="47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développeur </a:t>
            </a:r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hérite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l'orchestration des 5 phases (gratuite) et n'implémente que </a:t>
            </a:r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contenu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chaque phase — le core ne connaît </a:t>
            </a:r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aucun use case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</a:t>
            </a:r>
            <a:endParaRPr lang="en-US" sz="1200" dirty="0"/>
          </a:p>
        </p:txBody>
      </p:sp>
      <p:sp>
        <p:nvSpPr>
          <p:cNvPr id="59" name="Shape 52"/>
          <p:cNvSpPr/>
          <p:nvPr/>
        </p:nvSpPr>
        <p:spPr>
          <a:xfrm>
            <a:off x="838088" y="4278623"/>
            <a:ext cx="10515823" cy="774650"/>
          </a:xfrm>
          <a:prstGeom prst="roundRect">
            <a:avLst>
              <a:gd name="adj" fmla="val 737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1059470" y="4442892"/>
            <a:ext cx="37951" cy="446112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61" name="Text 54"/>
          <p:cNvSpPr/>
          <p:nvPr/>
        </p:nvSpPr>
        <p:spPr>
          <a:xfrm>
            <a:off x="1249784" y="4442892"/>
            <a:ext cx="10179228" cy="484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N'importe quel modèle ML — RAG, classification, fine-tuning — se plie au </a:t>
            </a:r>
            <a:pPr algn="l" indent="0" marL="0">
              <a:lnSpc>
                <a:spcPct val="142000"/>
              </a:lnSpc>
              <a:buNone/>
            </a:pPr>
            <a:r>
              <a:rPr lang="en-US" sz="1238" b="1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même contrat de 5 phases </a:t>
            </a:r>
            <a:pPr algn="l" indent="0" marL="0">
              <a:lnSpc>
                <a:spcPct val="142000"/>
              </a:lnSpc>
              <a:buNone/>
            </a:pP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: c'est ce qui rend la plateforme </a:t>
            </a:r>
            <a:pPr algn="l" indent="0" marL="0">
              <a:lnSpc>
                <a:spcPct val="142000"/>
              </a:lnSpc>
              <a:buNone/>
            </a:pPr>
            <a:r>
              <a:rPr lang="en-US" sz="1238" b="1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générique</a:t>
            </a:r>
            <a:pPr algn="l" indent="0" marL="0">
              <a:lnSpc>
                <a:spcPct val="142000"/>
              </a:lnSpc>
              <a:buNone/>
            </a:pPr>
            <a:r>
              <a:rPr lang="en-US" sz="123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</a:t>
            </a:r>
            <a:endParaRPr lang="en-US" sz="1238" dirty="0"/>
          </a:p>
        </p:txBody>
      </p:sp>
      <p:sp>
        <p:nvSpPr>
          <p:cNvPr id="62" name="Text 55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340655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02 · PATTERN ARCHITECTURAL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5493321" cy="532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Dispatch sans 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if/else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838088" y="1718035"/>
            <a:ext cx="54585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REGISTRY — CLÉ → CLASSE</a:t>
            </a:r>
            <a:endParaRPr lang="en-US" sz="825" dirty="0"/>
          </a:p>
        </p:txBody>
      </p:sp>
      <p:sp>
        <p:nvSpPr>
          <p:cNvPr id="7" name="Shape 4"/>
          <p:cNvSpPr/>
          <p:nvPr/>
        </p:nvSpPr>
        <p:spPr>
          <a:xfrm>
            <a:off x="838088" y="2032248"/>
            <a:ext cx="1409588" cy="435694"/>
          </a:xfrm>
          <a:prstGeom prst="roundRect">
            <a:avLst>
              <a:gd name="adj" fmla="val 8745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1445" y="2148929"/>
            <a:ext cx="1119076" cy="24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"rag"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927" y="2189262"/>
            <a:ext cx="228451" cy="1428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66628" y="2038201"/>
            <a:ext cx="2260141" cy="423788"/>
          </a:xfrm>
          <a:prstGeom prst="roundRect">
            <a:avLst>
              <a:gd name="adj" fmla="val 8990"/>
            </a:avLst>
          </a:prstGeom>
          <a:solidFill>
            <a:srgbClr val="F4F4F4"/>
          </a:solidFill>
          <a:ln/>
        </p:spPr>
      </p:sp>
      <p:sp>
        <p:nvSpPr>
          <p:cNvPr id="11" name="Shape 7"/>
          <p:cNvSpPr/>
          <p:nvPr/>
        </p:nvSpPr>
        <p:spPr>
          <a:xfrm>
            <a:off x="2666628" y="2450083"/>
            <a:ext cx="226014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Shape 8"/>
          <p:cNvSpPr/>
          <p:nvPr/>
        </p:nvSpPr>
        <p:spPr>
          <a:xfrm>
            <a:off x="2666628" y="2038201"/>
            <a:ext cx="226014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3" name="Shape 9"/>
          <p:cNvSpPr/>
          <p:nvPr/>
        </p:nvSpPr>
        <p:spPr>
          <a:xfrm>
            <a:off x="2666628" y="2038201"/>
            <a:ext cx="23813" cy="4237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4" name="Shape 10"/>
          <p:cNvSpPr/>
          <p:nvPr/>
        </p:nvSpPr>
        <p:spPr>
          <a:xfrm>
            <a:off x="4914863" y="2038201"/>
            <a:ext cx="11906" cy="4237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5" name="Text 11"/>
          <p:cNvSpPr/>
          <p:nvPr/>
        </p:nvSpPr>
        <p:spPr>
          <a:xfrm>
            <a:off x="2842840" y="2154882"/>
            <a:ext cx="1995822" cy="22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RAGPipeline</a:t>
            </a:r>
            <a:endParaRPr lang="en-US" sz="1125" dirty="0"/>
          </a:p>
        </p:txBody>
      </p:sp>
      <p:sp>
        <p:nvSpPr>
          <p:cNvPr id="16" name="Shape 12"/>
          <p:cNvSpPr/>
          <p:nvPr/>
        </p:nvSpPr>
        <p:spPr>
          <a:xfrm>
            <a:off x="5040995" y="2162101"/>
            <a:ext cx="759396" cy="175989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17" name="Text 13"/>
          <p:cNvSpPr/>
          <p:nvPr/>
        </p:nvSpPr>
        <p:spPr>
          <a:xfrm>
            <a:off x="5126720" y="2190676"/>
            <a:ext cx="664146" cy="15693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36" kern="0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IMPLÉMENTÉ</a:t>
            </a:r>
            <a:endParaRPr lang="en-US" sz="713" dirty="0"/>
          </a:p>
        </p:txBody>
      </p:sp>
      <p:sp>
        <p:nvSpPr>
          <p:cNvPr id="18" name="Shape 14"/>
          <p:cNvSpPr/>
          <p:nvPr/>
        </p:nvSpPr>
        <p:spPr>
          <a:xfrm>
            <a:off x="838088" y="2620305"/>
            <a:ext cx="1463911" cy="435694"/>
          </a:xfrm>
          <a:prstGeom prst="roundRect">
            <a:avLst>
              <a:gd name="adj" fmla="val 8745"/>
            </a:avLst>
          </a:prstGeom>
          <a:solidFill>
            <a:srgbClr val="FAFAFA"/>
          </a:solidFill>
          <a:ln w="11906">
            <a:solidFill>
              <a:srgbClr val="CFCFCF"/>
            </a:solidFill>
            <a:prstDash val="dash"/>
          </a:ln>
        </p:spPr>
      </p:sp>
      <p:sp>
        <p:nvSpPr>
          <p:cNvPr id="19" name="Text 15"/>
          <p:cNvSpPr/>
          <p:nvPr/>
        </p:nvSpPr>
        <p:spPr>
          <a:xfrm>
            <a:off x="1021445" y="2736986"/>
            <a:ext cx="1173398" cy="24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"ml_classic"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249" y="2777319"/>
            <a:ext cx="228451" cy="14287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720950" y="2626258"/>
            <a:ext cx="2358368" cy="423788"/>
          </a:xfrm>
          <a:prstGeom prst="roundRect">
            <a:avLst>
              <a:gd name="adj" fmla="val 8990"/>
            </a:avLst>
          </a:prstGeom>
          <a:solidFill>
            <a:srgbClr val="FAFAFA"/>
          </a:solidFill>
          <a:ln/>
        </p:spPr>
      </p:sp>
      <p:sp>
        <p:nvSpPr>
          <p:cNvPr id="22" name="Shape 17"/>
          <p:cNvSpPr/>
          <p:nvPr/>
        </p:nvSpPr>
        <p:spPr>
          <a:xfrm>
            <a:off x="2720950" y="3038140"/>
            <a:ext cx="235836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3" name="Shape 18"/>
          <p:cNvSpPr/>
          <p:nvPr/>
        </p:nvSpPr>
        <p:spPr>
          <a:xfrm>
            <a:off x="2720950" y="2626258"/>
            <a:ext cx="235836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Shape 19"/>
          <p:cNvSpPr/>
          <p:nvPr/>
        </p:nvSpPr>
        <p:spPr>
          <a:xfrm>
            <a:off x="2720950" y="2626258"/>
            <a:ext cx="23813" cy="423788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25" name="Shape 20"/>
          <p:cNvSpPr/>
          <p:nvPr/>
        </p:nvSpPr>
        <p:spPr>
          <a:xfrm>
            <a:off x="5067412" y="2626258"/>
            <a:ext cx="11906" cy="4237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Text 21"/>
          <p:cNvSpPr/>
          <p:nvPr/>
        </p:nvSpPr>
        <p:spPr>
          <a:xfrm>
            <a:off x="2897163" y="2742940"/>
            <a:ext cx="2094049" cy="22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MLClassicPipeline</a:t>
            </a:r>
            <a:endParaRPr lang="en-US" sz="1125" dirty="0"/>
          </a:p>
        </p:txBody>
      </p:sp>
      <p:sp>
        <p:nvSpPr>
          <p:cNvPr id="27" name="Shape 22"/>
          <p:cNvSpPr/>
          <p:nvPr/>
        </p:nvSpPr>
        <p:spPr>
          <a:xfrm>
            <a:off x="5193543" y="2738251"/>
            <a:ext cx="606847" cy="199802"/>
          </a:xfrm>
          <a:prstGeom prst="roundRect">
            <a:avLst>
              <a:gd name="adj" fmla="val 50000"/>
            </a:avLst>
          </a:prstGeom>
          <a:ln w="11906">
            <a:solidFill>
              <a:srgbClr val="CFCFCF"/>
            </a:solidFill>
            <a:prstDash val="dash"/>
          </a:ln>
        </p:spPr>
      </p:sp>
      <p:sp>
        <p:nvSpPr>
          <p:cNvPr id="28" name="Text 23"/>
          <p:cNvSpPr/>
          <p:nvPr/>
        </p:nvSpPr>
        <p:spPr>
          <a:xfrm>
            <a:off x="5291175" y="2778733"/>
            <a:ext cx="487784" cy="15693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36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EXEMPLE</a:t>
            </a:r>
            <a:endParaRPr lang="en-US" sz="713" dirty="0"/>
          </a:p>
        </p:txBody>
      </p:sp>
      <p:sp>
        <p:nvSpPr>
          <p:cNvPr id="29" name="Shape 24"/>
          <p:cNvSpPr/>
          <p:nvPr/>
        </p:nvSpPr>
        <p:spPr>
          <a:xfrm>
            <a:off x="838088" y="3208362"/>
            <a:ext cx="1409588" cy="435694"/>
          </a:xfrm>
          <a:prstGeom prst="roundRect">
            <a:avLst>
              <a:gd name="adj" fmla="val 8745"/>
            </a:avLst>
          </a:prstGeom>
          <a:solidFill>
            <a:srgbClr val="FAFAFA"/>
          </a:solidFill>
          <a:ln w="11906">
            <a:solidFill>
              <a:srgbClr val="CFCFCF"/>
            </a:solidFill>
            <a:prstDash val="dash"/>
          </a:ln>
        </p:spPr>
      </p:sp>
      <p:sp>
        <p:nvSpPr>
          <p:cNvPr id="30" name="Text 25"/>
          <p:cNvSpPr/>
          <p:nvPr/>
        </p:nvSpPr>
        <p:spPr>
          <a:xfrm>
            <a:off x="1021445" y="3325044"/>
            <a:ext cx="1119076" cy="240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"finetune"</a:t>
            </a:r>
            <a:endParaRPr lang="en-US" sz="12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2927" y="3365376"/>
            <a:ext cx="228451" cy="142875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2666628" y="3214315"/>
            <a:ext cx="2412690" cy="423788"/>
          </a:xfrm>
          <a:prstGeom prst="roundRect">
            <a:avLst>
              <a:gd name="adj" fmla="val 8990"/>
            </a:avLst>
          </a:prstGeom>
          <a:solidFill>
            <a:srgbClr val="FAFAFA"/>
          </a:solidFill>
          <a:ln/>
        </p:spPr>
      </p:sp>
      <p:sp>
        <p:nvSpPr>
          <p:cNvPr id="33" name="Shape 27"/>
          <p:cNvSpPr/>
          <p:nvPr/>
        </p:nvSpPr>
        <p:spPr>
          <a:xfrm>
            <a:off x="2666628" y="3626197"/>
            <a:ext cx="241269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28"/>
          <p:cNvSpPr/>
          <p:nvPr/>
        </p:nvSpPr>
        <p:spPr>
          <a:xfrm>
            <a:off x="2666628" y="3214315"/>
            <a:ext cx="241269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29"/>
          <p:cNvSpPr/>
          <p:nvPr/>
        </p:nvSpPr>
        <p:spPr>
          <a:xfrm>
            <a:off x="2666628" y="3214315"/>
            <a:ext cx="23813" cy="423788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36" name="Shape 30"/>
          <p:cNvSpPr/>
          <p:nvPr/>
        </p:nvSpPr>
        <p:spPr>
          <a:xfrm>
            <a:off x="5067412" y="3214315"/>
            <a:ext cx="11906" cy="4237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7" name="Text 31"/>
          <p:cNvSpPr/>
          <p:nvPr/>
        </p:nvSpPr>
        <p:spPr>
          <a:xfrm>
            <a:off x="2842840" y="3330997"/>
            <a:ext cx="2148371" cy="228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FineTunePipeline</a:t>
            </a:r>
            <a:endParaRPr lang="en-US" sz="1125" dirty="0"/>
          </a:p>
        </p:txBody>
      </p:sp>
      <p:sp>
        <p:nvSpPr>
          <p:cNvPr id="38" name="Shape 32"/>
          <p:cNvSpPr/>
          <p:nvPr/>
        </p:nvSpPr>
        <p:spPr>
          <a:xfrm>
            <a:off x="5193543" y="3326309"/>
            <a:ext cx="606847" cy="199802"/>
          </a:xfrm>
          <a:prstGeom prst="roundRect">
            <a:avLst>
              <a:gd name="adj" fmla="val 50000"/>
            </a:avLst>
          </a:prstGeom>
          <a:ln w="11906">
            <a:solidFill>
              <a:srgbClr val="CFCFCF"/>
            </a:solidFill>
            <a:prstDash val="dash"/>
          </a:ln>
        </p:spPr>
      </p:sp>
      <p:sp>
        <p:nvSpPr>
          <p:cNvPr id="39" name="Text 33"/>
          <p:cNvSpPr/>
          <p:nvPr/>
        </p:nvSpPr>
        <p:spPr>
          <a:xfrm>
            <a:off x="5291175" y="3366790"/>
            <a:ext cx="487784" cy="15693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36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EXEMPLE</a:t>
            </a:r>
            <a:endParaRPr lang="en-US" sz="713" dirty="0"/>
          </a:p>
        </p:txBody>
      </p:sp>
      <p:sp>
        <p:nvSpPr>
          <p:cNvPr id="40" name="Shape 34"/>
          <p:cNvSpPr/>
          <p:nvPr/>
        </p:nvSpPr>
        <p:spPr>
          <a:xfrm>
            <a:off x="6143253" y="1718035"/>
            <a:ext cx="5210659" cy="3391979"/>
          </a:xfrm>
          <a:prstGeom prst="roundRect">
            <a:avLst>
              <a:gd name="adj" fmla="val 1685"/>
            </a:avLst>
          </a:prstGeom>
          <a:solidFill>
            <a:srgbClr val="1A1A1A"/>
          </a:solidFill>
          <a:ln/>
          <a:effectLst>
            <a:outerShdw sx="100000" sy="100000" kx="0" ky="0" algn="bl" rotWithShape="0" blurRad="342900" dist="114300" dir="5400000">
              <a:srgbClr val="1A1A1A">
                <a:alpha val="22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6429003" y="2241724"/>
            <a:ext cx="4639159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2" name="Text 36"/>
          <p:cNvSpPr/>
          <p:nvPr/>
        </p:nvSpPr>
        <p:spPr>
          <a:xfrm>
            <a:off x="6429003" y="1965647"/>
            <a:ext cx="4778333" cy="1808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REGISTRY.PY</a:t>
            </a:r>
            <a:endParaRPr lang="en-US" sz="825" dirty="0"/>
          </a:p>
        </p:txBody>
      </p:sp>
      <p:sp>
        <p:nvSpPr>
          <p:cNvPr id="43" name="Text 37"/>
          <p:cNvSpPr/>
          <p:nvPr/>
        </p:nvSpPr>
        <p:spPr>
          <a:xfrm>
            <a:off x="6429003" y="2424968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5CC2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register</a:t>
            </a:r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"rag"</a:t>
            </a:r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E2A9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RAGPipeline</a:t>
            </a:r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pPr algn="l" indent="0" marL="0">
              <a:lnSpc>
                <a:spcPct val="175000"/>
              </a:lnSpc>
              <a:buNone/>
            </a:pPr>
            <a:r>
              <a:rPr lang="en-US" sz="97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seul use case implémenté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6429003" y="2843919"/>
            <a:ext cx="4778333" cy="571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70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extensions futures (exemples — pas encore implémentées) :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6429003" y="3377096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70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register("ml_classic", MLClassicPipeline)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6429003" y="3643685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70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register("finetune", FineTunePipeline)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6429003" y="4062636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6068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dispatch à l'exécution</a:t>
            </a:r>
            <a:endParaRPr lang="en-US" sz="1050" dirty="0"/>
          </a:p>
        </p:txBody>
      </p:sp>
      <p:sp>
        <p:nvSpPr>
          <p:cNvPr id="48" name="Text 42"/>
          <p:cNvSpPr/>
          <p:nvPr/>
        </p:nvSpPr>
        <p:spPr>
          <a:xfrm>
            <a:off x="6429003" y="4329224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= </a:t>
            </a:r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5CC2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get_pipeline</a:t>
            </a:r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"rag"</a:t>
            </a:r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6429003" y="4595813"/>
            <a:ext cx="4778333" cy="304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pipeline.</a:t>
            </a:r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5CC2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</a:t>
            </a:r>
            <a:pPr algn="l" indent="0" marL="0">
              <a:lnSpc>
                <a:spcPct val="175000"/>
              </a:lnSpc>
              <a:buNone/>
            </a:pPr>
            <a:r>
              <a:rPr lang="en-US" sz="12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(ctx)</a:t>
            </a:r>
            <a:endParaRPr lang="en-US" sz="1200" dirty="0"/>
          </a:p>
        </p:txBody>
      </p:sp>
      <p:sp>
        <p:nvSpPr>
          <p:cNvPr id="50" name="Shape 44"/>
          <p:cNvSpPr/>
          <p:nvPr/>
        </p:nvSpPr>
        <p:spPr>
          <a:xfrm>
            <a:off x="838088" y="5414739"/>
            <a:ext cx="10515823" cy="595126"/>
          </a:xfrm>
          <a:prstGeom prst="roundRect">
            <a:avLst>
              <a:gd name="adj" fmla="val 9603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470" y="5579008"/>
            <a:ext cx="171338" cy="26658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1383171" y="5593147"/>
            <a:ext cx="41713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Ajouter un use case = </a:t>
            </a:r>
            <a:pPr algn="l" indent="0" marL="0">
              <a:buNone/>
            </a:pPr>
            <a:r>
              <a:rPr lang="en-US" sz="12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 ligne </a:t>
            </a:r>
            <a:pPr algn="l" indent="0" marL="0"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— zéro modif du core</a:t>
            </a:r>
            <a:endParaRPr lang="en-US" sz="1275" dirty="0"/>
          </a:p>
        </p:txBody>
      </p:sp>
      <p:sp>
        <p:nvSpPr>
          <p:cNvPr id="53" name="Text 4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71826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02 · PIPELINECONTEXT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7429919" cy="102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Les données 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circulent </a:t>
            </a:r>
            <a:pPr algn="l" indent="0" marL="0">
              <a:lnSpc>
                <a:spcPct val="118000"/>
              </a:lnSpc>
              <a:buNone/>
            </a:pPr>
            <a:r>
              <a:rPr lang="en-US" sz="3300" b="1" spc="-6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entre les phases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38088" y="2174379"/>
            <a:ext cx="1828726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7" name="Shape 4"/>
          <p:cNvSpPr/>
          <p:nvPr/>
        </p:nvSpPr>
        <p:spPr>
          <a:xfrm>
            <a:off x="838088" y="2864569"/>
            <a:ext cx="182872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2174379"/>
            <a:ext cx="1828726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2654908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Text 8"/>
          <p:cNvSpPr/>
          <p:nvPr/>
        </p:nvSpPr>
        <p:spPr>
          <a:xfrm>
            <a:off x="906270" y="2331393"/>
            <a:ext cx="16923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906270" y="2512219"/>
            <a:ext cx="169236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27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PREPARE</a:t>
            </a:r>
            <a:endParaRPr lang="en-US" sz="13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14" y="2411202"/>
            <a:ext cx="361838" cy="22845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009677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15" name="Shape 11"/>
          <p:cNvSpPr/>
          <p:nvPr/>
        </p:nvSpPr>
        <p:spPr>
          <a:xfrm>
            <a:off x="3009677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6" name="Shape 12"/>
          <p:cNvSpPr/>
          <p:nvPr/>
        </p:nvSpPr>
        <p:spPr>
          <a:xfrm>
            <a:off x="3009677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7" name="Shape 13"/>
          <p:cNvSpPr/>
          <p:nvPr/>
        </p:nvSpPr>
        <p:spPr>
          <a:xfrm>
            <a:off x="3009677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8" name="Shape 14"/>
          <p:cNvSpPr/>
          <p:nvPr/>
        </p:nvSpPr>
        <p:spPr>
          <a:xfrm>
            <a:off x="4826682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9" name="Text 15"/>
          <p:cNvSpPr/>
          <p:nvPr/>
        </p:nvSpPr>
        <p:spPr>
          <a:xfrm>
            <a:off x="3077849" y="2331393"/>
            <a:ext cx="16925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25" dirty="0"/>
          </a:p>
        </p:txBody>
      </p:sp>
      <p:sp>
        <p:nvSpPr>
          <p:cNvPr id="20" name="Text 16"/>
          <p:cNvSpPr/>
          <p:nvPr/>
        </p:nvSpPr>
        <p:spPr>
          <a:xfrm>
            <a:off x="3077849" y="2512219"/>
            <a:ext cx="16925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27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PROCESS</a:t>
            </a:r>
            <a:endParaRPr lang="en-US" sz="13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588" y="2411202"/>
            <a:ext cx="361838" cy="228451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181451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23" name="Shape 18"/>
          <p:cNvSpPr/>
          <p:nvPr/>
        </p:nvSpPr>
        <p:spPr>
          <a:xfrm>
            <a:off x="5181451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Shape 19"/>
          <p:cNvSpPr/>
          <p:nvPr/>
        </p:nvSpPr>
        <p:spPr>
          <a:xfrm>
            <a:off x="5181451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5" name="Shape 20"/>
          <p:cNvSpPr/>
          <p:nvPr/>
        </p:nvSpPr>
        <p:spPr>
          <a:xfrm>
            <a:off x="5181451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Shape 21"/>
          <p:cNvSpPr/>
          <p:nvPr/>
        </p:nvSpPr>
        <p:spPr>
          <a:xfrm>
            <a:off x="6998457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Text 22"/>
          <p:cNvSpPr/>
          <p:nvPr/>
        </p:nvSpPr>
        <p:spPr>
          <a:xfrm>
            <a:off x="5249624" y="2331393"/>
            <a:ext cx="16925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25" dirty="0"/>
          </a:p>
        </p:txBody>
      </p:sp>
      <p:sp>
        <p:nvSpPr>
          <p:cNvPr id="28" name="Text 23"/>
          <p:cNvSpPr/>
          <p:nvPr/>
        </p:nvSpPr>
        <p:spPr>
          <a:xfrm>
            <a:off x="5249624" y="2512219"/>
            <a:ext cx="16925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27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BUILD</a:t>
            </a:r>
            <a:endParaRPr lang="en-US" sz="13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363" y="2411202"/>
            <a:ext cx="361838" cy="228451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353226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31" name="Shape 25"/>
          <p:cNvSpPr/>
          <p:nvPr/>
        </p:nvSpPr>
        <p:spPr>
          <a:xfrm>
            <a:off x="7353226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2" name="Shape 26"/>
          <p:cNvSpPr/>
          <p:nvPr/>
        </p:nvSpPr>
        <p:spPr>
          <a:xfrm>
            <a:off x="7353226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3" name="Shape 27"/>
          <p:cNvSpPr/>
          <p:nvPr/>
        </p:nvSpPr>
        <p:spPr>
          <a:xfrm>
            <a:off x="7353226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28"/>
          <p:cNvSpPr/>
          <p:nvPr/>
        </p:nvSpPr>
        <p:spPr>
          <a:xfrm>
            <a:off x="9170231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Text 29"/>
          <p:cNvSpPr/>
          <p:nvPr/>
        </p:nvSpPr>
        <p:spPr>
          <a:xfrm>
            <a:off x="7421398" y="2331393"/>
            <a:ext cx="16925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25" dirty="0"/>
          </a:p>
        </p:txBody>
      </p:sp>
      <p:sp>
        <p:nvSpPr>
          <p:cNvPr id="36" name="Text 30"/>
          <p:cNvSpPr/>
          <p:nvPr/>
        </p:nvSpPr>
        <p:spPr>
          <a:xfrm>
            <a:off x="7421398" y="2512219"/>
            <a:ext cx="16925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27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EVALUATE</a:t>
            </a:r>
            <a:endParaRPr lang="en-US" sz="135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137" y="2411202"/>
            <a:ext cx="361838" cy="228451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9525000" y="2174379"/>
            <a:ext cx="1828912" cy="702097"/>
          </a:xfrm>
          <a:prstGeom prst="roundRect">
            <a:avLst>
              <a:gd name="adj" fmla="val 8140"/>
            </a:avLst>
          </a:prstGeom>
          <a:solidFill>
            <a:srgbClr val="F4F4F4"/>
          </a:solidFill>
          <a:ln/>
        </p:spPr>
      </p:sp>
      <p:sp>
        <p:nvSpPr>
          <p:cNvPr id="39" name="Shape 32"/>
          <p:cNvSpPr/>
          <p:nvPr/>
        </p:nvSpPr>
        <p:spPr>
          <a:xfrm>
            <a:off x="9525000" y="2864569"/>
            <a:ext cx="182891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Shape 33"/>
          <p:cNvSpPr/>
          <p:nvPr/>
        </p:nvSpPr>
        <p:spPr>
          <a:xfrm>
            <a:off x="9525000" y="2174379"/>
            <a:ext cx="182891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1" name="Shape 34"/>
          <p:cNvSpPr/>
          <p:nvPr/>
        </p:nvSpPr>
        <p:spPr>
          <a:xfrm>
            <a:off x="9525000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2" name="Shape 35"/>
          <p:cNvSpPr/>
          <p:nvPr/>
        </p:nvSpPr>
        <p:spPr>
          <a:xfrm>
            <a:off x="11342005" y="2174379"/>
            <a:ext cx="11906" cy="70209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3" name="Text 36"/>
          <p:cNvSpPr/>
          <p:nvPr/>
        </p:nvSpPr>
        <p:spPr>
          <a:xfrm>
            <a:off x="9593173" y="2331393"/>
            <a:ext cx="169256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25" dirty="0"/>
          </a:p>
        </p:txBody>
      </p:sp>
      <p:sp>
        <p:nvSpPr>
          <p:cNvPr id="44" name="Text 37"/>
          <p:cNvSpPr/>
          <p:nvPr/>
        </p:nvSpPr>
        <p:spPr>
          <a:xfrm>
            <a:off x="9593173" y="2512219"/>
            <a:ext cx="169256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spc="27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DEPLOY</a:t>
            </a:r>
            <a:endParaRPr lang="en-US" sz="1350" dirty="0"/>
          </a:p>
        </p:txBody>
      </p:sp>
      <p:sp>
        <p:nvSpPr>
          <p:cNvPr id="45" name="Shape 38"/>
          <p:cNvSpPr/>
          <p:nvPr/>
        </p:nvSpPr>
        <p:spPr>
          <a:xfrm>
            <a:off x="1742963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6" name="Shape 39"/>
          <p:cNvSpPr/>
          <p:nvPr/>
        </p:nvSpPr>
        <p:spPr>
          <a:xfrm>
            <a:off x="3914552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7" name="Shape 40"/>
          <p:cNvSpPr/>
          <p:nvPr/>
        </p:nvSpPr>
        <p:spPr>
          <a:xfrm>
            <a:off x="6086326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8" name="Shape 41"/>
          <p:cNvSpPr/>
          <p:nvPr/>
        </p:nvSpPr>
        <p:spPr>
          <a:xfrm>
            <a:off x="8258101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9" name="Shape 42"/>
          <p:cNvSpPr/>
          <p:nvPr/>
        </p:nvSpPr>
        <p:spPr>
          <a:xfrm>
            <a:off x="10429875" y="2933588"/>
            <a:ext cx="18976" cy="19050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0" name="Shape 43"/>
          <p:cNvSpPr/>
          <p:nvPr/>
        </p:nvSpPr>
        <p:spPr>
          <a:xfrm>
            <a:off x="838088" y="4000314"/>
            <a:ext cx="1828726" cy="495226"/>
          </a:xfrm>
          <a:prstGeom prst="roundRect">
            <a:avLst>
              <a:gd name="adj" fmla="val 5770"/>
            </a:avLst>
          </a:prstGeom>
          <a:solidFill>
            <a:srgbClr val="BDD248">
              <a:alpha val="14000"/>
            </a:srgbClr>
          </a:solidFill>
          <a:ln/>
        </p:spPr>
      </p:sp>
      <p:sp>
        <p:nvSpPr>
          <p:cNvPr id="51" name="Text 44"/>
          <p:cNvSpPr/>
          <p:nvPr/>
        </p:nvSpPr>
        <p:spPr>
          <a:xfrm>
            <a:off x="746652" y="3790838"/>
            <a:ext cx="201159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3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v1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952314" y="4226533"/>
            <a:ext cx="176030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raw_docs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3009677" y="3790838"/>
            <a:ext cx="1828912" cy="704701"/>
          </a:xfrm>
          <a:prstGeom prst="roundRect">
            <a:avLst>
              <a:gd name="adj" fmla="val 4055"/>
            </a:avLst>
          </a:prstGeom>
          <a:solidFill>
            <a:srgbClr val="BDD248">
              <a:alpha val="28000"/>
            </a:srgbClr>
          </a:solidFill>
          <a:ln/>
        </p:spPr>
      </p:sp>
      <p:sp>
        <p:nvSpPr>
          <p:cNvPr id="54" name="Text 47"/>
          <p:cNvSpPr/>
          <p:nvPr/>
        </p:nvSpPr>
        <p:spPr>
          <a:xfrm>
            <a:off x="2918231" y="3581363"/>
            <a:ext cx="201180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3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v2</a:t>
            </a:r>
            <a:endParaRPr lang="en-US" sz="750" dirty="0"/>
          </a:p>
        </p:txBody>
      </p:sp>
      <p:sp>
        <p:nvSpPr>
          <p:cNvPr id="55" name="Text 48"/>
          <p:cNvSpPr/>
          <p:nvPr/>
        </p:nvSpPr>
        <p:spPr>
          <a:xfrm>
            <a:off x="3123902" y="4041986"/>
            <a:ext cx="176050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raw_docs</a:t>
            </a:r>
            <a:endParaRPr lang="en-US" sz="825" dirty="0"/>
          </a:p>
        </p:txBody>
      </p:sp>
      <p:sp>
        <p:nvSpPr>
          <p:cNvPr id="56" name="Text 49"/>
          <p:cNvSpPr/>
          <p:nvPr/>
        </p:nvSpPr>
        <p:spPr>
          <a:xfrm>
            <a:off x="3123902" y="4226533"/>
            <a:ext cx="176050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chunks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5181451" y="3581177"/>
            <a:ext cx="1828912" cy="914363"/>
          </a:xfrm>
          <a:prstGeom prst="roundRect">
            <a:avLst>
              <a:gd name="adj" fmla="val 3125"/>
            </a:avLst>
          </a:prstGeom>
          <a:solidFill>
            <a:srgbClr val="BDD248">
              <a:alpha val="46000"/>
            </a:srgbClr>
          </a:solidFill>
          <a:ln/>
        </p:spPr>
      </p:sp>
      <p:sp>
        <p:nvSpPr>
          <p:cNvPr id="58" name="Text 51"/>
          <p:cNvSpPr/>
          <p:nvPr/>
        </p:nvSpPr>
        <p:spPr>
          <a:xfrm>
            <a:off x="5090006" y="3371701"/>
            <a:ext cx="201180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3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v3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5295677" y="4041986"/>
            <a:ext cx="176050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raw_docs · chunks</a:t>
            </a:r>
            <a:endParaRPr lang="en-US" sz="825" dirty="0"/>
          </a:p>
        </p:txBody>
      </p:sp>
      <p:sp>
        <p:nvSpPr>
          <p:cNvPr id="60" name="Text 53"/>
          <p:cNvSpPr/>
          <p:nvPr/>
        </p:nvSpPr>
        <p:spPr>
          <a:xfrm>
            <a:off x="5295677" y="4226533"/>
            <a:ext cx="176050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index</a:t>
            </a:r>
            <a:endParaRPr lang="en-US" sz="900" dirty="0"/>
          </a:p>
        </p:txBody>
      </p:sp>
      <p:sp>
        <p:nvSpPr>
          <p:cNvPr id="61" name="Shape 54"/>
          <p:cNvSpPr/>
          <p:nvPr/>
        </p:nvSpPr>
        <p:spPr>
          <a:xfrm>
            <a:off x="7353226" y="3390677"/>
            <a:ext cx="1828912" cy="1104863"/>
          </a:xfrm>
          <a:prstGeom prst="roundRect">
            <a:avLst>
              <a:gd name="adj" fmla="val 2586"/>
            </a:avLst>
          </a:prstGeom>
          <a:solidFill>
            <a:srgbClr val="BDD248">
              <a:alpha val="66000"/>
            </a:srgbClr>
          </a:solidFill>
          <a:ln/>
        </p:spPr>
      </p:sp>
      <p:sp>
        <p:nvSpPr>
          <p:cNvPr id="62" name="Text 55"/>
          <p:cNvSpPr/>
          <p:nvPr/>
        </p:nvSpPr>
        <p:spPr>
          <a:xfrm>
            <a:off x="7261780" y="3181201"/>
            <a:ext cx="201180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3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v4</a:t>
            </a:r>
            <a:endParaRPr lang="en-US" sz="750" dirty="0"/>
          </a:p>
        </p:txBody>
      </p:sp>
      <p:sp>
        <p:nvSpPr>
          <p:cNvPr id="63" name="Text 56"/>
          <p:cNvSpPr/>
          <p:nvPr/>
        </p:nvSpPr>
        <p:spPr>
          <a:xfrm>
            <a:off x="7467451" y="4041986"/>
            <a:ext cx="176050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chunks · index</a:t>
            </a:r>
            <a:endParaRPr lang="en-US" sz="825" dirty="0"/>
          </a:p>
        </p:txBody>
      </p:sp>
      <p:sp>
        <p:nvSpPr>
          <p:cNvPr id="64" name="Text 57"/>
          <p:cNvSpPr/>
          <p:nvPr/>
        </p:nvSpPr>
        <p:spPr>
          <a:xfrm>
            <a:off x="7467451" y="4226533"/>
            <a:ext cx="176050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métriques</a:t>
            </a:r>
            <a:endParaRPr lang="en-US" sz="900" dirty="0"/>
          </a:p>
        </p:txBody>
      </p:sp>
      <p:sp>
        <p:nvSpPr>
          <p:cNvPr id="65" name="Shape 58"/>
          <p:cNvSpPr/>
          <p:nvPr/>
        </p:nvSpPr>
        <p:spPr>
          <a:xfrm>
            <a:off x="9525000" y="3181201"/>
            <a:ext cx="1828912" cy="1314338"/>
          </a:xfrm>
          <a:prstGeom prst="roundRect">
            <a:avLst>
              <a:gd name="adj" fmla="val 2174"/>
            </a:avLst>
          </a:prstGeom>
          <a:solidFill>
            <a:srgbClr val="BDD248"/>
          </a:solidFill>
          <a:ln/>
        </p:spPr>
      </p:sp>
      <p:sp>
        <p:nvSpPr>
          <p:cNvPr id="66" name="Text 59"/>
          <p:cNvSpPr/>
          <p:nvPr/>
        </p:nvSpPr>
        <p:spPr>
          <a:xfrm>
            <a:off x="9433554" y="2971726"/>
            <a:ext cx="201180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3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ctx v5</a:t>
            </a:r>
            <a:endParaRPr lang="en-US" sz="750" dirty="0"/>
          </a:p>
        </p:txBody>
      </p:sp>
      <p:sp>
        <p:nvSpPr>
          <p:cNvPr id="67" name="Text 60"/>
          <p:cNvSpPr/>
          <p:nvPr/>
        </p:nvSpPr>
        <p:spPr>
          <a:xfrm>
            <a:off x="9639226" y="4041986"/>
            <a:ext cx="176050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3F3F3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index · métriques</a:t>
            </a:r>
            <a:endParaRPr lang="en-US" sz="825" dirty="0"/>
          </a:p>
        </p:txBody>
      </p:sp>
      <p:sp>
        <p:nvSpPr>
          <p:cNvPr id="68" name="Text 61"/>
          <p:cNvSpPr/>
          <p:nvPr/>
        </p:nvSpPr>
        <p:spPr>
          <a:xfrm>
            <a:off x="9639226" y="4226533"/>
            <a:ext cx="176050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api_config ✓</a:t>
            </a:r>
            <a:endParaRPr lang="en-US" sz="900" dirty="0"/>
          </a:p>
        </p:txBody>
      </p:sp>
      <p:sp>
        <p:nvSpPr>
          <p:cNvPr id="69" name="Shape 62"/>
          <p:cNvSpPr/>
          <p:nvPr/>
        </p:nvSpPr>
        <p:spPr>
          <a:xfrm>
            <a:off x="838088" y="4762128"/>
            <a:ext cx="10515823" cy="556803"/>
          </a:xfrm>
          <a:prstGeom prst="roundRect">
            <a:avLst>
              <a:gd name="adj" fmla="val 10264"/>
            </a:avLst>
          </a:prstGeom>
          <a:solidFill>
            <a:srgbClr val="F4F4F4"/>
          </a:solidFill>
          <a:ln/>
        </p:spPr>
      </p:sp>
      <p:sp>
        <p:nvSpPr>
          <p:cNvPr id="70" name="Shape 63"/>
          <p:cNvSpPr/>
          <p:nvPr/>
        </p:nvSpPr>
        <p:spPr>
          <a:xfrm>
            <a:off x="838088" y="5307025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1" name="Shape 64"/>
          <p:cNvSpPr/>
          <p:nvPr/>
        </p:nvSpPr>
        <p:spPr>
          <a:xfrm>
            <a:off x="838088" y="4762128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2" name="Shape 65"/>
          <p:cNvSpPr/>
          <p:nvPr/>
        </p:nvSpPr>
        <p:spPr>
          <a:xfrm>
            <a:off x="838088" y="4762128"/>
            <a:ext cx="35719" cy="55680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3" name="Shape 66"/>
          <p:cNvSpPr/>
          <p:nvPr/>
        </p:nvSpPr>
        <p:spPr>
          <a:xfrm>
            <a:off x="11342005" y="4762128"/>
            <a:ext cx="11906" cy="55680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4" name="Shape 67"/>
          <p:cNvSpPr/>
          <p:nvPr/>
        </p:nvSpPr>
        <p:spPr>
          <a:xfrm>
            <a:off x="1064307" y="4907235"/>
            <a:ext cx="171338" cy="2665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5" name="Text 68"/>
          <p:cNvSpPr/>
          <p:nvPr/>
        </p:nvSpPr>
        <p:spPr>
          <a:xfrm>
            <a:off x="1368847" y="4921374"/>
            <a:ext cx="618520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Découplage total </a:t>
            </a:r>
            <a:pPr algn="l" indent="0" marL="0"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entre les phases — chaque phase lit et enrichit le contexte.</a:t>
            </a:r>
            <a:endParaRPr lang="en-US" sz="1275" dirty="0"/>
          </a:p>
        </p:txBody>
      </p:sp>
      <p:sp>
        <p:nvSpPr>
          <p:cNvPr id="76" name="Text 69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77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78" name="Text 70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62993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COMPOSANTS · MÉCANISME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Chargement </a:t>
            </a:r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à la demande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673014"/>
            <a:ext cx="6439235" cy="638101"/>
          </a:xfrm>
          <a:prstGeom prst="roundRect">
            <a:avLst>
              <a:gd name="adj" fmla="val 8956"/>
            </a:avLst>
          </a:prstGeom>
          <a:solidFill>
            <a:srgbClr val="2A2A2A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3406" y="1837320"/>
            <a:ext cx="6608599" cy="3475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66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ComponentRegistry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676177" y="2311115"/>
            <a:ext cx="18976" cy="30472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BDD24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2908" y="2875359"/>
            <a:ext cx="55431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FAISS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09464" y="3189573"/>
            <a:ext cx="704999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FAISSVector Store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019040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57909" y="2875359"/>
            <a:ext cx="6460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F3F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Qdrant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161766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QdrantVector Store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199991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13931" y="2875359"/>
            <a:ext cx="69606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F3F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Chroma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342717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ChromaVector Store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380942" y="2711090"/>
            <a:ext cx="1047750" cy="890178"/>
          </a:xfrm>
          <a:prstGeom prst="roundRect">
            <a:avLst>
              <a:gd name="adj" fmla="val 6420"/>
            </a:avLst>
          </a:prstGeom>
          <a:solidFill>
            <a:srgbClr val="F4F4F4">
              <a:alpha val="40000"/>
            </a:srgbClr>
          </a:solidFill>
          <a:ln w="11906">
            <a:solidFill>
              <a:srgbClr val="E4E4E4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47902" y="2875359"/>
            <a:ext cx="5898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F3F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Milvus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23668" y="3189573"/>
            <a:ext cx="762112" cy="285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MilvusVector Store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561893" y="2691929"/>
            <a:ext cx="1047750" cy="909340"/>
          </a:xfrm>
          <a:prstGeom prst="roundRect">
            <a:avLst>
              <a:gd name="adj" fmla="val 6285"/>
            </a:avLst>
          </a:prstGeom>
          <a:solidFill>
            <a:srgbClr val="F4F4F4">
              <a:alpha val="20000"/>
            </a:srgbClr>
          </a:solidFill>
          <a:ln w="11906">
            <a:solidFill>
              <a:srgbClr val="E4E4E4">
                <a:alpha val="2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9032" y="2856198"/>
            <a:ext cx="34967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210" kern="0" dirty="0">
                <a:solidFill>
                  <a:srgbClr val="3F3F3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…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5847494" y="3313286"/>
            <a:ext cx="476362" cy="16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plug-in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734412" y="1863514"/>
            <a:ext cx="3619500" cy="995474"/>
          </a:xfrm>
          <a:prstGeom prst="roundRect">
            <a:avLst>
              <a:gd name="adj" fmla="val 5741"/>
            </a:avLst>
          </a:prstGeom>
          <a:solidFill>
            <a:srgbClr val="F4F4F4"/>
          </a:solidFill>
          <a:ln/>
        </p:spPr>
      </p:sp>
      <p:sp>
        <p:nvSpPr>
          <p:cNvPr id="25" name="Shape 22"/>
          <p:cNvSpPr/>
          <p:nvPr/>
        </p:nvSpPr>
        <p:spPr>
          <a:xfrm>
            <a:off x="7734412" y="2847082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Shape 23"/>
          <p:cNvSpPr/>
          <p:nvPr/>
        </p:nvSpPr>
        <p:spPr>
          <a:xfrm>
            <a:off x="7734412" y="1863514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Shape 24"/>
          <p:cNvSpPr/>
          <p:nvPr/>
        </p:nvSpPr>
        <p:spPr>
          <a:xfrm>
            <a:off x="7734412" y="1863514"/>
            <a:ext cx="35719" cy="995474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8" name="Shape 25"/>
          <p:cNvSpPr/>
          <p:nvPr/>
        </p:nvSpPr>
        <p:spPr>
          <a:xfrm>
            <a:off x="11342005" y="1863514"/>
            <a:ext cx="11906" cy="995474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630" y="2075222"/>
            <a:ext cx="171338" cy="26658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265170" y="2034853"/>
            <a:ext cx="213933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Pas d'imports lourds inutiles</a:t>
            </a:r>
            <a:endParaRPr lang="en-US" sz="1275" dirty="0"/>
          </a:p>
        </p:txBody>
      </p:sp>
      <p:sp>
        <p:nvSpPr>
          <p:cNvPr id="31" name="Text 27"/>
          <p:cNvSpPr/>
          <p:nvPr/>
        </p:nvSpPr>
        <p:spPr>
          <a:xfrm>
            <a:off x="8265170" y="2341252"/>
            <a:ext cx="2453729" cy="372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torch · faiss · qdrant-client — chargés uniquement si utilisés</a:t>
            </a:r>
            <a:endParaRPr lang="en-US" sz="975" dirty="0"/>
          </a:p>
        </p:txBody>
      </p:sp>
      <p:sp>
        <p:nvSpPr>
          <p:cNvPr id="32" name="Shape 28"/>
          <p:cNvSpPr/>
          <p:nvPr/>
        </p:nvSpPr>
        <p:spPr>
          <a:xfrm>
            <a:off x="7734412" y="3049488"/>
            <a:ext cx="3619500" cy="828229"/>
          </a:xfrm>
          <a:prstGeom prst="roundRect">
            <a:avLst>
              <a:gd name="adj" fmla="val 6900"/>
            </a:avLst>
          </a:prstGeom>
          <a:solidFill>
            <a:srgbClr val="F4F4F4"/>
          </a:solidFill>
          <a:ln/>
        </p:spPr>
      </p:sp>
      <p:sp>
        <p:nvSpPr>
          <p:cNvPr id="33" name="Shape 29"/>
          <p:cNvSpPr/>
          <p:nvPr/>
        </p:nvSpPr>
        <p:spPr>
          <a:xfrm>
            <a:off x="7734412" y="3865811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30"/>
          <p:cNvSpPr/>
          <p:nvPr/>
        </p:nvSpPr>
        <p:spPr>
          <a:xfrm>
            <a:off x="7734412" y="3049488"/>
            <a:ext cx="361950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31"/>
          <p:cNvSpPr/>
          <p:nvPr/>
        </p:nvSpPr>
        <p:spPr>
          <a:xfrm>
            <a:off x="7734412" y="3049488"/>
            <a:ext cx="35719" cy="82822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6" name="Shape 32"/>
          <p:cNvSpPr/>
          <p:nvPr/>
        </p:nvSpPr>
        <p:spPr>
          <a:xfrm>
            <a:off x="11342005" y="3049488"/>
            <a:ext cx="11906" cy="828229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630" y="3261196"/>
            <a:ext cx="171338" cy="26658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265170" y="3220827"/>
            <a:ext cx="140895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Ajouter un store =</a:t>
            </a:r>
            <a:endParaRPr lang="en-US" sz="1275" dirty="0"/>
          </a:p>
        </p:txBody>
      </p:sp>
      <p:sp>
        <p:nvSpPr>
          <p:cNvPr id="39" name="Text 34"/>
          <p:cNvSpPr/>
          <p:nvPr/>
        </p:nvSpPr>
        <p:spPr>
          <a:xfrm>
            <a:off x="9646481" y="3220827"/>
            <a:ext cx="65867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 classe</a:t>
            </a:r>
            <a:endParaRPr lang="en-US" sz="1275" dirty="0"/>
          </a:p>
        </p:txBody>
      </p:sp>
      <p:sp>
        <p:nvSpPr>
          <p:cNvPr id="40" name="Text 35"/>
          <p:cNvSpPr/>
          <p:nvPr/>
        </p:nvSpPr>
        <p:spPr>
          <a:xfrm>
            <a:off x="8265170" y="3527227"/>
            <a:ext cx="2860439" cy="205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register("faiss", FAISSVectorStore)</a:t>
            </a:r>
            <a:endParaRPr lang="en-US" sz="975" dirty="0"/>
          </a:p>
        </p:txBody>
      </p:sp>
      <p:sp>
        <p:nvSpPr>
          <p:cNvPr id="41" name="Shape 36"/>
          <p:cNvSpPr/>
          <p:nvPr/>
        </p:nvSpPr>
        <p:spPr>
          <a:xfrm>
            <a:off x="838088" y="5772485"/>
            <a:ext cx="10515823" cy="476064"/>
          </a:xfrm>
          <a:prstGeom prst="roundRect">
            <a:avLst>
              <a:gd name="adj" fmla="val 6002"/>
            </a:avLst>
          </a:prstGeom>
          <a:solidFill>
            <a:srgbClr val="2A2A2A"/>
          </a:solidFill>
          <a:ln/>
        </p:spPr>
      </p:sp>
      <p:sp>
        <p:nvSpPr>
          <p:cNvPr id="42" name="Shape 37"/>
          <p:cNvSpPr/>
          <p:nvPr/>
        </p:nvSpPr>
        <p:spPr>
          <a:xfrm>
            <a:off x="1028588" y="5884478"/>
            <a:ext cx="852227" cy="252078"/>
          </a:xfrm>
          <a:prstGeom prst="roundRect">
            <a:avLst>
              <a:gd name="adj" fmla="val 7557"/>
            </a:avLst>
          </a:prstGeom>
          <a:solidFill>
            <a:srgbClr val="BDD248">
              <a:alpha val="12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135745" y="5924959"/>
            <a:ext cx="714115" cy="209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spc="18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Mécanisme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1956904" y="5896198"/>
            <a:ext cx="169962" cy="26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18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2126754" y="5884478"/>
            <a:ext cx="852227" cy="252078"/>
          </a:xfrm>
          <a:prstGeom prst="roundRect">
            <a:avLst>
              <a:gd name="adj" fmla="val 7557"/>
            </a:avLst>
          </a:prstGeom>
          <a:solidFill>
            <a:srgbClr val="BDD248">
              <a:alpha val="12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233910" y="5924959"/>
            <a:ext cx="714115" cy="209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spc="18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Catalogue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3112182" y="5877223"/>
            <a:ext cx="18976" cy="266588"/>
          </a:xfrm>
          <a:prstGeom prst="roundRect">
            <a:avLst>
              <a:gd name="adj" fmla="val 49999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8" name="Text 43"/>
          <p:cNvSpPr/>
          <p:nvPr/>
        </p:nvSpPr>
        <p:spPr>
          <a:xfrm>
            <a:off x="3264359" y="5917592"/>
            <a:ext cx="2807847" cy="2239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spc="18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= composants réellement interchangeables</a:t>
            </a:r>
            <a:endParaRPr lang="en-US" sz="975" dirty="0"/>
          </a:p>
        </p:txBody>
      </p:sp>
      <p:sp>
        <p:nvSpPr>
          <p:cNvPr id="49" name="Text 44"/>
          <p:cNvSpPr/>
          <p:nvPr/>
        </p:nvSpPr>
        <p:spPr>
          <a:xfrm>
            <a:off x="7585211" y="5931917"/>
            <a:ext cx="3936020" cy="195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8" kern="0" dirty="0">
                <a:solidFill>
                  <a:srgbClr val="FFFFFF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slide suivante : le catalogue des options disponibles</a:t>
            </a:r>
            <a:endParaRPr lang="en-US" sz="825" dirty="0"/>
          </a:p>
        </p:txBody>
      </p:sp>
      <p:sp>
        <p:nvSpPr>
          <p:cNvPr id="50" name="Text 45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86000"/>
            <a:ext cx="1238250" cy="2286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37" y="2286000"/>
            <a:ext cx="1238250" cy="228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088" y="2145543"/>
            <a:ext cx="947190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3 · 03 / 04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2743088" y="2464594"/>
            <a:ext cx="7793606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use case RAG en pratique</a:t>
            </a:r>
            <a:endParaRPr lang="en-US" sz="4500" dirty="0"/>
          </a:p>
        </p:txBody>
      </p:sp>
      <p:sp>
        <p:nvSpPr>
          <p:cNvPr id="7" name="Shape 3"/>
          <p:cNvSpPr/>
          <p:nvPr/>
        </p:nvSpPr>
        <p:spPr>
          <a:xfrm>
            <a:off x="2743088" y="3931109"/>
            <a:ext cx="685726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8" name="Text 4"/>
          <p:cNvSpPr/>
          <p:nvPr/>
        </p:nvSpPr>
        <p:spPr>
          <a:xfrm>
            <a:off x="2743088" y="4197697"/>
            <a:ext cx="3602385" cy="552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contrat appliqué de bout en bout, sur un cas réel : ingestion → index → API.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913377" y="2230841"/>
            <a:ext cx="4203688" cy="2434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000"/>
              </a:lnSpc>
              <a:buNone/>
            </a:pPr>
            <a:r>
              <a:rPr lang="en-US" sz="25500" b="1" spc="-1020" kern="0" dirty="0">
                <a:solidFill>
                  <a:srgbClr val="BDD248">
                    <a:alpha val="8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25500" dirty="0"/>
          </a:p>
        </p:txBody>
      </p:sp>
      <p:sp>
        <p:nvSpPr>
          <p:cNvPr id="10" name="Text 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38694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03 · USE CASE RAG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RAG : le contrat </a:t>
            </a:r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 phases </a:t>
            </a:r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 action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7" name="Shape 4"/>
          <p:cNvSpPr/>
          <p:nvPr/>
        </p:nvSpPr>
        <p:spPr>
          <a:xfrm>
            <a:off x="838088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2293069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8"/>
          <p:cNvSpPr/>
          <p:nvPr/>
        </p:nvSpPr>
        <p:spPr>
          <a:xfrm>
            <a:off x="983196" y="1887327"/>
            <a:ext cx="618939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</p:sp>
      <p:sp>
        <p:nvSpPr>
          <p:cNvPr id="12" name="Text 9"/>
          <p:cNvSpPr/>
          <p:nvPr/>
        </p:nvSpPr>
        <p:spPr>
          <a:xfrm>
            <a:off x="1059396" y="1915902"/>
            <a:ext cx="542739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PREPARE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983196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b="1" spc="1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ingest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2064618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sx="100000" sy="100000" kx="0" ky="0" algn="bl" rotWithShape="0" blurRad="101600" dist="50800" dir="16200000">
              <a:srgbClr val="BDD248">
                <a:alpha val="2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976" y="2098291"/>
            <a:ext cx="361838" cy="228451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647838" y="1692176"/>
            <a:ext cx="1467073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17" name="Shape 13"/>
          <p:cNvSpPr/>
          <p:nvPr/>
        </p:nvSpPr>
        <p:spPr>
          <a:xfrm>
            <a:off x="2647838" y="2721136"/>
            <a:ext cx="146707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47838" y="1692176"/>
            <a:ext cx="1467073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9" name="Shape 15"/>
          <p:cNvSpPr/>
          <p:nvPr/>
        </p:nvSpPr>
        <p:spPr>
          <a:xfrm>
            <a:off x="2647838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Shape 16"/>
          <p:cNvSpPr/>
          <p:nvPr/>
        </p:nvSpPr>
        <p:spPr>
          <a:xfrm>
            <a:off x="410300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1" name="Shape 17"/>
          <p:cNvSpPr/>
          <p:nvPr/>
        </p:nvSpPr>
        <p:spPr>
          <a:xfrm>
            <a:off x="2792946" y="1887327"/>
            <a:ext cx="618939" cy="175989"/>
          </a:xfrm>
          <a:prstGeom prst="roundRect">
            <a:avLst>
              <a:gd name="adj" fmla="val 10825"/>
            </a:avLst>
          </a:prstGeom>
          <a:solidFill>
            <a:srgbClr val="F0F0F0"/>
          </a:solidFill>
          <a:ln/>
        </p:spPr>
      </p:sp>
      <p:sp>
        <p:nvSpPr>
          <p:cNvPr id="22" name="Text 18"/>
          <p:cNvSpPr/>
          <p:nvPr/>
        </p:nvSpPr>
        <p:spPr>
          <a:xfrm>
            <a:off x="2869146" y="1915902"/>
            <a:ext cx="542739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2792946" y="2196517"/>
            <a:ext cx="1253058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b="1" spc="1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chunking</a:t>
            </a:r>
            <a:endParaRPr lang="en-US" sz="1575" dirty="0"/>
          </a:p>
        </p:txBody>
      </p:sp>
      <p:sp>
        <p:nvSpPr>
          <p:cNvPr id="24" name="Shape 20"/>
          <p:cNvSpPr/>
          <p:nvPr/>
        </p:nvSpPr>
        <p:spPr>
          <a:xfrm>
            <a:off x="387455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sx="100000" sy="100000" kx="0" ky="0" algn="bl" rotWithShape="0" blurRad="101600" dist="50800" dir="16200000">
              <a:srgbClr val="BDD248">
                <a:alpha val="25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912" y="2098291"/>
            <a:ext cx="361838" cy="228451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457774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27" name="Shape 22"/>
          <p:cNvSpPr/>
          <p:nvPr/>
        </p:nvSpPr>
        <p:spPr>
          <a:xfrm>
            <a:off x="4457774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8" name="Shape 23"/>
          <p:cNvSpPr/>
          <p:nvPr/>
        </p:nvSpPr>
        <p:spPr>
          <a:xfrm>
            <a:off x="4457774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9" name="Shape 24"/>
          <p:cNvSpPr/>
          <p:nvPr/>
        </p:nvSpPr>
        <p:spPr>
          <a:xfrm>
            <a:off x="4457774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5"/>
          <p:cNvSpPr/>
          <p:nvPr/>
        </p:nvSpPr>
        <p:spPr>
          <a:xfrm>
            <a:off x="591275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1" name="Shape 26"/>
          <p:cNvSpPr/>
          <p:nvPr/>
        </p:nvSpPr>
        <p:spPr>
          <a:xfrm>
            <a:off x="4602882" y="1887327"/>
            <a:ext cx="618939" cy="175989"/>
          </a:xfrm>
          <a:prstGeom prst="roundRect">
            <a:avLst>
              <a:gd name="adj" fmla="val 10825"/>
            </a:avLst>
          </a:prstGeom>
          <a:solidFill>
            <a:srgbClr val="F0F0F0"/>
          </a:solidFill>
          <a:ln/>
        </p:spPr>
      </p:sp>
      <p:sp>
        <p:nvSpPr>
          <p:cNvPr id="32" name="Text 27"/>
          <p:cNvSpPr/>
          <p:nvPr/>
        </p:nvSpPr>
        <p:spPr>
          <a:xfrm>
            <a:off x="4679082" y="1915902"/>
            <a:ext cx="542739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4602882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b="1" spc="1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embedding</a:t>
            </a:r>
            <a:endParaRPr lang="en-US" sz="1575" dirty="0"/>
          </a:p>
        </p:txBody>
      </p:sp>
      <p:sp>
        <p:nvSpPr>
          <p:cNvPr id="34" name="Shape 29"/>
          <p:cNvSpPr/>
          <p:nvPr/>
        </p:nvSpPr>
        <p:spPr>
          <a:xfrm>
            <a:off x="568430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sx="100000" sy="100000" kx="0" ky="0" algn="bl" rotWithShape="0" blurRad="101600" dist="50800" dir="16200000">
              <a:srgbClr val="BDD248">
                <a:alpha val="25000"/>
              </a:srgbClr>
            </a:outerShdw>
          </a:effectLst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662" y="2098291"/>
            <a:ext cx="361838" cy="228451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6267524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37" name="Shape 31"/>
          <p:cNvSpPr/>
          <p:nvPr/>
        </p:nvSpPr>
        <p:spPr>
          <a:xfrm>
            <a:off x="6267524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Shape 32"/>
          <p:cNvSpPr/>
          <p:nvPr/>
        </p:nvSpPr>
        <p:spPr>
          <a:xfrm>
            <a:off x="6267524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9" name="Shape 33"/>
          <p:cNvSpPr/>
          <p:nvPr/>
        </p:nvSpPr>
        <p:spPr>
          <a:xfrm>
            <a:off x="6267524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Shape 34"/>
          <p:cNvSpPr/>
          <p:nvPr/>
        </p:nvSpPr>
        <p:spPr>
          <a:xfrm>
            <a:off x="772250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1" name="Shape 35"/>
          <p:cNvSpPr/>
          <p:nvPr/>
        </p:nvSpPr>
        <p:spPr>
          <a:xfrm>
            <a:off x="6412632" y="1887327"/>
            <a:ext cx="485552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</p:sp>
      <p:sp>
        <p:nvSpPr>
          <p:cNvPr id="42" name="Text 36"/>
          <p:cNvSpPr/>
          <p:nvPr/>
        </p:nvSpPr>
        <p:spPr>
          <a:xfrm>
            <a:off x="6488832" y="1915902"/>
            <a:ext cx="409352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6412632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b="1" spc="1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indexing</a:t>
            </a:r>
            <a:endParaRPr lang="en-US" sz="1575" dirty="0"/>
          </a:p>
        </p:txBody>
      </p:sp>
      <p:sp>
        <p:nvSpPr>
          <p:cNvPr id="44" name="Shape 38"/>
          <p:cNvSpPr/>
          <p:nvPr/>
        </p:nvSpPr>
        <p:spPr>
          <a:xfrm>
            <a:off x="749405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sx="100000" sy="100000" kx="0" ky="0" algn="bl" rotWithShape="0" blurRad="101600" dist="50800" dir="16200000">
              <a:srgbClr val="BDD248">
                <a:alpha val="25000"/>
              </a:srgbClr>
            </a:outerShdw>
          </a:effectLst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412" y="2098291"/>
            <a:ext cx="361838" cy="228451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8077274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47" name="Shape 40"/>
          <p:cNvSpPr/>
          <p:nvPr/>
        </p:nvSpPr>
        <p:spPr>
          <a:xfrm>
            <a:off x="8077274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8" name="Shape 41"/>
          <p:cNvSpPr/>
          <p:nvPr/>
        </p:nvSpPr>
        <p:spPr>
          <a:xfrm>
            <a:off x="8077274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9" name="Shape 42"/>
          <p:cNvSpPr/>
          <p:nvPr/>
        </p:nvSpPr>
        <p:spPr>
          <a:xfrm>
            <a:off x="8077274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0" name="Shape 43"/>
          <p:cNvSpPr/>
          <p:nvPr/>
        </p:nvSpPr>
        <p:spPr>
          <a:xfrm>
            <a:off x="953225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1" name="Shape 44"/>
          <p:cNvSpPr/>
          <p:nvPr/>
        </p:nvSpPr>
        <p:spPr>
          <a:xfrm>
            <a:off x="8222382" y="1887327"/>
            <a:ext cx="685726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</p:sp>
      <p:sp>
        <p:nvSpPr>
          <p:cNvPr id="52" name="Text 45"/>
          <p:cNvSpPr/>
          <p:nvPr/>
        </p:nvSpPr>
        <p:spPr>
          <a:xfrm>
            <a:off x="8298582" y="1915902"/>
            <a:ext cx="609526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EVALUATE</a:t>
            </a:r>
            <a:endParaRPr lang="en-US" sz="750" dirty="0"/>
          </a:p>
        </p:txBody>
      </p:sp>
      <p:sp>
        <p:nvSpPr>
          <p:cNvPr id="53" name="Text 46"/>
          <p:cNvSpPr/>
          <p:nvPr/>
        </p:nvSpPr>
        <p:spPr>
          <a:xfrm>
            <a:off x="8222382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b="1" spc="1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evaluate</a:t>
            </a:r>
            <a:endParaRPr lang="en-US" sz="1575" dirty="0"/>
          </a:p>
        </p:txBody>
      </p:sp>
      <p:sp>
        <p:nvSpPr>
          <p:cNvPr id="54" name="Shape 47"/>
          <p:cNvSpPr/>
          <p:nvPr/>
        </p:nvSpPr>
        <p:spPr>
          <a:xfrm>
            <a:off x="930380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sx="100000" sy="100000" kx="0" ky="0" algn="bl" rotWithShape="0" blurRad="101600" dist="50800" dir="16200000">
              <a:srgbClr val="BDD248">
                <a:alpha val="25000"/>
              </a:srgbClr>
            </a:outerShdw>
          </a:effectLst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4162" y="2098291"/>
            <a:ext cx="361838" cy="228451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9887024" y="1692176"/>
            <a:ext cx="1466887" cy="1040867"/>
          </a:xfrm>
          <a:prstGeom prst="roundRect">
            <a:avLst>
              <a:gd name="adj" fmla="val 5491"/>
            </a:avLst>
          </a:prstGeom>
          <a:solidFill>
            <a:srgbClr val="F4F4F4"/>
          </a:solidFill>
          <a:ln/>
        </p:spPr>
      </p:sp>
      <p:sp>
        <p:nvSpPr>
          <p:cNvPr id="57" name="Shape 49"/>
          <p:cNvSpPr/>
          <p:nvPr/>
        </p:nvSpPr>
        <p:spPr>
          <a:xfrm>
            <a:off x="9887024" y="2721136"/>
            <a:ext cx="14668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8" name="Shape 50"/>
          <p:cNvSpPr/>
          <p:nvPr/>
        </p:nvSpPr>
        <p:spPr>
          <a:xfrm>
            <a:off x="9887024" y="1692176"/>
            <a:ext cx="14668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9" name="Shape 51"/>
          <p:cNvSpPr/>
          <p:nvPr/>
        </p:nvSpPr>
        <p:spPr>
          <a:xfrm>
            <a:off x="9887024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0" name="Shape 52"/>
          <p:cNvSpPr/>
          <p:nvPr/>
        </p:nvSpPr>
        <p:spPr>
          <a:xfrm>
            <a:off x="11342005" y="1692176"/>
            <a:ext cx="11906" cy="104086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1" name="Shape 53"/>
          <p:cNvSpPr/>
          <p:nvPr/>
        </p:nvSpPr>
        <p:spPr>
          <a:xfrm>
            <a:off x="10032132" y="1887327"/>
            <a:ext cx="552338" cy="175989"/>
          </a:xfrm>
          <a:prstGeom prst="roundRect">
            <a:avLst>
              <a:gd name="adj" fmla="val 10825"/>
            </a:avLst>
          </a:prstGeom>
          <a:solidFill>
            <a:srgbClr val="EFF4D8"/>
          </a:solidFill>
          <a:ln/>
        </p:spPr>
      </p:sp>
      <p:sp>
        <p:nvSpPr>
          <p:cNvPr id="62" name="Text 54"/>
          <p:cNvSpPr/>
          <p:nvPr/>
        </p:nvSpPr>
        <p:spPr>
          <a:xfrm>
            <a:off x="10108332" y="1915902"/>
            <a:ext cx="476138" cy="156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DEPLOY</a:t>
            </a:r>
            <a:endParaRPr lang="en-US" sz="750" dirty="0"/>
          </a:p>
        </p:txBody>
      </p:sp>
      <p:sp>
        <p:nvSpPr>
          <p:cNvPr id="63" name="Text 55"/>
          <p:cNvSpPr/>
          <p:nvPr/>
        </p:nvSpPr>
        <p:spPr>
          <a:xfrm>
            <a:off x="10032132" y="2196517"/>
            <a:ext cx="1252872" cy="257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75" b="1" spc="16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deploy</a:t>
            </a:r>
            <a:endParaRPr lang="en-US" sz="1575" dirty="0"/>
          </a:p>
        </p:txBody>
      </p:sp>
      <p:sp>
        <p:nvSpPr>
          <p:cNvPr id="64" name="Shape 56"/>
          <p:cNvSpPr/>
          <p:nvPr/>
        </p:nvSpPr>
        <p:spPr>
          <a:xfrm>
            <a:off x="11113554" y="2416411"/>
            <a:ext cx="95250" cy="95250"/>
          </a:xfrm>
          <a:prstGeom prst="ellipse">
            <a:avLst/>
          </a:prstGeom>
          <a:solidFill>
            <a:srgbClr val="BDD248"/>
          </a:solidFill>
          <a:ln/>
          <a:effectLst>
            <a:outerShdw sx="100000" sy="100000" kx="0" ky="0" algn="bl" rotWithShape="0" blurRad="101600" dist="50800" dir="16200000">
              <a:srgbClr val="BDD248">
                <a:alpha val="25000"/>
              </a:srgbClr>
            </a:outerShdw>
          </a:effectLst>
        </p:spPr>
      </p:sp>
      <p:sp>
        <p:nvSpPr>
          <p:cNvPr id="65" name="Shape 57"/>
          <p:cNvSpPr/>
          <p:nvPr/>
        </p:nvSpPr>
        <p:spPr>
          <a:xfrm>
            <a:off x="838088" y="2938983"/>
            <a:ext cx="85576" cy="85576"/>
          </a:xfrm>
          <a:prstGeom prst="ellipse">
            <a:avLst/>
          </a:prstGeom>
          <a:solidFill>
            <a:srgbClr val="BDD248"/>
          </a:solidFill>
          <a:ln/>
        </p:spPr>
      </p:sp>
      <p:sp>
        <p:nvSpPr>
          <p:cNvPr id="66" name="Text 58"/>
          <p:cNvSpPr/>
          <p:nvPr/>
        </p:nvSpPr>
        <p:spPr>
          <a:xfrm>
            <a:off x="999753" y="2904381"/>
            <a:ext cx="1104974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statut : succès</a:t>
            </a:r>
            <a:endParaRPr lang="en-US" sz="900" dirty="0"/>
          </a:p>
        </p:txBody>
      </p:sp>
      <p:sp>
        <p:nvSpPr>
          <p:cNvPr id="67" name="Shape 59"/>
          <p:cNvSpPr/>
          <p:nvPr/>
        </p:nvSpPr>
        <p:spPr>
          <a:xfrm>
            <a:off x="2219027" y="2967447"/>
            <a:ext cx="304726" cy="28463"/>
          </a:xfrm>
          <a:prstGeom prst="roundRect">
            <a:avLst>
              <a:gd name="adj" fmla="val 50001"/>
            </a:avLst>
          </a:prstGeom>
          <a:solidFill>
            <a:srgbClr val="BDD248"/>
          </a:solidFill>
          <a:ln/>
        </p:spPr>
      </p:sp>
      <p:sp>
        <p:nvSpPr>
          <p:cNvPr id="68" name="Text 60"/>
          <p:cNvSpPr/>
          <p:nvPr/>
        </p:nvSpPr>
        <p:spPr>
          <a:xfrm>
            <a:off x="2599841" y="2904381"/>
            <a:ext cx="89922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complété</a:t>
            </a:r>
            <a:endParaRPr lang="en-US" sz="900" dirty="0"/>
          </a:p>
        </p:txBody>
      </p:sp>
      <p:sp>
        <p:nvSpPr>
          <p:cNvPr id="69" name="Text 61"/>
          <p:cNvSpPr/>
          <p:nvPr/>
        </p:nvSpPr>
        <p:spPr>
          <a:xfrm>
            <a:off x="3689449" y="2904381"/>
            <a:ext cx="399823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clin d'œil au DAG live du Studio (MLflow / Prefect)</a:t>
            </a:r>
            <a:endParaRPr lang="en-US" sz="900" dirty="0"/>
          </a:p>
        </p:txBody>
      </p:sp>
      <p:sp>
        <p:nvSpPr>
          <p:cNvPr id="70" name="Shape 62"/>
          <p:cNvSpPr/>
          <p:nvPr/>
        </p:nvSpPr>
        <p:spPr>
          <a:xfrm>
            <a:off x="838088" y="3192363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1" name="Text 63"/>
          <p:cNvSpPr/>
          <p:nvPr/>
        </p:nvSpPr>
        <p:spPr>
          <a:xfrm>
            <a:off x="838088" y="3280470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spc="50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PREPARE</a:t>
            </a:r>
            <a:endParaRPr lang="en-US" sz="825" dirty="0"/>
          </a:p>
        </p:txBody>
      </p:sp>
      <p:sp>
        <p:nvSpPr>
          <p:cNvPr id="72" name="Shape 64"/>
          <p:cNvSpPr/>
          <p:nvPr/>
        </p:nvSpPr>
        <p:spPr>
          <a:xfrm>
            <a:off x="2686720" y="3192363"/>
            <a:ext cx="3121298" cy="11906"/>
          </a:xfrm>
          <a:prstGeom prst="rect">
            <a:avLst/>
          </a:prstGeom>
          <a:solidFill>
            <a:srgbClr val="525252"/>
          </a:solidFill>
          <a:ln/>
        </p:spPr>
      </p:sp>
      <p:sp>
        <p:nvSpPr>
          <p:cNvPr id="73" name="Text 65"/>
          <p:cNvSpPr/>
          <p:nvPr/>
        </p:nvSpPr>
        <p:spPr>
          <a:xfrm>
            <a:off x="2678000" y="3280470"/>
            <a:ext cx="3138737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spc="50" kern="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PROCESS (×2)</a:t>
            </a:r>
            <a:endParaRPr lang="en-US" sz="825" dirty="0"/>
          </a:p>
        </p:txBody>
      </p:sp>
      <p:sp>
        <p:nvSpPr>
          <p:cNvPr id="74" name="Shape 66"/>
          <p:cNvSpPr/>
          <p:nvPr/>
        </p:nvSpPr>
        <p:spPr>
          <a:xfrm>
            <a:off x="6150880" y="3192363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5" name="Text 67"/>
          <p:cNvSpPr/>
          <p:nvPr/>
        </p:nvSpPr>
        <p:spPr>
          <a:xfrm>
            <a:off x="6150880" y="3280470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spc="50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BUILD</a:t>
            </a:r>
            <a:endParaRPr lang="en-US" sz="825" dirty="0"/>
          </a:p>
        </p:txBody>
      </p:sp>
      <p:sp>
        <p:nvSpPr>
          <p:cNvPr id="76" name="Shape 68"/>
          <p:cNvSpPr/>
          <p:nvPr/>
        </p:nvSpPr>
        <p:spPr>
          <a:xfrm>
            <a:off x="7999512" y="3192363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7" name="Text 69"/>
          <p:cNvSpPr/>
          <p:nvPr/>
        </p:nvSpPr>
        <p:spPr>
          <a:xfrm>
            <a:off x="7999512" y="3280470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spc="50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EVALUATE</a:t>
            </a:r>
            <a:endParaRPr lang="en-US" sz="825" dirty="0"/>
          </a:p>
        </p:txBody>
      </p:sp>
      <p:sp>
        <p:nvSpPr>
          <p:cNvPr id="78" name="Shape 70"/>
          <p:cNvSpPr/>
          <p:nvPr/>
        </p:nvSpPr>
        <p:spPr>
          <a:xfrm>
            <a:off x="9848143" y="3192363"/>
            <a:ext cx="1505769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9" name="Text 71"/>
          <p:cNvSpPr/>
          <p:nvPr/>
        </p:nvSpPr>
        <p:spPr>
          <a:xfrm>
            <a:off x="9848143" y="3280470"/>
            <a:ext cx="150576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spc="50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DEPLOY</a:t>
            </a:r>
            <a:endParaRPr lang="en-US" sz="825" dirty="0"/>
          </a:p>
        </p:txBody>
      </p:sp>
      <p:sp>
        <p:nvSpPr>
          <p:cNvPr id="80" name="Shape 72"/>
          <p:cNvSpPr/>
          <p:nvPr/>
        </p:nvSpPr>
        <p:spPr>
          <a:xfrm>
            <a:off x="838088" y="3651684"/>
            <a:ext cx="10515823" cy="719770"/>
          </a:xfrm>
          <a:prstGeom prst="roundRect">
            <a:avLst>
              <a:gd name="adj" fmla="val 7940"/>
            </a:avLst>
          </a:prstGeom>
          <a:solidFill>
            <a:srgbClr val="2A2A2A"/>
          </a:solidFill>
          <a:ln/>
        </p:spPr>
      </p:sp>
      <p:sp>
        <p:nvSpPr>
          <p:cNvPr id="81" name="Shape 73"/>
          <p:cNvSpPr/>
          <p:nvPr/>
        </p:nvSpPr>
        <p:spPr>
          <a:xfrm>
            <a:off x="1066540" y="3846091"/>
            <a:ext cx="1076399" cy="330771"/>
          </a:xfrm>
          <a:prstGeom prst="roundRect">
            <a:avLst>
              <a:gd name="adj" fmla="val 8639"/>
            </a:avLst>
          </a:prstGeom>
          <a:solidFill>
            <a:srgbClr val="BDD248"/>
          </a:solidFill>
          <a:ln/>
        </p:spPr>
      </p:sp>
      <p:sp>
        <p:nvSpPr>
          <p:cNvPr id="82" name="Text 74"/>
          <p:cNvSpPr/>
          <p:nvPr/>
        </p:nvSpPr>
        <p:spPr>
          <a:xfrm>
            <a:off x="1209415" y="3922291"/>
            <a:ext cx="866849" cy="2164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68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RÉFÉRENCE</a:t>
            </a:r>
            <a:endParaRPr lang="en-US" sz="975" dirty="0"/>
          </a:p>
        </p:txBody>
      </p:sp>
      <p:sp>
        <p:nvSpPr>
          <p:cNvPr id="83" name="Text 75"/>
          <p:cNvSpPr/>
          <p:nvPr/>
        </p:nvSpPr>
        <p:spPr>
          <a:xfrm>
            <a:off x="2333439" y="3794559"/>
            <a:ext cx="9055782" cy="472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RAG = implémentation de référence. </a:t>
            </a:r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</a:t>
            </a:r>
            <a:pPr algn="l" indent="0" marL="0">
              <a:lnSpc>
                <a:spcPct val="145000"/>
              </a:lnSpc>
              <a:buNone/>
            </a:pPr>
            <a:r>
              <a:rPr lang="en-US" sz="906" baseline="3000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er </a:t>
            </a:r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use case complet : il prouve l'architecture de bout en bout </a:t>
            </a:r>
            <a:pPr algn="l" indent="0" marL="0">
              <a:lnSpc>
                <a:spcPct val="145000"/>
              </a:lnSpc>
              <a:buNone/>
            </a:pPr>
            <a:r>
              <a:rPr lang="en-US" sz="1088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et hérite automatiquement de tout l'outillage OPS </a:t>
            </a:r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(MLflow, monitoring, Docker, CI/CT). Un développeur peut s'en inspirer comme modèle pour son propre use case.</a:t>
            </a:r>
            <a:endParaRPr lang="en-US" sz="1088" dirty="0"/>
          </a:p>
        </p:txBody>
      </p:sp>
      <p:sp>
        <p:nvSpPr>
          <p:cNvPr id="84" name="Text 7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85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86" name="Text 77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6057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COMPOSANTS · CATALOGUE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Switch en </a:t>
            </a:r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une ligne </a:t>
            </a:r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YAML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692176"/>
            <a:ext cx="6333939" cy="3149575"/>
          </a:xfrm>
          <a:prstGeom prst="roundRect">
            <a:avLst>
              <a:gd name="adj" fmla="val 1815"/>
            </a:avLst>
          </a:prstGeom>
          <a:ln/>
          <a:effectLst>
            <a:outerShdw sx="100000" sy="100000" kx="0" ky="0" algn="bl" rotWithShape="0" blurRad="76200" dist="19050" dir="5400000">
              <a:srgbClr val="2A2A2A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38088" y="1692176"/>
            <a:ext cx="6333939" cy="437927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5"/>
          <p:cNvSpPr/>
          <p:nvPr/>
        </p:nvSpPr>
        <p:spPr>
          <a:xfrm>
            <a:off x="1047638" y="1816001"/>
            <a:ext cx="1085850" cy="228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CATÉGORIE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76388" y="1816001"/>
            <a:ext cx="4633245" cy="228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84" kern="0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OPTIONS DISPONIBLES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38088" y="2130103"/>
            <a:ext cx="6333939" cy="5387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838088" y="2656954"/>
            <a:ext cx="142875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Text 9"/>
          <p:cNvSpPr/>
          <p:nvPr/>
        </p:nvSpPr>
        <p:spPr>
          <a:xfrm>
            <a:off x="1047638" y="2244403"/>
            <a:ext cx="1085850" cy="3363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Chunker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66838" y="2656954"/>
            <a:ext cx="490518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4" name="Shape 11"/>
          <p:cNvSpPr/>
          <p:nvPr/>
        </p:nvSpPr>
        <p:spPr>
          <a:xfrm>
            <a:off x="2476314" y="2263304"/>
            <a:ext cx="902084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92995" y="2313310"/>
            <a:ext cx="74492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recursive</a:t>
            </a:r>
            <a:endParaRPr lang="en-US" sz="975" dirty="0"/>
          </a:p>
        </p:txBody>
      </p:sp>
      <p:sp>
        <p:nvSpPr>
          <p:cNvPr id="16" name="Shape 13"/>
          <p:cNvSpPr/>
          <p:nvPr/>
        </p:nvSpPr>
        <p:spPr>
          <a:xfrm>
            <a:off x="3426023" y="2263304"/>
            <a:ext cx="827670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42705" y="2313310"/>
            <a:ext cx="67050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semantic</a:t>
            </a:r>
            <a:endParaRPr lang="en-US" sz="975" dirty="0"/>
          </a:p>
        </p:txBody>
      </p:sp>
      <p:sp>
        <p:nvSpPr>
          <p:cNvPr id="18" name="Shape 15"/>
          <p:cNvSpPr/>
          <p:nvPr/>
        </p:nvSpPr>
        <p:spPr>
          <a:xfrm>
            <a:off x="838088" y="2668860"/>
            <a:ext cx="6333939" cy="54471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9" name="Shape 16"/>
          <p:cNvSpPr/>
          <p:nvPr/>
        </p:nvSpPr>
        <p:spPr>
          <a:xfrm>
            <a:off x="838088" y="3201665"/>
            <a:ext cx="142875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Text 17"/>
          <p:cNvSpPr/>
          <p:nvPr/>
        </p:nvSpPr>
        <p:spPr>
          <a:xfrm>
            <a:off x="1047638" y="2783160"/>
            <a:ext cx="1085850" cy="342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Embedder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266838" y="3201665"/>
            <a:ext cx="490518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2" name="Shape 19"/>
          <p:cNvSpPr/>
          <p:nvPr/>
        </p:nvSpPr>
        <p:spPr>
          <a:xfrm>
            <a:off x="2476314" y="2808015"/>
            <a:ext cx="1050541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92995" y="2858021"/>
            <a:ext cx="89337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huggingface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3574479" y="2808015"/>
            <a:ext cx="902084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91161" y="2858021"/>
            <a:ext cx="74492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fastembed</a:t>
            </a:r>
            <a:endParaRPr lang="en-US" sz="975" dirty="0"/>
          </a:p>
        </p:txBody>
      </p:sp>
      <p:sp>
        <p:nvSpPr>
          <p:cNvPr id="26" name="Shape 23"/>
          <p:cNvSpPr/>
          <p:nvPr/>
        </p:nvSpPr>
        <p:spPr>
          <a:xfrm>
            <a:off x="838088" y="3213571"/>
            <a:ext cx="6333939" cy="5447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838088" y="3746376"/>
            <a:ext cx="142875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8" name="Text 25"/>
          <p:cNvSpPr/>
          <p:nvPr/>
        </p:nvSpPr>
        <p:spPr>
          <a:xfrm>
            <a:off x="1047638" y="3327871"/>
            <a:ext cx="1085850" cy="342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Vector store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266838" y="3746376"/>
            <a:ext cx="490518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7"/>
          <p:cNvSpPr/>
          <p:nvPr/>
        </p:nvSpPr>
        <p:spPr>
          <a:xfrm>
            <a:off x="2476314" y="3352726"/>
            <a:ext cx="604800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92995" y="3402732"/>
            <a:ext cx="44763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FAISS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3128739" y="3352726"/>
            <a:ext cx="827670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45421" y="3402732"/>
            <a:ext cx="67050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ChromaDB</a:t>
            </a:r>
            <a:endParaRPr lang="en-US" sz="975" dirty="0"/>
          </a:p>
        </p:txBody>
      </p:sp>
      <p:sp>
        <p:nvSpPr>
          <p:cNvPr id="34" name="Shape 31"/>
          <p:cNvSpPr/>
          <p:nvPr/>
        </p:nvSpPr>
        <p:spPr>
          <a:xfrm>
            <a:off x="4004035" y="3352726"/>
            <a:ext cx="679214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20716" y="3402732"/>
            <a:ext cx="52205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Qdrant</a:t>
            </a:r>
            <a:endParaRPr lang="en-US" sz="975" dirty="0"/>
          </a:p>
        </p:txBody>
      </p:sp>
      <p:sp>
        <p:nvSpPr>
          <p:cNvPr id="36" name="Shape 33"/>
          <p:cNvSpPr/>
          <p:nvPr/>
        </p:nvSpPr>
        <p:spPr>
          <a:xfrm>
            <a:off x="4730874" y="3352726"/>
            <a:ext cx="679214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7555" y="3402732"/>
            <a:ext cx="52205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Milvus</a:t>
            </a:r>
            <a:endParaRPr lang="en-US" sz="975" dirty="0"/>
          </a:p>
        </p:txBody>
      </p:sp>
      <p:sp>
        <p:nvSpPr>
          <p:cNvPr id="38" name="Shape 35"/>
          <p:cNvSpPr/>
          <p:nvPr/>
        </p:nvSpPr>
        <p:spPr>
          <a:xfrm>
            <a:off x="838088" y="3758282"/>
            <a:ext cx="6333939" cy="544711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9" name="Shape 36"/>
          <p:cNvSpPr/>
          <p:nvPr/>
        </p:nvSpPr>
        <p:spPr>
          <a:xfrm>
            <a:off x="838088" y="4291087"/>
            <a:ext cx="142875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Text 37"/>
          <p:cNvSpPr/>
          <p:nvPr/>
        </p:nvSpPr>
        <p:spPr>
          <a:xfrm>
            <a:off x="1047638" y="3872582"/>
            <a:ext cx="1085850" cy="3423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2266838" y="4291087"/>
            <a:ext cx="4905189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2" name="Shape 39"/>
          <p:cNvSpPr/>
          <p:nvPr/>
        </p:nvSpPr>
        <p:spPr>
          <a:xfrm>
            <a:off x="2476314" y="3897437"/>
            <a:ext cx="604800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592995" y="3947443"/>
            <a:ext cx="447638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naive</a:t>
            </a:r>
            <a:endParaRPr lang="en-US" sz="975" dirty="0"/>
          </a:p>
        </p:txBody>
      </p:sp>
      <p:sp>
        <p:nvSpPr>
          <p:cNvPr id="44" name="Shape 41"/>
          <p:cNvSpPr/>
          <p:nvPr/>
        </p:nvSpPr>
        <p:spPr>
          <a:xfrm>
            <a:off x="3128739" y="3897437"/>
            <a:ext cx="679214" cy="266402"/>
          </a:xfrm>
          <a:prstGeom prst="roundRect">
            <a:avLst>
              <a:gd name="adj" fmla="val 10726"/>
            </a:avLst>
          </a:prstGeom>
          <a:solidFill>
            <a:srgbClr val="FFFFFF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245421" y="3947443"/>
            <a:ext cx="52205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hybrid</a:t>
            </a:r>
            <a:endParaRPr lang="en-US" sz="975" dirty="0"/>
          </a:p>
        </p:txBody>
      </p:sp>
      <p:sp>
        <p:nvSpPr>
          <p:cNvPr id="46" name="Shape 43"/>
          <p:cNvSpPr/>
          <p:nvPr/>
        </p:nvSpPr>
        <p:spPr>
          <a:xfrm>
            <a:off x="838088" y="4302993"/>
            <a:ext cx="6333939" cy="5387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1047638" y="4417293"/>
            <a:ext cx="1085850" cy="34825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Reranker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2476314" y="4442147"/>
            <a:ext cx="530572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592995" y="4492154"/>
            <a:ext cx="373410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none</a:t>
            </a:r>
            <a:endParaRPr lang="en-US" sz="975" dirty="0"/>
          </a:p>
        </p:txBody>
      </p:sp>
      <p:sp>
        <p:nvSpPr>
          <p:cNvPr id="50" name="Shape 47"/>
          <p:cNvSpPr/>
          <p:nvPr/>
        </p:nvSpPr>
        <p:spPr>
          <a:xfrm>
            <a:off x="3054511" y="4442147"/>
            <a:ext cx="902084" cy="266402"/>
          </a:xfrm>
          <a:prstGeom prst="roundRect">
            <a:avLst>
              <a:gd name="adj" fmla="val 10726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171192" y="4492154"/>
            <a:ext cx="744922" cy="204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flashrank</a:t>
            </a:r>
            <a:endParaRPr lang="en-US" sz="975" dirty="0"/>
          </a:p>
        </p:txBody>
      </p:sp>
      <p:sp>
        <p:nvSpPr>
          <p:cNvPr id="52" name="Shape 49"/>
          <p:cNvSpPr/>
          <p:nvPr/>
        </p:nvSpPr>
        <p:spPr>
          <a:xfrm>
            <a:off x="7514890" y="1692176"/>
            <a:ext cx="3838835" cy="3154226"/>
          </a:xfrm>
          <a:prstGeom prst="roundRect">
            <a:avLst>
              <a:gd name="adj" fmla="val 181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342900" dist="114300" dir="5400000">
              <a:srgbClr val="1A1A1A">
                <a:alpha val="22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7762503" y="2158752"/>
            <a:ext cx="3343610" cy="1190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7762503" y="1901651"/>
            <a:ext cx="3443918" cy="1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CONFIG.YAML</a:t>
            </a:r>
            <a:endParaRPr lang="en-US" sz="825" dirty="0"/>
          </a:p>
        </p:txBody>
      </p:sp>
      <p:sp>
        <p:nvSpPr>
          <p:cNvPr id="55" name="Text 52"/>
          <p:cNvSpPr/>
          <p:nvPr/>
        </p:nvSpPr>
        <p:spPr>
          <a:xfrm>
            <a:off x="7762503" y="2323021"/>
            <a:ext cx="34439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</a:t>
            </a:r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56" name="Text 53"/>
          <p:cNvSpPr/>
          <p:nvPr/>
        </p:nvSpPr>
        <p:spPr>
          <a:xfrm>
            <a:off x="7914903" y="2580122"/>
            <a:ext cx="32915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chunker</a:t>
            </a:r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57" name="Text 54"/>
          <p:cNvSpPr/>
          <p:nvPr/>
        </p:nvSpPr>
        <p:spPr>
          <a:xfrm>
            <a:off x="8067303" y="2837222"/>
            <a:ext cx="31391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</a:t>
            </a:r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recursive</a:t>
            </a:r>
            <a:endParaRPr lang="en-US" sz="1125" dirty="0"/>
          </a:p>
        </p:txBody>
      </p:sp>
      <p:sp>
        <p:nvSpPr>
          <p:cNvPr id="58" name="Text 55"/>
          <p:cNvSpPr/>
          <p:nvPr/>
        </p:nvSpPr>
        <p:spPr>
          <a:xfrm>
            <a:off x="7914903" y="3094323"/>
            <a:ext cx="32915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embedder</a:t>
            </a:r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59" name="Text 56"/>
          <p:cNvSpPr/>
          <p:nvPr/>
        </p:nvSpPr>
        <p:spPr>
          <a:xfrm>
            <a:off x="8067303" y="3351423"/>
            <a:ext cx="31391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</a:t>
            </a:r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huggingface</a:t>
            </a:r>
            <a:endParaRPr lang="en-US" sz="1125" dirty="0"/>
          </a:p>
        </p:txBody>
      </p:sp>
      <p:sp>
        <p:nvSpPr>
          <p:cNvPr id="60" name="Text 57"/>
          <p:cNvSpPr/>
          <p:nvPr/>
        </p:nvSpPr>
        <p:spPr>
          <a:xfrm>
            <a:off x="7914903" y="3608524"/>
            <a:ext cx="32915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vector_store</a:t>
            </a:r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61" name="Shape 58"/>
          <p:cNvSpPr/>
          <p:nvPr/>
        </p:nvSpPr>
        <p:spPr>
          <a:xfrm>
            <a:off x="7734040" y="3865625"/>
            <a:ext cx="3372073" cy="257101"/>
          </a:xfrm>
          <a:prstGeom prst="roundRect">
            <a:avLst>
              <a:gd name="adj" fmla="val 7410"/>
            </a:avLst>
          </a:prstGeom>
          <a:solidFill>
            <a:srgbClr val="BDD248">
              <a:alpha val="15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7734040" y="3865625"/>
            <a:ext cx="23813" cy="2571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63" name="Text 60"/>
          <p:cNvSpPr/>
          <p:nvPr/>
        </p:nvSpPr>
        <p:spPr>
          <a:xfrm>
            <a:off x="8034077" y="3865625"/>
            <a:ext cx="317319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</a:t>
            </a:r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CDD3E0"/>
                </a:solidFill>
                <a:highlight>
                  <a:srgbClr val="F5F8E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ct val="180000"/>
              </a:lnSpc>
              <a:buNone/>
            </a:pPr>
            <a:r>
              <a:rPr lang="en-US" sz="1125" b="1" dirty="0">
                <a:solidFill>
                  <a:srgbClr val="D0E8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qdrant</a:t>
            </a:r>
            <a:endParaRPr lang="en-US" sz="1125" dirty="0"/>
          </a:p>
        </p:txBody>
      </p:sp>
      <p:sp>
        <p:nvSpPr>
          <p:cNvPr id="64" name="Text 61"/>
          <p:cNvSpPr/>
          <p:nvPr/>
        </p:nvSpPr>
        <p:spPr>
          <a:xfrm>
            <a:off x="7914903" y="4122725"/>
            <a:ext cx="32915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retriever</a:t>
            </a:r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25" dirty="0"/>
          </a:p>
        </p:txBody>
      </p:sp>
      <p:sp>
        <p:nvSpPr>
          <p:cNvPr id="65" name="Text 62"/>
          <p:cNvSpPr/>
          <p:nvPr/>
        </p:nvSpPr>
        <p:spPr>
          <a:xfrm>
            <a:off x="8067303" y="4379826"/>
            <a:ext cx="3139118" cy="295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7DBCD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strategy</a:t>
            </a:r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algn="l" indent="0" marL="0">
              <a:lnSpc>
                <a:spcPct val="180000"/>
              </a:lnSpc>
              <a:buNone/>
            </a:pPr>
            <a:r>
              <a:rPr lang="en-US" sz="1125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hybrid</a:t>
            </a:r>
            <a:endParaRPr lang="en-US" sz="1125" dirty="0"/>
          </a:p>
        </p:txBody>
      </p:sp>
      <p:sp>
        <p:nvSpPr>
          <p:cNvPr id="66" name="Shape 63"/>
          <p:cNvSpPr/>
          <p:nvPr/>
        </p:nvSpPr>
        <p:spPr>
          <a:xfrm>
            <a:off x="838088" y="5772485"/>
            <a:ext cx="10515823" cy="476064"/>
          </a:xfrm>
          <a:prstGeom prst="roundRect">
            <a:avLst>
              <a:gd name="adj" fmla="val 6002"/>
            </a:avLst>
          </a:prstGeom>
          <a:solidFill>
            <a:srgbClr val="2A2A2A"/>
          </a:solidFill>
          <a:ln/>
        </p:spPr>
      </p:sp>
      <p:sp>
        <p:nvSpPr>
          <p:cNvPr id="67" name="Shape 64"/>
          <p:cNvSpPr/>
          <p:nvPr/>
        </p:nvSpPr>
        <p:spPr>
          <a:xfrm>
            <a:off x="1028588" y="5884478"/>
            <a:ext cx="852227" cy="252078"/>
          </a:xfrm>
          <a:prstGeom prst="roundRect">
            <a:avLst>
              <a:gd name="adj" fmla="val 7557"/>
            </a:avLst>
          </a:prstGeom>
          <a:solidFill>
            <a:srgbClr val="BDD248">
              <a:alpha val="12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135745" y="5924959"/>
            <a:ext cx="714115" cy="209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spc="18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Mécanisme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1956904" y="5896198"/>
            <a:ext cx="169962" cy="266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18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2126754" y="5884478"/>
            <a:ext cx="852227" cy="252078"/>
          </a:xfrm>
          <a:prstGeom prst="roundRect">
            <a:avLst>
              <a:gd name="adj" fmla="val 7557"/>
            </a:avLst>
          </a:prstGeom>
          <a:solidFill>
            <a:srgbClr val="BDD248">
              <a:alpha val="12000"/>
            </a:srgbClr>
          </a:solidFill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233910" y="5924959"/>
            <a:ext cx="714115" cy="209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b="1" spc="18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Catalogue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3112182" y="5877223"/>
            <a:ext cx="18976" cy="266588"/>
          </a:xfrm>
          <a:prstGeom prst="roundRect">
            <a:avLst>
              <a:gd name="adj" fmla="val 49999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3" name="Text 70"/>
          <p:cNvSpPr/>
          <p:nvPr/>
        </p:nvSpPr>
        <p:spPr>
          <a:xfrm>
            <a:off x="3264359" y="5917592"/>
            <a:ext cx="2807847" cy="2239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b="1" spc="18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= composants réellement interchangeables</a:t>
            </a:r>
            <a:endParaRPr lang="en-US" sz="975" dirty="0"/>
          </a:p>
        </p:txBody>
      </p:sp>
      <p:sp>
        <p:nvSpPr>
          <p:cNvPr id="74" name="Text 71"/>
          <p:cNvSpPr/>
          <p:nvPr/>
        </p:nvSpPr>
        <p:spPr>
          <a:xfrm>
            <a:off x="8106482" y="5931917"/>
            <a:ext cx="3362623" cy="195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8" kern="0" dirty="0">
                <a:solidFill>
                  <a:srgbClr val="FFFFFF">
                    <a:alpha val="3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slide précédente : le mécanisme de chargement</a:t>
            </a:r>
            <a:endParaRPr lang="en-US" sz="825" dirty="0"/>
          </a:p>
        </p:txBody>
      </p:sp>
      <p:sp>
        <p:nvSpPr>
          <p:cNvPr id="75" name="Text 72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76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77" name="Text 73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86000"/>
            <a:ext cx="1238250" cy="2286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37" y="2286000"/>
            <a:ext cx="1238250" cy="2286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088" y="2145543"/>
            <a:ext cx="9471906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31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PARTIE 4 · 04 / 04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2743088" y="2464594"/>
            <a:ext cx="7793606" cy="1238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cœur du projet — les services OPS</a:t>
            </a:r>
            <a:endParaRPr lang="en-US" sz="4500" dirty="0"/>
          </a:p>
        </p:txBody>
      </p:sp>
      <p:sp>
        <p:nvSpPr>
          <p:cNvPr id="7" name="Shape 3"/>
          <p:cNvSpPr/>
          <p:nvPr/>
        </p:nvSpPr>
        <p:spPr>
          <a:xfrm>
            <a:off x="2743088" y="3931109"/>
            <a:ext cx="685726" cy="5711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8" name="Text 4"/>
          <p:cNvSpPr/>
          <p:nvPr/>
        </p:nvSpPr>
        <p:spPr>
          <a:xfrm>
            <a:off x="2743088" y="4197697"/>
            <a:ext cx="3602385" cy="552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Tracking, monitoring, conteneurisation, CI/CT : l'industrialisation.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913377" y="2230841"/>
            <a:ext cx="4203688" cy="24344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000"/>
              </a:lnSpc>
              <a:buNone/>
            </a:pPr>
            <a:r>
              <a:rPr lang="en-US" sz="25500" b="1" spc="-1020" kern="0" dirty="0">
                <a:solidFill>
                  <a:srgbClr val="BDD248">
                    <a:alpha val="8000"/>
                  </a:srgbClr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25500" dirty="0"/>
          </a:p>
        </p:txBody>
      </p:sp>
      <p:sp>
        <p:nvSpPr>
          <p:cNvPr id="10" name="Text 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1180341" y="6418585"/>
            <a:ext cx="173571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171982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POURQUOI MLOPS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65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850" b="1" spc="-57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modèle ML n’est que la </a:t>
            </a:r>
            <a:pPr algn="l" indent="0" marL="0">
              <a:lnSpc>
                <a:spcPct val="118000"/>
              </a:lnSpc>
              <a:buNone/>
            </a:pPr>
            <a:r>
              <a:rPr lang="en-US" sz="2850" b="1" spc="-57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partie émergée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838088" y="1517303"/>
            <a:ext cx="10515823" cy="2423852"/>
          </a:xfrm>
          <a:prstGeom prst="roundRect">
            <a:avLst>
              <a:gd name="adj" fmla="val 5502"/>
            </a:avLst>
          </a:prstGeom>
          <a:solidFill>
            <a:srgbClr val="F7F7F7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0495" y="1424471"/>
            <a:ext cx="1920255" cy="194965"/>
          </a:xfrm>
          <a:prstGeom prst="roundRect">
            <a:avLst>
              <a:gd name="adj" fmla="val 19542"/>
            </a:avLst>
          </a:prstGeom>
          <a:solidFill>
            <a:srgbClr val="2A2A2A"/>
          </a:solidFill>
          <a:ln/>
        </p:spPr>
      </p:sp>
      <p:sp>
        <p:nvSpPr>
          <p:cNvPr id="8" name="Text 5"/>
          <p:cNvSpPr/>
          <p:nvPr/>
        </p:nvSpPr>
        <p:spPr>
          <a:xfrm>
            <a:off x="1154795" y="1462571"/>
            <a:ext cx="1767855" cy="156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05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SYSTÈME ML EN PRODUCTION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1040495" y="1776822"/>
            <a:ext cx="2456222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8601" y="1788728"/>
            <a:ext cx="2280010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Config</a:t>
            </a:r>
            <a:endParaRPr lang="en-US" sz="1013" dirty="0"/>
          </a:p>
        </p:txBody>
      </p:sp>
      <p:sp>
        <p:nvSpPr>
          <p:cNvPr id="11" name="Shape 8"/>
          <p:cNvSpPr/>
          <p:nvPr/>
        </p:nvSpPr>
        <p:spPr>
          <a:xfrm>
            <a:off x="3591967" y="1776822"/>
            <a:ext cx="2456408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80073" y="1788728"/>
            <a:ext cx="2280196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Collecte de données</a:t>
            </a:r>
            <a:endParaRPr lang="en-US" sz="1013" dirty="0"/>
          </a:p>
        </p:txBody>
      </p:sp>
      <p:sp>
        <p:nvSpPr>
          <p:cNvPr id="13" name="Shape 10"/>
          <p:cNvSpPr/>
          <p:nvPr/>
        </p:nvSpPr>
        <p:spPr>
          <a:xfrm>
            <a:off x="6143625" y="1776822"/>
            <a:ext cx="2456222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31731" y="1788728"/>
            <a:ext cx="2280010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Vérification données</a:t>
            </a:r>
            <a:endParaRPr lang="en-US" sz="1013" dirty="0"/>
          </a:p>
        </p:txBody>
      </p:sp>
      <p:sp>
        <p:nvSpPr>
          <p:cNvPr id="15" name="Shape 12"/>
          <p:cNvSpPr/>
          <p:nvPr/>
        </p:nvSpPr>
        <p:spPr>
          <a:xfrm>
            <a:off x="8695097" y="1776822"/>
            <a:ext cx="2456408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83203" y="1788728"/>
            <a:ext cx="2280196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Feature extraction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1040495" y="2462547"/>
            <a:ext cx="4302993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02156" y="2474454"/>
            <a:ext cx="4179670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Gestion des ressources</a:t>
            </a:r>
            <a:endParaRPr lang="en-US" sz="1013" dirty="0"/>
          </a:p>
        </p:txBody>
      </p:sp>
      <p:sp>
        <p:nvSpPr>
          <p:cNvPr id="19" name="Shape 16"/>
          <p:cNvSpPr/>
          <p:nvPr/>
        </p:nvSpPr>
        <p:spPr>
          <a:xfrm>
            <a:off x="5438738" y="2557797"/>
            <a:ext cx="1314338" cy="399976"/>
          </a:xfrm>
          <a:prstGeom prst="roundRect">
            <a:avLst>
              <a:gd name="adj" fmla="val 19051"/>
            </a:avLst>
          </a:prstGeom>
          <a:solidFill>
            <a:srgbClr val="2A2A2A"/>
          </a:solidFill>
          <a:ln w="11906">
            <a:solidFill>
              <a:srgbClr val="8FA82E"/>
            </a:solidFill>
            <a:prstDash val="solid"/>
          </a:ln>
          <a:effectLst>
            <a:outerShdw sx="100000" sy="100000" kx="0" ky="0" algn="bl" rotWithShape="0" blurRad="152400" dist="57150" dir="5400000">
              <a:srgbClr val="000000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61422" y="2627933"/>
            <a:ext cx="944984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96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 SEUL CODE ML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763927" y="2744577"/>
            <a:ext cx="7401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spc="11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CODE ML</a:t>
            </a:r>
            <a:endParaRPr lang="en-US" sz="1125" dirty="0"/>
          </a:p>
        </p:txBody>
      </p:sp>
      <p:sp>
        <p:nvSpPr>
          <p:cNvPr id="22" name="Shape 19"/>
          <p:cNvSpPr/>
          <p:nvPr/>
        </p:nvSpPr>
        <p:spPr>
          <a:xfrm>
            <a:off x="6848326" y="2462547"/>
            <a:ext cx="4303179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09985" y="2474454"/>
            <a:ext cx="4179862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Serving</a:t>
            </a:r>
            <a:endParaRPr lang="en-US" sz="1013" dirty="0"/>
          </a:p>
        </p:txBody>
      </p:sp>
      <p:sp>
        <p:nvSpPr>
          <p:cNvPr id="24" name="Shape 21"/>
          <p:cNvSpPr/>
          <p:nvPr/>
        </p:nvSpPr>
        <p:spPr>
          <a:xfrm>
            <a:off x="1040495" y="3148273"/>
            <a:ext cx="3306775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7099" y="3160179"/>
            <a:ext cx="3153566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Monitoring</a:t>
            </a:r>
            <a:endParaRPr lang="en-US" sz="1013" dirty="0"/>
          </a:p>
        </p:txBody>
      </p:sp>
      <p:sp>
        <p:nvSpPr>
          <p:cNvPr id="26" name="Shape 23"/>
          <p:cNvSpPr/>
          <p:nvPr/>
        </p:nvSpPr>
        <p:spPr>
          <a:xfrm>
            <a:off x="4442520" y="3148273"/>
            <a:ext cx="3306961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19121" y="3160179"/>
            <a:ext cx="3153757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Tracking</a:t>
            </a:r>
            <a:endParaRPr lang="en-US" sz="1013" dirty="0"/>
          </a:p>
        </p:txBody>
      </p:sp>
      <p:sp>
        <p:nvSpPr>
          <p:cNvPr id="28" name="Shape 25"/>
          <p:cNvSpPr/>
          <p:nvPr/>
        </p:nvSpPr>
        <p:spPr>
          <a:xfrm>
            <a:off x="7844730" y="3148273"/>
            <a:ext cx="3306775" cy="590476"/>
          </a:xfrm>
          <a:prstGeom prst="roundRect">
            <a:avLst>
              <a:gd name="adj" fmla="val 12905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21335" y="3160179"/>
            <a:ext cx="3153566" cy="604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CI/CT</a:t>
            </a:r>
            <a:endParaRPr lang="en-US" sz="1013" dirty="0"/>
          </a:p>
        </p:txBody>
      </p:sp>
      <p:sp>
        <p:nvSpPr>
          <p:cNvPr id="30" name="Text 27"/>
          <p:cNvSpPr/>
          <p:nvPr/>
        </p:nvSpPr>
        <p:spPr>
          <a:xfrm>
            <a:off x="838088" y="4074356"/>
            <a:ext cx="10831298" cy="4976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modèle, c’est </a:t>
            </a:r>
            <a:pPr algn="l" indent="0" marL="0">
              <a:lnSpc>
                <a:spcPct val="142000"/>
              </a:lnSpc>
              <a:buNone/>
            </a:pPr>
            <a:r>
              <a:rPr lang="en-US" sz="12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~10 % </a:t>
            </a:r>
            <a:pPr algn="l" indent="0" marL="0">
              <a:lnSpc>
                <a:spcPct val="142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du système. Les </a:t>
            </a:r>
            <a:pPr algn="l" indent="0" marL="0">
              <a:lnSpc>
                <a:spcPct val="142000"/>
              </a:lnSpc>
              <a:buNone/>
            </a:pPr>
            <a:r>
              <a:rPr lang="en-US" sz="1275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90 % </a:t>
            </a:r>
            <a:pPr algn="l" indent="0" marL="0">
              <a:lnSpc>
                <a:spcPct val="142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qui le font tenir en production — tracking, monitoring, serving, reproductibilité — c’est l’OPS. C’est le cœur de ce projet.</a:t>
            </a:r>
            <a:endParaRPr lang="en-US" sz="1275" dirty="0"/>
          </a:p>
        </p:txBody>
      </p:sp>
      <p:sp>
        <p:nvSpPr>
          <p:cNvPr id="31" name="Text 28"/>
          <p:cNvSpPr/>
          <p:nvPr/>
        </p:nvSpPr>
        <p:spPr>
          <a:xfrm>
            <a:off x="838088" y="4667064"/>
            <a:ext cx="11567406" cy="174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25" i="1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D’après Sculley et al., Hidden Technical Debt in Machine Learning Systems, NeurIPS 2015.</a:t>
            </a:r>
            <a:endParaRPr lang="en-US" sz="825" dirty="0"/>
          </a:p>
        </p:txBody>
      </p:sp>
      <p:sp>
        <p:nvSpPr>
          <p:cNvPr id="32" name="Shape 29"/>
          <p:cNvSpPr/>
          <p:nvPr/>
        </p:nvSpPr>
        <p:spPr>
          <a:xfrm>
            <a:off x="838088" y="4936257"/>
            <a:ext cx="10515823" cy="413184"/>
          </a:xfrm>
          <a:prstGeom prst="roundRect">
            <a:avLst>
              <a:gd name="adj" fmla="val 18442"/>
            </a:avLst>
          </a:prstGeom>
          <a:solidFill>
            <a:srgbClr val="EFF4D8"/>
          </a:solidFill>
          <a:ln/>
        </p:spPr>
      </p:sp>
      <p:sp>
        <p:nvSpPr>
          <p:cNvPr id="33" name="Shape 30"/>
          <p:cNvSpPr/>
          <p:nvPr/>
        </p:nvSpPr>
        <p:spPr>
          <a:xfrm>
            <a:off x="838088" y="5337535"/>
            <a:ext cx="10515823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4" name="Shape 31"/>
          <p:cNvSpPr/>
          <p:nvPr/>
        </p:nvSpPr>
        <p:spPr>
          <a:xfrm>
            <a:off x="838088" y="4936257"/>
            <a:ext cx="10515823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5" name="Shape 32"/>
          <p:cNvSpPr/>
          <p:nvPr/>
        </p:nvSpPr>
        <p:spPr>
          <a:xfrm>
            <a:off x="838088" y="4936257"/>
            <a:ext cx="23813" cy="413184"/>
          </a:xfrm>
          <a:prstGeom prst="rect">
            <a:avLst/>
          </a:prstGeom>
          <a:solidFill>
            <a:srgbClr val="8FA82E"/>
          </a:solidFill>
          <a:ln/>
        </p:spPr>
      </p:sp>
      <p:sp>
        <p:nvSpPr>
          <p:cNvPr id="36" name="Shape 33"/>
          <p:cNvSpPr/>
          <p:nvPr/>
        </p:nvSpPr>
        <p:spPr>
          <a:xfrm>
            <a:off x="11342005" y="4936257"/>
            <a:ext cx="11906" cy="413184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7" name="Shape 34"/>
          <p:cNvSpPr/>
          <p:nvPr/>
        </p:nvSpPr>
        <p:spPr>
          <a:xfrm>
            <a:off x="1033239" y="5080992"/>
            <a:ext cx="104738" cy="123713"/>
          </a:xfrm>
          <a:prstGeom prst="rect">
            <a:avLst/>
          </a:prstGeom>
          <a:solidFill>
            <a:srgbClr val="8FA82E"/>
          </a:solidFill>
          <a:ln/>
        </p:spPr>
      </p:sp>
      <p:sp>
        <p:nvSpPr>
          <p:cNvPr id="38" name="Text 35"/>
          <p:cNvSpPr/>
          <p:nvPr/>
        </p:nvSpPr>
        <p:spPr>
          <a:xfrm>
            <a:off x="1261690" y="5052901"/>
            <a:ext cx="6938070" cy="2179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Cette plateforme industrialise ces 90 % une fois pour toutes — tout use case en hérite automatiquement.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1099416" y="6418585"/>
            <a:ext cx="254496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341594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04 · OPS · TRACKING MLFLOW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Reproductibilité </a:t>
            </a:r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bout en bout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38088" y="1501676"/>
            <a:ext cx="11567406" cy="2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38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Chaque exécution est rejouable à l’identique — </a:t>
            </a:r>
            <a:pPr algn="l" indent="0" marL="0">
              <a:lnSpc>
                <a:spcPct val="140000"/>
              </a:lnSpc>
              <a:buNone/>
            </a:pPr>
            <a:r>
              <a:rPr lang="en-US" sz="1238" b="1" i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fini le “ça marchait sur ma machine”.</a:t>
            </a:r>
            <a:endParaRPr lang="en-US" sz="1238" dirty="0"/>
          </a:p>
        </p:txBody>
      </p:sp>
      <p:sp>
        <p:nvSpPr>
          <p:cNvPr id="7" name="Shape 4"/>
          <p:cNvSpPr/>
          <p:nvPr/>
        </p:nvSpPr>
        <p:spPr>
          <a:xfrm>
            <a:off x="838088" y="1893094"/>
            <a:ext cx="2617143" cy="976312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2857500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1893094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838088" y="1893094"/>
            <a:ext cx="23813" cy="97631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1" name="Shape 8"/>
          <p:cNvSpPr/>
          <p:nvPr/>
        </p:nvSpPr>
        <p:spPr>
          <a:xfrm>
            <a:off x="3443325" y="1893094"/>
            <a:ext cx="11906" cy="97631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Text 9"/>
          <p:cNvSpPr/>
          <p:nvPr/>
        </p:nvSpPr>
        <p:spPr>
          <a:xfrm>
            <a:off x="995102" y="2019226"/>
            <a:ext cx="2546524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Params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95102" y="2283396"/>
            <a:ext cx="2391221" cy="497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whitelist de ~17 params utiles (au lieu de 80 bruités) — comparaison inter-runs lisible</a:t>
            </a:r>
            <a:endParaRPr lang="en-US" sz="863" dirty="0"/>
          </a:p>
        </p:txBody>
      </p:sp>
      <p:sp>
        <p:nvSpPr>
          <p:cNvPr id="14" name="Shape 11"/>
          <p:cNvSpPr/>
          <p:nvPr/>
        </p:nvSpPr>
        <p:spPr>
          <a:xfrm>
            <a:off x="3569457" y="1893094"/>
            <a:ext cx="2617143" cy="976312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/>
        </p:spPr>
      </p:sp>
      <p:sp>
        <p:nvSpPr>
          <p:cNvPr id="15" name="Shape 12"/>
          <p:cNvSpPr/>
          <p:nvPr/>
        </p:nvSpPr>
        <p:spPr>
          <a:xfrm>
            <a:off x="3569457" y="2857500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6" name="Shape 13"/>
          <p:cNvSpPr/>
          <p:nvPr/>
        </p:nvSpPr>
        <p:spPr>
          <a:xfrm>
            <a:off x="3569457" y="1893094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7" name="Shape 14"/>
          <p:cNvSpPr/>
          <p:nvPr/>
        </p:nvSpPr>
        <p:spPr>
          <a:xfrm>
            <a:off x="3569457" y="1893094"/>
            <a:ext cx="23813" cy="97631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8" name="Shape 15"/>
          <p:cNvSpPr/>
          <p:nvPr/>
        </p:nvSpPr>
        <p:spPr>
          <a:xfrm>
            <a:off x="6174693" y="1893094"/>
            <a:ext cx="11906" cy="97631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9" name="Text 16"/>
          <p:cNvSpPr/>
          <p:nvPr/>
        </p:nvSpPr>
        <p:spPr>
          <a:xfrm>
            <a:off x="3726470" y="2019226"/>
            <a:ext cx="2546524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Métriques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26470" y="2283396"/>
            <a:ext cx="2391221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faithfulness · context_precision · latence retrieval/generation</a:t>
            </a:r>
            <a:endParaRPr lang="en-US" sz="863" dirty="0"/>
          </a:p>
        </p:txBody>
      </p:sp>
      <p:sp>
        <p:nvSpPr>
          <p:cNvPr id="21" name="Shape 18"/>
          <p:cNvSpPr/>
          <p:nvPr/>
        </p:nvSpPr>
        <p:spPr>
          <a:xfrm>
            <a:off x="838088" y="2983632"/>
            <a:ext cx="2617143" cy="976312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/>
        </p:spPr>
      </p:sp>
      <p:sp>
        <p:nvSpPr>
          <p:cNvPr id="22" name="Shape 19"/>
          <p:cNvSpPr/>
          <p:nvPr/>
        </p:nvSpPr>
        <p:spPr>
          <a:xfrm>
            <a:off x="838088" y="3948038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3" name="Shape 20"/>
          <p:cNvSpPr/>
          <p:nvPr/>
        </p:nvSpPr>
        <p:spPr>
          <a:xfrm>
            <a:off x="838088" y="2983632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Shape 21"/>
          <p:cNvSpPr/>
          <p:nvPr/>
        </p:nvSpPr>
        <p:spPr>
          <a:xfrm>
            <a:off x="838088" y="2983632"/>
            <a:ext cx="23813" cy="97631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5" name="Shape 22"/>
          <p:cNvSpPr/>
          <p:nvPr/>
        </p:nvSpPr>
        <p:spPr>
          <a:xfrm>
            <a:off x="3443325" y="2983632"/>
            <a:ext cx="11906" cy="97631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Text 23"/>
          <p:cNvSpPr/>
          <p:nvPr/>
        </p:nvSpPr>
        <p:spPr>
          <a:xfrm>
            <a:off x="995102" y="3109764"/>
            <a:ext cx="2546524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Artifacts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95102" y="3373934"/>
            <a:ext cx="2391221" cy="4979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index · configs · full_config.yaml · pip_freeze — 215 packages = snapshot d’env déterministe</a:t>
            </a:r>
            <a:endParaRPr lang="en-US" sz="863" dirty="0"/>
          </a:p>
        </p:txBody>
      </p:sp>
      <p:sp>
        <p:nvSpPr>
          <p:cNvPr id="28" name="Shape 25"/>
          <p:cNvSpPr/>
          <p:nvPr/>
        </p:nvSpPr>
        <p:spPr>
          <a:xfrm>
            <a:off x="3569457" y="2983632"/>
            <a:ext cx="2617143" cy="976312"/>
          </a:xfrm>
          <a:prstGeom prst="roundRect">
            <a:avLst>
              <a:gd name="adj" fmla="val 2927"/>
            </a:avLst>
          </a:prstGeom>
          <a:solidFill>
            <a:srgbClr val="F4F4F4"/>
          </a:solidFill>
          <a:ln/>
        </p:spPr>
      </p:sp>
      <p:sp>
        <p:nvSpPr>
          <p:cNvPr id="29" name="Shape 26"/>
          <p:cNvSpPr/>
          <p:nvPr/>
        </p:nvSpPr>
        <p:spPr>
          <a:xfrm>
            <a:off x="3569457" y="3948038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7"/>
          <p:cNvSpPr/>
          <p:nvPr/>
        </p:nvSpPr>
        <p:spPr>
          <a:xfrm>
            <a:off x="3569457" y="2983632"/>
            <a:ext cx="261714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1" name="Shape 28"/>
          <p:cNvSpPr/>
          <p:nvPr/>
        </p:nvSpPr>
        <p:spPr>
          <a:xfrm>
            <a:off x="3569457" y="2983632"/>
            <a:ext cx="23813" cy="97631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2" name="Shape 29"/>
          <p:cNvSpPr/>
          <p:nvPr/>
        </p:nvSpPr>
        <p:spPr>
          <a:xfrm>
            <a:off x="6174693" y="2983632"/>
            <a:ext cx="11906" cy="97631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3" name="Text 30"/>
          <p:cNvSpPr/>
          <p:nvPr/>
        </p:nvSpPr>
        <p:spPr>
          <a:xfrm>
            <a:off x="3726470" y="3109764"/>
            <a:ext cx="2546524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Traces · Autolog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726470" y="3373934"/>
            <a:ext cx="2546524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appels LLM · spans · durées</a:t>
            </a:r>
            <a:endParaRPr lang="en-US" sz="863" dirty="0"/>
          </a:p>
        </p:txBody>
      </p:sp>
      <p:sp>
        <p:nvSpPr>
          <p:cNvPr id="35" name="Shape 32"/>
          <p:cNvSpPr/>
          <p:nvPr/>
        </p:nvSpPr>
        <p:spPr>
          <a:xfrm>
            <a:off x="838088" y="4074170"/>
            <a:ext cx="5348511" cy="669727"/>
          </a:xfrm>
          <a:prstGeom prst="roundRect">
            <a:avLst>
              <a:gd name="adj" fmla="val 4267"/>
            </a:avLst>
          </a:prstGeom>
          <a:solidFill>
            <a:srgbClr val="EFF4D8"/>
          </a:solidFill>
          <a:ln/>
        </p:spPr>
      </p:sp>
      <p:sp>
        <p:nvSpPr>
          <p:cNvPr id="36" name="Shape 33"/>
          <p:cNvSpPr/>
          <p:nvPr/>
        </p:nvSpPr>
        <p:spPr>
          <a:xfrm>
            <a:off x="838088" y="4731990"/>
            <a:ext cx="534851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7" name="Shape 34"/>
          <p:cNvSpPr/>
          <p:nvPr/>
        </p:nvSpPr>
        <p:spPr>
          <a:xfrm>
            <a:off x="838088" y="4074170"/>
            <a:ext cx="534851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Shape 35"/>
          <p:cNvSpPr/>
          <p:nvPr/>
        </p:nvSpPr>
        <p:spPr>
          <a:xfrm>
            <a:off x="838088" y="4074170"/>
            <a:ext cx="23813" cy="669727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9" name="Shape 36"/>
          <p:cNvSpPr/>
          <p:nvPr/>
        </p:nvSpPr>
        <p:spPr>
          <a:xfrm>
            <a:off x="6174693" y="4074170"/>
            <a:ext cx="11906" cy="66972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Text 37"/>
          <p:cNvSpPr/>
          <p:nvPr/>
        </p:nvSpPr>
        <p:spPr>
          <a:xfrm>
            <a:off x="995102" y="4200302"/>
            <a:ext cx="5551029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Prompt versioning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95102" y="4464472"/>
            <a:ext cx="5551029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templates trackés, dédupliqués par hash côté serveur</a:t>
            </a:r>
            <a:endParaRPr lang="en-US" sz="863" dirty="0"/>
          </a:p>
        </p:txBody>
      </p:sp>
      <p:sp>
        <p:nvSpPr>
          <p:cNvPr id="42" name="Shape 39"/>
          <p:cNvSpPr/>
          <p:nvPr/>
        </p:nvSpPr>
        <p:spPr>
          <a:xfrm>
            <a:off x="838088" y="4877098"/>
            <a:ext cx="5348511" cy="996590"/>
          </a:xfrm>
          <a:prstGeom prst="roundRect">
            <a:avLst>
              <a:gd name="adj" fmla="val 5735"/>
            </a:avLst>
          </a:prstGeom>
          <a:solidFill>
            <a:srgbClr val="EFF4D8"/>
          </a:solidFill>
          <a:ln/>
        </p:spPr>
      </p:sp>
      <p:sp>
        <p:nvSpPr>
          <p:cNvPr id="43" name="Shape 40"/>
          <p:cNvSpPr/>
          <p:nvPr/>
        </p:nvSpPr>
        <p:spPr>
          <a:xfrm>
            <a:off x="838088" y="5861782"/>
            <a:ext cx="5348511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4" name="Shape 41"/>
          <p:cNvSpPr/>
          <p:nvPr/>
        </p:nvSpPr>
        <p:spPr>
          <a:xfrm>
            <a:off x="838088" y="4877098"/>
            <a:ext cx="5348511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5" name="Shape 42"/>
          <p:cNvSpPr/>
          <p:nvPr/>
        </p:nvSpPr>
        <p:spPr>
          <a:xfrm>
            <a:off x="838088" y="4877098"/>
            <a:ext cx="23813" cy="996590"/>
          </a:xfrm>
          <a:prstGeom prst="rect">
            <a:avLst/>
          </a:prstGeom>
          <a:solidFill>
            <a:srgbClr val="8FA82E"/>
          </a:solidFill>
          <a:ln/>
        </p:spPr>
      </p:sp>
      <p:sp>
        <p:nvSpPr>
          <p:cNvPr id="46" name="Shape 43"/>
          <p:cNvSpPr/>
          <p:nvPr/>
        </p:nvSpPr>
        <p:spPr>
          <a:xfrm>
            <a:off x="6174693" y="4877098"/>
            <a:ext cx="11906" cy="99659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7" name="Text 44"/>
          <p:cNvSpPr/>
          <p:nvPr/>
        </p:nvSpPr>
        <p:spPr>
          <a:xfrm>
            <a:off x="1033239" y="5012717"/>
            <a:ext cx="546712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05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 CONTRIBUTION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033239" y="5179405"/>
            <a:ext cx="5119219" cy="596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tracking est branché dans le </a:t>
            </a:r>
            <a:pPr algn="l" indent="0" marL="0">
              <a:lnSpc>
                <a:spcPct val="145000"/>
              </a:lnSpc>
              <a:buNone/>
            </a:pPr>
            <a:r>
              <a:rPr lang="en-US" sz="1013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BasePipeline générique </a:t>
            </a:r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: n’importe quel use case hérite automatiquement du logging params/métriques/artifacts, </a:t>
            </a:r>
            <a:pPr algn="l" indent="0" marL="0">
              <a:lnSpc>
                <a:spcPct val="145000"/>
              </a:lnSpc>
              <a:buNone/>
            </a:pPr>
            <a:r>
              <a:rPr lang="en-US" sz="1013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sans une ligne de code en plus </a:t>
            </a:r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</a:t>
            </a:r>
            <a:endParaRPr lang="en-US" sz="1013" dirty="0"/>
          </a:p>
        </p:txBody>
      </p:sp>
      <p:sp>
        <p:nvSpPr>
          <p:cNvPr id="49" name="Shape 46"/>
          <p:cNvSpPr/>
          <p:nvPr/>
        </p:nvSpPr>
        <p:spPr>
          <a:xfrm>
            <a:off x="6491325" y="1893094"/>
            <a:ext cx="4862587" cy="4355455"/>
          </a:xfrm>
          <a:prstGeom prst="roundRect">
            <a:avLst>
              <a:gd name="adj" fmla="val 1312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8693981" y="3482578"/>
            <a:ext cx="457088" cy="361838"/>
          </a:xfrm>
          <a:prstGeom prst="roundRect">
            <a:avLst>
              <a:gd name="adj" fmla="val 7897"/>
            </a:avLst>
          </a:prstGeom>
          <a:solidFill>
            <a:srgbClr val="CFCFCF">
              <a:alpha val="4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623535" y="3958642"/>
            <a:ext cx="2598167" cy="700236"/>
          </a:xfrm>
          <a:prstGeom prst="roundRect">
            <a:avLst>
              <a:gd name="adj" fmla="val 5441"/>
            </a:avLst>
          </a:prstGeom>
          <a:solidFill>
            <a:srgbClr val="F4F4F4"/>
          </a:solidFill>
          <a:ln/>
        </p:spPr>
      </p:sp>
      <p:sp>
        <p:nvSpPr>
          <p:cNvPr id="52" name="Text 49"/>
          <p:cNvSpPr/>
          <p:nvPr/>
        </p:nvSpPr>
        <p:spPr>
          <a:xfrm>
            <a:off x="7717912" y="4034842"/>
            <a:ext cx="2409412" cy="585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909090"/>
                </a:solidFill>
                <a:highlight>
                  <a:srgbClr val="F4F4F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Capture MLflow UI Interface Experiments · Run detail glisser-déposer ici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40185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OPS · MLFLOW · OBSERVABILITÉ DES RUNS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652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850" b="1" spc="-57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Voir l’intérieur d’un run, </a:t>
            </a:r>
            <a:pPr algn="l" indent="0" marL="0">
              <a:lnSpc>
                <a:spcPct val="118000"/>
              </a:lnSpc>
              <a:buNone/>
            </a:pPr>
            <a:r>
              <a:rPr lang="en-US" sz="2850" b="1" spc="-57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comparer en un clic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838088" y="1479352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 ne se contente pas de scores : on voit chaque étape interne, et on isole exactement ce qui fait la différence entre deux runs.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8088" y="2575843"/>
            <a:ext cx="5244517" cy="1586322"/>
          </a:xfrm>
          <a:prstGeom prst="roundRect">
            <a:avLst>
              <a:gd name="adj" fmla="val 3603"/>
            </a:avLst>
          </a:prstGeom>
          <a:solidFill>
            <a:srgbClr val="F4F4F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4150258"/>
            <a:ext cx="524451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2575843"/>
            <a:ext cx="524451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838088" y="2575843"/>
            <a:ext cx="23813" cy="1586322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1" name="Shape 8"/>
          <p:cNvSpPr/>
          <p:nvPr/>
        </p:nvSpPr>
        <p:spPr>
          <a:xfrm>
            <a:off x="6070699" y="2575843"/>
            <a:ext cx="11906" cy="1586322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39" y="2800759"/>
            <a:ext cx="85576" cy="1047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14065" y="2740112"/>
            <a:ext cx="1329519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Traces &amp; Autolog</a:t>
            </a:r>
            <a:endParaRPr lang="en-US" sz="1238" dirty="0"/>
          </a:p>
        </p:txBody>
      </p:sp>
      <p:sp>
        <p:nvSpPr>
          <p:cNvPr id="14" name="Text 10"/>
          <p:cNvSpPr/>
          <p:nvPr/>
        </p:nvSpPr>
        <p:spPr>
          <a:xfrm>
            <a:off x="1033239" y="3051907"/>
            <a:ext cx="5012105" cy="413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Capture automatique des </a:t>
            </a:r>
            <a:pPr algn="l" indent="0" marL="0">
              <a:lnSpc>
                <a:spcPct val="146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spans </a:t>
            </a:r>
            <a:pPr algn="l" indent="0" marL="0">
              <a:lnSpc>
                <a:spcPct val="146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d’un run — appels LLM, retrieval, durées. </a:t>
            </a:r>
            <a:pPr algn="l" indent="0" marL="0">
              <a:lnSpc>
                <a:spcPct val="146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~24–36 traces </a:t>
            </a:r>
            <a:pPr algn="l" indent="0" marL="0">
              <a:lnSpc>
                <a:spcPct val="146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par run.</a:t>
            </a:r>
            <a:endParaRPr lang="en-US" sz="1013" dirty="0"/>
          </a:p>
        </p:txBody>
      </p:sp>
      <p:sp>
        <p:nvSpPr>
          <p:cNvPr id="15" name="Shape 11"/>
          <p:cNvSpPr/>
          <p:nvPr/>
        </p:nvSpPr>
        <p:spPr>
          <a:xfrm>
            <a:off x="1033239" y="3540993"/>
            <a:ext cx="2385343" cy="456902"/>
          </a:xfrm>
          <a:prstGeom prst="roundRect">
            <a:avLst>
              <a:gd name="adj" fmla="val 14593"/>
            </a:avLst>
          </a:prstGeom>
          <a:solidFill>
            <a:srgbClr val="2A2A2A"/>
          </a:solidFill>
          <a:ln/>
        </p:spPr>
      </p:sp>
      <p:sp>
        <p:nvSpPr>
          <p:cNvPr id="16" name="Text 12"/>
          <p:cNvSpPr/>
          <p:nvPr/>
        </p:nvSpPr>
        <p:spPr>
          <a:xfrm>
            <a:off x="1147465" y="3617082"/>
            <a:ext cx="2372581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mlops-pipeline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47465" y="3790838"/>
            <a:ext cx="237258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i="1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pipeline</a:t>
            </a:r>
            <a:endParaRPr lang="en-US" sz="863" dirty="0"/>
          </a:p>
        </p:txBody>
      </p:sp>
      <p:sp>
        <p:nvSpPr>
          <p:cNvPr id="18" name="Shape 14"/>
          <p:cNvSpPr/>
          <p:nvPr/>
        </p:nvSpPr>
        <p:spPr>
          <a:xfrm>
            <a:off x="3513832" y="3540993"/>
            <a:ext cx="2385529" cy="456902"/>
          </a:xfrm>
          <a:prstGeom prst="roundRect">
            <a:avLst>
              <a:gd name="adj" fmla="val 14593"/>
            </a:avLst>
          </a:prstGeom>
          <a:solidFill>
            <a:srgbClr val="2A2A2A"/>
          </a:solidFill>
          <a:ln/>
        </p:spPr>
      </p:sp>
      <p:sp>
        <p:nvSpPr>
          <p:cNvPr id="19" name="Text 15"/>
          <p:cNvSpPr/>
          <p:nvPr/>
        </p:nvSpPr>
        <p:spPr>
          <a:xfrm>
            <a:off x="3628058" y="3617082"/>
            <a:ext cx="237278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rag-api-production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628058" y="3790838"/>
            <a:ext cx="2372785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i="1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trafic API réel</a:t>
            </a:r>
            <a:endParaRPr lang="en-US" sz="863" dirty="0"/>
          </a:p>
        </p:txBody>
      </p:sp>
      <p:sp>
        <p:nvSpPr>
          <p:cNvPr id="21" name="Shape 17"/>
          <p:cNvSpPr/>
          <p:nvPr/>
        </p:nvSpPr>
        <p:spPr>
          <a:xfrm>
            <a:off x="838088" y="4314527"/>
            <a:ext cx="5244517" cy="1202903"/>
          </a:xfrm>
          <a:prstGeom prst="roundRect">
            <a:avLst>
              <a:gd name="adj" fmla="val 4751"/>
            </a:avLst>
          </a:prstGeom>
          <a:solidFill>
            <a:srgbClr val="F4F4F4"/>
          </a:solidFill>
          <a:ln/>
        </p:spPr>
      </p:sp>
      <p:sp>
        <p:nvSpPr>
          <p:cNvPr id="22" name="Shape 18"/>
          <p:cNvSpPr/>
          <p:nvPr/>
        </p:nvSpPr>
        <p:spPr>
          <a:xfrm>
            <a:off x="838088" y="5505524"/>
            <a:ext cx="524451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3" name="Shape 19"/>
          <p:cNvSpPr/>
          <p:nvPr/>
        </p:nvSpPr>
        <p:spPr>
          <a:xfrm>
            <a:off x="838088" y="4314527"/>
            <a:ext cx="524451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Shape 20"/>
          <p:cNvSpPr/>
          <p:nvPr/>
        </p:nvSpPr>
        <p:spPr>
          <a:xfrm>
            <a:off x="838088" y="4314527"/>
            <a:ext cx="23813" cy="120290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5" name="Shape 21"/>
          <p:cNvSpPr/>
          <p:nvPr/>
        </p:nvSpPr>
        <p:spPr>
          <a:xfrm>
            <a:off x="6070699" y="4314527"/>
            <a:ext cx="11906" cy="1202903"/>
          </a:xfrm>
          <a:prstGeom prst="rect">
            <a:avLst/>
          </a:prstGeom>
          <a:solidFill>
            <a:srgbClr val="E4E4E4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39" y="4539444"/>
            <a:ext cx="85576" cy="10473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14065" y="4478796"/>
            <a:ext cx="1635547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Comparaison de runs</a:t>
            </a:r>
            <a:endParaRPr lang="en-US" sz="1238" dirty="0"/>
          </a:p>
        </p:txBody>
      </p:sp>
      <p:sp>
        <p:nvSpPr>
          <p:cNvPr id="28" name="Text 23"/>
          <p:cNvSpPr/>
          <p:nvPr/>
        </p:nvSpPr>
        <p:spPr>
          <a:xfrm>
            <a:off x="1033239" y="4790591"/>
            <a:ext cx="5012105" cy="600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Deux runs partagent la </a:t>
            </a:r>
            <a:pPr algn="l" indent="0" marL="0">
              <a:lnSpc>
                <a:spcPct val="146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même version de prompt </a:t>
            </a:r>
            <a:pPr algn="l" indent="0" marL="0">
              <a:lnSpc>
                <a:spcPct val="146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→ tout écart de score est attribuable aux </a:t>
            </a:r>
            <a:pPr algn="l" indent="0" marL="0">
              <a:lnSpc>
                <a:spcPct val="146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autres variables </a:t>
            </a:r>
            <a:pPr algn="l" indent="0" marL="0">
              <a:lnSpc>
                <a:spcPct val="146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(vector store, embedder, chunking). C’est ce qui rend les expériences scientifiquement comparables.</a:t>
            </a:r>
            <a:endParaRPr lang="en-US" sz="1013" dirty="0"/>
          </a:p>
        </p:txBody>
      </p:sp>
      <p:sp>
        <p:nvSpPr>
          <p:cNvPr id="29" name="Shape 24"/>
          <p:cNvSpPr/>
          <p:nvPr/>
        </p:nvSpPr>
        <p:spPr>
          <a:xfrm>
            <a:off x="6311057" y="1844725"/>
            <a:ext cx="5042855" cy="4403824"/>
          </a:xfrm>
          <a:prstGeom prst="roundRect">
            <a:avLst>
              <a:gd name="adj" fmla="val 1298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dash"/>
          </a:ln>
        </p:spPr>
      </p:sp>
      <p:sp>
        <p:nvSpPr>
          <p:cNvPr id="30" name="Shape 25"/>
          <p:cNvSpPr/>
          <p:nvPr/>
        </p:nvSpPr>
        <p:spPr>
          <a:xfrm>
            <a:off x="8575291" y="3439418"/>
            <a:ext cx="514201" cy="399976"/>
          </a:xfrm>
          <a:prstGeom prst="roundRect">
            <a:avLst>
              <a:gd name="adj" fmla="val 9526"/>
            </a:avLst>
          </a:prstGeom>
          <a:solidFill>
            <a:srgbClr val="CFCFCF">
              <a:alpha val="40000"/>
            </a:srgbClr>
          </a:solidFill>
          <a:ln/>
        </p:spPr>
      </p:sp>
      <p:sp>
        <p:nvSpPr>
          <p:cNvPr id="31" name="Shape 26"/>
          <p:cNvSpPr/>
          <p:nvPr/>
        </p:nvSpPr>
        <p:spPr>
          <a:xfrm>
            <a:off x="7499077" y="3953619"/>
            <a:ext cx="2666814" cy="700236"/>
          </a:xfrm>
          <a:prstGeom prst="roundRect">
            <a:avLst>
              <a:gd name="adj" fmla="val 5441"/>
            </a:avLst>
          </a:prstGeom>
          <a:solidFill>
            <a:srgbClr val="F4F4F4"/>
          </a:solidFill>
          <a:ln/>
        </p:spPr>
      </p:sp>
      <p:sp>
        <p:nvSpPr>
          <p:cNvPr id="32" name="Text 27"/>
          <p:cNvSpPr/>
          <p:nvPr/>
        </p:nvSpPr>
        <p:spPr>
          <a:xfrm>
            <a:off x="7592425" y="4029819"/>
            <a:ext cx="2480118" cy="585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909090"/>
                </a:solidFill>
                <a:highlight>
                  <a:srgbClr val="F4F4F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Capture MLflow UI Onglet Traces · Comparaison de runs glisser-déposer ici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1099416" y="6418585"/>
            <a:ext cx="254496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83994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04 · OPS · MONITORING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Observabilité </a:t>
            </a:r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 production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38088" y="1501676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 sait en temps réel si le service va bien — et on est alerté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avant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l’utilisateur.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8088" y="1867049"/>
            <a:ext cx="2710160" cy="1681572"/>
          </a:xfrm>
          <a:prstGeom prst="roundRect">
            <a:avLst>
              <a:gd name="adj" fmla="val 3399"/>
            </a:avLst>
          </a:prstGeom>
          <a:solidFill>
            <a:srgbClr val="F4F4F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3536714"/>
            <a:ext cx="271016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1867049"/>
            <a:ext cx="2710160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0" name="Shape 7"/>
          <p:cNvSpPr/>
          <p:nvPr/>
        </p:nvSpPr>
        <p:spPr>
          <a:xfrm>
            <a:off x="838088" y="1867049"/>
            <a:ext cx="11906" cy="168157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8"/>
          <p:cNvSpPr/>
          <p:nvPr/>
        </p:nvSpPr>
        <p:spPr>
          <a:xfrm>
            <a:off x="3536342" y="1867049"/>
            <a:ext cx="11906" cy="168157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Text 9"/>
          <p:cNvSpPr/>
          <p:nvPr/>
        </p:nvSpPr>
        <p:spPr>
          <a:xfrm>
            <a:off x="992870" y="2014575"/>
            <a:ext cx="264065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TRAFIC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992870" y="2224050"/>
            <a:ext cx="264065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Requêtes/s · requêtes actives</a:t>
            </a:r>
            <a:endParaRPr lang="en-US" sz="938" dirty="0"/>
          </a:p>
        </p:txBody>
      </p:sp>
      <p:sp>
        <p:nvSpPr>
          <p:cNvPr id="14" name="Shape 11"/>
          <p:cNvSpPr/>
          <p:nvPr/>
        </p:nvSpPr>
        <p:spPr>
          <a:xfrm>
            <a:off x="992870" y="3189387"/>
            <a:ext cx="1256295" cy="223614"/>
          </a:xfrm>
          <a:prstGeom prst="roundRect">
            <a:avLst>
              <a:gd name="adj" fmla="val 1703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80976" y="3229868"/>
            <a:ext cx="1156283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rag_active_queries</a:t>
            </a:r>
            <a:endParaRPr lang="en-US" sz="788" dirty="0"/>
          </a:p>
        </p:txBody>
      </p:sp>
      <p:sp>
        <p:nvSpPr>
          <p:cNvPr id="16" name="Shape 13"/>
          <p:cNvSpPr/>
          <p:nvPr/>
        </p:nvSpPr>
        <p:spPr>
          <a:xfrm>
            <a:off x="3662474" y="1867049"/>
            <a:ext cx="2710346" cy="1681572"/>
          </a:xfrm>
          <a:prstGeom prst="roundRect">
            <a:avLst>
              <a:gd name="adj" fmla="val 3399"/>
            </a:avLst>
          </a:prstGeom>
          <a:solidFill>
            <a:srgbClr val="F4F4F4"/>
          </a:solidFill>
          <a:ln/>
        </p:spPr>
      </p:sp>
      <p:sp>
        <p:nvSpPr>
          <p:cNvPr id="17" name="Shape 14"/>
          <p:cNvSpPr/>
          <p:nvPr/>
        </p:nvSpPr>
        <p:spPr>
          <a:xfrm>
            <a:off x="3662474" y="3536714"/>
            <a:ext cx="271034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8" name="Shape 15"/>
          <p:cNvSpPr/>
          <p:nvPr/>
        </p:nvSpPr>
        <p:spPr>
          <a:xfrm>
            <a:off x="3662474" y="1867049"/>
            <a:ext cx="2710346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9" name="Shape 16"/>
          <p:cNvSpPr/>
          <p:nvPr/>
        </p:nvSpPr>
        <p:spPr>
          <a:xfrm>
            <a:off x="3662474" y="1867049"/>
            <a:ext cx="11906" cy="168157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Shape 17"/>
          <p:cNvSpPr/>
          <p:nvPr/>
        </p:nvSpPr>
        <p:spPr>
          <a:xfrm>
            <a:off x="6360914" y="1867049"/>
            <a:ext cx="11906" cy="168157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1" name="Text 18"/>
          <p:cNvSpPr/>
          <p:nvPr/>
        </p:nvSpPr>
        <p:spPr>
          <a:xfrm>
            <a:off x="3817255" y="2014575"/>
            <a:ext cx="26408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LATENCE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3817255" y="2224050"/>
            <a:ext cx="24769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retrieval ~250 ms · génération ~25–30 s </a:t>
            </a:r>
            <a:pPr algn="l" indent="0" marL="0">
              <a:lnSpc>
                <a:spcPct val="140000"/>
              </a:lnSpc>
              <a:buNone/>
            </a:pPr>
            <a:r>
              <a:rPr lang="en-US" sz="938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(P95)</a:t>
            </a:r>
            <a:endParaRPr lang="en-US" sz="938" dirty="0"/>
          </a:p>
        </p:txBody>
      </p:sp>
      <p:sp>
        <p:nvSpPr>
          <p:cNvPr id="23" name="Shape 20"/>
          <p:cNvSpPr/>
          <p:nvPr/>
        </p:nvSpPr>
        <p:spPr>
          <a:xfrm>
            <a:off x="3817255" y="3189387"/>
            <a:ext cx="1676177" cy="223614"/>
          </a:xfrm>
          <a:prstGeom prst="roundRect">
            <a:avLst>
              <a:gd name="adj" fmla="val 1703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905362" y="3229868"/>
            <a:ext cx="1576164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rag_step_duration_seconds</a:t>
            </a:r>
            <a:endParaRPr lang="en-US" sz="788" dirty="0"/>
          </a:p>
        </p:txBody>
      </p:sp>
      <p:sp>
        <p:nvSpPr>
          <p:cNvPr id="25" name="Shape 22"/>
          <p:cNvSpPr/>
          <p:nvPr/>
        </p:nvSpPr>
        <p:spPr>
          <a:xfrm>
            <a:off x="838088" y="3662846"/>
            <a:ext cx="2710160" cy="1681758"/>
          </a:xfrm>
          <a:prstGeom prst="roundRect">
            <a:avLst>
              <a:gd name="adj" fmla="val 3398"/>
            </a:avLst>
          </a:prstGeom>
          <a:solidFill>
            <a:srgbClr val="F4F4F4"/>
          </a:solidFill>
          <a:ln/>
        </p:spPr>
      </p:sp>
      <p:sp>
        <p:nvSpPr>
          <p:cNvPr id="26" name="Shape 23"/>
          <p:cNvSpPr/>
          <p:nvPr/>
        </p:nvSpPr>
        <p:spPr>
          <a:xfrm>
            <a:off x="838088" y="5332698"/>
            <a:ext cx="271016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Shape 24"/>
          <p:cNvSpPr/>
          <p:nvPr/>
        </p:nvSpPr>
        <p:spPr>
          <a:xfrm>
            <a:off x="838088" y="3662846"/>
            <a:ext cx="2710160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8" name="Shape 25"/>
          <p:cNvSpPr/>
          <p:nvPr/>
        </p:nvSpPr>
        <p:spPr>
          <a:xfrm>
            <a:off x="838088" y="3662846"/>
            <a:ext cx="11906" cy="168175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9" name="Shape 26"/>
          <p:cNvSpPr/>
          <p:nvPr/>
        </p:nvSpPr>
        <p:spPr>
          <a:xfrm>
            <a:off x="3536342" y="3662846"/>
            <a:ext cx="11906" cy="168175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Text 27"/>
          <p:cNvSpPr/>
          <p:nvPr/>
        </p:nvSpPr>
        <p:spPr>
          <a:xfrm>
            <a:off x="992870" y="3810372"/>
            <a:ext cx="264065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ERREURS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992870" y="4019848"/>
            <a:ext cx="247679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5xx · quality gate · timeouts LLM · retrievals vides</a:t>
            </a:r>
            <a:endParaRPr lang="en-US" sz="938" dirty="0"/>
          </a:p>
        </p:txBody>
      </p:sp>
      <p:sp>
        <p:nvSpPr>
          <p:cNvPr id="32" name="Shape 29"/>
          <p:cNvSpPr/>
          <p:nvPr/>
        </p:nvSpPr>
        <p:spPr>
          <a:xfrm>
            <a:off x="992870" y="4985370"/>
            <a:ext cx="1676177" cy="223614"/>
          </a:xfrm>
          <a:prstGeom prst="roundRect">
            <a:avLst>
              <a:gd name="adj" fmla="val 1703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80976" y="5025851"/>
            <a:ext cx="1576164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rag_empty_retrieval_total</a:t>
            </a:r>
            <a:endParaRPr lang="en-US" sz="788" dirty="0"/>
          </a:p>
        </p:txBody>
      </p:sp>
      <p:sp>
        <p:nvSpPr>
          <p:cNvPr id="34" name="Shape 31"/>
          <p:cNvSpPr/>
          <p:nvPr/>
        </p:nvSpPr>
        <p:spPr>
          <a:xfrm>
            <a:off x="3662474" y="3662846"/>
            <a:ext cx="2710346" cy="1681758"/>
          </a:xfrm>
          <a:prstGeom prst="roundRect">
            <a:avLst>
              <a:gd name="adj" fmla="val 3398"/>
            </a:avLst>
          </a:prstGeom>
          <a:solidFill>
            <a:srgbClr val="F4F4F4"/>
          </a:solidFill>
          <a:ln/>
        </p:spPr>
      </p:sp>
      <p:sp>
        <p:nvSpPr>
          <p:cNvPr id="35" name="Shape 32"/>
          <p:cNvSpPr/>
          <p:nvPr/>
        </p:nvSpPr>
        <p:spPr>
          <a:xfrm>
            <a:off x="3662474" y="5332698"/>
            <a:ext cx="2710346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6" name="Shape 33"/>
          <p:cNvSpPr/>
          <p:nvPr/>
        </p:nvSpPr>
        <p:spPr>
          <a:xfrm>
            <a:off x="3662474" y="3662846"/>
            <a:ext cx="2710346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7" name="Shape 34"/>
          <p:cNvSpPr/>
          <p:nvPr/>
        </p:nvSpPr>
        <p:spPr>
          <a:xfrm>
            <a:off x="3662474" y="3662846"/>
            <a:ext cx="11906" cy="168175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Shape 35"/>
          <p:cNvSpPr/>
          <p:nvPr/>
        </p:nvSpPr>
        <p:spPr>
          <a:xfrm>
            <a:off x="6360914" y="3662846"/>
            <a:ext cx="11906" cy="168175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9" name="Text 36"/>
          <p:cNvSpPr/>
          <p:nvPr/>
        </p:nvSpPr>
        <p:spPr>
          <a:xfrm>
            <a:off x="3817255" y="3810372"/>
            <a:ext cx="264086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SATURATION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3817255" y="4019848"/>
            <a:ext cx="26408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38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CPU / RAM · file d'attente · tokens</a:t>
            </a:r>
            <a:endParaRPr lang="en-US" sz="938" dirty="0"/>
          </a:p>
        </p:txBody>
      </p:sp>
      <p:sp>
        <p:nvSpPr>
          <p:cNvPr id="41" name="Shape 38"/>
          <p:cNvSpPr/>
          <p:nvPr/>
        </p:nvSpPr>
        <p:spPr>
          <a:xfrm>
            <a:off x="3817255" y="4985370"/>
            <a:ext cx="1136117" cy="223614"/>
          </a:xfrm>
          <a:prstGeom prst="roundRect">
            <a:avLst>
              <a:gd name="adj" fmla="val 17038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905362" y="5025851"/>
            <a:ext cx="1036104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rag_tokens_total</a:t>
            </a:r>
            <a:endParaRPr lang="en-US" sz="788" dirty="0"/>
          </a:p>
        </p:txBody>
      </p:sp>
      <p:sp>
        <p:nvSpPr>
          <p:cNvPr id="43" name="Shape 40"/>
          <p:cNvSpPr/>
          <p:nvPr/>
        </p:nvSpPr>
        <p:spPr>
          <a:xfrm>
            <a:off x="838088" y="5468317"/>
            <a:ext cx="5534732" cy="780231"/>
          </a:xfrm>
          <a:prstGeom prst="roundRect">
            <a:avLst>
              <a:gd name="adj" fmla="val 7325"/>
            </a:avLst>
          </a:prstGeom>
          <a:solidFill>
            <a:srgbClr val="2A2A2A"/>
          </a:solidFill>
          <a:ln/>
        </p:spPr>
      </p:sp>
      <p:sp>
        <p:nvSpPr>
          <p:cNvPr id="44" name="Text 41"/>
          <p:cNvSpPr/>
          <p:nvPr/>
        </p:nvSpPr>
        <p:spPr>
          <a:xfrm>
            <a:off x="990451" y="5698815"/>
            <a:ext cx="101270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05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ALERTES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990451" y="5827365"/>
            <a:ext cx="10127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8 · Prometheus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2060153" y="5582543"/>
            <a:ext cx="953430" cy="242590"/>
          </a:xfrm>
          <a:prstGeom prst="roundRect">
            <a:avLst>
              <a:gd name="adj" fmla="val 50000"/>
            </a:avLst>
          </a:prstGeom>
          <a:solidFill>
            <a:srgbClr val="23272F"/>
          </a:solidFill>
          <a:ln w="11906">
            <a:solidFill>
              <a:srgbClr val="BDD248">
                <a:alpha val="25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176835" y="5632549"/>
            <a:ext cx="796268" cy="180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Critique API</a:t>
            </a:r>
            <a:endParaRPr lang="en-US" sz="788" dirty="0"/>
          </a:p>
        </p:txBody>
      </p:sp>
      <p:sp>
        <p:nvSpPr>
          <p:cNvPr id="48" name="Shape 45"/>
          <p:cNvSpPr/>
          <p:nvPr/>
        </p:nvSpPr>
        <p:spPr>
          <a:xfrm>
            <a:off x="3080184" y="5582543"/>
            <a:ext cx="653355" cy="242590"/>
          </a:xfrm>
          <a:prstGeom prst="roundRect">
            <a:avLst>
              <a:gd name="adj" fmla="val 50000"/>
            </a:avLst>
          </a:prstGeom>
          <a:solidFill>
            <a:srgbClr val="23272F"/>
          </a:solidFill>
          <a:ln w="11906">
            <a:solidFill>
              <a:srgbClr val="BDD248">
                <a:alpha val="2500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196865" y="5632549"/>
            <a:ext cx="496193" cy="180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Qualité</a:t>
            </a:r>
            <a:endParaRPr lang="en-US" sz="788" dirty="0"/>
          </a:p>
        </p:txBody>
      </p:sp>
      <p:sp>
        <p:nvSpPr>
          <p:cNvPr id="50" name="Shape 47"/>
          <p:cNvSpPr/>
          <p:nvPr/>
        </p:nvSpPr>
        <p:spPr>
          <a:xfrm>
            <a:off x="3800140" y="5582543"/>
            <a:ext cx="1073423" cy="242590"/>
          </a:xfrm>
          <a:prstGeom prst="roundRect">
            <a:avLst>
              <a:gd name="adj" fmla="val 50000"/>
            </a:avLst>
          </a:prstGeom>
          <a:solidFill>
            <a:srgbClr val="23272F"/>
          </a:solidFill>
          <a:ln w="11906">
            <a:solidFill>
              <a:srgbClr val="BDD248">
                <a:alpha val="25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916821" y="5632549"/>
            <a:ext cx="916260" cy="180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Infrastructure</a:t>
            </a:r>
            <a:endParaRPr lang="en-US" sz="788" dirty="0"/>
          </a:p>
        </p:txBody>
      </p:sp>
      <p:sp>
        <p:nvSpPr>
          <p:cNvPr id="52" name="Text 49"/>
          <p:cNvSpPr/>
          <p:nvPr/>
        </p:nvSpPr>
        <p:spPr>
          <a:xfrm>
            <a:off x="2176835" y="5941740"/>
            <a:ext cx="1576313" cy="18067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i="1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déclenchement automatique</a:t>
            </a:r>
            <a:endParaRPr lang="en-US" sz="788" dirty="0"/>
          </a:p>
        </p:txBody>
      </p:sp>
      <p:sp>
        <p:nvSpPr>
          <p:cNvPr id="53" name="Shape 50"/>
          <p:cNvSpPr/>
          <p:nvPr/>
        </p:nvSpPr>
        <p:spPr>
          <a:xfrm>
            <a:off x="6582296" y="1867049"/>
            <a:ext cx="4771616" cy="3510669"/>
          </a:xfrm>
          <a:prstGeom prst="roundRect">
            <a:avLst>
              <a:gd name="adj" fmla="val 1628"/>
            </a:avLst>
          </a:prstGeom>
          <a:solidFill>
            <a:srgbClr val="F4F4F4"/>
          </a:solidFill>
          <a:ln w="11906">
            <a:solidFill>
              <a:srgbClr val="CFCFCF"/>
            </a:solidFill>
            <a:prstDash val="dash"/>
          </a:ln>
        </p:spPr>
      </p:sp>
      <p:sp>
        <p:nvSpPr>
          <p:cNvPr id="54" name="Shape 51"/>
          <p:cNvSpPr/>
          <p:nvPr/>
        </p:nvSpPr>
        <p:spPr>
          <a:xfrm>
            <a:off x="7977560" y="3281660"/>
            <a:ext cx="1980902" cy="681261"/>
          </a:xfrm>
          <a:prstGeom prst="roundRect">
            <a:avLst>
              <a:gd name="adj" fmla="val 5593"/>
            </a:avLst>
          </a:prstGeom>
          <a:solidFill>
            <a:srgbClr val="F4F4F4"/>
          </a:solidFill>
          <a:ln/>
        </p:spPr>
      </p:sp>
      <p:sp>
        <p:nvSpPr>
          <p:cNvPr id="55" name="Text 52"/>
          <p:cNvSpPr/>
          <p:nvPr/>
        </p:nvSpPr>
        <p:spPr>
          <a:xfrm>
            <a:off x="8072810" y="3348335"/>
            <a:ext cx="1790402" cy="586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909090"/>
                </a:solidFill>
                <a:highlight>
                  <a:srgbClr val="F4F4F4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Capture dashboard Grafana 8 rangées · 23 panels glisser-déposer ici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582296" y="5501432"/>
            <a:ext cx="4771616" cy="747117"/>
          </a:xfrm>
          <a:prstGeom prst="roundRect">
            <a:avLst>
              <a:gd name="adj" fmla="val 7649"/>
            </a:avLst>
          </a:prstGeom>
          <a:solidFill>
            <a:srgbClr val="EFF4D8"/>
          </a:solidFill>
          <a:ln/>
        </p:spPr>
      </p:sp>
      <p:sp>
        <p:nvSpPr>
          <p:cNvPr id="57" name="Shape 54"/>
          <p:cNvSpPr/>
          <p:nvPr/>
        </p:nvSpPr>
        <p:spPr>
          <a:xfrm>
            <a:off x="6582296" y="6236643"/>
            <a:ext cx="4771616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8" name="Shape 55"/>
          <p:cNvSpPr/>
          <p:nvPr/>
        </p:nvSpPr>
        <p:spPr>
          <a:xfrm>
            <a:off x="6582296" y="5501432"/>
            <a:ext cx="4771616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9" name="Shape 56"/>
          <p:cNvSpPr/>
          <p:nvPr/>
        </p:nvSpPr>
        <p:spPr>
          <a:xfrm>
            <a:off x="6582296" y="5501432"/>
            <a:ext cx="23813" cy="747117"/>
          </a:xfrm>
          <a:prstGeom prst="rect">
            <a:avLst/>
          </a:prstGeom>
          <a:solidFill>
            <a:srgbClr val="8FA82E"/>
          </a:solidFill>
          <a:ln/>
        </p:spPr>
      </p:sp>
      <p:sp>
        <p:nvSpPr>
          <p:cNvPr id="60" name="Shape 57"/>
          <p:cNvSpPr/>
          <p:nvPr/>
        </p:nvSpPr>
        <p:spPr>
          <a:xfrm>
            <a:off x="11342005" y="5501432"/>
            <a:ext cx="11906" cy="747117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61" name="Text 58"/>
          <p:cNvSpPr/>
          <p:nvPr/>
        </p:nvSpPr>
        <p:spPr>
          <a:xfrm>
            <a:off x="6758471" y="5627563"/>
            <a:ext cx="487428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05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 CONTRIBUTION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6758471" y="5784577"/>
            <a:ext cx="4564107" cy="375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938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Métriques système/HTTP : </a:t>
            </a:r>
            <a:pPr algn="l" indent="0" marL="0">
              <a:lnSpc>
                <a:spcPct val="142000"/>
              </a:lnSpc>
              <a:buNone/>
            </a:pPr>
            <a:r>
              <a:rPr lang="en-US" sz="938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lib standard</a:t>
            </a:r>
            <a:pPr algn="l" indent="0" marL="0">
              <a:lnSpc>
                <a:spcPct val="142000"/>
              </a:lnSpc>
              <a:buNone/>
            </a:pPr>
            <a:r>
              <a:rPr lang="en-US" sz="938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 Les </a:t>
            </a:r>
            <a:pPr algn="l" indent="0" marL="0">
              <a:lnSpc>
                <a:spcPct val="142000"/>
              </a:lnSpc>
              <a:buNone/>
            </a:pPr>
            <a:r>
              <a:rPr lang="en-US" sz="938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12 métriques métier RAG </a:t>
            </a:r>
            <a:pPr algn="l" indent="0" marL="0">
              <a:lnSpc>
                <a:spcPct val="142000"/>
              </a:lnSpc>
              <a:buNone/>
            </a:pPr>
            <a:r>
              <a:rPr lang="en-US" sz="938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: conçues et implémentées par moi.</a:t>
            </a:r>
            <a:endParaRPr lang="en-US" sz="938" dirty="0"/>
          </a:p>
        </p:txBody>
      </p:sp>
      <p:sp>
        <p:nvSpPr>
          <p:cNvPr id="63" name="Text 60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64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44495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OPS · MONITORING · QUALITÉ EN PRODUCTION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4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700" b="1" spc="-54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Surveiller non seulement que ça répond, mais </a:t>
            </a:r>
            <a:pPr algn="l" indent="0" marL="0">
              <a:lnSpc>
                <a:spcPct val="118000"/>
              </a:lnSpc>
              <a:buNone/>
            </a:pPr>
            <a:r>
              <a:rPr lang="en-US" sz="2700" b="1" spc="-54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que ça répond bien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38088" y="1456655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La qualité d’un RAG ne se voit pas dans les métriques système. On l’évalue en continu — sans ralentir l’utilisateur.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8088" y="1822214"/>
            <a:ext cx="807207" cy="482389"/>
          </a:xfrm>
          <a:prstGeom prst="roundRect">
            <a:avLst>
              <a:gd name="adj" fmla="val 15796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3196" y="1919697"/>
            <a:ext cx="593192" cy="187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Requête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83196" y="2088059"/>
            <a:ext cx="59319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22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 RAG</a:t>
            </a:r>
            <a:endParaRPr lang="en-US" sz="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545" y="1974205"/>
            <a:ext cx="285750" cy="18082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21545" y="1822214"/>
            <a:ext cx="2570634" cy="482389"/>
          </a:xfrm>
          <a:prstGeom prst="roundRect">
            <a:avLst>
              <a:gd name="adj" fmla="val 15796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266652" y="1919697"/>
            <a:ext cx="2508461" cy="187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Réponse renvoyée immédiatement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266652" y="2088059"/>
            <a:ext cx="250846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22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à l’utilisateur · sans attendre l’éval</a:t>
            </a:r>
            <a:endParaRPr lang="en-US" sz="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540" y="2352229"/>
            <a:ext cx="190500" cy="3047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61591" y="2445060"/>
            <a:ext cx="197654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spc="71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FORK — SANS BLOQUER LA RÉPONSE</a:t>
            </a:r>
            <a:endParaRPr lang="en-US" sz="713" dirty="0"/>
          </a:p>
        </p:txBody>
      </p:sp>
      <p:sp>
        <p:nvSpPr>
          <p:cNvPr id="16" name="Shape 11"/>
          <p:cNvSpPr/>
          <p:nvPr/>
        </p:nvSpPr>
        <p:spPr>
          <a:xfrm>
            <a:off x="838088" y="2704579"/>
            <a:ext cx="10515823" cy="890922"/>
          </a:xfrm>
          <a:prstGeom prst="roundRect">
            <a:avLst>
              <a:gd name="adj" fmla="val 12829"/>
            </a:avLst>
          </a:prstGeom>
          <a:solidFill>
            <a:srgbClr val="2A2A2A"/>
          </a:solidFill>
          <a:ln/>
        </p:spPr>
      </p:sp>
      <p:sp>
        <p:nvSpPr>
          <p:cNvPr id="17" name="Text 12"/>
          <p:cNvSpPr/>
          <p:nvPr/>
        </p:nvSpPr>
        <p:spPr>
          <a:xfrm>
            <a:off x="990451" y="2809317"/>
            <a:ext cx="1123220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05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ARRIÈRE-PLAN · BACKGROUNDTASK</a:t>
            </a:r>
            <a:endParaRPr lang="en-US" sz="750" dirty="0"/>
          </a:p>
        </p:txBody>
      </p:sp>
      <p:sp>
        <p:nvSpPr>
          <p:cNvPr id="18" name="Shape 13"/>
          <p:cNvSpPr/>
          <p:nvPr/>
        </p:nvSpPr>
        <p:spPr>
          <a:xfrm>
            <a:off x="990451" y="3013956"/>
            <a:ext cx="1699989" cy="457833"/>
          </a:xfrm>
          <a:prstGeom prst="roundRect">
            <a:avLst>
              <a:gd name="adj" fmla="val 16644"/>
            </a:avLst>
          </a:prstGeom>
          <a:solidFill>
            <a:srgbClr val="23272F"/>
          </a:solidFill>
          <a:ln w="11906">
            <a:solidFill>
              <a:srgbClr val="BDD248">
                <a:alpha val="22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126071" y="3101950"/>
            <a:ext cx="1571625" cy="181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Échantillonnage</a:t>
            </a:r>
            <a:endParaRPr lang="en-US" sz="1013" dirty="0"/>
          </a:p>
        </p:txBody>
      </p:sp>
      <p:sp>
        <p:nvSpPr>
          <p:cNvPr id="20" name="Text 15"/>
          <p:cNvSpPr/>
          <p:nvPr/>
        </p:nvSpPr>
        <p:spPr>
          <a:xfrm>
            <a:off x="1126071" y="3264731"/>
            <a:ext cx="157162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requête / 10 · hash MD5</a:t>
            </a:r>
            <a:endParaRPr lang="en-US" sz="7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6017" y="3153668"/>
            <a:ext cx="285750" cy="18082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147343" y="3013956"/>
            <a:ext cx="1151930" cy="457833"/>
          </a:xfrm>
          <a:prstGeom prst="roundRect">
            <a:avLst>
              <a:gd name="adj" fmla="val 16644"/>
            </a:avLst>
          </a:prstGeom>
          <a:solidFill>
            <a:srgbClr val="23272F"/>
          </a:solidFill>
          <a:ln w="11906">
            <a:solidFill>
              <a:srgbClr val="BDD248">
                <a:alpha val="2200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282962" y="3101950"/>
            <a:ext cx="956890" cy="181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RAGAS évalue</a:t>
            </a:r>
            <a:endParaRPr lang="en-US" sz="1013" dirty="0"/>
          </a:p>
        </p:txBody>
      </p:sp>
      <p:sp>
        <p:nvSpPr>
          <p:cNvPr id="24" name="Text 18"/>
          <p:cNvSpPr/>
          <p:nvPr/>
        </p:nvSpPr>
        <p:spPr>
          <a:xfrm>
            <a:off x="3282962" y="3264731"/>
            <a:ext cx="95689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juge qwen2:0.5b</a:t>
            </a:r>
            <a:endParaRPr lang="en-US" sz="7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4849" y="3153668"/>
            <a:ext cx="285750" cy="180826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4756175" y="3013956"/>
            <a:ext cx="1300014" cy="457833"/>
          </a:xfrm>
          <a:prstGeom prst="roundRect">
            <a:avLst>
              <a:gd name="adj" fmla="val 16644"/>
            </a:avLst>
          </a:prstGeom>
          <a:solidFill>
            <a:srgbClr val="23272F"/>
          </a:solidFill>
          <a:ln w="11906">
            <a:solidFill>
              <a:srgbClr val="BDD248">
                <a:alpha val="22000"/>
              </a:srgbClr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891794" y="3101950"/>
            <a:ext cx="1104974" cy="181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Prometheus</a:t>
            </a:r>
            <a:endParaRPr lang="en-US" sz="1013" dirty="0"/>
          </a:p>
        </p:txBody>
      </p:sp>
      <p:sp>
        <p:nvSpPr>
          <p:cNvPr id="28" name="Text 21"/>
          <p:cNvSpPr/>
          <p:nvPr/>
        </p:nvSpPr>
        <p:spPr>
          <a:xfrm>
            <a:off x="4891794" y="3264731"/>
            <a:ext cx="11049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métriques publiées</a:t>
            </a:r>
            <a:endParaRPr lang="en-US" sz="7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765" y="3153668"/>
            <a:ext cx="285750" cy="180826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513091" y="3013956"/>
            <a:ext cx="754931" cy="457833"/>
          </a:xfrm>
          <a:prstGeom prst="roundRect">
            <a:avLst>
              <a:gd name="adj" fmla="val 16644"/>
            </a:avLst>
          </a:prstGeom>
          <a:solidFill>
            <a:srgbClr val="23272F"/>
          </a:solidFill>
          <a:ln w="11906">
            <a:solidFill>
              <a:srgbClr val="BDD248">
                <a:alpha val="22000"/>
              </a:srgbClr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648710" y="3101950"/>
            <a:ext cx="559891" cy="181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Grafana</a:t>
            </a:r>
            <a:endParaRPr lang="en-US" sz="1013" dirty="0"/>
          </a:p>
        </p:txBody>
      </p:sp>
      <p:sp>
        <p:nvSpPr>
          <p:cNvPr id="32" name="Text 24"/>
          <p:cNvSpPr/>
          <p:nvPr/>
        </p:nvSpPr>
        <p:spPr>
          <a:xfrm>
            <a:off x="6648710" y="3264731"/>
            <a:ext cx="55989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visibles</a:t>
            </a:r>
            <a:endParaRPr lang="en-US" sz="750" dirty="0"/>
          </a:p>
        </p:txBody>
      </p:sp>
      <p:sp>
        <p:nvSpPr>
          <p:cNvPr id="33" name="Shape 25"/>
          <p:cNvSpPr/>
          <p:nvPr/>
        </p:nvSpPr>
        <p:spPr>
          <a:xfrm>
            <a:off x="838088" y="3738376"/>
            <a:ext cx="5191311" cy="431788"/>
          </a:xfrm>
          <a:prstGeom prst="roundRect">
            <a:avLst>
              <a:gd name="adj" fmla="val 13236"/>
            </a:avLst>
          </a:prstGeom>
          <a:solidFill>
            <a:srgbClr val="F4F4F4"/>
          </a:solidFill>
          <a:ln/>
        </p:spPr>
      </p:sp>
      <p:sp>
        <p:nvSpPr>
          <p:cNvPr id="34" name="Shape 26"/>
          <p:cNvSpPr/>
          <p:nvPr/>
        </p:nvSpPr>
        <p:spPr>
          <a:xfrm>
            <a:off x="838088" y="4158258"/>
            <a:ext cx="519131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5" name="Shape 27"/>
          <p:cNvSpPr/>
          <p:nvPr/>
        </p:nvSpPr>
        <p:spPr>
          <a:xfrm>
            <a:off x="838088" y="3738376"/>
            <a:ext cx="519131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6" name="Shape 28"/>
          <p:cNvSpPr/>
          <p:nvPr/>
        </p:nvSpPr>
        <p:spPr>
          <a:xfrm>
            <a:off x="838088" y="3738376"/>
            <a:ext cx="23813" cy="4317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7" name="Shape 29"/>
          <p:cNvSpPr/>
          <p:nvPr/>
        </p:nvSpPr>
        <p:spPr>
          <a:xfrm>
            <a:off x="6017493" y="3738376"/>
            <a:ext cx="11906" cy="4317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Text 30"/>
          <p:cNvSpPr/>
          <p:nvPr/>
        </p:nvSpPr>
        <p:spPr>
          <a:xfrm>
            <a:off x="1014301" y="3864583"/>
            <a:ext cx="5006532" cy="21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Éval en arrière-plan : </a:t>
            </a:r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525252"/>
                </a:solidFill>
                <a:highlight>
                  <a:srgbClr val="F4F4F4"/>
                </a:highlight>
                <a:latin typeface="Mulish" pitchFamily="34" charset="0"/>
                <a:ea typeface="Mulish" pitchFamily="34" charset="-122"/>
                <a:cs typeface="Mulish" pitchFamily="34" charset="-120"/>
              </a:rPr>
              <a:t>la latence utilisateur n’est </a:t>
            </a:r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jamais </a:t>
            </a:r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525252"/>
                </a:solidFill>
                <a:highlight>
                  <a:srgbClr val="F4F4F4"/>
                </a:highlight>
                <a:latin typeface="Mulish" pitchFamily="34" charset="0"/>
                <a:ea typeface="Mulish" pitchFamily="34" charset="-122"/>
                <a:cs typeface="Mulish" pitchFamily="34" charset="-120"/>
              </a:rPr>
              <a:t>impactée.</a:t>
            </a:r>
            <a:endParaRPr lang="en-US" sz="975" dirty="0"/>
          </a:p>
        </p:txBody>
      </p:sp>
      <p:sp>
        <p:nvSpPr>
          <p:cNvPr id="39" name="Shape 31"/>
          <p:cNvSpPr/>
          <p:nvPr/>
        </p:nvSpPr>
        <p:spPr>
          <a:xfrm>
            <a:off x="6162601" y="3738376"/>
            <a:ext cx="5191311" cy="431788"/>
          </a:xfrm>
          <a:prstGeom prst="roundRect">
            <a:avLst>
              <a:gd name="adj" fmla="val 13236"/>
            </a:avLst>
          </a:prstGeom>
          <a:solidFill>
            <a:srgbClr val="F4F4F4"/>
          </a:solidFill>
          <a:ln/>
        </p:spPr>
      </p:sp>
      <p:sp>
        <p:nvSpPr>
          <p:cNvPr id="40" name="Shape 32"/>
          <p:cNvSpPr/>
          <p:nvPr/>
        </p:nvSpPr>
        <p:spPr>
          <a:xfrm>
            <a:off x="6162601" y="4158258"/>
            <a:ext cx="519131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1" name="Shape 33"/>
          <p:cNvSpPr/>
          <p:nvPr/>
        </p:nvSpPr>
        <p:spPr>
          <a:xfrm>
            <a:off x="6162601" y="3738376"/>
            <a:ext cx="5191311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2" name="Shape 34"/>
          <p:cNvSpPr/>
          <p:nvPr/>
        </p:nvSpPr>
        <p:spPr>
          <a:xfrm>
            <a:off x="6162601" y="3738376"/>
            <a:ext cx="23813" cy="4317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3" name="Shape 35"/>
          <p:cNvSpPr/>
          <p:nvPr/>
        </p:nvSpPr>
        <p:spPr>
          <a:xfrm>
            <a:off x="11342005" y="3738376"/>
            <a:ext cx="11906" cy="431788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Text 36"/>
          <p:cNvSpPr/>
          <p:nvPr/>
        </p:nvSpPr>
        <p:spPr>
          <a:xfrm>
            <a:off x="6338813" y="3864583"/>
            <a:ext cx="5006532" cy="217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Échantillonnage déterministe (hash MD5) : </a:t>
            </a:r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525252"/>
                </a:solidFill>
                <a:highlight>
                  <a:srgbClr val="F4F4F4"/>
                </a:highlight>
                <a:latin typeface="Mulish" pitchFamily="34" charset="0"/>
                <a:ea typeface="Mulish" pitchFamily="34" charset="-122"/>
                <a:cs typeface="Mulish" pitchFamily="34" charset="-120"/>
              </a:rPr>
              <a:t>reproductible, même en multi-instances.</a:t>
            </a:r>
            <a:endParaRPr lang="en-US" sz="975" dirty="0"/>
          </a:p>
        </p:txBody>
      </p:sp>
      <p:sp>
        <p:nvSpPr>
          <p:cNvPr id="45" name="Shape 37"/>
          <p:cNvSpPr/>
          <p:nvPr/>
        </p:nvSpPr>
        <p:spPr>
          <a:xfrm>
            <a:off x="838088" y="4313039"/>
            <a:ext cx="5191311" cy="841251"/>
          </a:xfrm>
          <a:prstGeom prst="roundRect">
            <a:avLst>
              <a:gd name="adj" fmla="val 6793"/>
            </a:avLst>
          </a:prstGeom>
          <a:solidFill>
            <a:srgbClr val="2A2A2A"/>
          </a:solidFill>
          <a:ln/>
        </p:spPr>
      </p:sp>
      <p:sp>
        <p:nvSpPr>
          <p:cNvPr id="46" name="Text 38"/>
          <p:cNvSpPr/>
          <p:nvPr/>
        </p:nvSpPr>
        <p:spPr>
          <a:xfrm>
            <a:off x="1009427" y="4436752"/>
            <a:ext cx="533349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05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PREUVE</a:t>
            </a:r>
            <a:endParaRPr lang="en-US" sz="750" dirty="0"/>
          </a:p>
        </p:txBody>
      </p:sp>
      <p:sp>
        <p:nvSpPr>
          <p:cNvPr id="47" name="Text 39"/>
          <p:cNvSpPr/>
          <p:nvPr/>
        </p:nvSpPr>
        <p:spPr>
          <a:xfrm>
            <a:off x="1009427" y="4603440"/>
            <a:ext cx="5333498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faithfulness = </a:t>
            </a:r>
            <a:pPr algn="l" indent="0" marL="0">
              <a:buNone/>
            </a:pPr>
            <a:r>
              <a:rPr lang="en-US" sz="120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1.0 </a:t>
            </a:r>
            <a:pPr algn="l" indent="0" marL="0">
              <a:buNone/>
            </a:pPr>
            <a:r>
              <a:rPr lang="en-US" sz="975" b="1" dirty="0">
                <a:solidFill>
                  <a:srgbClr val="9AA5B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— premier run validé sur le jeu d'évaluation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1009427" y="4877284"/>
            <a:ext cx="5333498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63" i="1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answer_relevancy plus fragile avec un juge léger (slide suivante).</a:t>
            </a:r>
            <a:endParaRPr lang="en-US" sz="863" dirty="0"/>
          </a:p>
        </p:txBody>
      </p:sp>
      <p:sp>
        <p:nvSpPr>
          <p:cNvPr id="49" name="Shape 41"/>
          <p:cNvSpPr/>
          <p:nvPr/>
        </p:nvSpPr>
        <p:spPr>
          <a:xfrm>
            <a:off x="6162601" y="4313039"/>
            <a:ext cx="5191311" cy="841251"/>
          </a:xfrm>
          <a:prstGeom prst="roundRect">
            <a:avLst>
              <a:gd name="adj" fmla="val 6793"/>
            </a:avLst>
          </a:prstGeom>
          <a:solidFill>
            <a:srgbClr val="EFF4D8"/>
          </a:solidFill>
          <a:ln/>
        </p:spPr>
      </p:sp>
      <p:sp>
        <p:nvSpPr>
          <p:cNvPr id="50" name="Shape 42"/>
          <p:cNvSpPr/>
          <p:nvPr/>
        </p:nvSpPr>
        <p:spPr>
          <a:xfrm>
            <a:off x="6162601" y="5142384"/>
            <a:ext cx="5191311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1" name="Shape 43"/>
          <p:cNvSpPr/>
          <p:nvPr/>
        </p:nvSpPr>
        <p:spPr>
          <a:xfrm>
            <a:off x="6162601" y="4313039"/>
            <a:ext cx="5191311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2" name="Shape 44"/>
          <p:cNvSpPr/>
          <p:nvPr/>
        </p:nvSpPr>
        <p:spPr>
          <a:xfrm>
            <a:off x="6162601" y="4313039"/>
            <a:ext cx="23813" cy="841251"/>
          </a:xfrm>
          <a:prstGeom prst="rect">
            <a:avLst/>
          </a:prstGeom>
          <a:solidFill>
            <a:srgbClr val="8FA82E"/>
          </a:solidFill>
          <a:ln/>
        </p:spPr>
      </p:sp>
      <p:sp>
        <p:nvSpPr>
          <p:cNvPr id="53" name="Shape 45"/>
          <p:cNvSpPr/>
          <p:nvPr/>
        </p:nvSpPr>
        <p:spPr>
          <a:xfrm>
            <a:off x="11342005" y="4313039"/>
            <a:ext cx="11906" cy="84125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4" name="Text 46"/>
          <p:cNvSpPr/>
          <p:nvPr/>
        </p:nvSpPr>
        <p:spPr>
          <a:xfrm>
            <a:off x="6357751" y="4448659"/>
            <a:ext cx="529420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05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 CONTRIBUTION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6357751" y="4615346"/>
            <a:ext cx="5294207" cy="217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Éval async, échantillonnage et métriques de qualité conçus et implémentés par moi.</a:t>
            </a:r>
            <a:endParaRPr lang="en-US" sz="975" dirty="0"/>
          </a:p>
        </p:txBody>
      </p:sp>
      <p:sp>
        <p:nvSpPr>
          <p:cNvPr id="56" name="Text 48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11099416" y="6418585"/>
            <a:ext cx="254496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359472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PROBLÈME LE PLUS DUR · ENQUÊTE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0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475" b="1" spc="-49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 NaN silencieux qui cachait une </a:t>
            </a:r>
            <a:pPr algn="l" indent="0" marL="0">
              <a:lnSpc>
                <a:spcPct val="118000"/>
              </a:lnSpc>
              <a:buNone/>
            </a:pPr>
            <a:r>
              <a:rPr lang="en-US" sz="2475" b="1" spc="-49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saturation mémoire</a:t>
            </a:r>
            <a:endParaRPr lang="en-US" sz="2475" dirty="0"/>
          </a:p>
        </p:txBody>
      </p:sp>
      <p:sp>
        <p:nvSpPr>
          <p:cNvPr id="6" name="Text 3"/>
          <p:cNvSpPr/>
          <p:nvPr/>
        </p:nvSpPr>
        <p:spPr>
          <a:xfrm>
            <a:off x="838088" y="1404007"/>
            <a:ext cx="11567406" cy="231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NaN en production, sans crash ni erreur visible — alors que la même éval marchait dans la pipeline.</a:t>
            </a:r>
            <a:endParaRPr lang="en-US" sz="1088" dirty="0"/>
          </a:p>
        </p:txBody>
      </p:sp>
      <p:sp>
        <p:nvSpPr>
          <p:cNvPr id="7" name="Shape 4"/>
          <p:cNvSpPr/>
          <p:nvPr/>
        </p:nvSpPr>
        <p:spPr>
          <a:xfrm>
            <a:off x="838088" y="1711151"/>
            <a:ext cx="238125" cy="238125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799988" y="1711151"/>
            <a:ext cx="3143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✗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1190439" y="1720639"/>
            <a:ext cx="2392226" cy="200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25" b="1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H1 </a:t>
            </a:r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Bug dans notre code de parsing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90439" y="1902209"/>
            <a:ext cx="2392226" cy="191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réel mais partiel, corrigé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38088" y="2169356"/>
            <a:ext cx="238125" cy="238125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799988" y="2169356"/>
            <a:ext cx="3143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✗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1190439" y="2178844"/>
            <a:ext cx="3119512" cy="200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25" b="1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H2 </a:t>
            </a:r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Modèle juge trop petit pour du JSON strict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90439" y="2360414"/>
            <a:ext cx="3119512" cy="191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testé 1B, 3B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38088" y="2627561"/>
            <a:ext cx="238125" cy="238125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799988" y="2627561"/>
            <a:ext cx="3143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✗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1190439" y="2637048"/>
            <a:ext cx="2541408" cy="200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25" b="1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H3 </a:t>
            </a:r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Timeout RAGAS trop court (180 s)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90439" y="2818619"/>
            <a:ext cx="2541408" cy="191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passé à 900 s, toujours NaN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38088" y="3095253"/>
            <a:ext cx="5204147" cy="558292"/>
          </a:xfrm>
          <a:prstGeom prst="roundRect">
            <a:avLst>
              <a:gd name="adj" fmla="val 17061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4220" y="3202409"/>
            <a:ext cx="238125" cy="238125"/>
          </a:xfrm>
          <a:prstGeom prst="ellipse">
            <a:avLst/>
          </a:prstGeom>
          <a:solidFill>
            <a:srgbClr val="6E8523"/>
          </a:solidFill>
          <a:ln/>
        </p:spPr>
      </p:sp>
      <p:sp>
        <p:nvSpPr>
          <p:cNvPr id="21" name="Text 18"/>
          <p:cNvSpPr/>
          <p:nvPr/>
        </p:nvSpPr>
        <p:spPr>
          <a:xfrm>
            <a:off x="926120" y="3202409"/>
            <a:ext cx="31432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✓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316571" y="3211897"/>
            <a:ext cx="3160235" cy="200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25" b="1" dirty="0">
                <a:solidFill>
                  <a:srgbClr val="6E852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H4 </a:t>
            </a:r>
            <a:pPr algn="l" indent="0" marL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VRAIE CAUSE : OOM Killer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316571" y="3393467"/>
            <a:ext cx="3160235" cy="191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noyau tue Ollama (mistral 7B ~4,4 Go), RAM saturée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251711" y="1711151"/>
            <a:ext cx="5102014" cy="1141140"/>
          </a:xfrm>
          <a:prstGeom prst="roundRect">
            <a:avLst>
              <a:gd name="adj" fmla="val 8347"/>
            </a:avLst>
          </a:prstGeom>
          <a:solidFill>
            <a:srgbClr val="16181D"/>
          </a:solidFill>
          <a:ln w="11906">
            <a:solidFill>
              <a:srgbClr val="2C2F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96819" y="1827795"/>
            <a:ext cx="529297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05" kern="0" dirty="0">
                <a:solidFill>
                  <a:srgbClr val="E74C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SMOKING GUN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396819" y="2013458"/>
            <a:ext cx="4956153" cy="547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docker logs ollama </a:t>
            </a:r>
            <a:pPr algn="l" indent="0" marL="0">
              <a:lnSpc>
                <a:spcPct val="155000"/>
              </a:lnSpc>
              <a:buNone/>
            </a:pPr>
            <a:r>
              <a:rPr lang="en-US" sz="863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mistral exited — </a:t>
            </a:r>
            <a:pPr algn="l" indent="0" marL="0">
              <a:lnSpc>
                <a:spcPct val="155000"/>
              </a:lnSpc>
              <a:buNone/>
            </a:pPr>
            <a:r>
              <a:rPr lang="en-US" sz="863" b="1" dirty="0">
                <a:solidFill>
                  <a:srgbClr val="E74C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signal: killed </a:t>
            </a:r>
            <a:pPr algn="l" indent="0" marL="0">
              <a:lnSpc>
                <a:spcPct val="155000"/>
              </a:lnSpc>
              <a:buNone/>
            </a:pPr>
            <a:r>
              <a:rPr lang="en-US" sz="863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</a:t>
            </a:r>
            <a:pPr algn="l" indent="0" marL="0">
              <a:lnSpc>
                <a:spcPct val="155000"/>
              </a:lnSpc>
              <a:buNone/>
            </a:pPr>
            <a:r>
              <a:rPr lang="en-US" sz="863" b="1" dirty="0">
                <a:solidFill>
                  <a:srgbClr val="E74C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SIGKILL (signal 9)</a:t>
            </a:r>
            <a:pPr algn="l" indent="0" marL="0">
              <a:lnSpc>
                <a:spcPct val="155000"/>
              </a:lnSpc>
              <a:buNone/>
            </a:pPr>
            <a:r>
              <a:rPr lang="en-US" sz="863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 OOM Killer</a:t>
            </a:r>
            <a:endParaRPr lang="en-US" sz="863" dirty="0"/>
          </a:p>
        </p:txBody>
      </p:sp>
      <p:sp>
        <p:nvSpPr>
          <p:cNvPr id="27" name="Text 24"/>
          <p:cNvSpPr/>
          <p:nvPr/>
        </p:nvSpPr>
        <p:spPr>
          <a:xfrm>
            <a:off x="6396819" y="2589051"/>
            <a:ext cx="5292979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Trouvé dans les logs du conteneur 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Ollama</a:t>
            </a:r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, PAS dans ceux de l’API.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6251711" y="2966517"/>
            <a:ext cx="5102014" cy="1113420"/>
          </a:xfrm>
          <a:prstGeom prst="roundRect">
            <a:avLst>
              <a:gd name="adj" fmla="val 8555"/>
            </a:avLst>
          </a:prstGeom>
          <a:solidFill>
            <a:srgbClr val="F4F4F4"/>
          </a:solidFill>
          <a:ln/>
        </p:spPr>
      </p:sp>
      <p:sp>
        <p:nvSpPr>
          <p:cNvPr id="29" name="Shape 26"/>
          <p:cNvSpPr/>
          <p:nvPr/>
        </p:nvSpPr>
        <p:spPr>
          <a:xfrm>
            <a:off x="6251711" y="4068031"/>
            <a:ext cx="510201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7"/>
          <p:cNvSpPr/>
          <p:nvPr/>
        </p:nvSpPr>
        <p:spPr>
          <a:xfrm>
            <a:off x="6251711" y="2966517"/>
            <a:ext cx="510201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1" name="Shape 28"/>
          <p:cNvSpPr/>
          <p:nvPr/>
        </p:nvSpPr>
        <p:spPr>
          <a:xfrm>
            <a:off x="6251711" y="2966517"/>
            <a:ext cx="23813" cy="1113420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2" name="Shape 29"/>
          <p:cNvSpPr/>
          <p:nvPr/>
        </p:nvSpPr>
        <p:spPr>
          <a:xfrm>
            <a:off x="11341819" y="2966517"/>
            <a:ext cx="11906" cy="111342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3" name="Text 30"/>
          <p:cNvSpPr/>
          <p:nvPr/>
        </p:nvSpPr>
        <p:spPr>
          <a:xfrm>
            <a:off x="6418399" y="3083161"/>
            <a:ext cx="525860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Pourquoi la pipeline marchait et pas l’API ?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6418399" y="3314067"/>
            <a:ext cx="590401" cy="177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13" b="1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</a:t>
            </a:r>
            <a:endParaRPr lang="en-US" sz="713" dirty="0"/>
          </a:p>
        </p:txBody>
      </p:sp>
      <p:sp>
        <p:nvSpPr>
          <p:cNvPr id="35" name="Text 32"/>
          <p:cNvSpPr/>
          <p:nvPr/>
        </p:nvSpPr>
        <p:spPr>
          <a:xfrm>
            <a:off x="7018176" y="3304542"/>
            <a:ext cx="3463510" cy="187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juge léger (qwen2:0.5b) + éval en </a:t>
            </a:r>
            <a:pPr algn="l" indent="0" marL="0">
              <a:lnSpc>
                <a:spcPct val="136000"/>
              </a:lnSpc>
              <a:buNone/>
            </a:pPr>
            <a:r>
              <a:rPr lang="en-US" sz="863" b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BATCH </a:t>
            </a:r>
            <a:pPr algn="l" indent="0" marL="0">
              <a:lnSpc>
                <a:spcPct val="136000"/>
              </a:lnSpc>
              <a:buNone/>
            </a:pPr>
            <a:r>
              <a:rPr lang="en-US" sz="8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→ la moyenne survit.</a:t>
            </a:r>
            <a:endParaRPr lang="en-US" sz="863" dirty="0"/>
          </a:p>
        </p:txBody>
      </p:sp>
      <p:sp>
        <p:nvSpPr>
          <p:cNvPr id="36" name="Text 33"/>
          <p:cNvSpPr/>
          <p:nvPr/>
        </p:nvSpPr>
        <p:spPr>
          <a:xfrm>
            <a:off x="6418399" y="3529682"/>
            <a:ext cx="590401" cy="177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13" b="1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713" dirty="0"/>
          </a:p>
        </p:txBody>
      </p:sp>
      <p:sp>
        <p:nvSpPr>
          <p:cNvPr id="37" name="Text 34"/>
          <p:cNvSpPr/>
          <p:nvPr/>
        </p:nvSpPr>
        <p:spPr>
          <a:xfrm>
            <a:off x="7018176" y="3520157"/>
            <a:ext cx="3625993" cy="187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juge lourd testé + </a:t>
            </a:r>
            <a:pPr algn="l" indent="0" marL="0">
              <a:lnSpc>
                <a:spcPct val="136000"/>
              </a:lnSpc>
              <a:buNone/>
            </a:pPr>
            <a:r>
              <a:rPr lang="en-US" sz="863" b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 question à la fois </a:t>
            </a:r>
            <a:pPr algn="l" indent="0" marL="0">
              <a:lnSpc>
                <a:spcPct val="136000"/>
              </a:lnSpc>
              <a:buNone/>
            </a:pPr>
            <a:r>
              <a:rPr lang="en-US" sz="86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→ 1 seul échec = NaN total.</a:t>
            </a:r>
            <a:endParaRPr lang="en-US" sz="863" dirty="0"/>
          </a:p>
        </p:txBody>
      </p:sp>
      <p:sp>
        <p:nvSpPr>
          <p:cNvPr id="38" name="Shape 35"/>
          <p:cNvSpPr/>
          <p:nvPr/>
        </p:nvSpPr>
        <p:spPr>
          <a:xfrm>
            <a:off x="6418399" y="3735772"/>
            <a:ext cx="4780545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9" name="Text 36"/>
          <p:cNvSpPr/>
          <p:nvPr/>
        </p:nvSpPr>
        <p:spPr>
          <a:xfrm>
            <a:off x="6418399" y="3814353"/>
            <a:ext cx="4923962" cy="187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863" i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→ La fragilité était dans le paradigme par-requête, jamais dans le framework.</a:t>
            </a:r>
            <a:endParaRPr lang="en-US" sz="863" dirty="0"/>
          </a:p>
        </p:txBody>
      </p:sp>
      <p:sp>
        <p:nvSpPr>
          <p:cNvPr id="40" name="Shape 37"/>
          <p:cNvSpPr/>
          <p:nvPr/>
        </p:nvSpPr>
        <p:spPr>
          <a:xfrm>
            <a:off x="838088" y="4194163"/>
            <a:ext cx="10515823" cy="406673"/>
          </a:xfrm>
          <a:prstGeom prst="roundRect">
            <a:avLst>
              <a:gd name="adj" fmla="val 14053"/>
            </a:avLst>
          </a:prstGeom>
          <a:solidFill>
            <a:srgbClr val="EFF4D8"/>
          </a:solidFill>
          <a:ln/>
        </p:spPr>
      </p:sp>
      <p:sp>
        <p:nvSpPr>
          <p:cNvPr id="41" name="Shape 38"/>
          <p:cNvSpPr/>
          <p:nvPr/>
        </p:nvSpPr>
        <p:spPr>
          <a:xfrm>
            <a:off x="838088" y="4588929"/>
            <a:ext cx="10515823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2" name="Shape 39"/>
          <p:cNvSpPr/>
          <p:nvPr/>
        </p:nvSpPr>
        <p:spPr>
          <a:xfrm>
            <a:off x="838088" y="4194163"/>
            <a:ext cx="10515823" cy="1190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3" name="Shape 40"/>
          <p:cNvSpPr/>
          <p:nvPr/>
        </p:nvSpPr>
        <p:spPr>
          <a:xfrm>
            <a:off x="838088" y="4194163"/>
            <a:ext cx="23813" cy="406673"/>
          </a:xfrm>
          <a:prstGeom prst="rect">
            <a:avLst/>
          </a:prstGeom>
          <a:solidFill>
            <a:srgbClr val="8FA82E"/>
          </a:solidFill>
          <a:ln/>
        </p:spPr>
      </p:sp>
      <p:sp>
        <p:nvSpPr>
          <p:cNvPr id="44" name="Shape 41"/>
          <p:cNvSpPr/>
          <p:nvPr/>
        </p:nvSpPr>
        <p:spPr>
          <a:xfrm>
            <a:off x="11342005" y="4194163"/>
            <a:ext cx="11906" cy="40667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5" name="Shape 42"/>
          <p:cNvSpPr/>
          <p:nvPr/>
        </p:nvSpPr>
        <p:spPr>
          <a:xfrm>
            <a:off x="1033239" y="4335549"/>
            <a:ext cx="104738" cy="123713"/>
          </a:xfrm>
          <a:prstGeom prst="rect">
            <a:avLst/>
          </a:prstGeom>
          <a:solidFill>
            <a:srgbClr val="8FA82E"/>
          </a:solidFill>
          <a:ln/>
        </p:spPr>
      </p:sp>
      <p:sp>
        <p:nvSpPr>
          <p:cNvPr id="46" name="Text 43"/>
          <p:cNvSpPr/>
          <p:nvPr/>
        </p:nvSpPr>
        <p:spPr>
          <a:xfrm>
            <a:off x="1261690" y="4310807"/>
            <a:ext cx="5945367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13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Fix = revenir à qwen2:0.5b — ce que la pipeline utilisait déjà. faithfulness = 1.0, zéro OOM.</a:t>
            </a:r>
            <a:endParaRPr lang="en-US" sz="1013" dirty="0"/>
          </a:p>
        </p:txBody>
      </p:sp>
      <p:sp>
        <p:nvSpPr>
          <p:cNvPr id="47" name="Text 44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1099416" y="6418585"/>
            <a:ext cx="254496" cy="15236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351213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04 · OPS · CONTENEURISATION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19014"/>
            <a:ext cx="11567406" cy="44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700" b="1" spc="-54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Build once, </a:t>
            </a:r>
            <a:pPr algn="l" indent="0" marL="0">
              <a:lnSpc>
                <a:spcPct val="118000"/>
              </a:lnSpc>
              <a:buNone/>
            </a:pPr>
            <a:r>
              <a:rPr lang="en-US" sz="2700" b="1" spc="-54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run anywhere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38088" y="1428192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même environnement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du dev à la prod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— zéro « ça marche chez moi » — et toute la stack démarre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en une commande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8088" y="1850864"/>
            <a:ext cx="8005056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HÉRITAGE DES IMAGES · FROM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838088" y="2055502"/>
            <a:ext cx="7277323" cy="611684"/>
          </a:xfrm>
          <a:prstGeom prst="roundRect">
            <a:avLst>
              <a:gd name="adj" fmla="val 9343"/>
            </a:avLst>
          </a:prstGeom>
          <a:solidFill>
            <a:srgbClr val="2A2A2A"/>
          </a:solidFill>
          <a:ln/>
          <a:effectLst>
            <a:outerShdw sx="100000" sy="100000" kx="0" ky="0" algn="bl" rotWithShape="0" blurRad="228600" dist="76200" dir="5400000">
              <a:srgbClr val="2A2A2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38088" y="2055502"/>
            <a:ext cx="7277323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0" name="Shape 7"/>
          <p:cNvSpPr/>
          <p:nvPr/>
        </p:nvSpPr>
        <p:spPr>
          <a:xfrm>
            <a:off x="1009427" y="2214190"/>
            <a:ext cx="520898" cy="317934"/>
          </a:xfrm>
          <a:prstGeom prst="roundRect">
            <a:avLst>
              <a:gd name="adj" fmla="val 8988"/>
            </a:avLst>
          </a:prstGeom>
          <a:solidFill>
            <a:srgbClr val="BDD248"/>
          </a:solidFill>
          <a:ln/>
        </p:spPr>
      </p:sp>
      <p:sp>
        <p:nvSpPr>
          <p:cNvPr id="11" name="Text 8"/>
          <p:cNvSpPr/>
          <p:nvPr/>
        </p:nvSpPr>
        <p:spPr>
          <a:xfrm>
            <a:off x="1133512" y="2249909"/>
            <a:ext cx="3487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25" b="1" spc="41" kern="0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1066577" y="2387389"/>
            <a:ext cx="406598" cy="135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38" spc="51" kern="0" dirty="0">
                <a:solidFill>
                  <a:srgbClr val="2A2A2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cachée</a:t>
            </a:r>
            <a:endParaRPr lang="en-US" sz="638" dirty="0"/>
          </a:p>
        </p:txBody>
      </p:sp>
      <p:sp>
        <p:nvSpPr>
          <p:cNvPr id="13" name="Text 10"/>
          <p:cNvSpPr/>
          <p:nvPr/>
        </p:nvSpPr>
        <p:spPr>
          <a:xfrm>
            <a:off x="1682688" y="2193541"/>
            <a:ext cx="296419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1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python:3.11-slim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682688" y="2388691"/>
            <a:ext cx="2964191" cy="202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torch · faiss · numpy + src/core + config</a:t>
            </a:r>
            <a:endParaRPr lang="en-US" sz="863" dirty="0"/>
          </a:p>
        </p:txBody>
      </p:sp>
      <p:sp>
        <p:nvSpPr>
          <p:cNvPr id="15" name="Shape 12"/>
          <p:cNvSpPr/>
          <p:nvPr/>
        </p:nvSpPr>
        <p:spPr>
          <a:xfrm rot="5400000">
            <a:off x="876021" y="2755143"/>
            <a:ext cx="104775" cy="161925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6" name="Shape 13"/>
          <p:cNvSpPr/>
          <p:nvPr/>
        </p:nvSpPr>
        <p:spPr>
          <a:xfrm>
            <a:off x="1085515" y="2724299"/>
            <a:ext cx="789161" cy="223614"/>
          </a:xfrm>
          <a:prstGeom prst="roundRect">
            <a:avLst>
              <a:gd name="adj" fmla="val 12779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3146" y="2764780"/>
            <a:ext cx="670099" cy="180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25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base</a:t>
            </a:r>
            <a:endParaRPr lang="en-US" sz="825" dirty="0"/>
          </a:p>
        </p:txBody>
      </p:sp>
      <p:sp>
        <p:nvSpPr>
          <p:cNvPr id="18" name="Shape 15"/>
          <p:cNvSpPr/>
          <p:nvPr/>
        </p:nvSpPr>
        <p:spPr>
          <a:xfrm>
            <a:off x="1979414" y="2830153"/>
            <a:ext cx="3993059" cy="11906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19" name="Text 16"/>
          <p:cNvSpPr/>
          <p:nvPr/>
        </p:nvSpPr>
        <p:spPr>
          <a:xfrm>
            <a:off x="6077210" y="2776575"/>
            <a:ext cx="220027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chaque image hérite de la fondation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38088" y="3005026"/>
            <a:ext cx="3918626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IMAGES USE-CASE</a:t>
            </a:r>
            <a:endParaRPr lang="en-US" sz="713" dirty="0"/>
          </a:p>
        </p:txBody>
      </p:sp>
      <p:sp>
        <p:nvSpPr>
          <p:cNvPr id="21" name="Shape 18"/>
          <p:cNvSpPr/>
          <p:nvPr/>
        </p:nvSpPr>
        <p:spPr>
          <a:xfrm>
            <a:off x="838088" y="3190689"/>
            <a:ext cx="3562387" cy="512341"/>
          </a:xfrm>
          <a:prstGeom prst="roundRect">
            <a:avLst>
              <a:gd name="adj" fmla="val 5577"/>
            </a:avLst>
          </a:prstGeom>
          <a:solidFill>
            <a:srgbClr val="F4F4F4"/>
          </a:solidFill>
          <a:ln/>
        </p:spPr>
      </p:sp>
      <p:sp>
        <p:nvSpPr>
          <p:cNvPr id="22" name="Shape 19"/>
          <p:cNvSpPr/>
          <p:nvPr/>
        </p:nvSpPr>
        <p:spPr>
          <a:xfrm>
            <a:off x="838088" y="3691124"/>
            <a:ext cx="35623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3" name="Shape 20"/>
          <p:cNvSpPr/>
          <p:nvPr/>
        </p:nvSpPr>
        <p:spPr>
          <a:xfrm>
            <a:off x="838088" y="3190689"/>
            <a:ext cx="35623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Shape 21"/>
          <p:cNvSpPr/>
          <p:nvPr/>
        </p:nvSpPr>
        <p:spPr>
          <a:xfrm>
            <a:off x="838088" y="3190689"/>
            <a:ext cx="23813" cy="51234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5" name="Shape 22"/>
          <p:cNvSpPr/>
          <p:nvPr/>
        </p:nvSpPr>
        <p:spPr>
          <a:xfrm>
            <a:off x="4388569" y="3190689"/>
            <a:ext cx="11906" cy="512341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Text 23"/>
          <p:cNvSpPr/>
          <p:nvPr/>
        </p:nvSpPr>
        <p:spPr>
          <a:xfrm>
            <a:off x="985614" y="3254871"/>
            <a:ext cx="81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pipeline-rag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803053" y="3314402"/>
            <a:ext cx="581285" cy="137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13" spc="14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base</a:t>
            </a:r>
            <a:endParaRPr lang="en-US" sz="713" dirty="0"/>
          </a:p>
        </p:txBody>
      </p:sp>
      <p:sp>
        <p:nvSpPr>
          <p:cNvPr id="28" name="Text 25"/>
          <p:cNvSpPr/>
          <p:nvPr/>
        </p:nvSpPr>
        <p:spPr>
          <a:xfrm>
            <a:off x="985614" y="3463230"/>
            <a:ext cx="3607166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langchain · ragas · sentence-transformers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838088" y="3779118"/>
            <a:ext cx="3918626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image par use case (ml_classic, …)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552838" y="3005026"/>
            <a:ext cx="391883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71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IMAGES SERVICES</a:t>
            </a:r>
            <a:endParaRPr lang="en-US" sz="713" dirty="0"/>
          </a:p>
        </p:txBody>
      </p:sp>
      <p:sp>
        <p:nvSpPr>
          <p:cNvPr id="31" name="Shape 28"/>
          <p:cNvSpPr/>
          <p:nvPr/>
        </p:nvSpPr>
        <p:spPr>
          <a:xfrm>
            <a:off x="4552838" y="3190689"/>
            <a:ext cx="3562573" cy="512341"/>
          </a:xfrm>
          <a:prstGeom prst="roundRect">
            <a:avLst>
              <a:gd name="adj" fmla="val 5577"/>
            </a:avLst>
          </a:prstGeom>
          <a:solidFill>
            <a:srgbClr val="F4F4F4"/>
          </a:solidFill>
          <a:ln/>
        </p:spPr>
      </p:sp>
      <p:sp>
        <p:nvSpPr>
          <p:cNvPr id="32" name="Shape 29"/>
          <p:cNvSpPr/>
          <p:nvPr/>
        </p:nvSpPr>
        <p:spPr>
          <a:xfrm>
            <a:off x="4552838" y="3691124"/>
            <a:ext cx="356257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3" name="Shape 30"/>
          <p:cNvSpPr/>
          <p:nvPr/>
        </p:nvSpPr>
        <p:spPr>
          <a:xfrm>
            <a:off x="4552838" y="3190689"/>
            <a:ext cx="356257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31"/>
          <p:cNvSpPr/>
          <p:nvPr/>
        </p:nvSpPr>
        <p:spPr>
          <a:xfrm>
            <a:off x="4552838" y="3190689"/>
            <a:ext cx="23813" cy="512341"/>
          </a:xfrm>
          <a:prstGeom prst="rect">
            <a:avLst/>
          </a:prstGeom>
          <a:solidFill>
            <a:srgbClr val="525252"/>
          </a:solidFill>
          <a:ln/>
        </p:spPr>
      </p:sp>
      <p:sp>
        <p:nvSpPr>
          <p:cNvPr id="35" name="Shape 32"/>
          <p:cNvSpPr/>
          <p:nvPr/>
        </p:nvSpPr>
        <p:spPr>
          <a:xfrm>
            <a:off x="8103505" y="3190689"/>
            <a:ext cx="11906" cy="512341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6" name="Text 33"/>
          <p:cNvSpPr/>
          <p:nvPr/>
        </p:nvSpPr>
        <p:spPr>
          <a:xfrm>
            <a:off x="4700364" y="3254871"/>
            <a:ext cx="2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api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967511" y="3314402"/>
            <a:ext cx="468920" cy="137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13" spc="14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FastAPI</a:t>
            </a:r>
            <a:endParaRPr lang="en-US" sz="713" dirty="0"/>
          </a:p>
        </p:txBody>
      </p:sp>
      <p:sp>
        <p:nvSpPr>
          <p:cNvPr id="38" name="Text 35"/>
          <p:cNvSpPr/>
          <p:nvPr/>
        </p:nvSpPr>
        <p:spPr>
          <a:xfrm>
            <a:off x="4700364" y="3463230"/>
            <a:ext cx="360737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expose les pipelines en REST</a:t>
            </a:r>
            <a:endParaRPr lang="en-US" sz="825" dirty="0"/>
          </a:p>
        </p:txBody>
      </p:sp>
      <p:sp>
        <p:nvSpPr>
          <p:cNvPr id="39" name="Shape 36"/>
          <p:cNvSpPr/>
          <p:nvPr/>
        </p:nvSpPr>
        <p:spPr>
          <a:xfrm>
            <a:off x="4552838" y="3769630"/>
            <a:ext cx="3562573" cy="512341"/>
          </a:xfrm>
          <a:prstGeom prst="roundRect">
            <a:avLst>
              <a:gd name="adj" fmla="val 5577"/>
            </a:avLst>
          </a:prstGeom>
          <a:solidFill>
            <a:srgbClr val="F4F4F4"/>
          </a:solidFill>
          <a:ln/>
        </p:spPr>
      </p:sp>
      <p:sp>
        <p:nvSpPr>
          <p:cNvPr id="40" name="Shape 37"/>
          <p:cNvSpPr/>
          <p:nvPr/>
        </p:nvSpPr>
        <p:spPr>
          <a:xfrm>
            <a:off x="4552838" y="4270065"/>
            <a:ext cx="356257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1" name="Shape 38"/>
          <p:cNvSpPr/>
          <p:nvPr/>
        </p:nvSpPr>
        <p:spPr>
          <a:xfrm>
            <a:off x="4552838" y="3769630"/>
            <a:ext cx="356257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2" name="Shape 39"/>
          <p:cNvSpPr/>
          <p:nvPr/>
        </p:nvSpPr>
        <p:spPr>
          <a:xfrm>
            <a:off x="4552838" y="3769630"/>
            <a:ext cx="23813" cy="512341"/>
          </a:xfrm>
          <a:prstGeom prst="rect">
            <a:avLst/>
          </a:prstGeom>
          <a:solidFill>
            <a:srgbClr val="525252"/>
          </a:solidFill>
          <a:ln/>
        </p:spPr>
      </p:sp>
      <p:sp>
        <p:nvSpPr>
          <p:cNvPr id="43" name="Shape 40"/>
          <p:cNvSpPr/>
          <p:nvPr/>
        </p:nvSpPr>
        <p:spPr>
          <a:xfrm>
            <a:off x="8103505" y="3769630"/>
            <a:ext cx="11906" cy="512341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Text 41"/>
          <p:cNvSpPr/>
          <p:nvPr/>
        </p:nvSpPr>
        <p:spPr>
          <a:xfrm>
            <a:off x="4700364" y="3833812"/>
            <a:ext cx="58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tracking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5283212" y="3893344"/>
            <a:ext cx="412924" cy="137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13" spc="14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MLflow</a:t>
            </a:r>
            <a:endParaRPr lang="en-US" sz="713" dirty="0"/>
          </a:p>
        </p:txBody>
      </p:sp>
      <p:sp>
        <p:nvSpPr>
          <p:cNvPr id="46" name="Text 43"/>
          <p:cNvSpPr/>
          <p:nvPr/>
        </p:nvSpPr>
        <p:spPr>
          <a:xfrm>
            <a:off x="4700364" y="4042172"/>
            <a:ext cx="3607371" cy="1899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serveur d'expériences &amp; modèles</a:t>
            </a:r>
            <a:endParaRPr lang="en-US" sz="825" dirty="0"/>
          </a:p>
        </p:txBody>
      </p:sp>
      <p:sp>
        <p:nvSpPr>
          <p:cNvPr id="47" name="Shape 44"/>
          <p:cNvSpPr/>
          <p:nvPr/>
        </p:nvSpPr>
        <p:spPr>
          <a:xfrm>
            <a:off x="8305912" y="1850864"/>
            <a:ext cx="3048000" cy="2431107"/>
          </a:xfrm>
          <a:prstGeom prst="roundRect">
            <a:avLst>
              <a:gd name="adj" fmla="val 2351"/>
            </a:avLst>
          </a:prstGeom>
          <a:solidFill>
            <a:srgbClr val="1A1A1A"/>
          </a:solidFill>
          <a:ln/>
          <a:effectLst>
            <a:outerShdw sx="100000" sy="100000" kx="0" ky="0" algn="bl" rotWithShape="0" blurRad="342900" dist="114300" dir="5400000">
              <a:srgbClr val="1A1A1A">
                <a:alpha val="22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8458274" y="1984065"/>
            <a:ext cx="3017602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CACHING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8458274" y="2361158"/>
            <a:ext cx="85576" cy="85576"/>
          </a:xfrm>
          <a:prstGeom prst="roundRect">
            <a:avLst>
              <a:gd name="adj" fmla="val 22261"/>
            </a:avLst>
          </a:prstGeom>
          <a:solidFill>
            <a:srgbClr val="5CC2D8"/>
          </a:solidFill>
          <a:ln/>
        </p:spPr>
      </p:sp>
      <p:sp>
        <p:nvSpPr>
          <p:cNvPr id="50" name="Text 47"/>
          <p:cNvSpPr/>
          <p:nvPr/>
        </p:nvSpPr>
        <p:spPr>
          <a:xfrm>
            <a:off x="8639101" y="2255490"/>
            <a:ext cx="1914599" cy="335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couche BASE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068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torch faiss numpy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10572750" y="2309999"/>
            <a:ext cx="628799" cy="187896"/>
          </a:xfrm>
          <a:prstGeom prst="roundRect">
            <a:avLst>
              <a:gd name="adj" fmla="val 50000"/>
            </a:avLst>
          </a:prstGeom>
          <a:solidFill>
            <a:srgbClr val="5CC2D8">
              <a:alpha val="10000"/>
            </a:srgbClr>
          </a:solidFill>
          <a:ln w="11906">
            <a:solidFill>
              <a:srgbClr val="5CC2D8">
                <a:alpha val="4000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660856" y="2350480"/>
            <a:ext cx="528786" cy="145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41" kern="0" dirty="0">
                <a:solidFill>
                  <a:srgbClr val="5CC2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CACHE</a:t>
            </a:r>
            <a:endParaRPr lang="en-US" sz="675" dirty="0"/>
          </a:p>
        </p:txBody>
      </p:sp>
      <p:sp>
        <p:nvSpPr>
          <p:cNvPr id="53" name="Shape 50"/>
          <p:cNvSpPr/>
          <p:nvPr/>
        </p:nvSpPr>
        <p:spPr>
          <a:xfrm>
            <a:off x="8458274" y="2686906"/>
            <a:ext cx="85576" cy="85576"/>
          </a:xfrm>
          <a:prstGeom prst="roundRect">
            <a:avLst>
              <a:gd name="adj" fmla="val 22261"/>
            </a:avLst>
          </a:prstGeom>
          <a:solidFill>
            <a:srgbClr val="BDD248"/>
          </a:solidFill>
          <a:ln/>
        </p:spPr>
      </p:sp>
      <p:sp>
        <p:nvSpPr>
          <p:cNvPr id="54" name="Text 51"/>
          <p:cNvSpPr/>
          <p:nvPr/>
        </p:nvSpPr>
        <p:spPr>
          <a:xfrm>
            <a:off x="8639101" y="2655466"/>
            <a:ext cx="2110848" cy="186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couche CODE </a:t>
            </a:r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068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src/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10653303" y="2647652"/>
            <a:ext cx="548246" cy="164083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56" name="Text 53"/>
          <p:cNvSpPr/>
          <p:nvPr/>
        </p:nvSpPr>
        <p:spPr>
          <a:xfrm>
            <a:off x="10729503" y="2676227"/>
            <a:ext cx="472046" cy="145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41" kern="0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REBUILD</a:t>
            </a:r>
            <a:endParaRPr lang="en-US" sz="675" dirty="0"/>
          </a:p>
        </p:txBody>
      </p:sp>
      <p:sp>
        <p:nvSpPr>
          <p:cNvPr id="57" name="Shape 54"/>
          <p:cNvSpPr/>
          <p:nvPr/>
        </p:nvSpPr>
        <p:spPr>
          <a:xfrm>
            <a:off x="8458274" y="3632895"/>
            <a:ext cx="2743274" cy="11906"/>
          </a:xfrm>
          <a:prstGeom prst="rect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8458274" y="3749539"/>
            <a:ext cx="882662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75" b="1" spc="-22" kern="0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&lt; 30 s</a:t>
            </a:r>
            <a:endParaRPr lang="en-US" sz="2175" dirty="0"/>
          </a:p>
        </p:txBody>
      </p:sp>
      <p:sp>
        <p:nvSpPr>
          <p:cNvPr id="59" name="Text 56"/>
          <p:cNvSpPr/>
          <p:nvPr/>
        </p:nvSpPr>
        <p:spPr>
          <a:xfrm>
            <a:off x="9369475" y="3868601"/>
            <a:ext cx="1908274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 </a:t>
            </a:r>
            <a:pPr algn="l" indent="0" marL="0">
              <a:lnSpc>
                <a:spcPct val="140000"/>
              </a:lnSpc>
              <a:buNone/>
            </a:pPr>
            <a:r>
              <a:rPr lang="en-US" sz="788" b="1" dirty="0">
                <a:solidFill>
                  <a:srgbClr val="CDD3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Δ code </a:t>
            </a:r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AA5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 rebuild que sa couche</a:t>
            </a:r>
            <a:endParaRPr lang="en-US" sz="788" dirty="0"/>
          </a:p>
        </p:txBody>
      </p:sp>
      <p:sp>
        <p:nvSpPr>
          <p:cNvPr id="60" name="Shape 57"/>
          <p:cNvSpPr/>
          <p:nvPr/>
        </p:nvSpPr>
        <p:spPr>
          <a:xfrm>
            <a:off x="838088" y="4405685"/>
            <a:ext cx="10515823" cy="728700"/>
          </a:xfrm>
          <a:prstGeom prst="roundRect">
            <a:avLst>
              <a:gd name="adj" fmla="val 7843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02357" y="4601766"/>
            <a:ext cx="94312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50" spc="75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ORCHESTRATION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1002357" y="4758779"/>
            <a:ext cx="1257151" cy="217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docker‑compose</a:t>
            </a:r>
            <a:endParaRPr lang="en-US" sz="975" dirty="0"/>
          </a:p>
        </p:txBody>
      </p:sp>
      <p:sp>
        <p:nvSpPr>
          <p:cNvPr id="63" name="Shape 60"/>
          <p:cNvSpPr/>
          <p:nvPr/>
        </p:nvSpPr>
        <p:spPr>
          <a:xfrm>
            <a:off x="2335671" y="4655716"/>
            <a:ext cx="646658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2461878" y="4715247"/>
            <a:ext cx="470446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mlflow</a:t>
            </a:r>
            <a:endParaRPr lang="en-US" sz="863" dirty="0"/>
          </a:p>
        </p:txBody>
      </p:sp>
      <p:sp>
        <p:nvSpPr>
          <p:cNvPr id="65" name="Shape 62"/>
          <p:cNvSpPr/>
          <p:nvPr/>
        </p:nvSpPr>
        <p:spPr>
          <a:xfrm>
            <a:off x="3048930" y="4655716"/>
            <a:ext cx="449461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175136" y="4715247"/>
            <a:ext cx="273248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</a:t>
            </a:r>
            <a:endParaRPr lang="en-US" sz="863" dirty="0"/>
          </a:p>
        </p:txBody>
      </p:sp>
      <p:sp>
        <p:nvSpPr>
          <p:cNvPr id="67" name="Shape 64"/>
          <p:cNvSpPr/>
          <p:nvPr/>
        </p:nvSpPr>
        <p:spPr>
          <a:xfrm>
            <a:off x="3564992" y="4655716"/>
            <a:ext cx="646658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691198" y="4715247"/>
            <a:ext cx="470446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ollama</a:t>
            </a:r>
            <a:endParaRPr lang="en-US" sz="863" dirty="0"/>
          </a:p>
        </p:txBody>
      </p:sp>
      <p:sp>
        <p:nvSpPr>
          <p:cNvPr id="69" name="Shape 66"/>
          <p:cNvSpPr/>
          <p:nvPr/>
        </p:nvSpPr>
        <p:spPr>
          <a:xfrm>
            <a:off x="4278250" y="4655716"/>
            <a:ext cx="646658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404457" y="4715247"/>
            <a:ext cx="470446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qdrant</a:t>
            </a:r>
            <a:endParaRPr lang="en-US" sz="863" dirty="0"/>
          </a:p>
        </p:txBody>
      </p:sp>
      <p:sp>
        <p:nvSpPr>
          <p:cNvPr id="71" name="Shape 68"/>
          <p:cNvSpPr/>
          <p:nvPr/>
        </p:nvSpPr>
        <p:spPr>
          <a:xfrm>
            <a:off x="4991509" y="4655716"/>
            <a:ext cx="909526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117716" y="4715247"/>
            <a:ext cx="733313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prometheus</a:t>
            </a:r>
            <a:endParaRPr lang="en-US" sz="863" dirty="0"/>
          </a:p>
        </p:txBody>
      </p:sp>
      <p:sp>
        <p:nvSpPr>
          <p:cNvPr id="73" name="Shape 70"/>
          <p:cNvSpPr/>
          <p:nvPr/>
        </p:nvSpPr>
        <p:spPr>
          <a:xfrm>
            <a:off x="5967636" y="4655716"/>
            <a:ext cx="712329" cy="22863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906">
            <a:solidFill>
              <a:srgbClr val="CFCFCF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093842" y="4715247"/>
            <a:ext cx="536116" cy="1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3" dirty="0">
                <a:solidFill>
                  <a:srgbClr val="3F3F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grafana</a:t>
            </a:r>
            <a:endParaRPr lang="en-US" sz="863" dirty="0"/>
          </a:p>
        </p:txBody>
      </p:sp>
      <p:sp>
        <p:nvSpPr>
          <p:cNvPr id="75" name="Shape 72"/>
          <p:cNvSpPr/>
          <p:nvPr/>
        </p:nvSpPr>
        <p:spPr>
          <a:xfrm>
            <a:off x="9351429" y="4522329"/>
            <a:ext cx="9525" cy="495412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76" name="Shape 73"/>
          <p:cNvSpPr/>
          <p:nvPr/>
        </p:nvSpPr>
        <p:spPr>
          <a:xfrm>
            <a:off x="9513280" y="4522329"/>
            <a:ext cx="1050541" cy="204453"/>
          </a:xfrm>
          <a:prstGeom prst="roundRect">
            <a:avLst>
              <a:gd name="adj" fmla="val 50000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629961" y="4572335"/>
            <a:ext cx="893378" cy="14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--profile rag</a:t>
            </a:r>
            <a:endParaRPr lang="en-US" sz="825" dirty="0"/>
          </a:p>
        </p:txBody>
      </p:sp>
      <p:sp>
        <p:nvSpPr>
          <p:cNvPr id="78" name="Text 75"/>
          <p:cNvSpPr/>
          <p:nvPr/>
        </p:nvSpPr>
        <p:spPr>
          <a:xfrm>
            <a:off x="9513280" y="4764732"/>
            <a:ext cx="1752563" cy="291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3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lancé à la demande — tourne puis sort</a:t>
            </a:r>
            <a:endParaRPr lang="en-US" sz="713" dirty="0"/>
          </a:p>
        </p:txBody>
      </p:sp>
      <p:sp>
        <p:nvSpPr>
          <p:cNvPr id="79" name="Shape 76"/>
          <p:cNvSpPr/>
          <p:nvPr/>
        </p:nvSpPr>
        <p:spPr>
          <a:xfrm>
            <a:off x="838088" y="5258098"/>
            <a:ext cx="10515823" cy="426393"/>
          </a:xfrm>
          <a:prstGeom prst="roundRect">
            <a:avLst>
              <a:gd name="adj" fmla="val 13403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021333" y="5374742"/>
            <a:ext cx="37951" cy="193104"/>
          </a:xfrm>
          <a:prstGeom prst="roundRect">
            <a:avLst>
              <a:gd name="adj" fmla="val 50000"/>
            </a:avLst>
          </a:prstGeom>
          <a:solidFill>
            <a:srgbClr val="6E8523"/>
          </a:solidFill>
          <a:ln/>
        </p:spPr>
      </p:sp>
      <p:sp>
        <p:nvSpPr>
          <p:cNvPr id="81" name="Text 78"/>
          <p:cNvSpPr/>
          <p:nvPr/>
        </p:nvSpPr>
        <p:spPr>
          <a:xfrm>
            <a:off x="1192485" y="5374742"/>
            <a:ext cx="9566039" cy="231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design Docker reflète l'architecture du code : 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4B5A1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une base générique + des extensions par use case</a:t>
            </a:r>
            <a:pPr algn="l" indent="0" marL="0">
              <a:lnSpc>
                <a:spcPct val="140000"/>
              </a:lnSpc>
              <a:buNone/>
            </a:pPr>
            <a:r>
              <a:rPr lang="en-US" sz="1088" b="1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 Même philosophie, du code à l'infra.</a:t>
            </a:r>
            <a:endParaRPr lang="en-US" sz="1088" dirty="0"/>
          </a:p>
        </p:txBody>
      </p:sp>
      <p:sp>
        <p:nvSpPr>
          <p:cNvPr id="82" name="Text 79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83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84" name="Text 80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16091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BLOC 04 · OPS · CI/CT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19014"/>
            <a:ext cx="11567406" cy="44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700" b="1" spc="-54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Intègre &amp; ré-entraîne en continu, </a:t>
            </a:r>
            <a:pPr algn="l" indent="0" marL="0">
              <a:lnSpc>
                <a:spcPct val="118000"/>
              </a:lnSpc>
              <a:buNone/>
            </a:pPr>
            <a:r>
              <a:rPr lang="en-US" sz="2700" b="1" spc="-54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déploie sur décision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38088" y="1428192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L'intégration et l'entraînement sont automatisés et validés ;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déploiement reste manuel, conditionné à la qualité.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8088" y="1984251"/>
            <a:ext cx="1894582" cy="1416286"/>
          </a:xfrm>
          <a:prstGeom prst="roundRect">
            <a:avLst>
              <a:gd name="adj" fmla="val 4035"/>
            </a:avLst>
          </a:prstGeom>
          <a:solidFill>
            <a:srgbClr val="F4F4F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3388630"/>
            <a:ext cx="189458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1984251"/>
            <a:ext cx="1894582" cy="23813"/>
          </a:xfrm>
          <a:prstGeom prst="rect">
            <a:avLst/>
          </a:prstGeom>
          <a:solidFill>
            <a:srgbClr val="525252"/>
          </a:solidFill>
          <a:ln/>
        </p:spPr>
      </p:sp>
      <p:sp>
        <p:nvSpPr>
          <p:cNvPr id="10" name="Shape 7"/>
          <p:cNvSpPr/>
          <p:nvPr/>
        </p:nvSpPr>
        <p:spPr>
          <a:xfrm>
            <a:off x="838088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8"/>
          <p:cNvSpPr/>
          <p:nvPr/>
        </p:nvSpPr>
        <p:spPr>
          <a:xfrm>
            <a:off x="2720764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Shape 9"/>
          <p:cNvSpPr/>
          <p:nvPr/>
        </p:nvSpPr>
        <p:spPr>
          <a:xfrm>
            <a:off x="849995" y="2008063"/>
            <a:ext cx="1870770" cy="24166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13" name="Text 10"/>
          <p:cNvSpPr/>
          <p:nvPr/>
        </p:nvSpPr>
        <p:spPr>
          <a:xfrm>
            <a:off x="992870" y="2074738"/>
            <a:ext cx="1661220" cy="146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13" b="1" spc="64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DÉCLENCHEUR</a:t>
            </a:r>
            <a:endParaRPr lang="en-US" sz="713" dirty="0"/>
          </a:p>
        </p:txBody>
      </p:sp>
      <p:sp>
        <p:nvSpPr>
          <p:cNvPr id="14" name="Text 11"/>
          <p:cNvSpPr/>
          <p:nvPr/>
        </p:nvSpPr>
        <p:spPr>
          <a:xfrm>
            <a:off x="1011845" y="2402086"/>
            <a:ext cx="17017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1011845" y="2582912"/>
            <a:ext cx="1701775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Commit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11845" y="2857128"/>
            <a:ext cx="1623268" cy="380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push feature branch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670" y="2578075"/>
            <a:ext cx="361838" cy="22845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999259" y="1984251"/>
            <a:ext cx="1894768" cy="1416286"/>
          </a:xfrm>
          <a:prstGeom prst="roundRect">
            <a:avLst>
              <a:gd name="adj" fmla="val 4035"/>
            </a:avLst>
          </a:prstGeom>
          <a:solidFill>
            <a:srgbClr val="F4F4F4"/>
          </a:solidFill>
          <a:ln/>
        </p:spPr>
      </p:sp>
      <p:sp>
        <p:nvSpPr>
          <p:cNvPr id="19" name="Shape 15"/>
          <p:cNvSpPr/>
          <p:nvPr/>
        </p:nvSpPr>
        <p:spPr>
          <a:xfrm>
            <a:off x="2999259" y="3388630"/>
            <a:ext cx="189476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Shape 16"/>
          <p:cNvSpPr/>
          <p:nvPr/>
        </p:nvSpPr>
        <p:spPr>
          <a:xfrm>
            <a:off x="2999259" y="1984251"/>
            <a:ext cx="1894768" cy="23813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21" name="Shape 17"/>
          <p:cNvSpPr/>
          <p:nvPr/>
        </p:nvSpPr>
        <p:spPr>
          <a:xfrm>
            <a:off x="2999259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2" name="Shape 18"/>
          <p:cNvSpPr/>
          <p:nvPr/>
        </p:nvSpPr>
        <p:spPr>
          <a:xfrm>
            <a:off x="4882121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3" name="Shape 19"/>
          <p:cNvSpPr/>
          <p:nvPr/>
        </p:nvSpPr>
        <p:spPr>
          <a:xfrm>
            <a:off x="3011165" y="2008063"/>
            <a:ext cx="1870956" cy="24166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24" name="Text 20"/>
          <p:cNvSpPr/>
          <p:nvPr/>
        </p:nvSpPr>
        <p:spPr>
          <a:xfrm>
            <a:off x="3154040" y="2074738"/>
            <a:ext cx="1661406" cy="146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13" b="1" spc="64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</a:t>
            </a:r>
            <a:endParaRPr lang="en-US" sz="713" dirty="0"/>
          </a:p>
        </p:txBody>
      </p:sp>
      <p:sp>
        <p:nvSpPr>
          <p:cNvPr id="25" name="Text 21"/>
          <p:cNvSpPr/>
          <p:nvPr/>
        </p:nvSpPr>
        <p:spPr>
          <a:xfrm>
            <a:off x="3173016" y="2402086"/>
            <a:ext cx="1701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3173016" y="2582912"/>
            <a:ext cx="1701980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Lint · Tests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3173016" y="2857128"/>
            <a:ext cx="1623454" cy="380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ruff · pytest tests à écrire</a:t>
            </a:r>
            <a:endParaRPr lang="en-US" sz="9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027" y="2578075"/>
            <a:ext cx="361838" cy="228451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5160615" y="1984251"/>
            <a:ext cx="1894582" cy="1416286"/>
          </a:xfrm>
          <a:prstGeom prst="roundRect">
            <a:avLst>
              <a:gd name="adj" fmla="val 4035"/>
            </a:avLst>
          </a:prstGeom>
          <a:solidFill>
            <a:srgbClr val="F4F4F4"/>
          </a:solidFill>
          <a:ln/>
        </p:spPr>
      </p:sp>
      <p:sp>
        <p:nvSpPr>
          <p:cNvPr id="30" name="Shape 25"/>
          <p:cNvSpPr/>
          <p:nvPr/>
        </p:nvSpPr>
        <p:spPr>
          <a:xfrm>
            <a:off x="5160615" y="3388630"/>
            <a:ext cx="1894582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1" name="Shape 26"/>
          <p:cNvSpPr/>
          <p:nvPr/>
        </p:nvSpPr>
        <p:spPr>
          <a:xfrm>
            <a:off x="5160615" y="1984251"/>
            <a:ext cx="1894582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2" name="Shape 27"/>
          <p:cNvSpPr/>
          <p:nvPr/>
        </p:nvSpPr>
        <p:spPr>
          <a:xfrm>
            <a:off x="5160615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3" name="Shape 28"/>
          <p:cNvSpPr/>
          <p:nvPr/>
        </p:nvSpPr>
        <p:spPr>
          <a:xfrm>
            <a:off x="7043291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4" name="Shape 29"/>
          <p:cNvSpPr/>
          <p:nvPr/>
        </p:nvSpPr>
        <p:spPr>
          <a:xfrm>
            <a:off x="5172521" y="2008063"/>
            <a:ext cx="1870770" cy="241660"/>
          </a:xfrm>
          <a:prstGeom prst="rect">
            <a:avLst/>
          </a:prstGeom>
          <a:solidFill>
            <a:srgbClr val="EFF4D8"/>
          </a:solidFill>
          <a:ln/>
        </p:spPr>
      </p:sp>
      <p:sp>
        <p:nvSpPr>
          <p:cNvPr id="35" name="Text 30"/>
          <p:cNvSpPr/>
          <p:nvPr/>
        </p:nvSpPr>
        <p:spPr>
          <a:xfrm>
            <a:off x="5315396" y="2074738"/>
            <a:ext cx="1661220" cy="146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13" b="1" spc="64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FAIT</a:t>
            </a:r>
            <a:endParaRPr lang="en-US" sz="713" dirty="0"/>
          </a:p>
        </p:txBody>
      </p:sp>
      <p:sp>
        <p:nvSpPr>
          <p:cNvPr id="36" name="Text 31"/>
          <p:cNvSpPr/>
          <p:nvPr/>
        </p:nvSpPr>
        <p:spPr>
          <a:xfrm>
            <a:off x="5334372" y="2402086"/>
            <a:ext cx="17017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25" dirty="0"/>
          </a:p>
        </p:txBody>
      </p:sp>
      <p:sp>
        <p:nvSpPr>
          <p:cNvPr id="37" name="Text 32"/>
          <p:cNvSpPr/>
          <p:nvPr/>
        </p:nvSpPr>
        <p:spPr>
          <a:xfrm>
            <a:off x="5334372" y="2582912"/>
            <a:ext cx="1701775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Pipeline ML</a:t>
            </a:r>
            <a:endParaRPr lang="en-US" sz="1350" dirty="0"/>
          </a:p>
        </p:txBody>
      </p:sp>
      <p:sp>
        <p:nvSpPr>
          <p:cNvPr id="38" name="Text 33"/>
          <p:cNvSpPr/>
          <p:nvPr/>
        </p:nvSpPr>
        <p:spPr>
          <a:xfrm>
            <a:off x="5334372" y="2857128"/>
            <a:ext cx="1623268" cy="380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complet 5 phases (RAG)</a:t>
            </a:r>
            <a:endParaRPr lang="en-US" sz="9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197" y="2578075"/>
            <a:ext cx="361838" cy="228451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7321786" y="1984251"/>
            <a:ext cx="1894768" cy="1416286"/>
          </a:xfrm>
          <a:prstGeom prst="roundRect">
            <a:avLst>
              <a:gd name="adj" fmla="val 4035"/>
            </a:avLst>
          </a:prstGeom>
          <a:solidFill>
            <a:srgbClr val="F4F4F4"/>
          </a:solidFill>
          <a:ln/>
        </p:spPr>
      </p:sp>
      <p:sp>
        <p:nvSpPr>
          <p:cNvPr id="41" name="Shape 35"/>
          <p:cNvSpPr/>
          <p:nvPr/>
        </p:nvSpPr>
        <p:spPr>
          <a:xfrm>
            <a:off x="7321786" y="3388630"/>
            <a:ext cx="1894768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2" name="Shape 36"/>
          <p:cNvSpPr/>
          <p:nvPr/>
        </p:nvSpPr>
        <p:spPr>
          <a:xfrm>
            <a:off x="7321786" y="1984251"/>
            <a:ext cx="1894768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3" name="Shape 37"/>
          <p:cNvSpPr/>
          <p:nvPr/>
        </p:nvSpPr>
        <p:spPr>
          <a:xfrm>
            <a:off x="7321786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4" name="Shape 38"/>
          <p:cNvSpPr/>
          <p:nvPr/>
        </p:nvSpPr>
        <p:spPr>
          <a:xfrm>
            <a:off x="9204647" y="1984251"/>
            <a:ext cx="11906" cy="141628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5" name="Shape 39"/>
          <p:cNvSpPr/>
          <p:nvPr/>
        </p:nvSpPr>
        <p:spPr>
          <a:xfrm>
            <a:off x="7333692" y="2008063"/>
            <a:ext cx="1870956" cy="241660"/>
          </a:xfrm>
          <a:prstGeom prst="rect">
            <a:avLst/>
          </a:prstGeom>
          <a:solidFill>
            <a:srgbClr val="EFF4D8"/>
          </a:solidFill>
          <a:ln/>
        </p:spPr>
      </p:sp>
      <p:sp>
        <p:nvSpPr>
          <p:cNvPr id="46" name="Text 40"/>
          <p:cNvSpPr/>
          <p:nvPr/>
        </p:nvSpPr>
        <p:spPr>
          <a:xfrm>
            <a:off x="7476567" y="2074738"/>
            <a:ext cx="1661406" cy="146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13" b="1" spc="64" kern="0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FAIT</a:t>
            </a:r>
            <a:endParaRPr lang="en-US" sz="713" dirty="0"/>
          </a:p>
        </p:txBody>
      </p:sp>
      <p:sp>
        <p:nvSpPr>
          <p:cNvPr id="47" name="Shape 41"/>
          <p:cNvSpPr/>
          <p:nvPr/>
        </p:nvSpPr>
        <p:spPr>
          <a:xfrm>
            <a:off x="7333692" y="2249723"/>
            <a:ext cx="1870956" cy="1138907"/>
          </a:xfrm>
          <a:prstGeom prst="rect">
            <a:avLst/>
          </a:prstGeom>
          <a:solidFill>
            <a:srgbClr val="EFF4D8"/>
          </a:solidFill>
          <a:ln/>
        </p:spPr>
      </p:sp>
      <p:sp>
        <p:nvSpPr>
          <p:cNvPr id="48" name="Text 42"/>
          <p:cNvSpPr/>
          <p:nvPr/>
        </p:nvSpPr>
        <p:spPr>
          <a:xfrm>
            <a:off x="7495542" y="2402086"/>
            <a:ext cx="1701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25" dirty="0"/>
          </a:p>
        </p:txBody>
      </p:sp>
      <p:sp>
        <p:nvSpPr>
          <p:cNvPr id="49" name="Text 43"/>
          <p:cNvSpPr/>
          <p:nvPr/>
        </p:nvSpPr>
        <p:spPr>
          <a:xfrm>
            <a:off x="7495542" y="2582912"/>
            <a:ext cx="1701980" cy="2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Quality Gate</a:t>
            </a:r>
            <a:endParaRPr lang="en-US" sz="1350" dirty="0"/>
          </a:p>
        </p:txBody>
      </p:sp>
      <p:sp>
        <p:nvSpPr>
          <p:cNvPr id="50" name="Text 44"/>
          <p:cNvSpPr/>
          <p:nvPr/>
        </p:nvSpPr>
        <p:spPr>
          <a:xfrm>
            <a:off x="7495542" y="2857128"/>
            <a:ext cx="1623454" cy="3807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 ≥ seuil ? exit 0 / exit 1</a:t>
            </a:r>
            <a:endParaRPr lang="en-US" sz="900" dirty="0"/>
          </a:p>
        </p:txBody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6554" y="2578075"/>
            <a:ext cx="361838" cy="228451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9389604" y="1984251"/>
            <a:ext cx="2057846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spc="68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DÉCISION DU GATE</a:t>
            </a:r>
            <a:endParaRPr lang="en-US" sz="675" dirty="0"/>
          </a:p>
        </p:txBody>
      </p:sp>
      <p:sp>
        <p:nvSpPr>
          <p:cNvPr id="53" name="Shape 46"/>
          <p:cNvSpPr/>
          <p:nvPr/>
        </p:nvSpPr>
        <p:spPr>
          <a:xfrm>
            <a:off x="9483142" y="2186471"/>
            <a:ext cx="1870770" cy="638101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/>
        </p:spPr>
      </p:sp>
      <p:sp>
        <p:nvSpPr>
          <p:cNvPr id="54" name="Shape 47"/>
          <p:cNvSpPr/>
          <p:nvPr/>
        </p:nvSpPr>
        <p:spPr>
          <a:xfrm>
            <a:off x="9483142" y="2812666"/>
            <a:ext cx="187077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5" name="Shape 48"/>
          <p:cNvSpPr/>
          <p:nvPr/>
        </p:nvSpPr>
        <p:spPr>
          <a:xfrm>
            <a:off x="9483142" y="2186471"/>
            <a:ext cx="187077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6" name="Shape 49"/>
          <p:cNvSpPr/>
          <p:nvPr/>
        </p:nvSpPr>
        <p:spPr>
          <a:xfrm>
            <a:off x="9483142" y="2186471"/>
            <a:ext cx="23813" cy="638101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7" name="Shape 50"/>
          <p:cNvSpPr/>
          <p:nvPr/>
        </p:nvSpPr>
        <p:spPr>
          <a:xfrm>
            <a:off x="11342005" y="2186471"/>
            <a:ext cx="11906" cy="638101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8" name="Shape 51"/>
          <p:cNvSpPr/>
          <p:nvPr/>
        </p:nvSpPr>
        <p:spPr>
          <a:xfrm>
            <a:off x="9630668" y="2405621"/>
            <a:ext cx="564059" cy="199802"/>
          </a:xfrm>
          <a:prstGeom prst="roundRect">
            <a:avLst>
              <a:gd name="adj" fmla="val 50000"/>
            </a:avLst>
          </a:prstGeom>
          <a:solidFill>
            <a:srgbClr val="EFF4D8"/>
          </a:solidFill>
          <a:ln/>
        </p:spPr>
      </p:sp>
      <p:sp>
        <p:nvSpPr>
          <p:cNvPr id="59" name="Text 52"/>
          <p:cNvSpPr/>
          <p:nvPr/>
        </p:nvSpPr>
        <p:spPr>
          <a:xfrm>
            <a:off x="9716393" y="2434196"/>
            <a:ext cx="468809" cy="180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8FA8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PASS</a:t>
            </a:r>
            <a:endParaRPr lang="en-US" sz="825" dirty="0"/>
          </a:p>
        </p:txBody>
      </p:sp>
      <p:sp>
        <p:nvSpPr>
          <p:cNvPr id="60" name="Text 53"/>
          <p:cNvSpPr/>
          <p:nvPr/>
        </p:nvSpPr>
        <p:spPr>
          <a:xfrm>
            <a:off x="10280303" y="2283954"/>
            <a:ext cx="1014189" cy="481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Déploiement autorisé </a:t>
            </a:r>
            <a:pPr algn="l" indent="0" marL="0">
              <a:lnSpc>
                <a:spcPct val="115000"/>
              </a:lnSpc>
              <a:buNone/>
            </a:pPr>
            <a:r>
              <a:rPr lang="en-US" sz="1013" dirty="0">
                <a:solidFill>
                  <a:srgbClr val="90909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(manuel)</a:t>
            </a:r>
            <a:endParaRPr lang="en-US" sz="1013" dirty="0"/>
          </a:p>
        </p:txBody>
      </p:sp>
      <p:sp>
        <p:nvSpPr>
          <p:cNvPr id="61" name="Shape 54"/>
          <p:cNvSpPr/>
          <p:nvPr/>
        </p:nvSpPr>
        <p:spPr>
          <a:xfrm>
            <a:off x="9483142" y="2910148"/>
            <a:ext cx="1870770" cy="490389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/>
        </p:spPr>
      </p:sp>
      <p:sp>
        <p:nvSpPr>
          <p:cNvPr id="62" name="Shape 55"/>
          <p:cNvSpPr/>
          <p:nvPr/>
        </p:nvSpPr>
        <p:spPr>
          <a:xfrm>
            <a:off x="9483142" y="3388630"/>
            <a:ext cx="187077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3" name="Shape 56"/>
          <p:cNvSpPr/>
          <p:nvPr/>
        </p:nvSpPr>
        <p:spPr>
          <a:xfrm>
            <a:off x="9483142" y="2910148"/>
            <a:ext cx="187077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4" name="Shape 57"/>
          <p:cNvSpPr/>
          <p:nvPr/>
        </p:nvSpPr>
        <p:spPr>
          <a:xfrm>
            <a:off x="9483142" y="2910148"/>
            <a:ext cx="23813" cy="490389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5" name="Shape 58"/>
          <p:cNvSpPr/>
          <p:nvPr/>
        </p:nvSpPr>
        <p:spPr>
          <a:xfrm>
            <a:off x="11342005" y="2910148"/>
            <a:ext cx="11906" cy="490389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6" name="Shape 59"/>
          <p:cNvSpPr/>
          <p:nvPr/>
        </p:nvSpPr>
        <p:spPr>
          <a:xfrm>
            <a:off x="9630668" y="3055441"/>
            <a:ext cx="571128" cy="199802"/>
          </a:xfrm>
          <a:prstGeom prst="roundRect">
            <a:avLst>
              <a:gd name="adj" fmla="val 50000"/>
            </a:avLst>
          </a:prstGeom>
          <a:solidFill>
            <a:srgbClr val="FBE7E9"/>
          </a:solidFill>
          <a:ln/>
        </p:spPr>
      </p:sp>
      <p:sp>
        <p:nvSpPr>
          <p:cNvPr id="67" name="Text 60"/>
          <p:cNvSpPr/>
          <p:nvPr/>
        </p:nvSpPr>
        <p:spPr>
          <a:xfrm>
            <a:off x="9716393" y="3084016"/>
            <a:ext cx="475878" cy="18075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DC35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✗ FAIL</a:t>
            </a:r>
            <a:endParaRPr lang="en-US" sz="825" dirty="0"/>
          </a:p>
        </p:txBody>
      </p:sp>
      <p:sp>
        <p:nvSpPr>
          <p:cNvPr id="68" name="Text 61"/>
          <p:cNvSpPr/>
          <p:nvPr/>
        </p:nvSpPr>
        <p:spPr>
          <a:xfrm>
            <a:off x="10287372" y="3007630"/>
            <a:ext cx="1007120" cy="3335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Bloqué — alerte</a:t>
            </a:r>
            <a:endParaRPr lang="en-US" sz="1013" dirty="0"/>
          </a:p>
        </p:txBody>
      </p:sp>
      <p:sp>
        <p:nvSpPr>
          <p:cNvPr id="69" name="Shape 62"/>
          <p:cNvSpPr/>
          <p:nvPr/>
        </p:nvSpPr>
        <p:spPr>
          <a:xfrm>
            <a:off x="838088" y="3571875"/>
            <a:ext cx="5181637" cy="1686223"/>
          </a:xfrm>
          <a:prstGeom prst="roundRect">
            <a:avLst>
              <a:gd name="adj" fmla="val 3389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1040495" y="3739679"/>
            <a:ext cx="133201" cy="133201"/>
          </a:xfrm>
          <a:prstGeom prst="ellipse">
            <a:avLst/>
          </a:prstGeom>
          <a:solidFill>
            <a:srgbClr val="BDD248"/>
          </a:solidFill>
          <a:ln/>
        </p:spPr>
      </p:sp>
      <p:sp>
        <p:nvSpPr>
          <p:cNvPr id="71" name="Text 64"/>
          <p:cNvSpPr/>
          <p:nvPr/>
        </p:nvSpPr>
        <p:spPr>
          <a:xfrm>
            <a:off x="1002395" y="3739679"/>
            <a:ext cx="209401" cy="171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spc="78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✓</a:t>
            </a:r>
            <a:endParaRPr lang="en-US" sz="750" dirty="0"/>
          </a:p>
        </p:txBody>
      </p:sp>
      <p:sp>
        <p:nvSpPr>
          <p:cNvPr id="72" name="Text 65"/>
          <p:cNvSpPr/>
          <p:nvPr/>
        </p:nvSpPr>
        <p:spPr>
          <a:xfrm>
            <a:off x="1259272" y="3716982"/>
            <a:ext cx="375903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FAIT</a:t>
            </a:r>
            <a:endParaRPr lang="en-US" sz="975" dirty="0"/>
          </a:p>
        </p:txBody>
      </p:sp>
      <p:sp>
        <p:nvSpPr>
          <p:cNvPr id="73" name="Text 66"/>
          <p:cNvSpPr/>
          <p:nvPr/>
        </p:nvSpPr>
        <p:spPr>
          <a:xfrm>
            <a:off x="5104061" y="3752701"/>
            <a:ext cx="789459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27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déjà en place</a:t>
            </a:r>
            <a:endParaRPr lang="en-US" sz="675" dirty="0"/>
          </a:p>
        </p:txBody>
      </p:sp>
      <p:sp>
        <p:nvSpPr>
          <p:cNvPr id="74" name="Shape 67"/>
          <p:cNvSpPr/>
          <p:nvPr/>
        </p:nvSpPr>
        <p:spPr>
          <a:xfrm>
            <a:off x="1040495" y="4009802"/>
            <a:ext cx="123713" cy="1999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5" name="Text 68"/>
          <p:cNvSpPr/>
          <p:nvPr/>
        </p:nvSpPr>
        <p:spPr>
          <a:xfrm>
            <a:off x="1278620" y="4000314"/>
            <a:ext cx="4674861" cy="403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Quality gate opérationnel </a:t>
            </a:r>
            <a:pPr algn="l" indent="0" marL="0">
              <a:lnSpc>
                <a:spcPct val="142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dans l'orchestrateur — </a:t>
            </a:r>
            <a:pPr algn="l" indent="0" marL="0">
              <a:lnSpc>
                <a:spcPct val="142000"/>
              </a:lnSpc>
              <a:buNone/>
            </a:pPr>
            <a:r>
              <a:rPr lang="en-US" sz="900" dirty="0">
                <a:solidFill>
                  <a:srgbClr val="3F3F3F"/>
                </a:solidFill>
                <a:highlight>
                  <a:srgbClr val="F2F2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exit 1 </a:t>
            </a:r>
            <a:pPr algn="l" indent="0" marL="0">
              <a:lnSpc>
                <a:spcPct val="142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si score &lt; seuil → déploiement bloqué.</a:t>
            </a:r>
            <a:endParaRPr lang="en-US" sz="1013" dirty="0"/>
          </a:p>
        </p:txBody>
      </p:sp>
      <p:sp>
        <p:nvSpPr>
          <p:cNvPr id="76" name="Shape 69"/>
          <p:cNvSpPr/>
          <p:nvPr/>
        </p:nvSpPr>
        <p:spPr>
          <a:xfrm>
            <a:off x="1040495" y="4470053"/>
            <a:ext cx="123713" cy="199988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77" name="Text 70"/>
          <p:cNvSpPr/>
          <p:nvPr/>
        </p:nvSpPr>
        <p:spPr>
          <a:xfrm>
            <a:off x="1278620" y="4460565"/>
            <a:ext cx="4674861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Structure </a:t>
            </a:r>
            <a:pPr algn="l" indent="0" marL="0">
              <a:lnSpc>
                <a:spcPct val="142000"/>
              </a:lnSpc>
              <a:buNone/>
            </a:pPr>
            <a:r>
              <a:rPr lang="en-US" sz="900" b="1" dirty="0">
                <a:solidFill>
                  <a:srgbClr val="3F3F3F"/>
                </a:solidFill>
                <a:highlight>
                  <a:srgbClr val="F2F2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.gitlab-ci.yml </a:t>
            </a:r>
            <a:pPr algn="l" indent="0" marL="0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écrite </a:t>
            </a:r>
            <a:pPr algn="l" indent="0" marL="0">
              <a:lnSpc>
                <a:spcPct val="142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— 2 pipelines : code rapide + ML complet.</a:t>
            </a:r>
            <a:endParaRPr lang="en-US" sz="1013" dirty="0"/>
          </a:p>
        </p:txBody>
      </p:sp>
      <p:sp>
        <p:nvSpPr>
          <p:cNvPr id="78" name="Shape 71"/>
          <p:cNvSpPr/>
          <p:nvPr/>
        </p:nvSpPr>
        <p:spPr>
          <a:xfrm>
            <a:off x="6172088" y="3571875"/>
            <a:ext cx="5181823" cy="1686223"/>
          </a:xfrm>
          <a:prstGeom prst="roundRect">
            <a:avLst>
              <a:gd name="adj" fmla="val 3389"/>
            </a:avLst>
          </a:prstGeom>
          <a:solidFill>
            <a:srgbClr val="F4F4F4"/>
          </a:solidFill>
          <a:ln/>
        </p:spPr>
      </p:sp>
      <p:sp>
        <p:nvSpPr>
          <p:cNvPr id="79" name="Shape 72"/>
          <p:cNvSpPr/>
          <p:nvPr/>
        </p:nvSpPr>
        <p:spPr>
          <a:xfrm>
            <a:off x="6172088" y="5246191"/>
            <a:ext cx="5181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0" name="Shape 73"/>
          <p:cNvSpPr/>
          <p:nvPr/>
        </p:nvSpPr>
        <p:spPr>
          <a:xfrm>
            <a:off x="6172088" y="3571875"/>
            <a:ext cx="5181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1" name="Shape 74"/>
          <p:cNvSpPr/>
          <p:nvPr/>
        </p:nvSpPr>
        <p:spPr>
          <a:xfrm>
            <a:off x="6172088" y="3571875"/>
            <a:ext cx="23813" cy="1686223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82" name="Shape 75"/>
          <p:cNvSpPr/>
          <p:nvPr/>
        </p:nvSpPr>
        <p:spPr>
          <a:xfrm>
            <a:off x="11342005" y="3571875"/>
            <a:ext cx="11906" cy="1686223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3" name="Shape 76"/>
          <p:cNvSpPr/>
          <p:nvPr/>
        </p:nvSpPr>
        <p:spPr>
          <a:xfrm>
            <a:off x="6386401" y="3744330"/>
            <a:ext cx="123713" cy="123713"/>
          </a:xfrm>
          <a:prstGeom prst="ellipse">
            <a:avLst/>
          </a:prstGeom>
          <a:ln w="11906">
            <a:solidFill>
              <a:srgbClr val="525252"/>
            </a:solidFill>
            <a:prstDash val="dash"/>
          </a:ln>
        </p:spPr>
      </p:sp>
      <p:sp>
        <p:nvSpPr>
          <p:cNvPr id="84" name="Text 77"/>
          <p:cNvSpPr/>
          <p:nvPr/>
        </p:nvSpPr>
        <p:spPr>
          <a:xfrm>
            <a:off x="6595690" y="3716982"/>
            <a:ext cx="78387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78" kern="0" dirty="0">
                <a:solidFill>
                  <a:srgbClr val="52525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ROADMAP</a:t>
            </a:r>
            <a:endParaRPr lang="en-US" sz="975" dirty="0"/>
          </a:p>
        </p:txBody>
      </p:sp>
      <p:sp>
        <p:nvSpPr>
          <p:cNvPr id="85" name="Text 78"/>
          <p:cNvSpPr/>
          <p:nvPr/>
        </p:nvSpPr>
        <p:spPr>
          <a:xfrm>
            <a:off x="10438247" y="3752701"/>
            <a:ext cx="789459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27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à automatiser</a:t>
            </a:r>
            <a:endParaRPr lang="en-US" sz="675" dirty="0"/>
          </a:p>
        </p:txBody>
      </p:sp>
      <p:sp>
        <p:nvSpPr>
          <p:cNvPr id="86" name="Shape 79"/>
          <p:cNvSpPr/>
          <p:nvPr/>
        </p:nvSpPr>
        <p:spPr>
          <a:xfrm>
            <a:off x="6386401" y="4038265"/>
            <a:ext cx="104738" cy="104738"/>
          </a:xfrm>
          <a:prstGeom prst="ellipse">
            <a:avLst/>
          </a:prstGeom>
          <a:ln w="11906">
            <a:solidFill>
              <a:srgbClr val="525252"/>
            </a:solidFill>
            <a:prstDash val="dash"/>
          </a:ln>
        </p:spPr>
      </p:sp>
      <p:sp>
        <p:nvSpPr>
          <p:cNvPr id="87" name="Text 80"/>
          <p:cNvSpPr/>
          <p:nvPr/>
        </p:nvSpPr>
        <p:spPr>
          <a:xfrm>
            <a:off x="6624526" y="4000314"/>
            <a:ext cx="4979677" cy="22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Écrire les tests </a:t>
            </a:r>
            <a:pPr algn="l" indent="0" marL="0">
              <a:lnSpc>
                <a:spcPct val="142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unitaires &amp; intégration (</a:t>
            </a:r>
            <a:pPr algn="l" indent="0" marL="0">
              <a:lnSpc>
                <a:spcPct val="142000"/>
              </a:lnSpc>
              <a:buNone/>
            </a:pPr>
            <a:r>
              <a:rPr lang="en-US" sz="900" dirty="0">
                <a:solidFill>
                  <a:srgbClr val="3F3F3F"/>
                </a:solidFill>
                <a:highlight>
                  <a:srgbClr val="F2F2F2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pytest</a:t>
            </a:r>
            <a:pPr algn="l" indent="0" marL="0">
              <a:lnSpc>
                <a:spcPct val="142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).</a:t>
            </a:r>
            <a:endParaRPr lang="en-US" sz="1013" dirty="0"/>
          </a:p>
        </p:txBody>
      </p:sp>
      <p:sp>
        <p:nvSpPr>
          <p:cNvPr id="88" name="Shape 81"/>
          <p:cNvSpPr/>
          <p:nvPr/>
        </p:nvSpPr>
        <p:spPr>
          <a:xfrm>
            <a:off x="6386401" y="4316016"/>
            <a:ext cx="104738" cy="104738"/>
          </a:xfrm>
          <a:prstGeom prst="ellipse">
            <a:avLst/>
          </a:prstGeom>
          <a:ln w="11906">
            <a:solidFill>
              <a:srgbClr val="525252"/>
            </a:solidFill>
            <a:prstDash val="dash"/>
          </a:ln>
        </p:spPr>
      </p:sp>
      <p:sp>
        <p:nvSpPr>
          <p:cNvPr id="89" name="Text 82"/>
          <p:cNvSpPr/>
          <p:nvPr/>
        </p:nvSpPr>
        <p:spPr>
          <a:xfrm>
            <a:off x="6624526" y="4278064"/>
            <a:ext cx="4662789" cy="403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Valider sur un runner CI </a:t>
            </a:r>
            <a:pPr algn="l" indent="0" marL="0">
              <a:lnSpc>
                <a:spcPct val="142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— contrainte : temps de run du pipeline ML en environnement isolé.</a:t>
            </a:r>
            <a:endParaRPr lang="en-US" sz="1013" dirty="0"/>
          </a:p>
        </p:txBody>
      </p:sp>
      <p:sp>
        <p:nvSpPr>
          <p:cNvPr id="90" name="Shape 83"/>
          <p:cNvSpPr/>
          <p:nvPr/>
        </p:nvSpPr>
        <p:spPr>
          <a:xfrm>
            <a:off x="6386401" y="4776267"/>
            <a:ext cx="104738" cy="104738"/>
          </a:xfrm>
          <a:prstGeom prst="ellipse">
            <a:avLst/>
          </a:prstGeom>
          <a:ln w="11906">
            <a:solidFill>
              <a:srgbClr val="525252"/>
            </a:solidFill>
            <a:prstDash val="dash"/>
          </a:ln>
        </p:spPr>
      </p:sp>
      <p:sp>
        <p:nvSpPr>
          <p:cNvPr id="91" name="Text 84"/>
          <p:cNvSpPr/>
          <p:nvPr/>
        </p:nvSpPr>
        <p:spPr>
          <a:xfrm>
            <a:off x="6624526" y="4738315"/>
            <a:ext cx="4662789" cy="403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013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déploiement (CD) reste manuel </a:t>
            </a:r>
            <a:pPr algn="l" indent="0" marL="0">
              <a:lnSpc>
                <a:spcPct val="142000"/>
              </a:lnSpc>
              <a:buNone/>
            </a:pPr>
            <a:r>
              <a:rPr lang="en-US" sz="1013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— conçu comme perspective, non automatisé.</a:t>
            </a:r>
            <a:endParaRPr lang="en-US" sz="1013" dirty="0"/>
          </a:p>
        </p:txBody>
      </p:sp>
      <p:sp>
        <p:nvSpPr>
          <p:cNvPr id="92" name="Shape 85"/>
          <p:cNvSpPr/>
          <p:nvPr/>
        </p:nvSpPr>
        <p:spPr>
          <a:xfrm>
            <a:off x="838088" y="5391299"/>
            <a:ext cx="10515823" cy="689074"/>
          </a:xfrm>
          <a:prstGeom prst="roundRect">
            <a:avLst>
              <a:gd name="adj" fmla="val 8294"/>
            </a:avLst>
          </a:prstGeom>
          <a:solidFill>
            <a:srgbClr val="2A2A2A"/>
          </a:solidFill>
          <a:ln/>
        </p:spPr>
      </p:sp>
      <p:sp>
        <p:nvSpPr>
          <p:cNvPr id="93" name="Shape 86"/>
          <p:cNvSpPr/>
          <p:nvPr/>
        </p:nvSpPr>
        <p:spPr>
          <a:xfrm>
            <a:off x="1047564" y="5515012"/>
            <a:ext cx="37951" cy="441647"/>
          </a:xfrm>
          <a:prstGeom prst="roundRect">
            <a:avLst>
              <a:gd name="adj" fmla="val 50000"/>
            </a:avLst>
          </a:prstGeom>
          <a:solidFill>
            <a:srgbClr val="BDD248"/>
          </a:solidFill>
          <a:ln/>
        </p:spPr>
      </p:sp>
      <p:sp>
        <p:nvSpPr>
          <p:cNvPr id="94" name="Text 87"/>
          <p:cNvSpPr/>
          <p:nvPr/>
        </p:nvSpPr>
        <p:spPr>
          <a:xfrm>
            <a:off x="1237878" y="5515012"/>
            <a:ext cx="10203755" cy="47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Automatiser la CI/CT = priorité n°1 de la roadmap. </a:t>
            </a:r>
            <a:pPr algn="l" indent="0" marL="0">
              <a:lnSpc>
                <a:spcPct val="145000"/>
              </a:lnSpc>
              <a:buNone/>
            </a:pPr>
            <a:r>
              <a:rPr lang="en-US" sz="1200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La mécanique de qualité existe déjà ; il reste à la lancer sur un runner. Le déploiement, lui, reste une décision manuelle.</a:t>
            </a:r>
            <a:endParaRPr lang="en-US" sz="1200" dirty="0"/>
          </a:p>
        </p:txBody>
      </p:sp>
      <p:sp>
        <p:nvSpPr>
          <p:cNvPr id="95" name="Text 88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96" name="Image 5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97" name="Text 89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10394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RÉSULTATS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19014"/>
            <a:ext cx="11567406" cy="442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2700" b="1" spc="-54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La plateforme </a:t>
            </a:r>
            <a:pPr algn="l" indent="0" marL="0">
              <a:lnSpc>
                <a:spcPct val="118000"/>
              </a:lnSpc>
              <a:buNone/>
            </a:pPr>
            <a:r>
              <a:rPr lang="en-US" sz="2700" b="1" spc="-54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 chiffres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38088" y="1428192"/>
            <a:ext cx="11567406" cy="251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Ce n'est pas une promesse :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voici ce que la plateforme fait, mesuré.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38088" y="1860352"/>
            <a:ext cx="5210287" cy="2082664"/>
          </a:xfrm>
          <a:prstGeom prst="roundRect">
            <a:avLst>
              <a:gd name="adj" fmla="val 2744"/>
            </a:avLst>
          </a:prstGeom>
          <a:solidFill>
            <a:srgbClr val="F4F4F4"/>
          </a:solidFill>
          <a:ln/>
        </p:spPr>
      </p:sp>
      <p:sp>
        <p:nvSpPr>
          <p:cNvPr id="8" name="Shape 5"/>
          <p:cNvSpPr/>
          <p:nvPr/>
        </p:nvSpPr>
        <p:spPr>
          <a:xfrm>
            <a:off x="838088" y="3931109"/>
            <a:ext cx="52102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Shape 6"/>
          <p:cNvSpPr/>
          <p:nvPr/>
        </p:nvSpPr>
        <p:spPr>
          <a:xfrm>
            <a:off x="838088" y="1860352"/>
            <a:ext cx="52102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0" name="Shape 7"/>
          <p:cNvSpPr/>
          <p:nvPr/>
        </p:nvSpPr>
        <p:spPr>
          <a:xfrm>
            <a:off x="838088" y="1860352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8"/>
          <p:cNvSpPr/>
          <p:nvPr/>
        </p:nvSpPr>
        <p:spPr>
          <a:xfrm>
            <a:off x="6036469" y="1860352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Shape 9"/>
          <p:cNvSpPr/>
          <p:nvPr/>
        </p:nvSpPr>
        <p:spPr>
          <a:xfrm>
            <a:off x="1021333" y="2035225"/>
            <a:ext cx="76088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3" name="Text 10"/>
          <p:cNvSpPr/>
          <p:nvPr/>
        </p:nvSpPr>
        <p:spPr>
          <a:xfrm>
            <a:off x="1182998" y="2007877"/>
            <a:ext cx="2037197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9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GÉNÉRICITÉ &amp; EXTENSIBILITÉ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021333" y="2291209"/>
            <a:ext cx="1172877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75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1021333" y="2681697"/>
            <a:ext cx="1172877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phases </a:t>
            </a:r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(contrat universel)</a:t>
            </a:r>
            <a:endParaRPr lang="en-US" sz="788" dirty="0"/>
          </a:p>
        </p:txBody>
      </p:sp>
      <p:sp>
        <p:nvSpPr>
          <p:cNvPr id="16" name="Text 13"/>
          <p:cNvSpPr/>
          <p:nvPr/>
        </p:nvSpPr>
        <p:spPr>
          <a:xfrm>
            <a:off x="2270373" y="2291209"/>
            <a:ext cx="1172877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75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8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2270373" y="2681697"/>
            <a:ext cx="1172877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catégories de composants</a:t>
            </a:r>
            <a:endParaRPr lang="en-US" sz="788" dirty="0"/>
          </a:p>
        </p:txBody>
      </p:sp>
      <p:sp>
        <p:nvSpPr>
          <p:cNvPr id="18" name="Text 15"/>
          <p:cNvSpPr/>
          <p:nvPr/>
        </p:nvSpPr>
        <p:spPr>
          <a:xfrm>
            <a:off x="3519413" y="2291209"/>
            <a:ext cx="1172877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75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3519413" y="2681697"/>
            <a:ext cx="1172877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 stores intégrés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4768453" y="2291209"/>
            <a:ext cx="1172877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spc="-75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+</a:t>
            </a:r>
            <a:pPr algn="l" indent="0" marL="0">
              <a:lnSpc>
                <a:spcPct val="90000"/>
              </a:lnSpc>
              <a:buNone/>
            </a:pPr>
            <a:r>
              <a:rPr lang="en-US" sz="3000" b="1" spc="-75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4768453" y="2681697"/>
            <a:ext cx="1172877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ligne pour ajouter un composant</a:t>
            </a:r>
            <a:endParaRPr lang="en-US" sz="788" dirty="0"/>
          </a:p>
        </p:txBody>
      </p:sp>
      <p:sp>
        <p:nvSpPr>
          <p:cNvPr id="22" name="Shape 19"/>
          <p:cNvSpPr/>
          <p:nvPr/>
        </p:nvSpPr>
        <p:spPr>
          <a:xfrm>
            <a:off x="6143625" y="1860352"/>
            <a:ext cx="5210287" cy="2082664"/>
          </a:xfrm>
          <a:prstGeom prst="roundRect">
            <a:avLst>
              <a:gd name="adj" fmla="val 2744"/>
            </a:avLst>
          </a:prstGeom>
          <a:solidFill>
            <a:srgbClr val="F4F4F4"/>
          </a:solidFill>
          <a:ln/>
        </p:spPr>
      </p:sp>
      <p:sp>
        <p:nvSpPr>
          <p:cNvPr id="23" name="Shape 20"/>
          <p:cNvSpPr/>
          <p:nvPr/>
        </p:nvSpPr>
        <p:spPr>
          <a:xfrm>
            <a:off x="6143625" y="3931109"/>
            <a:ext cx="52102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4" name="Shape 21"/>
          <p:cNvSpPr/>
          <p:nvPr/>
        </p:nvSpPr>
        <p:spPr>
          <a:xfrm>
            <a:off x="6143625" y="1860352"/>
            <a:ext cx="52102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5" name="Shape 22"/>
          <p:cNvSpPr/>
          <p:nvPr/>
        </p:nvSpPr>
        <p:spPr>
          <a:xfrm>
            <a:off x="6143625" y="1860352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6" name="Shape 23"/>
          <p:cNvSpPr/>
          <p:nvPr/>
        </p:nvSpPr>
        <p:spPr>
          <a:xfrm>
            <a:off x="11342005" y="1860352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Shape 24"/>
          <p:cNvSpPr/>
          <p:nvPr/>
        </p:nvSpPr>
        <p:spPr>
          <a:xfrm>
            <a:off x="6326870" y="2035225"/>
            <a:ext cx="76088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28" name="Text 25"/>
          <p:cNvSpPr/>
          <p:nvPr/>
        </p:nvSpPr>
        <p:spPr>
          <a:xfrm>
            <a:off x="6488534" y="2007877"/>
            <a:ext cx="132970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9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REPRODUCTIBILITÉ</a:t>
            </a:r>
            <a:endParaRPr lang="en-US" sz="975" dirty="0"/>
          </a:p>
        </p:txBody>
      </p:sp>
      <p:sp>
        <p:nvSpPr>
          <p:cNvPr id="29" name="Text 26"/>
          <p:cNvSpPr/>
          <p:nvPr/>
        </p:nvSpPr>
        <p:spPr>
          <a:xfrm>
            <a:off x="7827615" y="2037643"/>
            <a:ext cx="56398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MLflow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326870" y="2291209"/>
            <a:ext cx="1664326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75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17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6326870" y="2681697"/>
            <a:ext cx="1589224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params trackés </a:t>
            </a:r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(vs 80 avant)</a:t>
            </a:r>
            <a:endParaRPr lang="en-US" sz="788" dirty="0"/>
          </a:p>
        </p:txBody>
      </p:sp>
      <p:sp>
        <p:nvSpPr>
          <p:cNvPr id="32" name="Text 29"/>
          <p:cNvSpPr/>
          <p:nvPr/>
        </p:nvSpPr>
        <p:spPr>
          <a:xfrm>
            <a:off x="7992256" y="2291209"/>
            <a:ext cx="1664326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75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215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7992256" y="2681697"/>
            <a:ext cx="1589224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packages capturés </a:t>
            </a:r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(env déterministe)</a:t>
            </a:r>
            <a:endParaRPr lang="en-US" sz="788" dirty="0"/>
          </a:p>
        </p:txBody>
      </p:sp>
      <p:sp>
        <p:nvSpPr>
          <p:cNvPr id="34" name="Text 31"/>
          <p:cNvSpPr/>
          <p:nvPr/>
        </p:nvSpPr>
        <p:spPr>
          <a:xfrm>
            <a:off x="9657643" y="2291209"/>
            <a:ext cx="1664326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75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9657643" y="2681697"/>
            <a:ext cx="1589224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expériences séparées </a:t>
            </a:r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(pipeline · prod)</a:t>
            </a:r>
            <a:endParaRPr lang="en-US" sz="788" dirty="0"/>
          </a:p>
        </p:txBody>
      </p:sp>
      <p:sp>
        <p:nvSpPr>
          <p:cNvPr id="36" name="Shape 33"/>
          <p:cNvSpPr/>
          <p:nvPr/>
        </p:nvSpPr>
        <p:spPr>
          <a:xfrm>
            <a:off x="838088" y="4038265"/>
            <a:ext cx="5210287" cy="2082664"/>
          </a:xfrm>
          <a:prstGeom prst="roundRect">
            <a:avLst>
              <a:gd name="adj" fmla="val 2744"/>
            </a:avLst>
          </a:prstGeom>
          <a:solidFill>
            <a:srgbClr val="F4F4F4"/>
          </a:solidFill>
          <a:ln/>
        </p:spPr>
      </p:sp>
      <p:sp>
        <p:nvSpPr>
          <p:cNvPr id="37" name="Shape 34"/>
          <p:cNvSpPr/>
          <p:nvPr/>
        </p:nvSpPr>
        <p:spPr>
          <a:xfrm>
            <a:off x="838088" y="6109022"/>
            <a:ext cx="52102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8" name="Shape 35"/>
          <p:cNvSpPr/>
          <p:nvPr/>
        </p:nvSpPr>
        <p:spPr>
          <a:xfrm>
            <a:off x="838088" y="4038265"/>
            <a:ext cx="52102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9" name="Shape 36"/>
          <p:cNvSpPr/>
          <p:nvPr/>
        </p:nvSpPr>
        <p:spPr>
          <a:xfrm>
            <a:off x="838088" y="4038265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0" name="Shape 37"/>
          <p:cNvSpPr/>
          <p:nvPr/>
        </p:nvSpPr>
        <p:spPr>
          <a:xfrm>
            <a:off x="6036469" y="4038265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1" name="Shape 38"/>
          <p:cNvSpPr/>
          <p:nvPr/>
        </p:nvSpPr>
        <p:spPr>
          <a:xfrm>
            <a:off x="1021333" y="4213138"/>
            <a:ext cx="76088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42" name="Text 39"/>
          <p:cNvSpPr/>
          <p:nvPr/>
        </p:nvSpPr>
        <p:spPr>
          <a:xfrm>
            <a:off x="1182998" y="4185791"/>
            <a:ext cx="1113532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9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OBSERVABILITÉ</a:t>
            </a:r>
            <a:endParaRPr lang="en-US" sz="975" dirty="0"/>
          </a:p>
        </p:txBody>
      </p:sp>
      <p:sp>
        <p:nvSpPr>
          <p:cNvPr id="43" name="Text 40"/>
          <p:cNvSpPr/>
          <p:nvPr/>
        </p:nvSpPr>
        <p:spPr>
          <a:xfrm>
            <a:off x="2305906" y="4215557"/>
            <a:ext cx="807876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monitoring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1021333" y="4469123"/>
            <a:ext cx="1664326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75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12</a:t>
            </a:r>
            <a:endParaRPr lang="en-US" sz="3000" dirty="0"/>
          </a:p>
        </p:txBody>
      </p:sp>
      <p:sp>
        <p:nvSpPr>
          <p:cNvPr id="45" name="Text 42"/>
          <p:cNvSpPr/>
          <p:nvPr/>
        </p:nvSpPr>
        <p:spPr>
          <a:xfrm>
            <a:off x="1021333" y="4859610"/>
            <a:ext cx="1664326" cy="178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métriques métier RAG</a:t>
            </a:r>
            <a:endParaRPr lang="en-US" sz="788" dirty="0"/>
          </a:p>
        </p:txBody>
      </p:sp>
      <p:sp>
        <p:nvSpPr>
          <p:cNvPr id="46" name="Text 43"/>
          <p:cNvSpPr/>
          <p:nvPr/>
        </p:nvSpPr>
        <p:spPr>
          <a:xfrm>
            <a:off x="2686720" y="4469123"/>
            <a:ext cx="1664326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75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23</a:t>
            </a:r>
            <a:endParaRPr lang="en-US" sz="3000" dirty="0"/>
          </a:p>
        </p:txBody>
      </p:sp>
      <p:sp>
        <p:nvSpPr>
          <p:cNvPr id="47" name="Text 44"/>
          <p:cNvSpPr/>
          <p:nvPr/>
        </p:nvSpPr>
        <p:spPr>
          <a:xfrm>
            <a:off x="2686720" y="4859610"/>
            <a:ext cx="1589224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panels Grafana </a:t>
            </a:r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(8 rangées)</a:t>
            </a:r>
            <a:endParaRPr lang="en-US" sz="788" dirty="0"/>
          </a:p>
        </p:txBody>
      </p:sp>
      <p:sp>
        <p:nvSpPr>
          <p:cNvPr id="48" name="Text 45"/>
          <p:cNvSpPr/>
          <p:nvPr/>
        </p:nvSpPr>
        <p:spPr>
          <a:xfrm>
            <a:off x="4352106" y="4469123"/>
            <a:ext cx="1664326" cy="380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spc="-75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8</a:t>
            </a:r>
            <a:endParaRPr lang="en-US" sz="3000" dirty="0"/>
          </a:p>
        </p:txBody>
      </p:sp>
      <p:sp>
        <p:nvSpPr>
          <p:cNvPr id="49" name="Text 46"/>
          <p:cNvSpPr/>
          <p:nvPr/>
        </p:nvSpPr>
        <p:spPr>
          <a:xfrm>
            <a:off x="4352106" y="4859610"/>
            <a:ext cx="1664326" cy="178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alertes automatiques</a:t>
            </a:r>
            <a:endParaRPr lang="en-US" sz="788" dirty="0"/>
          </a:p>
        </p:txBody>
      </p:sp>
      <p:sp>
        <p:nvSpPr>
          <p:cNvPr id="50" name="Shape 47"/>
          <p:cNvSpPr/>
          <p:nvPr/>
        </p:nvSpPr>
        <p:spPr>
          <a:xfrm>
            <a:off x="6143625" y="4038265"/>
            <a:ext cx="5210287" cy="2082664"/>
          </a:xfrm>
          <a:prstGeom prst="roundRect">
            <a:avLst>
              <a:gd name="adj" fmla="val 2744"/>
            </a:avLst>
          </a:prstGeom>
          <a:solidFill>
            <a:srgbClr val="F4F4F4"/>
          </a:solidFill>
          <a:ln/>
        </p:spPr>
      </p:sp>
      <p:sp>
        <p:nvSpPr>
          <p:cNvPr id="51" name="Shape 48"/>
          <p:cNvSpPr/>
          <p:nvPr/>
        </p:nvSpPr>
        <p:spPr>
          <a:xfrm>
            <a:off x="6143625" y="6109022"/>
            <a:ext cx="521028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2" name="Shape 49"/>
          <p:cNvSpPr/>
          <p:nvPr/>
        </p:nvSpPr>
        <p:spPr>
          <a:xfrm>
            <a:off x="6143625" y="4038265"/>
            <a:ext cx="5210287" cy="238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3" name="Shape 50"/>
          <p:cNvSpPr/>
          <p:nvPr/>
        </p:nvSpPr>
        <p:spPr>
          <a:xfrm>
            <a:off x="6143625" y="4038265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4" name="Shape 51"/>
          <p:cNvSpPr/>
          <p:nvPr/>
        </p:nvSpPr>
        <p:spPr>
          <a:xfrm>
            <a:off x="11342005" y="4038265"/>
            <a:ext cx="11906" cy="2082664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55" name="Shape 52"/>
          <p:cNvSpPr/>
          <p:nvPr/>
        </p:nvSpPr>
        <p:spPr>
          <a:xfrm>
            <a:off x="6326870" y="4213138"/>
            <a:ext cx="76088" cy="123713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56" name="Text 53"/>
          <p:cNvSpPr/>
          <p:nvPr/>
        </p:nvSpPr>
        <p:spPr>
          <a:xfrm>
            <a:off x="6488534" y="4185791"/>
            <a:ext cx="1850789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9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PERFORMANCE &amp; QUALITÉ</a:t>
            </a:r>
            <a:endParaRPr lang="en-US" sz="975" dirty="0"/>
          </a:p>
        </p:txBody>
      </p:sp>
      <p:sp>
        <p:nvSpPr>
          <p:cNvPr id="57" name="Text 54"/>
          <p:cNvSpPr/>
          <p:nvPr/>
        </p:nvSpPr>
        <p:spPr>
          <a:xfrm>
            <a:off x="6326870" y="4469123"/>
            <a:ext cx="1664326" cy="3210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spc="-62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~</a:t>
            </a:r>
            <a:pPr algn="l" indent="0" marL="0">
              <a:lnSpc>
                <a:spcPct val="90000"/>
              </a:lnSpc>
              <a:buNone/>
            </a:pPr>
            <a:r>
              <a:rPr lang="en-US" sz="2475" b="1" spc="-62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250</a:t>
            </a:r>
            <a:pPr algn="l" indent="0" marL="0">
              <a:lnSpc>
                <a:spcPct val="90000"/>
              </a:lnSpc>
              <a:buNone/>
            </a:pPr>
            <a:r>
              <a:rPr lang="en-US" sz="1125" b="1" spc="-62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ms</a:t>
            </a:r>
            <a:endParaRPr lang="en-US" sz="2475" dirty="0"/>
          </a:p>
        </p:txBody>
      </p:sp>
      <p:sp>
        <p:nvSpPr>
          <p:cNvPr id="58" name="Text 55"/>
          <p:cNvSpPr/>
          <p:nvPr/>
        </p:nvSpPr>
        <p:spPr>
          <a:xfrm>
            <a:off x="6326870" y="4799707"/>
            <a:ext cx="1664326" cy="178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latence retrieval </a:t>
            </a:r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(P95)</a:t>
            </a:r>
            <a:endParaRPr lang="en-US" sz="788" dirty="0"/>
          </a:p>
        </p:txBody>
      </p:sp>
      <p:sp>
        <p:nvSpPr>
          <p:cNvPr id="59" name="Text 56"/>
          <p:cNvSpPr/>
          <p:nvPr/>
        </p:nvSpPr>
        <p:spPr>
          <a:xfrm>
            <a:off x="7992256" y="4469123"/>
            <a:ext cx="1664326" cy="3210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b="1" spc="-62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~</a:t>
            </a:r>
            <a:pPr algn="l" indent="0" marL="0">
              <a:lnSpc>
                <a:spcPct val="90000"/>
              </a:lnSpc>
              <a:buNone/>
            </a:pPr>
            <a:r>
              <a:rPr lang="en-US" sz="2475" b="1" spc="-62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25-30</a:t>
            </a:r>
            <a:pPr algn="l" indent="0" marL="0">
              <a:lnSpc>
                <a:spcPct val="90000"/>
              </a:lnSpc>
              <a:buNone/>
            </a:pPr>
            <a:r>
              <a:rPr lang="en-US" sz="1125" b="1" spc="-62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</a:t>
            </a:r>
            <a:endParaRPr lang="en-US" sz="2475" dirty="0"/>
          </a:p>
        </p:txBody>
      </p:sp>
      <p:sp>
        <p:nvSpPr>
          <p:cNvPr id="60" name="Text 57"/>
          <p:cNvSpPr/>
          <p:nvPr/>
        </p:nvSpPr>
        <p:spPr>
          <a:xfrm>
            <a:off x="7992256" y="4799707"/>
            <a:ext cx="1664326" cy="178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latence génération </a:t>
            </a:r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(CPU)</a:t>
            </a:r>
            <a:endParaRPr lang="en-US" sz="788" dirty="0"/>
          </a:p>
        </p:txBody>
      </p:sp>
      <p:sp>
        <p:nvSpPr>
          <p:cNvPr id="61" name="Text 58"/>
          <p:cNvSpPr/>
          <p:nvPr/>
        </p:nvSpPr>
        <p:spPr>
          <a:xfrm>
            <a:off x="9657643" y="4469123"/>
            <a:ext cx="1664326" cy="32105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75" b="1" spc="-62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1.0</a:t>
            </a:r>
            <a:endParaRPr lang="en-US" sz="2475" dirty="0"/>
          </a:p>
        </p:txBody>
      </p:sp>
      <p:sp>
        <p:nvSpPr>
          <p:cNvPr id="62" name="Text 59"/>
          <p:cNvSpPr/>
          <p:nvPr/>
        </p:nvSpPr>
        <p:spPr>
          <a:xfrm>
            <a:off x="9657643" y="4799707"/>
            <a:ext cx="1589224" cy="318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5252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faithfulness </a:t>
            </a:r>
            <a:pPr algn="l" indent="0" marL="0">
              <a:lnSpc>
                <a:spcPct val="140000"/>
              </a:lnSpc>
              <a:buNone/>
            </a:pPr>
            <a:r>
              <a:rPr lang="en-US" sz="788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(1er run, jeu d'éval)</a:t>
            </a:r>
            <a:endParaRPr lang="en-US" sz="788" dirty="0"/>
          </a:p>
        </p:txBody>
      </p:sp>
      <p:sp>
        <p:nvSpPr>
          <p:cNvPr id="63" name="Shape 60"/>
          <p:cNvSpPr/>
          <p:nvPr/>
        </p:nvSpPr>
        <p:spPr>
          <a:xfrm>
            <a:off x="6326870" y="5682444"/>
            <a:ext cx="4843797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64" name="Shape 61"/>
          <p:cNvSpPr/>
          <p:nvPr/>
        </p:nvSpPr>
        <p:spPr>
          <a:xfrm>
            <a:off x="6326870" y="5830342"/>
            <a:ext cx="123713" cy="123713"/>
          </a:xfrm>
          <a:prstGeom prst="ellipse">
            <a:avLst/>
          </a:prstGeom>
          <a:solidFill>
            <a:srgbClr val="BDD248"/>
          </a:solidFill>
          <a:ln/>
        </p:spPr>
      </p:sp>
      <p:sp>
        <p:nvSpPr>
          <p:cNvPr id="65" name="Text 62"/>
          <p:cNvSpPr/>
          <p:nvPr/>
        </p:nvSpPr>
        <p:spPr>
          <a:xfrm>
            <a:off x="6288770" y="5830342"/>
            <a:ext cx="199913" cy="16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675" b="1" dirty="0">
                <a:solidFill>
                  <a:srgbClr val="2A2A2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✓</a:t>
            </a:r>
            <a:endParaRPr lang="en-US" sz="675" dirty="0"/>
          </a:p>
        </p:txBody>
      </p:sp>
      <p:sp>
        <p:nvSpPr>
          <p:cNvPr id="66" name="Text 63"/>
          <p:cNvSpPr/>
          <p:nvPr/>
        </p:nvSpPr>
        <p:spPr>
          <a:xfrm>
            <a:off x="6545833" y="5808576"/>
            <a:ext cx="4135952" cy="205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RAGAS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+ </a:t>
            </a:r>
            <a:pPr algn="l" indent="0" marL="0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8FA82E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quality gate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975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answer_relevancy plus fragile (juge léger)</a:t>
            </a:r>
            <a:endParaRPr lang="en-US" sz="975" dirty="0"/>
          </a:p>
        </p:txBody>
      </p:sp>
      <p:sp>
        <p:nvSpPr>
          <p:cNvPr id="67" name="Text 64"/>
          <p:cNvSpPr/>
          <p:nvPr/>
        </p:nvSpPr>
        <p:spPr>
          <a:xfrm>
            <a:off x="838088" y="6168554"/>
            <a:ext cx="11567406" cy="184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Chiffres mesurés sur la stack locale (CPU). RAG = use case de référence.</a:t>
            </a:r>
            <a:endParaRPr lang="en-US" sz="825" dirty="0"/>
          </a:p>
        </p:txBody>
      </p:sp>
      <p:sp>
        <p:nvSpPr>
          <p:cNvPr id="68" name="Text 65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69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70" name="Text 66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105790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INTERFACE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Une interface, </a:t>
            </a:r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deux audiences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809750" y="1577764"/>
            <a:ext cx="4076774" cy="2123777"/>
          </a:xfrm>
          <a:prstGeom prst="roundRect">
            <a:avLst>
              <a:gd name="adj" fmla="val 2691"/>
            </a:avLst>
          </a:prstGeom>
          <a:solidFill>
            <a:srgbClr val="F4F4F4"/>
          </a:solidFill>
          <a:ln/>
          <a:effectLst>
            <a:outerShdw sx="100000" sy="100000" kx="0" ky="0" algn="bl" rotWithShape="0" blurRad="76200" dist="19050" dir="5400000">
              <a:srgbClr val="2A2A2A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09750" y="3689635"/>
            <a:ext cx="407677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8" name="Shape 5"/>
          <p:cNvSpPr/>
          <p:nvPr/>
        </p:nvSpPr>
        <p:spPr>
          <a:xfrm>
            <a:off x="1809750" y="1577764"/>
            <a:ext cx="4076774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1809750" y="1577764"/>
            <a:ext cx="11906" cy="212377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Shape 7"/>
          <p:cNvSpPr/>
          <p:nvPr/>
        </p:nvSpPr>
        <p:spPr>
          <a:xfrm>
            <a:off x="5874618" y="1577764"/>
            <a:ext cx="11906" cy="212377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1" name="Shape 8"/>
          <p:cNvSpPr/>
          <p:nvPr/>
        </p:nvSpPr>
        <p:spPr>
          <a:xfrm>
            <a:off x="2050107" y="1803983"/>
            <a:ext cx="457088" cy="457088"/>
          </a:xfrm>
          <a:prstGeom prst="roundRect">
            <a:avLst>
              <a:gd name="adj" fmla="val 25006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23914" y="1815889"/>
            <a:ext cx="509476" cy="471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👤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2640397" y="1820540"/>
            <a:ext cx="1620106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Non-développeur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640397" y="2107406"/>
            <a:ext cx="1698296" cy="139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13" spc="86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UTILISATEUR MÉTIER</a:t>
            </a:r>
            <a:endParaRPr lang="en-US" sz="713" dirty="0"/>
          </a:p>
        </p:txBody>
      </p:sp>
      <p:sp>
        <p:nvSpPr>
          <p:cNvPr id="15" name="Shape 12"/>
          <p:cNvSpPr/>
          <p:nvPr/>
        </p:nvSpPr>
        <p:spPr>
          <a:xfrm>
            <a:off x="2309999" y="2413434"/>
            <a:ext cx="870831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98105" y="2492015"/>
            <a:ext cx="694618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Documents</a:t>
            </a:r>
            <a:endParaRPr lang="en-US" sz="975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430" y="2470733"/>
            <a:ext cx="285750" cy="18082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599780" y="2413434"/>
            <a:ext cx="547688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87887" y="2492015"/>
            <a:ext cx="371475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Profil</a:t>
            </a:r>
            <a:endParaRPr lang="en-US" sz="975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068" y="2470733"/>
            <a:ext cx="285750" cy="18082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566419" y="2413434"/>
            <a:ext cx="467506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654525" y="2492015"/>
            <a:ext cx="291294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Run</a:t>
            </a:r>
            <a:endParaRPr lang="en-US" sz="975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526" y="2470733"/>
            <a:ext cx="285750" cy="18082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3502856" y="2773226"/>
            <a:ext cx="690376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590962" y="2851807"/>
            <a:ext cx="514164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Chatbot</a:t>
            </a:r>
            <a:endParaRPr lang="en-US" sz="975" dirty="0"/>
          </a:p>
        </p:txBody>
      </p:sp>
      <p:sp>
        <p:nvSpPr>
          <p:cNvPr id="26" name="Shape 20"/>
          <p:cNvSpPr/>
          <p:nvPr/>
        </p:nvSpPr>
        <p:spPr>
          <a:xfrm>
            <a:off x="2050107" y="3209292"/>
            <a:ext cx="359606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Text 21"/>
          <p:cNvSpPr/>
          <p:nvPr/>
        </p:nvSpPr>
        <p:spPr>
          <a:xfrm>
            <a:off x="1996167" y="3345024"/>
            <a:ext cx="3703941" cy="211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Utilise la pipeline sans toucher au code.</a:t>
            </a:r>
            <a:endParaRPr lang="en-US" sz="975" dirty="0"/>
          </a:p>
        </p:txBody>
      </p:sp>
      <p:sp>
        <p:nvSpPr>
          <p:cNvPr id="28" name="Shape 22"/>
          <p:cNvSpPr/>
          <p:nvPr/>
        </p:nvSpPr>
        <p:spPr>
          <a:xfrm>
            <a:off x="6305476" y="1577764"/>
            <a:ext cx="4076774" cy="2123777"/>
          </a:xfrm>
          <a:prstGeom prst="roundRect">
            <a:avLst>
              <a:gd name="adj" fmla="val 2691"/>
            </a:avLst>
          </a:prstGeom>
          <a:solidFill>
            <a:srgbClr val="F4F4F4"/>
          </a:solidFill>
          <a:ln/>
          <a:effectLst>
            <a:outerShdw sx="100000" sy="100000" kx="0" ky="0" algn="bl" rotWithShape="0" blurRad="76200" dist="19050" dir="5400000">
              <a:srgbClr val="2A2A2A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305476" y="3689635"/>
            <a:ext cx="4076774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4"/>
          <p:cNvSpPr/>
          <p:nvPr/>
        </p:nvSpPr>
        <p:spPr>
          <a:xfrm>
            <a:off x="6305476" y="1577764"/>
            <a:ext cx="4076774" cy="35719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31" name="Shape 25"/>
          <p:cNvSpPr/>
          <p:nvPr/>
        </p:nvSpPr>
        <p:spPr>
          <a:xfrm>
            <a:off x="6305476" y="1577764"/>
            <a:ext cx="11906" cy="212377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2" name="Shape 26"/>
          <p:cNvSpPr/>
          <p:nvPr/>
        </p:nvSpPr>
        <p:spPr>
          <a:xfrm>
            <a:off x="10370344" y="1577764"/>
            <a:ext cx="11906" cy="2123777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3" name="Shape 27"/>
          <p:cNvSpPr/>
          <p:nvPr/>
        </p:nvSpPr>
        <p:spPr>
          <a:xfrm>
            <a:off x="6545833" y="1803983"/>
            <a:ext cx="457088" cy="457088"/>
          </a:xfrm>
          <a:prstGeom prst="roundRect">
            <a:avLst>
              <a:gd name="adj" fmla="val 25006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519639" y="1815889"/>
            <a:ext cx="509476" cy="471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🛠️</a:t>
            </a:r>
            <a:endParaRPr lang="en-US" sz="1875" dirty="0"/>
          </a:p>
        </p:txBody>
      </p:sp>
      <p:sp>
        <p:nvSpPr>
          <p:cNvPr id="35" name="Text 29"/>
          <p:cNvSpPr/>
          <p:nvPr/>
        </p:nvSpPr>
        <p:spPr>
          <a:xfrm>
            <a:off x="7136123" y="1820540"/>
            <a:ext cx="1554249" cy="31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Développeur ML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7136123" y="2107406"/>
            <a:ext cx="1625854" cy="139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13" spc="86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BUILDER DE PIPELINE</a:t>
            </a:r>
            <a:endParaRPr lang="en-US" sz="713" dirty="0"/>
          </a:p>
        </p:txBody>
      </p:sp>
      <p:sp>
        <p:nvSpPr>
          <p:cNvPr id="37" name="Shape 31"/>
          <p:cNvSpPr/>
          <p:nvPr/>
        </p:nvSpPr>
        <p:spPr>
          <a:xfrm>
            <a:off x="7006270" y="2413434"/>
            <a:ext cx="934641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094376" y="2492015"/>
            <a:ext cx="758428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Composants</a:t>
            </a:r>
            <a:endParaRPr lang="en-US" sz="975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7511" y="2470733"/>
            <a:ext cx="285750" cy="180826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8359862" y="2413434"/>
            <a:ext cx="969057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8447968" y="2492015"/>
            <a:ext cx="792845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YAML expert</a:t>
            </a:r>
            <a:endParaRPr lang="en-US" sz="975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5520" y="2470733"/>
            <a:ext cx="285750" cy="180826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7798036" y="2773226"/>
            <a:ext cx="1091468" cy="293191"/>
          </a:xfrm>
          <a:prstGeom prst="roundRect">
            <a:avLst>
              <a:gd name="adj" fmla="val 19492"/>
            </a:avLst>
          </a:prstGeom>
          <a:solidFill>
            <a:srgbClr val="EFF4D8"/>
          </a:solidFill>
          <a:ln w="11906">
            <a:solidFill>
              <a:srgbClr val="BDD248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7886142" y="2851807"/>
            <a:ext cx="915256" cy="17412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75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Documentation</a:t>
            </a:r>
            <a:endParaRPr lang="en-US" sz="975" dirty="0"/>
          </a:p>
        </p:txBody>
      </p:sp>
      <p:sp>
        <p:nvSpPr>
          <p:cNvPr id="45" name="Shape 37"/>
          <p:cNvSpPr/>
          <p:nvPr/>
        </p:nvSpPr>
        <p:spPr>
          <a:xfrm>
            <a:off x="6545833" y="3209292"/>
            <a:ext cx="3596060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46" name="Text 38"/>
          <p:cNvSpPr/>
          <p:nvPr/>
        </p:nvSpPr>
        <p:spPr>
          <a:xfrm>
            <a:off x="6491892" y="3345024"/>
            <a:ext cx="3703941" cy="211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Étend la pipeline.</a:t>
            </a:r>
            <a:endParaRPr lang="en-US" sz="975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09750" y="3720517"/>
            <a:ext cx="8572500" cy="552338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3301008" y="4272855"/>
            <a:ext cx="5589984" cy="642751"/>
          </a:xfrm>
          <a:prstGeom prst="roundRect">
            <a:avLst>
              <a:gd name="adj" fmla="val 20747"/>
            </a:avLst>
          </a:prstGeom>
          <a:gradFill rotWithShape="1">
            <a:gsLst>
              <a:gs pos="0">
                <a:srgbClr val="BDD248">
                  <a:alpha val="100000"/>
                </a:srgbClr>
              </a:gs>
              <a:gs pos="100000">
                <a:srgbClr val="8FA82E">
                  <a:alpha val="100000"/>
                </a:srgbClr>
              </a:gs>
            </a:gsLst>
            <a:lin ang="2700000" scaled="0"/>
          </a:gradFill>
          <a:ln/>
          <a:effectLst>
            <a:outerShdw sx="100000" sy="100000" kx="0" ky="0" algn="bl" rotWithShape="0" blurRad="209550" dist="76200" dir="5400000">
              <a:srgbClr val="8FA82E">
                <a:alpha val="34000"/>
              </a:srgbClr>
            </a:outerShdw>
          </a:effectLst>
        </p:spPr>
      </p:sp>
      <p:sp>
        <p:nvSpPr>
          <p:cNvPr id="49" name="Text 40"/>
          <p:cNvSpPr/>
          <p:nvPr/>
        </p:nvSpPr>
        <p:spPr>
          <a:xfrm>
            <a:off x="4338777" y="4415730"/>
            <a:ext cx="351426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b="1" spc="135" kern="0" dirty="0">
                <a:solidFill>
                  <a:srgbClr val="2A2A2A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DEUX PORTES D’ENTRÉE · UNE SEULE PLATEFORME</a:t>
            </a:r>
            <a:endParaRPr lang="en-US" sz="750" dirty="0"/>
          </a:p>
        </p:txBody>
      </p:sp>
      <p:sp>
        <p:nvSpPr>
          <p:cNvPr id="50" name="Text 41"/>
          <p:cNvSpPr/>
          <p:nvPr/>
        </p:nvSpPr>
        <p:spPr>
          <a:xfrm>
            <a:off x="3440609" y="4563256"/>
            <a:ext cx="5310783" cy="247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spc="-15" kern="0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MÊME PLATEFORME · MÊME CONTRAT </a:t>
            </a:r>
            <a:pPr algn="ctr" indent="0" marL="0">
              <a:lnSpc>
                <a:spcPct val="110000"/>
              </a:lnSpc>
              <a:buNone/>
            </a:pPr>
            <a:r>
              <a:rPr lang="en-US" sz="1200" b="1" spc="-15" kern="0" dirty="0">
                <a:solidFill>
                  <a:srgbClr val="2A2A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(BasePipeline)</a:t>
            </a:r>
            <a:endParaRPr lang="en-US" sz="1500" dirty="0"/>
          </a:p>
        </p:txBody>
      </p:sp>
      <p:sp>
        <p:nvSpPr>
          <p:cNvPr id="51" name="Shape 42"/>
          <p:cNvSpPr/>
          <p:nvPr/>
        </p:nvSpPr>
        <p:spPr>
          <a:xfrm>
            <a:off x="838088" y="5067970"/>
            <a:ext cx="10515823" cy="693911"/>
          </a:xfrm>
          <a:prstGeom prst="roundRect">
            <a:avLst>
              <a:gd name="adj" fmla="val 8236"/>
            </a:avLst>
          </a:prstGeom>
          <a:solidFill>
            <a:srgbClr val="2A2A2A"/>
          </a:solidFill>
          <a:ln/>
        </p:spPr>
      </p:sp>
      <p:sp>
        <p:nvSpPr>
          <p:cNvPr id="52" name="Shape 43"/>
          <p:cNvSpPr/>
          <p:nvPr/>
        </p:nvSpPr>
        <p:spPr>
          <a:xfrm>
            <a:off x="1085701" y="5220333"/>
            <a:ext cx="1178533" cy="280913"/>
          </a:xfrm>
          <a:prstGeom prst="roundRect">
            <a:avLst>
              <a:gd name="adj" fmla="val 6781"/>
            </a:avLst>
          </a:prstGeom>
          <a:ln w="11906">
            <a:solidFill>
              <a:srgbClr val="BDD248">
                <a:alpha val="30000"/>
              </a:srgbClr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1211907" y="5289389"/>
            <a:ext cx="1002320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DOCUMENTATION</a:t>
            </a:r>
            <a:endParaRPr lang="en-US" sz="825" dirty="0"/>
          </a:p>
        </p:txBody>
      </p:sp>
      <p:sp>
        <p:nvSpPr>
          <p:cNvPr id="54" name="Text 45"/>
          <p:cNvSpPr/>
          <p:nvPr/>
        </p:nvSpPr>
        <p:spPr>
          <a:xfrm>
            <a:off x="2435572" y="5220333"/>
            <a:ext cx="8930848" cy="427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6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Une page </a:t>
            </a:r>
            <a:pPr algn="l" indent="0" marL="0">
              <a:lnSpc>
                <a:spcPct val="146000"/>
              </a:lnSpc>
              <a:buNone/>
            </a:pPr>
            <a:r>
              <a:rPr lang="en-US" sz="105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Documentation </a:t>
            </a:r>
            <a:pPr algn="l" indent="0" marL="0">
              <a:lnSpc>
                <a:spcPct val="146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détaillée guide le développeur ML, pas à pas, pour </a:t>
            </a:r>
            <a:pPr algn="l" indent="0" marL="0">
              <a:lnSpc>
                <a:spcPct val="146000"/>
              </a:lnSpc>
              <a:buNone/>
            </a:pPr>
            <a:r>
              <a:rPr lang="en-US" sz="105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ajouter </a:t>
            </a:r>
            <a:pPr algn="l" indent="0" marL="0">
              <a:lnSpc>
                <a:spcPct val="146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son propre use case ou son propre composant — hériter de </a:t>
            </a:r>
            <a:pPr algn="l" indent="0" marL="0">
              <a:lnSpc>
                <a:spcPct val="146000"/>
              </a:lnSpc>
              <a:buNone/>
            </a:pPr>
            <a:r>
              <a:rPr lang="en-US" sz="105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BasePipeline</a:t>
            </a:r>
            <a:pPr algn="l" indent="0" marL="0">
              <a:lnSpc>
                <a:spcPct val="146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, </a:t>
            </a:r>
            <a:pPr algn="l" indent="0" marL="0">
              <a:lnSpc>
                <a:spcPct val="146000"/>
              </a:lnSpc>
              <a:buNone/>
            </a:pPr>
            <a:r>
              <a:rPr lang="en-US" sz="1050" b="1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register</a:t>
            </a:r>
            <a:pPr algn="l" indent="0" marL="0">
              <a:lnSpc>
                <a:spcPct val="146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, et hériter automatiquement de MLflow, monitoring, Docker et CI/CT.</a:t>
            </a:r>
            <a:endParaRPr lang="en-US" sz="1050" dirty="0"/>
          </a:p>
        </p:txBody>
      </p:sp>
      <p:sp>
        <p:nvSpPr>
          <p:cNvPr id="55" name="Text 46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778627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DÉMONSTRATION · ÉTAPE 1/3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Créer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530139"/>
            <a:ext cx="657076" cy="280913"/>
          </a:xfrm>
          <a:prstGeom prst="roundRect">
            <a:avLst>
              <a:gd name="adj" fmla="val 16954"/>
            </a:avLst>
          </a:prstGeom>
          <a:solidFill>
            <a:srgbClr val="8FA82E"/>
          </a:solidFill>
          <a:ln w="11906">
            <a:solidFill>
              <a:srgbClr val="8FA8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3345" y="1599195"/>
            <a:ext cx="442764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CRÉER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1580741" y="1613483"/>
            <a:ext cx="85576" cy="11422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1751893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97149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EXÉCUTER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2714439" y="1613483"/>
            <a:ext cx="85576" cy="11422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2" name="Shape 9"/>
          <p:cNvSpPr/>
          <p:nvPr/>
        </p:nvSpPr>
        <p:spPr>
          <a:xfrm>
            <a:off x="2885591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30848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OBSERVER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8498793" y="1581299"/>
            <a:ext cx="2855119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88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Uploader les documents, choisir la config</a:t>
            </a:r>
            <a:endParaRPr lang="en-US" sz="1088" dirty="0"/>
          </a:p>
        </p:txBody>
      </p:sp>
      <p:sp>
        <p:nvSpPr>
          <p:cNvPr id="15" name="Shape 12"/>
          <p:cNvSpPr/>
          <p:nvPr/>
        </p:nvSpPr>
        <p:spPr>
          <a:xfrm>
            <a:off x="838088" y="1925092"/>
            <a:ext cx="7563259" cy="4323457"/>
          </a:xfrm>
          <a:prstGeom prst="roundRect">
            <a:avLst>
              <a:gd name="adj" fmla="val 3525"/>
            </a:avLst>
          </a:prstGeom>
          <a:gradFill rotWithShape="1">
            <a:gsLst>
              <a:gs pos="0">
                <a:srgbClr val="FAFBF3">
                  <a:alpha val="100000"/>
                </a:srgbClr>
              </a:gs>
              <a:gs pos="100000">
                <a:srgbClr val="EEF1E2">
                  <a:alpha val="100000"/>
                </a:srgbClr>
              </a:gs>
            </a:gsLst>
            <a:lin ang="4200000" scaled="0"/>
          </a:gradFill>
          <a:ln w="11906">
            <a:solidFill>
              <a:srgbClr val="BDD248"/>
            </a:solidFill>
            <a:prstDash val="solid"/>
          </a:ln>
          <a:effectLst>
            <a:outerShdw sx="100000" sy="100000" kx="0" ky="0" algn="bl" rotWithShape="0" blurRad="76200" dist="19050" dir="5400000">
              <a:srgbClr val="2A2A2A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51329" y="2089361"/>
            <a:ext cx="3429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16:9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286250" y="3439232"/>
            <a:ext cx="666750" cy="666750"/>
          </a:xfrm>
          <a:prstGeom prst="ellipse">
            <a:avLst/>
          </a:prstGeom>
          <a:solidFill>
            <a:srgbClr val="8FA82E"/>
          </a:solidFill>
          <a:ln/>
          <a:effectLst>
            <a:outerShdw sx="100000" sy="100000" kx="0" ky="0" algn="bl" rotWithShape="0" blurRad="190500" dist="76200" dir="5400000">
              <a:srgbClr val="8FA82E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34979" y="3629732"/>
            <a:ext cx="226219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3549365" y="4229695"/>
            <a:ext cx="2354573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Vidéo de la démo — Créer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651498" y="4591534"/>
            <a:ext cx="21298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Glisser-déposer la vidéo ici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8610823" y="1925092"/>
            <a:ext cx="2743088" cy="4323457"/>
          </a:xfrm>
          <a:prstGeom prst="roundRect">
            <a:avLst>
              <a:gd name="adj" fmla="val 4861"/>
            </a:avLst>
          </a:prstGeom>
          <a:solidFill>
            <a:srgbClr val="2A2A2A"/>
          </a:solidFill>
          <a:ln/>
          <a:effectLst>
            <a:outerShdw sx="100000" sy="100000" kx="0" ky="0" algn="bl" rotWithShape="0" blurRad="76200" dist="19050" dir="5400000">
              <a:srgbClr val="2A2A2A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820299" y="2134567"/>
            <a:ext cx="243446" cy="1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16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👁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73121" y="2139218"/>
            <a:ext cx="8515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À REGARDER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8716953" y="2458269"/>
            <a:ext cx="2503683" cy="775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Choix du use case + de la config YAML</a:t>
            </a:r>
            <a:endParaRPr lang="en-US" sz="1163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Zéro ligne de code</a:t>
            </a:r>
            <a:endParaRPr lang="en-US" sz="1163" dirty="0"/>
          </a:p>
        </p:txBody>
      </p:sp>
      <p:sp>
        <p:nvSpPr>
          <p:cNvPr id="25" name="Text 22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17</a:t>
            </a:r>
            <a:endParaRPr lang="en-US" sz="9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7989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DÉMONSTRATION · ÉTAPE 2/3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Exécuter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530139"/>
            <a:ext cx="657076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3345" y="1599195"/>
            <a:ext cx="442764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CRÉER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1580741" y="1613483"/>
            <a:ext cx="85576" cy="11422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9" name="Shape 6"/>
          <p:cNvSpPr/>
          <p:nvPr/>
        </p:nvSpPr>
        <p:spPr>
          <a:xfrm>
            <a:off x="1751893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8FA82E"/>
          </a:solidFill>
          <a:ln w="11906">
            <a:solidFill>
              <a:srgbClr val="8FA8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97149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EXÉCUTER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2714439" y="1613483"/>
            <a:ext cx="85576" cy="11422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2" name="Shape 9"/>
          <p:cNvSpPr/>
          <p:nvPr/>
        </p:nvSpPr>
        <p:spPr>
          <a:xfrm>
            <a:off x="2885591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30848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OBSERVER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8831740" y="1581299"/>
            <a:ext cx="2522172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88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Lancer la pipeline, suivre le DAG live</a:t>
            </a:r>
            <a:endParaRPr lang="en-US" sz="1088" dirty="0"/>
          </a:p>
        </p:txBody>
      </p:sp>
      <p:sp>
        <p:nvSpPr>
          <p:cNvPr id="15" name="Shape 12"/>
          <p:cNvSpPr/>
          <p:nvPr/>
        </p:nvSpPr>
        <p:spPr>
          <a:xfrm>
            <a:off x="838088" y="1925092"/>
            <a:ext cx="7563259" cy="4323457"/>
          </a:xfrm>
          <a:prstGeom prst="roundRect">
            <a:avLst>
              <a:gd name="adj" fmla="val 3525"/>
            </a:avLst>
          </a:prstGeom>
          <a:gradFill rotWithShape="1">
            <a:gsLst>
              <a:gs pos="0">
                <a:srgbClr val="FAFBF3">
                  <a:alpha val="100000"/>
                </a:srgbClr>
              </a:gs>
              <a:gs pos="100000">
                <a:srgbClr val="EEF1E2">
                  <a:alpha val="100000"/>
                </a:srgbClr>
              </a:gs>
            </a:gsLst>
            <a:lin ang="4200000" scaled="0"/>
          </a:gradFill>
          <a:ln w="11906">
            <a:solidFill>
              <a:srgbClr val="BDD248"/>
            </a:solidFill>
            <a:prstDash val="solid"/>
          </a:ln>
          <a:effectLst>
            <a:outerShdw sx="100000" sy="100000" kx="0" ky="0" algn="bl" rotWithShape="0" blurRad="76200" dist="19050" dir="5400000">
              <a:srgbClr val="2A2A2A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51329" y="2089361"/>
            <a:ext cx="3429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16:9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286250" y="3439232"/>
            <a:ext cx="666750" cy="666750"/>
          </a:xfrm>
          <a:prstGeom prst="ellipse">
            <a:avLst/>
          </a:prstGeom>
          <a:solidFill>
            <a:srgbClr val="8FA82E"/>
          </a:solidFill>
          <a:ln/>
          <a:effectLst>
            <a:outerShdw sx="100000" sy="100000" kx="0" ky="0" algn="bl" rotWithShape="0" blurRad="190500" dist="76200" dir="5400000">
              <a:srgbClr val="8FA82E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34979" y="3629732"/>
            <a:ext cx="226219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3428628" y="4229695"/>
            <a:ext cx="2620398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Vidéo de la démo — Exécuter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651498" y="4591534"/>
            <a:ext cx="21298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Glisser-déposer la vidéo ici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8610823" y="1925092"/>
            <a:ext cx="2743088" cy="4323457"/>
          </a:xfrm>
          <a:prstGeom prst="roundRect">
            <a:avLst>
              <a:gd name="adj" fmla="val 4861"/>
            </a:avLst>
          </a:prstGeom>
          <a:solidFill>
            <a:srgbClr val="2A2A2A"/>
          </a:solidFill>
          <a:ln/>
          <a:effectLst>
            <a:outerShdw sx="100000" sy="100000" kx="0" ky="0" algn="bl" rotWithShape="0" blurRad="76200" dist="19050" dir="5400000">
              <a:srgbClr val="2A2A2A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820299" y="2134567"/>
            <a:ext cx="243446" cy="1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16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👁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73121" y="2139218"/>
            <a:ext cx="8515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À REGARDER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8716953" y="2458269"/>
            <a:ext cx="2503683" cy="775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Les 5 phases s'enchaînent en direct</a:t>
            </a:r>
            <a:endParaRPr lang="en-US" sz="1163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quality gate</a:t>
            </a:r>
            <a:endParaRPr lang="en-US" sz="1163" dirty="0"/>
          </a:p>
        </p:txBody>
      </p:sp>
      <p:sp>
        <p:nvSpPr>
          <p:cNvPr id="25" name="Text 22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18</a:t>
            </a:r>
            <a:endParaRPr lang="en-US" sz="9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279204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DÉMONSTRATION · ÉTAPE 3/3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Observer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38088" y="1530139"/>
            <a:ext cx="657076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3345" y="1599195"/>
            <a:ext cx="442764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CRÉER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1580741" y="1613483"/>
            <a:ext cx="85576" cy="11422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9" name="Shape 6"/>
          <p:cNvSpPr/>
          <p:nvPr/>
        </p:nvSpPr>
        <p:spPr>
          <a:xfrm>
            <a:off x="1751893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F4F4F4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97149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EXÉCUTER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2714439" y="1613483"/>
            <a:ext cx="85576" cy="114226"/>
          </a:xfrm>
          <a:prstGeom prst="rect">
            <a:avLst/>
          </a:prstGeom>
          <a:solidFill>
            <a:srgbClr val="BDD248"/>
          </a:solidFill>
          <a:ln/>
        </p:spPr>
      </p:sp>
      <p:sp>
        <p:nvSpPr>
          <p:cNvPr id="12" name="Shape 9"/>
          <p:cNvSpPr/>
          <p:nvPr/>
        </p:nvSpPr>
        <p:spPr>
          <a:xfrm>
            <a:off x="2885591" y="1530139"/>
            <a:ext cx="876970" cy="280913"/>
          </a:xfrm>
          <a:prstGeom prst="roundRect">
            <a:avLst>
              <a:gd name="adj" fmla="val 16954"/>
            </a:avLst>
          </a:prstGeom>
          <a:solidFill>
            <a:srgbClr val="8FA82E"/>
          </a:solidFill>
          <a:ln w="11906">
            <a:solidFill>
              <a:srgbClr val="8FA8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30848" y="1599195"/>
            <a:ext cx="662657" cy="1809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OBSERVER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7707864" y="1581299"/>
            <a:ext cx="3646047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88" i="1" dirty="0">
                <a:solidFill>
                  <a:srgbClr val="525252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Métriques RAGAS, runs MLflow, dashboard Grafana</a:t>
            </a:r>
            <a:endParaRPr lang="en-US" sz="1088" dirty="0"/>
          </a:p>
        </p:txBody>
      </p:sp>
      <p:sp>
        <p:nvSpPr>
          <p:cNvPr id="15" name="Shape 12"/>
          <p:cNvSpPr/>
          <p:nvPr/>
        </p:nvSpPr>
        <p:spPr>
          <a:xfrm>
            <a:off x="838088" y="1925092"/>
            <a:ext cx="7563259" cy="3757166"/>
          </a:xfrm>
          <a:prstGeom prst="roundRect">
            <a:avLst>
              <a:gd name="adj" fmla="val 4056"/>
            </a:avLst>
          </a:prstGeom>
          <a:gradFill rotWithShape="1">
            <a:gsLst>
              <a:gs pos="0">
                <a:srgbClr val="FAFBF3">
                  <a:alpha val="100000"/>
                </a:srgbClr>
              </a:gs>
              <a:gs pos="100000">
                <a:srgbClr val="EEF1E2">
                  <a:alpha val="100000"/>
                </a:srgbClr>
              </a:gs>
            </a:gsLst>
            <a:lin ang="4200000" scaled="0"/>
          </a:gradFill>
          <a:ln w="11906">
            <a:solidFill>
              <a:srgbClr val="BDD248"/>
            </a:solidFill>
            <a:prstDash val="solid"/>
          </a:ln>
          <a:effectLst>
            <a:outerShdw sx="100000" sy="100000" kx="0" ky="0" algn="bl" rotWithShape="0" blurRad="76200" dist="19050" dir="5400000">
              <a:srgbClr val="2A2A2A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51329" y="2089361"/>
            <a:ext cx="3429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16:9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286250" y="3156086"/>
            <a:ext cx="666750" cy="666750"/>
          </a:xfrm>
          <a:prstGeom prst="ellipse">
            <a:avLst/>
          </a:prstGeom>
          <a:solidFill>
            <a:srgbClr val="8FA82E"/>
          </a:solidFill>
          <a:ln/>
          <a:effectLst>
            <a:outerShdw sx="100000" sy="100000" kx="0" ky="0" algn="bl" rotWithShape="0" blurRad="190500" dist="76200" dir="5400000">
              <a:srgbClr val="8FA82E">
                <a:alpha val="4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34979" y="3346586"/>
            <a:ext cx="226219" cy="28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3399420" y="3946550"/>
            <a:ext cx="2684655" cy="2762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Vidéo de la démo — Observer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651498" y="4308388"/>
            <a:ext cx="21298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5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Glisser-déposer la vidéo ici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8610823" y="1925092"/>
            <a:ext cx="2743088" cy="3757166"/>
          </a:xfrm>
          <a:prstGeom prst="roundRect">
            <a:avLst>
              <a:gd name="adj" fmla="val 4861"/>
            </a:avLst>
          </a:prstGeom>
          <a:solidFill>
            <a:srgbClr val="2A2A2A"/>
          </a:solidFill>
          <a:ln/>
          <a:effectLst>
            <a:outerShdw sx="100000" sy="100000" kx="0" ky="0" algn="bl" rotWithShape="0" blurRad="76200" dist="19050" dir="5400000">
              <a:srgbClr val="2A2A2A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820299" y="2134567"/>
            <a:ext cx="243446" cy="190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116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👁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73121" y="2139218"/>
            <a:ext cx="8515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À REGARDER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8716953" y="2458269"/>
            <a:ext cx="2503683" cy="58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Faithfulness &amp; latences</a:t>
            </a:r>
            <a:endParaRPr lang="en-US" sz="1163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63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 run rejouable</a:t>
            </a:r>
            <a:endParaRPr lang="en-US" sz="1163" dirty="0"/>
          </a:p>
        </p:txBody>
      </p:sp>
      <p:sp>
        <p:nvSpPr>
          <p:cNvPr id="25" name="Shape 22"/>
          <p:cNvSpPr/>
          <p:nvPr/>
        </p:nvSpPr>
        <p:spPr>
          <a:xfrm>
            <a:off x="838088" y="5815459"/>
            <a:ext cx="10515823" cy="433090"/>
          </a:xfrm>
          <a:prstGeom prst="roundRect">
            <a:avLst>
              <a:gd name="adj" fmla="val 6598"/>
            </a:avLst>
          </a:prstGeom>
          <a:solidFill>
            <a:srgbClr val="F4F4F4"/>
          </a:solidFill>
          <a:ln/>
        </p:spPr>
      </p:sp>
      <p:sp>
        <p:nvSpPr>
          <p:cNvPr id="26" name="Shape 23"/>
          <p:cNvSpPr/>
          <p:nvPr/>
        </p:nvSpPr>
        <p:spPr>
          <a:xfrm>
            <a:off x="838088" y="6236643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7" name="Shape 24"/>
          <p:cNvSpPr/>
          <p:nvPr/>
        </p:nvSpPr>
        <p:spPr>
          <a:xfrm>
            <a:off x="838088" y="5815459"/>
            <a:ext cx="10515823" cy="11906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8" name="Shape 25"/>
          <p:cNvSpPr/>
          <p:nvPr/>
        </p:nvSpPr>
        <p:spPr>
          <a:xfrm>
            <a:off x="838088" y="5815459"/>
            <a:ext cx="23813" cy="433090"/>
          </a:xfrm>
          <a:prstGeom prst="rect">
            <a:avLst/>
          </a:prstGeom>
          <a:solidFill>
            <a:srgbClr val="909090"/>
          </a:solidFill>
          <a:ln/>
        </p:spPr>
      </p:sp>
      <p:sp>
        <p:nvSpPr>
          <p:cNvPr id="29" name="Shape 26"/>
          <p:cNvSpPr/>
          <p:nvPr/>
        </p:nvSpPr>
        <p:spPr>
          <a:xfrm>
            <a:off x="11342005" y="5815459"/>
            <a:ext cx="11906" cy="43309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30" name="Shape 27"/>
          <p:cNvSpPr/>
          <p:nvPr/>
        </p:nvSpPr>
        <p:spPr>
          <a:xfrm>
            <a:off x="1033239" y="5932103"/>
            <a:ext cx="435136" cy="199802"/>
          </a:xfrm>
          <a:prstGeom prst="roundRect">
            <a:avLst>
              <a:gd name="adj" fmla="val 9534"/>
            </a:avLst>
          </a:prstGeom>
          <a:solidFill>
            <a:srgbClr val="F0F0F0"/>
          </a:solidFill>
          <a:ln w="11906">
            <a:solidFill>
              <a:srgbClr val="E4E4E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21346" y="5972584"/>
            <a:ext cx="335124" cy="15693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9090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601577" y="5932103"/>
            <a:ext cx="8638822" cy="21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L’output (runs MLflow, métriques, monitoring) est déjà détaillé dans les slides précédentes — la démo montre le </a:t>
            </a:r>
            <a:pPr algn="l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parcours de bout en bout</a:t>
            </a:r>
            <a:pPr algn="l" indent="0" marL="0">
              <a:lnSpc>
                <a:spcPct val="140000"/>
              </a:lnSpc>
              <a:buNone/>
            </a:pPr>
            <a:r>
              <a:rPr lang="en-US" sz="975" i="1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</a:t>
            </a:r>
            <a:endParaRPr lang="en-US" sz="975" dirty="0"/>
          </a:p>
        </p:txBody>
      </p:sp>
      <p:sp>
        <p:nvSpPr>
          <p:cNvPr id="33" name="Text 30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09090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0802689" y="6418585"/>
            <a:ext cx="254496" cy="152363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3F3F3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19</a:t>
            </a:r>
            <a:endParaRPr lang="en-US" sz="9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88" y="650007"/>
            <a:ext cx="133201" cy="1332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5515" y="609451"/>
            <a:ext cx="128617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03" kern="0" dirty="0">
                <a:solidFill>
                  <a:srgbClr val="8FA8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CONCLUSION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838088" y="956965"/>
            <a:ext cx="11567406" cy="487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Bilan et </a:t>
            </a:r>
            <a:pPr algn="l" indent="0" marL="0">
              <a:lnSpc>
                <a:spcPct val="118000"/>
              </a:lnSpc>
              <a:buNone/>
            </a:pPr>
            <a:r>
              <a:rPr lang="en-US" sz="3000" b="1" spc="-60" kern="0" dirty="0">
                <a:solidFill>
                  <a:srgbClr val="BDD248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perspectives</a:t>
            </a:r>
            <a:endParaRPr lang="en-US" sz="3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88" y="1634877"/>
            <a:ext cx="104738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402" y="1634877"/>
            <a:ext cx="20920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BILAN · CE QUI A ÉTÉ LIVRÉ</a:t>
            </a:r>
            <a:endParaRPr lang="en-US" sz="825" dirty="0"/>
          </a:p>
        </p:txBody>
      </p:sp>
      <p:sp>
        <p:nvSpPr>
          <p:cNvPr id="8" name="Shape 4"/>
          <p:cNvSpPr/>
          <p:nvPr/>
        </p:nvSpPr>
        <p:spPr>
          <a:xfrm>
            <a:off x="838088" y="1920627"/>
            <a:ext cx="1494979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83345" y="1999208"/>
            <a:ext cx="1280666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Socle générique</a:t>
            </a:r>
            <a:endParaRPr lang="en-US" sz="938" dirty="0"/>
          </a:p>
        </p:txBody>
      </p:sp>
      <p:sp>
        <p:nvSpPr>
          <p:cNvPr id="10" name="Shape 6"/>
          <p:cNvSpPr/>
          <p:nvPr/>
        </p:nvSpPr>
        <p:spPr>
          <a:xfrm>
            <a:off x="2418643" y="1920627"/>
            <a:ext cx="1209229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63899" y="1999208"/>
            <a:ext cx="994916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RAG complet</a:t>
            </a:r>
            <a:endParaRPr lang="en-US" sz="938" dirty="0"/>
          </a:p>
        </p:txBody>
      </p:sp>
      <p:sp>
        <p:nvSpPr>
          <p:cNvPr id="12" name="Shape 8"/>
          <p:cNvSpPr/>
          <p:nvPr/>
        </p:nvSpPr>
        <p:spPr>
          <a:xfrm>
            <a:off x="3713448" y="1920627"/>
            <a:ext cx="1494979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58704" y="1999208"/>
            <a:ext cx="1280666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Tracking MLflow</a:t>
            </a:r>
            <a:endParaRPr lang="en-US" sz="938" dirty="0"/>
          </a:p>
        </p:txBody>
      </p:sp>
      <p:sp>
        <p:nvSpPr>
          <p:cNvPr id="14" name="Shape 10"/>
          <p:cNvSpPr/>
          <p:nvPr/>
        </p:nvSpPr>
        <p:spPr>
          <a:xfrm>
            <a:off x="838088" y="2282279"/>
            <a:ext cx="1137791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83345" y="2360861"/>
            <a:ext cx="923479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Monitoring</a:t>
            </a:r>
            <a:endParaRPr lang="en-US" sz="938" dirty="0"/>
          </a:p>
        </p:txBody>
      </p:sp>
      <p:sp>
        <p:nvSpPr>
          <p:cNvPr id="16" name="Shape 12"/>
          <p:cNvSpPr/>
          <p:nvPr/>
        </p:nvSpPr>
        <p:spPr>
          <a:xfrm>
            <a:off x="2061456" y="2282279"/>
            <a:ext cx="1566416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206712" y="2360861"/>
            <a:ext cx="1352104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Conteneurisation</a:t>
            </a:r>
            <a:endParaRPr lang="en-US" sz="938" dirty="0"/>
          </a:p>
        </p:txBody>
      </p:sp>
      <p:sp>
        <p:nvSpPr>
          <p:cNvPr id="18" name="Shape 14"/>
          <p:cNvSpPr/>
          <p:nvPr/>
        </p:nvSpPr>
        <p:spPr>
          <a:xfrm>
            <a:off x="3713448" y="2282279"/>
            <a:ext cx="1566416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858704" y="2360861"/>
            <a:ext cx="1352104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CI/CT automatisé</a:t>
            </a:r>
            <a:endParaRPr lang="en-US" sz="938" dirty="0"/>
          </a:p>
        </p:txBody>
      </p:sp>
      <p:sp>
        <p:nvSpPr>
          <p:cNvPr id="20" name="Shape 16"/>
          <p:cNvSpPr/>
          <p:nvPr/>
        </p:nvSpPr>
        <p:spPr>
          <a:xfrm>
            <a:off x="838088" y="2643932"/>
            <a:ext cx="1280666" cy="276076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1906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83345" y="2722513"/>
            <a:ext cx="1066354" cy="157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8" dirty="0">
                <a:solidFill>
                  <a:srgbClr val="E6E9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Quality gate</a:t>
            </a:r>
            <a:endParaRPr lang="en-US" sz="938" dirty="0"/>
          </a:p>
        </p:txBody>
      </p:sp>
      <p:sp>
        <p:nvSpPr>
          <p:cNvPr id="22" name="Shape 18"/>
          <p:cNvSpPr/>
          <p:nvPr/>
        </p:nvSpPr>
        <p:spPr>
          <a:xfrm>
            <a:off x="838088" y="3091346"/>
            <a:ext cx="5504036" cy="735583"/>
          </a:xfrm>
          <a:prstGeom prst="roundRect">
            <a:avLst>
              <a:gd name="adj" fmla="val 7769"/>
            </a:avLst>
          </a:prstGeom>
          <a:solidFill>
            <a:srgbClr val="BDD248">
              <a:alpha val="10000"/>
            </a:srgbClr>
          </a:solidFill>
          <a:ln w="11906">
            <a:solidFill>
              <a:srgbClr val="BDD248">
                <a:alpha val="42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40495" y="3246127"/>
            <a:ext cx="835298" cy="426021"/>
          </a:xfrm>
          <a:prstGeom prst="roundRect">
            <a:avLst>
              <a:gd name="adj" fmla="val 8943"/>
            </a:avLst>
          </a:prstGeom>
          <a:solidFill>
            <a:srgbClr val="BDD248"/>
          </a:solidFill>
          <a:ln/>
        </p:spPr>
      </p:sp>
      <p:sp>
        <p:nvSpPr>
          <p:cNvPr id="24" name="Text 20"/>
          <p:cNvSpPr/>
          <p:nvPr/>
        </p:nvSpPr>
        <p:spPr>
          <a:xfrm>
            <a:off x="1126220" y="3322327"/>
            <a:ext cx="663848" cy="311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8" b="1" spc="28" kern="0" dirty="0">
                <a:solidFill>
                  <a:srgbClr val="2A2A2A"/>
                </a:solidFill>
                <a:highlight>
                  <a:srgbClr val="BDD248"/>
                </a:highlight>
                <a:latin typeface="Jost" pitchFamily="34" charset="0"/>
                <a:ea typeface="Jost" pitchFamily="34" charset="-122"/>
                <a:cs typeface="Jost" pitchFamily="34" charset="-120"/>
              </a:rPr>
              <a:t>NIVEAU 1 ATTEINT</a:t>
            </a:r>
            <a:endParaRPr lang="en-US" sz="938" dirty="0"/>
          </a:p>
        </p:txBody>
      </p:sp>
      <p:sp>
        <p:nvSpPr>
          <p:cNvPr id="25" name="Text 21"/>
          <p:cNvSpPr/>
          <p:nvPr/>
        </p:nvSpPr>
        <p:spPr>
          <a:xfrm>
            <a:off x="2028155" y="3259150"/>
            <a:ext cx="4234910" cy="438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Automatisation de la chaîne ML &amp; entraînement continu </a:t>
            </a:r>
            <a:pPr algn="l" indent="0" marL="0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E6E9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— sur le modèle de maturité MLOps.</a:t>
            </a:r>
            <a:endParaRPr lang="en-US" sz="1125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713" y="1634877"/>
            <a:ext cx="104738" cy="14287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99027" y="1634877"/>
            <a:ext cx="10067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16" kern="0" dirty="0">
                <a:solidFill>
                  <a:srgbClr val="BDD2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PERSPECTIVES</a:t>
            </a:r>
            <a:endParaRPr lang="en-US" sz="825" dirty="0"/>
          </a:p>
        </p:txBody>
      </p:sp>
      <p:sp>
        <p:nvSpPr>
          <p:cNvPr id="28" name="Shape 23"/>
          <p:cNvSpPr/>
          <p:nvPr/>
        </p:nvSpPr>
        <p:spPr>
          <a:xfrm>
            <a:off x="6608713" y="2374739"/>
            <a:ext cx="4745199" cy="1190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713" y="2063316"/>
            <a:ext cx="104738" cy="15236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75301" y="2044340"/>
            <a:ext cx="4926471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Automatiser le </a:t>
            </a:r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déploiement continu (CD) </a:t>
            </a:r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sur un runner.</a:t>
            </a:r>
            <a:endParaRPr lang="en-US" sz="1163" dirty="0"/>
          </a:p>
        </p:txBody>
      </p:sp>
      <p:sp>
        <p:nvSpPr>
          <p:cNvPr id="31" name="Shape 25"/>
          <p:cNvSpPr/>
          <p:nvPr/>
        </p:nvSpPr>
        <p:spPr>
          <a:xfrm>
            <a:off x="6608713" y="2866058"/>
            <a:ext cx="4745199" cy="11906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713" y="2529334"/>
            <a:ext cx="104738" cy="15236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875301" y="2510358"/>
            <a:ext cx="4926471" cy="270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Un </a:t>
            </a:r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2</a:t>
            </a:r>
            <a:pPr algn="l" indent="0" marL="0">
              <a:lnSpc>
                <a:spcPct val="140000"/>
              </a:lnSpc>
              <a:buNone/>
            </a:pPr>
            <a:r>
              <a:rPr lang="en-US" sz="969" b="1" baseline="3000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e </a:t>
            </a:r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use case </a:t>
            </a:r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(</a:t>
            </a:r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ml_classic</a:t>
            </a:r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) pour prouver la généricité.</a:t>
            </a:r>
            <a:endParaRPr lang="en-US" sz="1163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713" y="3020653"/>
            <a:ext cx="104738" cy="152363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75301" y="3001677"/>
            <a:ext cx="4926471" cy="2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Le </a:t>
            </a:r>
            <a:pPr algn="l" indent="0" marL="0">
              <a:lnSpc>
                <a:spcPct val="14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passage à l'échelle</a:t>
            </a:r>
            <a:pPr algn="l" indent="0" marL="0">
              <a:lnSpc>
                <a:spcPct val="140000"/>
              </a:lnSpc>
              <a:buNone/>
            </a:pPr>
            <a:r>
              <a:rPr lang="en-US" sz="1163" dirty="0">
                <a:solidFill>
                  <a:srgbClr val="E6E9E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</a:t>
            </a:r>
            <a:endParaRPr lang="en-US" sz="1163" dirty="0"/>
          </a:p>
        </p:txBody>
      </p:sp>
      <p:sp>
        <p:nvSpPr>
          <p:cNvPr id="36" name="Shape 28"/>
          <p:cNvSpPr/>
          <p:nvPr/>
        </p:nvSpPr>
        <p:spPr>
          <a:xfrm>
            <a:off x="838088" y="4017429"/>
            <a:ext cx="10515823" cy="529642"/>
          </a:xfrm>
          <a:prstGeom prst="roundRect">
            <a:avLst>
              <a:gd name="adj" fmla="val 10790"/>
            </a:avLst>
          </a:prstGeom>
          <a:solidFill>
            <a:srgbClr val="BDD248"/>
          </a:solidFill>
          <a:ln/>
        </p:spPr>
      </p:sp>
      <p:sp>
        <p:nvSpPr>
          <p:cNvPr id="37" name="Text 29"/>
          <p:cNvSpPr/>
          <p:nvPr/>
        </p:nvSpPr>
        <p:spPr>
          <a:xfrm>
            <a:off x="1066540" y="4210720"/>
            <a:ext cx="13716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2A2A2A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APPORT POUR ACTIA</a:t>
            </a:r>
            <a:endParaRPr lang="en-US" sz="825" dirty="0"/>
          </a:p>
        </p:txBody>
      </p:sp>
      <p:sp>
        <p:nvSpPr>
          <p:cNvPr id="38" name="Shape 30"/>
          <p:cNvSpPr/>
          <p:nvPr/>
        </p:nvSpPr>
        <p:spPr>
          <a:xfrm>
            <a:off x="2484872" y="4169792"/>
            <a:ext cx="9525" cy="224917"/>
          </a:xfrm>
          <a:prstGeom prst="rect">
            <a:avLst/>
          </a:prstGeom>
          <a:solidFill>
            <a:srgbClr val="2A2A2A">
              <a:alpha val="22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2665698" y="4169792"/>
            <a:ext cx="4617876" cy="263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13" b="1" dirty="0">
                <a:solidFill>
                  <a:srgbClr val="2A2A2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 socle réutilisable, local et souverain — documenté.</a:t>
            </a:r>
            <a:endParaRPr lang="en-US" sz="1313" dirty="0"/>
          </a:p>
        </p:txBody>
      </p:sp>
      <p:sp>
        <p:nvSpPr>
          <p:cNvPr id="40" name="Text 32"/>
          <p:cNvSpPr/>
          <p:nvPr/>
        </p:nvSpPr>
        <p:spPr>
          <a:xfrm>
            <a:off x="838088" y="6417469"/>
            <a:ext cx="349686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59" kern="0" dirty="0">
                <a:solidFill>
                  <a:srgbClr val="9AA5B8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Projet de Fin d'Études · Pipeline MLOps générique</a:t>
            </a:r>
            <a:endParaRPr lang="en-US" sz="975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10883615" y="6418585"/>
            <a:ext cx="173571" cy="152363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1190387" y="6417469"/>
            <a:ext cx="2397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59" kern="0" dirty="0">
                <a:solidFill>
                  <a:srgbClr val="FFFFFF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20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2026-06-22T10:48:21Z</dcterms:created>
  <dcterms:modified xsi:type="dcterms:W3CDTF">2026-06-22T10:48:21Z</dcterms:modified>
</cp:coreProperties>
</file>