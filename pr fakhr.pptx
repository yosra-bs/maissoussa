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6" r:id="rId10"/>
    <p:sldId id="264" r:id="rId11"/>
    <p:sldId id="287" r:id="rId12"/>
    <p:sldId id="265" r:id="rId13"/>
    <p:sldId id="266" r:id="rId14"/>
    <p:sldId id="288" r:id="rId15"/>
    <p:sldId id="267" r:id="rId16"/>
    <p:sldId id="289" r:id="rId17"/>
    <p:sldId id="268" r:id="rId18"/>
    <p:sldId id="269" r:id="rId19"/>
    <p:sldId id="270" r:id="rId20"/>
    <p:sldId id="290" r:id="rId21"/>
    <p:sldId id="271" r:id="rId22"/>
    <p:sldId id="272" r:id="rId23"/>
    <p:sldId id="291" r:id="rId24"/>
    <p:sldId id="273" r:id="rId25"/>
    <p:sldId id="292" r:id="rId26"/>
    <p:sldId id="274" r:id="rId27"/>
    <p:sldId id="293" r:id="rId28"/>
    <p:sldId id="275" r:id="rId29"/>
    <p:sldId id="294" r:id="rId30"/>
    <p:sldId id="276" r:id="rId31"/>
    <p:sldId id="295" r:id="rId32"/>
    <p:sldId id="277" r:id="rId33"/>
    <p:sldId id="278" r:id="rId34"/>
    <p:sldId id="279" r:id="rId35"/>
    <p:sldId id="280" r:id="rId36"/>
    <p:sldId id="296" r:id="rId37"/>
    <p:sldId id="281" r:id="rId38"/>
    <p:sldId id="282" r:id="rId39"/>
    <p:sldId id="283" r:id="rId40"/>
    <p:sldId id="284" r:id="rId41"/>
    <p:sldId id="285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B96623-7919-F02E-AF16-3735B8447314}" v="31" dt="2026-06-22T18:30:28.5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4DE4C5-5A1F-47B1-8F9E-2F93B69C02E3}" type="datetimeFigureOut"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DB6AF2-BFA7-4E5E-B75B-8161A63DC0F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054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2.svg"/><Relationship Id="rId4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2A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0201" y="2000250"/>
            <a:ext cx="1428750" cy="2857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4750" y="2000250"/>
            <a:ext cx="1428750" cy="28575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>
            <a:alphaModFix amt="95000"/>
          </a:blip>
          <a:stretch>
            <a:fillRect/>
          </a:stretch>
        </p:blipFill>
        <p:spPr>
          <a:xfrm>
            <a:off x="838088" y="609451"/>
            <a:ext cx="325562" cy="2857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9291898" y="674936"/>
            <a:ext cx="226821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98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PROJET DE FIN D'ÉTUDES</a:t>
            </a:r>
            <a:endParaRPr lang="en-US" sz="90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088" y="1903140"/>
            <a:ext cx="123713" cy="171338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076027" y="1905372"/>
            <a:ext cx="3295799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MLOPS · INDUSTRIALISATION ML &amp; LLM</a:t>
            </a:r>
            <a:endParaRPr lang="en-US" sz="975" dirty="0"/>
          </a:p>
        </p:txBody>
      </p:sp>
      <p:sp>
        <p:nvSpPr>
          <p:cNvPr id="9" name="Text 3"/>
          <p:cNvSpPr/>
          <p:nvPr/>
        </p:nvSpPr>
        <p:spPr>
          <a:xfrm>
            <a:off x="838088" y="2264978"/>
            <a:ext cx="7248075" cy="12659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b="1" kern="0" spc="-116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Pipeline MLOps locale et </a:t>
            </a:r>
            <a:r>
              <a:rPr lang="en-US" sz="4650" b="1" kern="0" spc="-116" dirty="0">
                <a:solidFill>
                  <a:srgbClr val="BDD24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générique</a:t>
            </a:r>
            <a:endParaRPr lang="en-US" sz="4650" dirty="0"/>
          </a:p>
        </p:txBody>
      </p:sp>
      <p:sp>
        <p:nvSpPr>
          <p:cNvPr id="10" name="Shape 4"/>
          <p:cNvSpPr/>
          <p:nvPr/>
        </p:nvSpPr>
        <p:spPr>
          <a:xfrm>
            <a:off x="838088" y="3778560"/>
            <a:ext cx="762000" cy="57113"/>
          </a:xfrm>
          <a:prstGeom prst="roundRect">
            <a:avLst>
              <a:gd name="adj" fmla="val 50000"/>
            </a:avLst>
          </a:prstGeom>
          <a:solidFill>
            <a:srgbClr val="BDD248"/>
          </a:solidFill>
          <a:ln/>
        </p:spPr>
      </p:sp>
      <p:sp>
        <p:nvSpPr>
          <p:cNvPr id="11" name="Text 5"/>
          <p:cNvSpPr/>
          <p:nvPr/>
        </p:nvSpPr>
        <p:spPr>
          <a:xfrm>
            <a:off x="838088" y="4045148"/>
            <a:ext cx="5408176" cy="5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E6E9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 socle d'industrialisation pour modèles ML et LLM, 100 % local.</a:t>
            </a:r>
            <a:endParaRPr lang="en-US" sz="1575" dirty="0"/>
          </a:p>
        </p:txBody>
      </p:sp>
      <p:sp>
        <p:nvSpPr>
          <p:cNvPr id="12" name="Shape 6"/>
          <p:cNvSpPr/>
          <p:nvPr/>
        </p:nvSpPr>
        <p:spPr>
          <a:xfrm>
            <a:off x="838088" y="5612867"/>
            <a:ext cx="10515823" cy="11906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Text 7"/>
          <p:cNvSpPr/>
          <p:nvPr/>
        </p:nvSpPr>
        <p:spPr>
          <a:xfrm>
            <a:off x="838088" y="6081861"/>
            <a:ext cx="478793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Projet de Fin d'Études · ACTIA Engineering Services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7353226" y="5834249"/>
            <a:ext cx="1337723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105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ÉTUDIANTE</a:t>
            </a:r>
            <a:endParaRPr lang="en-US" sz="750" dirty="0"/>
          </a:p>
        </p:txBody>
      </p:sp>
      <p:sp>
        <p:nvSpPr>
          <p:cNvPr id="15" name="Text 9"/>
          <p:cNvSpPr/>
          <p:nvPr/>
        </p:nvSpPr>
        <p:spPr>
          <a:xfrm>
            <a:off x="7353226" y="6010424"/>
            <a:ext cx="1337723" cy="216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Yosra Ben Salha</a:t>
            </a:r>
            <a:endParaRPr lang="en-US" sz="1275" dirty="0"/>
          </a:p>
        </p:txBody>
      </p:sp>
      <p:sp>
        <p:nvSpPr>
          <p:cNvPr id="16" name="Text 10"/>
          <p:cNvSpPr/>
          <p:nvPr/>
        </p:nvSpPr>
        <p:spPr>
          <a:xfrm>
            <a:off x="9007450" y="5834249"/>
            <a:ext cx="162831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105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ENCADRANTE ENTREPRISE</a:t>
            </a:r>
            <a:endParaRPr lang="en-US" sz="750" dirty="0"/>
          </a:p>
        </p:txBody>
      </p:sp>
      <p:sp>
        <p:nvSpPr>
          <p:cNvPr id="17" name="Text 11"/>
          <p:cNvSpPr/>
          <p:nvPr/>
        </p:nvSpPr>
        <p:spPr>
          <a:xfrm>
            <a:off x="9007450" y="6010424"/>
            <a:ext cx="1628310" cy="216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Lyna Attalah</a:t>
            </a:r>
            <a:endParaRPr lang="en-US" sz="1275" dirty="0"/>
          </a:p>
        </p:txBody>
      </p:sp>
      <p:sp>
        <p:nvSpPr>
          <p:cNvPr id="18" name="Text 12"/>
          <p:cNvSpPr/>
          <p:nvPr/>
        </p:nvSpPr>
        <p:spPr>
          <a:xfrm>
            <a:off x="10925845" y="5834249"/>
            <a:ext cx="504267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105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ANNÉE</a:t>
            </a:r>
            <a:endParaRPr lang="en-US" sz="750" dirty="0"/>
          </a:p>
        </p:txBody>
      </p:sp>
      <p:sp>
        <p:nvSpPr>
          <p:cNvPr id="19" name="Text 13"/>
          <p:cNvSpPr/>
          <p:nvPr/>
        </p:nvSpPr>
        <p:spPr>
          <a:xfrm>
            <a:off x="10925845" y="6010424"/>
            <a:ext cx="50426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BDD24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2026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104749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SOMMAIRE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6713990" cy="5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300" b="1" kern="0" spc="-66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Au </a:t>
            </a:r>
            <a:r>
              <a:rPr lang="en-US" sz="3300" b="1" kern="0" spc="-66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programme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38088" y="2608399"/>
            <a:ext cx="10515823" cy="11906"/>
          </a:xfrm>
          <a:prstGeom prst="rect">
            <a:avLst/>
          </a:prstGeom>
          <a:solidFill>
            <a:srgbClr val="E4E4E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201" y="1982205"/>
            <a:ext cx="190500" cy="3237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33314" y="1953555"/>
            <a:ext cx="6477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-6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2152427" y="1889373"/>
            <a:ext cx="530669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75" b="1" kern="0" spc="-19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problème &amp; l'objectif</a:t>
            </a:r>
            <a:endParaRPr lang="en-US" sz="1875" dirty="0"/>
          </a:p>
        </p:txBody>
      </p:sp>
      <p:sp>
        <p:nvSpPr>
          <p:cNvPr id="10" name="Text 6"/>
          <p:cNvSpPr/>
          <p:nvPr/>
        </p:nvSpPr>
        <p:spPr>
          <a:xfrm>
            <a:off x="2152427" y="2198936"/>
            <a:ext cx="5306690" cy="238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Le fossé entre code ML et production — une plateforme MLOps générique</a:t>
            </a:r>
            <a:endParaRPr lang="en-US" sz="1125" dirty="0"/>
          </a:p>
        </p:txBody>
      </p:sp>
      <p:sp>
        <p:nvSpPr>
          <p:cNvPr id="11" name="Shape 7"/>
          <p:cNvSpPr/>
          <p:nvPr/>
        </p:nvSpPr>
        <p:spPr>
          <a:xfrm>
            <a:off x="838088" y="3548807"/>
            <a:ext cx="10515823" cy="11906"/>
          </a:xfrm>
          <a:prstGeom prst="rect">
            <a:avLst/>
          </a:prstGeom>
          <a:solidFill>
            <a:srgbClr val="E4E4E4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201" y="2922612"/>
            <a:ext cx="190500" cy="32370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33314" y="2893963"/>
            <a:ext cx="6477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-6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9"/>
          <p:cNvSpPr/>
          <p:nvPr/>
        </p:nvSpPr>
        <p:spPr>
          <a:xfrm>
            <a:off x="2152427" y="2829781"/>
            <a:ext cx="487715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75" b="1" kern="0" spc="-19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L'architecture générique</a:t>
            </a:r>
            <a:endParaRPr lang="en-US" sz="1875" dirty="0"/>
          </a:p>
        </p:txBody>
      </p:sp>
      <p:sp>
        <p:nvSpPr>
          <p:cNvPr id="15" name="Text 10"/>
          <p:cNvSpPr/>
          <p:nvPr/>
        </p:nvSpPr>
        <p:spPr>
          <a:xfrm>
            <a:off x="2152427" y="3139343"/>
            <a:ext cx="4877153" cy="238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4 couches d'abstraction, 5 phases, registry, composants pluggables</a:t>
            </a:r>
            <a:endParaRPr lang="en-US" sz="1125" dirty="0"/>
          </a:p>
        </p:txBody>
      </p:sp>
      <p:sp>
        <p:nvSpPr>
          <p:cNvPr id="16" name="Shape 11"/>
          <p:cNvSpPr/>
          <p:nvPr/>
        </p:nvSpPr>
        <p:spPr>
          <a:xfrm>
            <a:off x="838088" y="4489214"/>
            <a:ext cx="10515823" cy="11906"/>
          </a:xfrm>
          <a:prstGeom prst="rect">
            <a:avLst/>
          </a:prstGeom>
          <a:solidFill>
            <a:srgbClr val="E4E4E4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201" y="3863020"/>
            <a:ext cx="190500" cy="32370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33314" y="3834371"/>
            <a:ext cx="6477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-6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3"/>
          <p:cNvSpPr/>
          <p:nvPr/>
        </p:nvSpPr>
        <p:spPr>
          <a:xfrm>
            <a:off x="2152427" y="3770188"/>
            <a:ext cx="445928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75" b="1" kern="0" spc="-19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use case RAG en pratique</a:t>
            </a:r>
            <a:endParaRPr lang="en-US" sz="1875" dirty="0"/>
          </a:p>
        </p:txBody>
      </p:sp>
      <p:sp>
        <p:nvSpPr>
          <p:cNvPr id="20" name="Text 14"/>
          <p:cNvSpPr/>
          <p:nvPr/>
        </p:nvSpPr>
        <p:spPr>
          <a:xfrm>
            <a:off x="2152427" y="4079751"/>
            <a:ext cx="4459281" cy="238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Le contrat appliqué de bout en bout : ingestion → index → API</a:t>
            </a:r>
            <a:endParaRPr lang="en-US" sz="1125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201" y="4803428"/>
            <a:ext cx="190500" cy="32370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33314" y="4774778"/>
            <a:ext cx="6477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-6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04</a:t>
            </a:r>
            <a:endParaRPr lang="en-US" sz="3000" dirty="0"/>
          </a:p>
        </p:txBody>
      </p:sp>
      <p:sp>
        <p:nvSpPr>
          <p:cNvPr id="23" name="Text 16"/>
          <p:cNvSpPr/>
          <p:nvPr/>
        </p:nvSpPr>
        <p:spPr>
          <a:xfrm>
            <a:off x="2152427" y="4710596"/>
            <a:ext cx="443615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75" b="1" kern="0" spc="-19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Les services OPS (MLOps)</a:t>
            </a:r>
            <a:endParaRPr lang="en-US" sz="1875" dirty="0"/>
          </a:p>
        </p:txBody>
      </p:sp>
      <p:sp>
        <p:nvSpPr>
          <p:cNvPr id="24" name="Text 17"/>
          <p:cNvSpPr/>
          <p:nvPr/>
        </p:nvSpPr>
        <p:spPr>
          <a:xfrm>
            <a:off x="2152427" y="5020159"/>
            <a:ext cx="4436157" cy="238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Tracking MLflow, monitoring Grafana, conteneurisation, CI/CT</a:t>
            </a:r>
            <a:endParaRPr lang="en-US" sz="1125" dirty="0"/>
          </a:p>
        </p:txBody>
      </p:sp>
      <p:sp>
        <p:nvSpPr>
          <p:cNvPr id="25" name="Text 18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1099416" y="6418585"/>
            <a:ext cx="254496" cy="1523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514"/>
            <a:ext cx="12192000" cy="6858000"/>
          </a:xfrm>
          <a:prstGeom prst="rect">
            <a:avLst/>
          </a:prstGeom>
          <a:solidFill>
            <a:srgbClr val="2A2A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1238250" cy="2286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423" y="2358571"/>
            <a:ext cx="1238250" cy="2286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743088" y="2145543"/>
            <a:ext cx="947190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PARTIE 1 · 01 / 04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2743088" y="2464594"/>
            <a:ext cx="7793606" cy="1238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problème &amp; l'objectif</a:t>
            </a:r>
            <a:endParaRPr lang="en-US" sz="4500" dirty="0"/>
          </a:p>
        </p:txBody>
      </p:sp>
      <p:sp>
        <p:nvSpPr>
          <p:cNvPr id="7" name="Shape 3"/>
          <p:cNvSpPr/>
          <p:nvPr/>
        </p:nvSpPr>
        <p:spPr>
          <a:xfrm>
            <a:off x="2743088" y="3931109"/>
            <a:ext cx="685726" cy="57113"/>
          </a:xfrm>
          <a:prstGeom prst="roundRect">
            <a:avLst>
              <a:gd name="adj" fmla="val 50000"/>
            </a:avLst>
          </a:prstGeom>
          <a:solidFill>
            <a:srgbClr val="BDD248"/>
          </a:solidFill>
          <a:ln/>
        </p:spPr>
      </p:sp>
      <p:sp>
        <p:nvSpPr>
          <p:cNvPr id="8" name="Text 4"/>
          <p:cNvSpPr/>
          <p:nvPr/>
        </p:nvSpPr>
        <p:spPr>
          <a:xfrm>
            <a:off x="2743088" y="4197697"/>
            <a:ext cx="3602385" cy="552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9AA5B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Le fossé entre code ML et production — et la plateforme qui le comble.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913377" y="2230841"/>
            <a:ext cx="4203688" cy="2434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000"/>
              </a:lnSpc>
              <a:buNone/>
            </a:pPr>
            <a:r>
              <a:rPr lang="en-US" sz="25500" b="1" kern="0" spc="-1020" dirty="0">
                <a:solidFill>
                  <a:srgbClr val="BDD248">
                    <a:alpha val="8000"/>
                  </a:srgbClr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01</a:t>
            </a:r>
            <a:endParaRPr lang="en-US" sz="25500" dirty="0"/>
          </a:p>
        </p:txBody>
      </p:sp>
      <p:sp>
        <p:nvSpPr>
          <p:cNvPr id="10" name="Text 6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AA5B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1180341" y="6418585"/>
            <a:ext cx="173571" cy="1523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364990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BLOC 01 · CADRAGE · PROBLÉMATIQUE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6858327" cy="1027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300" b="1" kern="0" spc="-66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fossé entre </a:t>
            </a:r>
            <a:r>
              <a:rPr lang="en-US" sz="3300" b="1" kern="0" spc="-66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code ML </a:t>
            </a:r>
            <a:r>
              <a:rPr lang="en-US" sz="3300" b="1" kern="0" spc="-66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et production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38088" y="2193354"/>
            <a:ext cx="2476500" cy="3238500"/>
          </a:xfrm>
          <a:prstGeom prst="roundRect">
            <a:avLst>
              <a:gd name="adj" fmla="val 2308"/>
            </a:avLst>
          </a:prstGeom>
          <a:solidFill>
            <a:srgbClr val="F4F4F4"/>
          </a:solidFill>
          <a:ln/>
        </p:spPr>
      </p:sp>
      <p:sp>
        <p:nvSpPr>
          <p:cNvPr id="7" name="Shape 4"/>
          <p:cNvSpPr/>
          <p:nvPr/>
        </p:nvSpPr>
        <p:spPr>
          <a:xfrm>
            <a:off x="838088" y="5419948"/>
            <a:ext cx="247650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8" name="Shape 5"/>
          <p:cNvSpPr/>
          <p:nvPr/>
        </p:nvSpPr>
        <p:spPr>
          <a:xfrm>
            <a:off x="838088" y="2193354"/>
            <a:ext cx="2476500" cy="35719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9" name="Shape 6"/>
          <p:cNvSpPr/>
          <p:nvPr/>
        </p:nvSpPr>
        <p:spPr>
          <a:xfrm>
            <a:off x="838088" y="2193354"/>
            <a:ext cx="11906" cy="323850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0" name="Shape 7"/>
          <p:cNvSpPr/>
          <p:nvPr/>
        </p:nvSpPr>
        <p:spPr>
          <a:xfrm>
            <a:off x="3302682" y="2193354"/>
            <a:ext cx="11906" cy="323850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1" name="Text 8"/>
          <p:cNvSpPr/>
          <p:nvPr/>
        </p:nvSpPr>
        <p:spPr>
          <a:xfrm>
            <a:off x="1059470" y="2457524"/>
            <a:ext cx="223711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CÔTÉ DEV</a:t>
            </a:r>
            <a:endParaRPr lang="en-US" sz="825" dirty="0"/>
          </a:p>
        </p:txBody>
      </p:sp>
      <p:sp>
        <p:nvSpPr>
          <p:cNvPr id="12" name="Shape 9"/>
          <p:cNvSpPr/>
          <p:nvPr/>
        </p:nvSpPr>
        <p:spPr>
          <a:xfrm>
            <a:off x="1059470" y="2733601"/>
            <a:ext cx="609451" cy="609451"/>
          </a:xfrm>
          <a:prstGeom prst="roundRect">
            <a:avLst>
              <a:gd name="adj" fmla="val 4689"/>
            </a:avLst>
          </a:prstGeom>
          <a:solidFill>
            <a:srgbClr val="EFF4D8"/>
          </a:solidFill>
          <a:ln/>
        </p:spPr>
      </p:sp>
      <p:sp>
        <p:nvSpPr>
          <p:cNvPr id="13" name="Shape 10"/>
          <p:cNvSpPr/>
          <p:nvPr/>
        </p:nvSpPr>
        <p:spPr>
          <a:xfrm>
            <a:off x="1164208" y="2800201"/>
            <a:ext cx="399976" cy="476250"/>
          </a:xfrm>
          <a:prstGeom prst="roundRect">
            <a:avLst>
              <a:gd name="adj" fmla="val 4763"/>
            </a:avLst>
          </a:prstGeom>
          <a:solidFill>
            <a:srgbClr val="FFFFFF"/>
          </a:solidFill>
          <a:ln w="11906">
            <a:solidFill>
              <a:srgbClr val="3F3F3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42715" y="2888196"/>
            <a:ext cx="145666" cy="18976"/>
          </a:xfrm>
          <a:prstGeom prst="roundRect">
            <a:avLst>
              <a:gd name="adj" fmla="val 49999"/>
            </a:avLst>
          </a:prstGeom>
          <a:solidFill>
            <a:srgbClr val="BDD248"/>
          </a:solidFill>
          <a:ln/>
        </p:spPr>
      </p:sp>
      <p:sp>
        <p:nvSpPr>
          <p:cNvPr id="15" name="Shape 12"/>
          <p:cNvSpPr/>
          <p:nvPr/>
        </p:nvSpPr>
        <p:spPr>
          <a:xfrm>
            <a:off x="1242715" y="2954796"/>
            <a:ext cx="242962" cy="18976"/>
          </a:xfrm>
          <a:prstGeom prst="roundRect">
            <a:avLst>
              <a:gd name="adj" fmla="val 49999"/>
            </a:avLst>
          </a:prstGeom>
          <a:solidFill>
            <a:srgbClr val="525252"/>
          </a:solidFill>
          <a:ln/>
        </p:spPr>
      </p:sp>
      <p:sp>
        <p:nvSpPr>
          <p:cNvPr id="16" name="Shape 13"/>
          <p:cNvSpPr/>
          <p:nvPr/>
        </p:nvSpPr>
        <p:spPr>
          <a:xfrm>
            <a:off x="1242715" y="3021397"/>
            <a:ext cx="194221" cy="18976"/>
          </a:xfrm>
          <a:prstGeom prst="roundRect">
            <a:avLst>
              <a:gd name="adj" fmla="val 49999"/>
            </a:avLst>
          </a:prstGeom>
          <a:solidFill>
            <a:srgbClr val="525252"/>
          </a:solidFill>
          <a:ln/>
        </p:spPr>
      </p:sp>
      <p:sp>
        <p:nvSpPr>
          <p:cNvPr id="17" name="Shape 14"/>
          <p:cNvSpPr/>
          <p:nvPr/>
        </p:nvSpPr>
        <p:spPr>
          <a:xfrm>
            <a:off x="1242715" y="3087998"/>
            <a:ext cx="133573" cy="18976"/>
          </a:xfrm>
          <a:prstGeom prst="roundRect">
            <a:avLst>
              <a:gd name="adj" fmla="val 49999"/>
            </a:avLst>
          </a:prstGeom>
          <a:solidFill>
            <a:srgbClr val="525252"/>
          </a:solidFill>
          <a:ln/>
        </p:spPr>
      </p:sp>
      <p:sp>
        <p:nvSpPr>
          <p:cNvPr id="18" name="Text 15"/>
          <p:cNvSpPr/>
          <p:nvPr/>
        </p:nvSpPr>
        <p:spPr>
          <a:xfrm>
            <a:off x="1059470" y="4220580"/>
            <a:ext cx="2237110" cy="289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b="1" kern="0" spc="-18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Code ML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059470" y="4490889"/>
            <a:ext cx="223711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du développeur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059470" y="4771802"/>
            <a:ext cx="2033736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1" name="Text 18"/>
          <p:cNvSpPr/>
          <p:nvPr/>
        </p:nvSpPr>
        <p:spPr>
          <a:xfrm>
            <a:off x="1059470" y="4878958"/>
            <a:ext cx="2109936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863" kern="0" spc="3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notebook.ipynb script.py · model.pkl</a:t>
            </a:r>
            <a:endParaRPr lang="en-US" sz="863" dirty="0"/>
          </a:p>
        </p:txBody>
      </p:sp>
      <p:sp>
        <p:nvSpPr>
          <p:cNvPr id="22" name="Text 19"/>
          <p:cNvSpPr/>
          <p:nvPr/>
        </p:nvSpPr>
        <p:spPr>
          <a:xfrm>
            <a:off x="3036447" y="2193354"/>
            <a:ext cx="6119106" cy="327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0" b="1" kern="0" spc="-960" dirty="0">
                <a:solidFill>
                  <a:srgbClr val="E1ECB6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?</a:t>
            </a:r>
            <a:endParaRPr lang="en-US" sz="24000" dirty="0"/>
          </a:p>
        </p:txBody>
      </p:sp>
      <p:sp>
        <p:nvSpPr>
          <p:cNvPr id="23" name="Shape 20"/>
          <p:cNvSpPr/>
          <p:nvPr/>
        </p:nvSpPr>
        <p:spPr>
          <a:xfrm>
            <a:off x="4093332" y="2452315"/>
            <a:ext cx="1110630" cy="34267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06">
            <a:solidFill>
              <a:srgbClr val="CFCFCF"/>
            </a:solidFill>
            <a:prstDash val="solid"/>
          </a:ln>
          <a:effectLst>
            <a:outerShdw blurRad="19050" dist="9525" dir="5400000" algn="bl" rotWithShape="0">
              <a:srgbClr val="2A2A2A">
                <a:alpha val="6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257638" y="2540422"/>
            <a:ext cx="858217" cy="20456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25252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tracking </a:t>
            </a:r>
            <a:r>
              <a:rPr lang="en-US" sz="1050" b="1" dirty="0">
                <a:solidFill>
                  <a:srgbClr val="8FA82E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?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050546" y="2646722"/>
            <a:ext cx="1270620" cy="34267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06">
            <a:solidFill>
              <a:srgbClr val="CFCFCF"/>
            </a:solidFill>
            <a:prstDash val="solid"/>
          </a:ln>
          <a:effectLst>
            <a:outerShdw blurRad="19050" dist="9525" dir="5400000" algn="bl" rotWithShape="0">
              <a:srgbClr val="2A2A2A">
                <a:alpha val="6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214853" y="2734828"/>
            <a:ext cx="1018208" cy="20456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25252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monitoring </a:t>
            </a:r>
            <a:r>
              <a:rPr lang="en-US" sz="1050" b="1" dirty="0">
                <a:solidFill>
                  <a:srgbClr val="8FA82E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?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759584" y="4506330"/>
            <a:ext cx="1350615" cy="34267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06">
            <a:solidFill>
              <a:srgbClr val="CFCFCF"/>
            </a:solidFill>
            <a:prstDash val="solid"/>
          </a:ln>
          <a:effectLst>
            <a:outerShdw blurRad="19050" dist="9525" dir="5400000" algn="bl" rotWithShape="0">
              <a:srgbClr val="2A2A2A">
                <a:alpha val="6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923891" y="4594436"/>
            <a:ext cx="1098203" cy="20456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25252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déploiement </a:t>
            </a:r>
            <a:r>
              <a:rPr lang="en-US" sz="1050" b="1" dirty="0">
                <a:solidFill>
                  <a:srgbClr val="8FA82E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?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347892" y="4765477"/>
            <a:ext cx="1750777" cy="34267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06">
            <a:solidFill>
              <a:srgbClr val="CFCFCF"/>
            </a:solidFill>
            <a:prstDash val="solid"/>
          </a:ln>
          <a:effectLst>
            <a:outerShdw blurRad="19050" dist="9525" dir="5400000" algn="bl" rotWithShape="0">
              <a:srgbClr val="2A2A2A">
                <a:alpha val="6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512198" y="4853583"/>
            <a:ext cx="1498364" cy="20456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25252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reproductibilité </a:t>
            </a:r>
            <a:r>
              <a:rPr lang="en-US" sz="1050" b="1" dirty="0">
                <a:solidFill>
                  <a:srgbClr val="8FA82E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?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877412" y="2193354"/>
            <a:ext cx="2476500" cy="3238500"/>
          </a:xfrm>
          <a:prstGeom prst="roundRect">
            <a:avLst>
              <a:gd name="adj" fmla="val 2308"/>
            </a:avLst>
          </a:prstGeom>
          <a:solidFill>
            <a:srgbClr val="F4F4F4"/>
          </a:solidFill>
          <a:ln/>
        </p:spPr>
      </p:sp>
      <p:sp>
        <p:nvSpPr>
          <p:cNvPr id="32" name="Shape 29"/>
          <p:cNvSpPr/>
          <p:nvPr/>
        </p:nvSpPr>
        <p:spPr>
          <a:xfrm>
            <a:off x="8877412" y="5419948"/>
            <a:ext cx="247650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3" name="Shape 30"/>
          <p:cNvSpPr/>
          <p:nvPr/>
        </p:nvSpPr>
        <p:spPr>
          <a:xfrm>
            <a:off x="8877412" y="2193354"/>
            <a:ext cx="2476500" cy="35719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4" name="Shape 31"/>
          <p:cNvSpPr/>
          <p:nvPr/>
        </p:nvSpPr>
        <p:spPr>
          <a:xfrm>
            <a:off x="8877412" y="2193354"/>
            <a:ext cx="11906" cy="323850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5" name="Shape 32"/>
          <p:cNvSpPr/>
          <p:nvPr/>
        </p:nvSpPr>
        <p:spPr>
          <a:xfrm>
            <a:off x="11342005" y="2193354"/>
            <a:ext cx="11906" cy="323850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6" name="Text 33"/>
          <p:cNvSpPr/>
          <p:nvPr/>
        </p:nvSpPr>
        <p:spPr>
          <a:xfrm>
            <a:off x="9098793" y="2457524"/>
            <a:ext cx="223711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CÔTÉ PROD</a:t>
            </a:r>
            <a:endParaRPr lang="en-US" sz="825" dirty="0"/>
          </a:p>
        </p:txBody>
      </p:sp>
      <p:sp>
        <p:nvSpPr>
          <p:cNvPr id="37" name="Shape 34"/>
          <p:cNvSpPr/>
          <p:nvPr/>
        </p:nvSpPr>
        <p:spPr>
          <a:xfrm>
            <a:off x="9098793" y="2733601"/>
            <a:ext cx="609451" cy="609451"/>
          </a:xfrm>
          <a:prstGeom prst="roundRect">
            <a:avLst>
              <a:gd name="adj" fmla="val 4689"/>
            </a:avLst>
          </a:prstGeom>
          <a:solidFill>
            <a:srgbClr val="EFF4D8"/>
          </a:solidFill>
          <a:ln/>
        </p:spPr>
      </p:sp>
      <p:sp>
        <p:nvSpPr>
          <p:cNvPr id="38" name="Shape 35"/>
          <p:cNvSpPr/>
          <p:nvPr/>
        </p:nvSpPr>
        <p:spPr>
          <a:xfrm>
            <a:off x="9165394" y="2819177"/>
            <a:ext cx="476250" cy="114226"/>
          </a:xfrm>
          <a:prstGeom prst="roundRect">
            <a:avLst>
              <a:gd name="adj" fmla="val 16677"/>
            </a:avLst>
          </a:prstGeom>
          <a:solidFill>
            <a:srgbClr val="FFFFFF"/>
          </a:solidFill>
          <a:ln w="11906">
            <a:solidFill>
              <a:srgbClr val="3F3F3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165394" y="2981027"/>
            <a:ext cx="476250" cy="114226"/>
          </a:xfrm>
          <a:prstGeom prst="roundRect">
            <a:avLst>
              <a:gd name="adj" fmla="val 16677"/>
            </a:avLst>
          </a:prstGeom>
          <a:solidFill>
            <a:srgbClr val="FFFFFF"/>
          </a:solidFill>
          <a:ln w="11906">
            <a:solidFill>
              <a:srgbClr val="3F3F3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165394" y="3142878"/>
            <a:ext cx="476250" cy="114226"/>
          </a:xfrm>
          <a:prstGeom prst="roundRect">
            <a:avLst>
              <a:gd name="adj" fmla="val 16677"/>
            </a:avLst>
          </a:prstGeom>
          <a:solidFill>
            <a:srgbClr val="FFFFFF"/>
          </a:solidFill>
          <a:ln w="11906">
            <a:solidFill>
              <a:srgbClr val="3F3F3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098793" y="4220580"/>
            <a:ext cx="2237110" cy="289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b="1" kern="0" spc="-18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Production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9098793" y="4490889"/>
            <a:ext cx="223711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utilisateur final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9098793" y="4771802"/>
            <a:ext cx="2033736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4" name="Text 41"/>
          <p:cNvSpPr/>
          <p:nvPr/>
        </p:nvSpPr>
        <p:spPr>
          <a:xfrm>
            <a:off x="9098793" y="4878958"/>
            <a:ext cx="2109936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863" kern="0" spc="3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 · scale monitoring · SLA</a:t>
            </a:r>
            <a:endParaRPr lang="en-US" sz="863" dirty="0"/>
          </a:p>
        </p:txBody>
      </p:sp>
      <p:sp>
        <p:nvSpPr>
          <p:cNvPr id="45" name="Shape 42"/>
          <p:cNvSpPr/>
          <p:nvPr/>
        </p:nvSpPr>
        <p:spPr>
          <a:xfrm>
            <a:off x="838088" y="5736580"/>
            <a:ext cx="3403699" cy="614288"/>
          </a:xfrm>
          <a:prstGeom prst="roundRect">
            <a:avLst>
              <a:gd name="adj" fmla="val 9303"/>
            </a:avLst>
          </a:prstGeom>
          <a:solidFill>
            <a:schemeClr val="tx1"/>
          </a:solidFill>
          <a:ln w="11906">
            <a:solidFill>
              <a:srgbClr val="E4E4E4"/>
            </a:solidFill>
            <a:prstDash val="solid"/>
          </a:ln>
        </p:spPr>
      </p:sp>
      <p:pic>
        <p:nvPicPr>
          <p:cNvPr id="4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495" y="5900849"/>
            <a:ext cx="171338" cy="285750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1345034" y="5948474"/>
            <a:ext cx="2933086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 err="1">
                <a:solidFill>
                  <a:schemeClr val="bg1"/>
                </a:solidFill>
                <a:latin typeface="Jost"/>
                <a:ea typeface="Jost" pitchFamily="34" charset="-122"/>
                <a:cs typeface="Jost" pitchFamily="34" charset="-120"/>
              </a:rPr>
              <a:t>Plomberie</a:t>
            </a:r>
            <a:r>
              <a:rPr lang="en-US" sz="1200" b="1" dirty="0">
                <a:solidFill>
                  <a:schemeClr val="bg1"/>
                </a:solidFill>
                <a:latin typeface="Jost"/>
                <a:ea typeface="Jost" pitchFamily="34" charset="-122"/>
                <a:cs typeface="Jost" pitchFamily="34" charset="-120"/>
              </a:rPr>
              <a:t> OPS </a:t>
            </a:r>
            <a:r>
              <a:rPr lang="en-US" sz="1200" b="1" dirty="0" err="1">
                <a:solidFill>
                  <a:schemeClr val="bg1"/>
                </a:solidFill>
                <a:latin typeface="Jost"/>
                <a:ea typeface="Jost" pitchFamily="34" charset="-122"/>
                <a:cs typeface="Jost" pitchFamily="34" charset="-120"/>
              </a:rPr>
              <a:t>refaite</a:t>
            </a:r>
            <a:r>
              <a:rPr lang="en-US" sz="1200" b="1" dirty="0">
                <a:solidFill>
                  <a:schemeClr val="bg1"/>
                </a:solidFill>
                <a:latin typeface="Jost"/>
                <a:ea typeface="Jost" pitchFamily="34" charset="-122"/>
                <a:cs typeface="Jost" pitchFamily="34" charset="-120"/>
              </a:rPr>
              <a:t> à </a:t>
            </a:r>
            <a:r>
              <a:rPr lang="en-US" sz="1200" b="1" dirty="0" err="1">
                <a:solidFill>
                  <a:schemeClr val="bg1"/>
                </a:solidFill>
                <a:latin typeface="Jost"/>
                <a:ea typeface="Jost" pitchFamily="34" charset="-122"/>
                <a:cs typeface="Jost" pitchFamily="34" charset="-120"/>
              </a:rPr>
              <a:t>chaque</a:t>
            </a:r>
            <a:r>
              <a:rPr lang="en-US" sz="1200" b="1" dirty="0">
                <a:solidFill>
                  <a:schemeClr val="bg1"/>
                </a:solidFill>
                <a:latin typeface="Jost"/>
                <a:ea typeface="Jost" pitchFamily="34" charset="-122"/>
                <a:cs typeface="Jost" pitchFamily="34" charset="-12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Jost"/>
                <a:ea typeface="Jost" pitchFamily="34" charset="-122"/>
                <a:cs typeface="Jost" pitchFamily="34" charset="-120"/>
              </a:rPr>
              <a:t>projet</a:t>
            </a:r>
            <a:endParaRPr lang="en-US" sz="1200" err="1">
              <a:solidFill>
                <a:schemeClr val="bg1"/>
              </a:solidFill>
              <a:latin typeface="Jost"/>
              <a:ea typeface="Calibri"/>
              <a:cs typeface="Calibri"/>
            </a:endParaRPr>
          </a:p>
        </p:txBody>
      </p:sp>
      <p:sp>
        <p:nvSpPr>
          <p:cNvPr id="48" name="Shape 44"/>
          <p:cNvSpPr/>
          <p:nvPr/>
        </p:nvSpPr>
        <p:spPr>
          <a:xfrm>
            <a:off x="4394150" y="5736580"/>
            <a:ext cx="3403699" cy="614288"/>
          </a:xfrm>
          <a:prstGeom prst="roundRect">
            <a:avLst>
              <a:gd name="adj" fmla="val 9303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pic>
        <p:nvPicPr>
          <p:cNvPr id="4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6557" y="5900849"/>
            <a:ext cx="171338" cy="285750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4901096" y="5948474"/>
            <a:ext cx="1700752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Pas de standardisation</a:t>
            </a:r>
            <a:endParaRPr lang="en-US" sz="1200" dirty="0"/>
          </a:p>
        </p:txBody>
      </p:sp>
      <p:sp>
        <p:nvSpPr>
          <p:cNvPr id="51" name="Shape 46"/>
          <p:cNvSpPr/>
          <p:nvPr/>
        </p:nvSpPr>
        <p:spPr>
          <a:xfrm>
            <a:off x="7950212" y="5736580"/>
            <a:ext cx="3403699" cy="614288"/>
          </a:xfrm>
          <a:prstGeom prst="roundRect">
            <a:avLst>
              <a:gd name="adj" fmla="val 9303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pic>
        <p:nvPicPr>
          <p:cNvPr id="5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619" y="5900849"/>
            <a:ext cx="171338" cy="285750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8457158" y="5948474"/>
            <a:ext cx="1545636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Mise en prod fragile</a:t>
            </a:r>
            <a:endParaRPr lang="en-US" sz="1200" dirty="0"/>
          </a:p>
        </p:txBody>
      </p:sp>
      <p:sp>
        <p:nvSpPr>
          <p:cNvPr id="54" name="Text 48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55" name="Image 4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56" name="Text 49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02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295395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BLOC 01 · CADRAGE · OBJECTIF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7429919" cy="1027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300" b="1" kern="0" spc="-66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Une plateforme MLOps </a:t>
            </a:r>
            <a:r>
              <a:rPr lang="en-US" sz="3300" b="1" kern="0" spc="-66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générique </a:t>
            </a:r>
            <a:r>
              <a:rPr lang="en-US" sz="3300" b="1" kern="0" spc="-66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, as-a-service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38088" y="2231492"/>
            <a:ext cx="1790588" cy="2000250"/>
          </a:xfrm>
          <a:prstGeom prst="roundRect">
            <a:avLst>
              <a:gd name="adj" fmla="val 3192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40495" y="2452874"/>
            <a:ext cx="15243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AVANT</a:t>
            </a:r>
            <a:endParaRPr lang="en-US" sz="825" dirty="0"/>
          </a:p>
        </p:txBody>
      </p:sp>
      <p:sp>
        <p:nvSpPr>
          <p:cNvPr id="8" name="Shape 5"/>
          <p:cNvSpPr/>
          <p:nvPr/>
        </p:nvSpPr>
        <p:spPr>
          <a:xfrm>
            <a:off x="1040495" y="2709974"/>
            <a:ext cx="533363" cy="533363"/>
          </a:xfrm>
          <a:prstGeom prst="roundRect">
            <a:avLst>
              <a:gd name="adj" fmla="val 5358"/>
            </a:avLst>
          </a:prstGeom>
          <a:solidFill>
            <a:srgbClr val="EFF4D8"/>
          </a:solidFill>
          <a:ln/>
        </p:spPr>
      </p:sp>
      <p:sp>
        <p:nvSpPr>
          <p:cNvPr id="9" name="Shape 6"/>
          <p:cNvSpPr/>
          <p:nvPr/>
        </p:nvSpPr>
        <p:spPr>
          <a:xfrm>
            <a:off x="1116583" y="2757599"/>
            <a:ext cx="381000" cy="43811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906">
            <a:solidFill>
              <a:srgbClr val="3F3F3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85602" y="2836106"/>
            <a:ext cx="145666" cy="18976"/>
          </a:xfrm>
          <a:prstGeom prst="roundRect">
            <a:avLst>
              <a:gd name="adj" fmla="val 49999"/>
            </a:avLst>
          </a:prstGeom>
          <a:solidFill>
            <a:srgbClr val="BDD248"/>
          </a:solidFill>
          <a:ln/>
        </p:spPr>
      </p:sp>
      <p:sp>
        <p:nvSpPr>
          <p:cNvPr id="11" name="Shape 8"/>
          <p:cNvSpPr/>
          <p:nvPr/>
        </p:nvSpPr>
        <p:spPr>
          <a:xfrm>
            <a:off x="1185602" y="2893033"/>
            <a:ext cx="242962" cy="18976"/>
          </a:xfrm>
          <a:prstGeom prst="roundRect">
            <a:avLst>
              <a:gd name="adj" fmla="val 49999"/>
            </a:avLst>
          </a:prstGeom>
          <a:solidFill>
            <a:srgbClr val="525252"/>
          </a:solidFill>
          <a:ln/>
        </p:spPr>
      </p:sp>
      <p:sp>
        <p:nvSpPr>
          <p:cNvPr id="12" name="Shape 9"/>
          <p:cNvSpPr/>
          <p:nvPr/>
        </p:nvSpPr>
        <p:spPr>
          <a:xfrm>
            <a:off x="1185602" y="2949959"/>
            <a:ext cx="194221" cy="18976"/>
          </a:xfrm>
          <a:prstGeom prst="roundRect">
            <a:avLst>
              <a:gd name="adj" fmla="val 49999"/>
            </a:avLst>
          </a:prstGeom>
          <a:solidFill>
            <a:srgbClr val="525252"/>
          </a:solidFill>
          <a:ln/>
        </p:spPr>
      </p:sp>
      <p:sp>
        <p:nvSpPr>
          <p:cNvPr id="13" name="Shape 10"/>
          <p:cNvSpPr/>
          <p:nvPr/>
        </p:nvSpPr>
        <p:spPr>
          <a:xfrm>
            <a:off x="1185602" y="3006886"/>
            <a:ext cx="133573" cy="18976"/>
          </a:xfrm>
          <a:prstGeom prst="roundRect">
            <a:avLst>
              <a:gd name="adj" fmla="val 49999"/>
            </a:avLst>
          </a:prstGeom>
          <a:solidFill>
            <a:srgbClr val="525252"/>
          </a:solidFill>
          <a:ln/>
        </p:spPr>
      </p:sp>
      <p:sp>
        <p:nvSpPr>
          <p:cNvPr id="14" name="Text 11"/>
          <p:cNvSpPr/>
          <p:nvPr/>
        </p:nvSpPr>
        <p:spPr>
          <a:xfrm>
            <a:off x="1040495" y="3585270"/>
            <a:ext cx="1524353" cy="23232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Code ML</a:t>
            </a:r>
            <a:endParaRPr lang="en-US" sz="1275" dirty="0"/>
          </a:p>
        </p:txBody>
      </p:sp>
      <p:sp>
        <p:nvSpPr>
          <p:cNvPr id="15" name="Shape 12"/>
          <p:cNvSpPr/>
          <p:nvPr/>
        </p:nvSpPr>
        <p:spPr>
          <a:xfrm>
            <a:off x="1040495" y="3836603"/>
            <a:ext cx="1385776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6" name="Text 13"/>
          <p:cNvSpPr/>
          <p:nvPr/>
        </p:nvSpPr>
        <p:spPr>
          <a:xfrm>
            <a:off x="1040495" y="3905659"/>
            <a:ext cx="1461976" cy="180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33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notebook · script</a:t>
            </a:r>
            <a:endParaRPr lang="en-US" sz="825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7652" y="3093579"/>
            <a:ext cx="438113" cy="27607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104741" y="2231492"/>
            <a:ext cx="5334744" cy="200025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9" name="Text 15"/>
          <p:cNvSpPr/>
          <p:nvPr/>
        </p:nvSpPr>
        <p:spPr>
          <a:xfrm>
            <a:off x="3409466" y="2548310"/>
            <a:ext cx="500914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PLATEFORME MLOPS · ACTIA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409466" y="2772110"/>
            <a:ext cx="50091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kern="0" spc="-22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 </a:t>
            </a:r>
            <a:r>
              <a:rPr lang="en-US" sz="2250" b="1" kern="0" spc="-22" dirty="0">
                <a:solidFill>
                  <a:srgbClr val="4B5A1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contrat</a:t>
            </a:r>
            <a:r>
              <a:rPr lang="en-US" sz="2250" b="1" kern="0" spc="-22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, tout l'outillage</a:t>
            </a:r>
            <a:endParaRPr lang="en-US" sz="2250" dirty="0"/>
          </a:p>
        </p:txBody>
      </p:sp>
      <p:sp>
        <p:nvSpPr>
          <p:cNvPr id="21" name="Shape 17"/>
          <p:cNvSpPr/>
          <p:nvPr/>
        </p:nvSpPr>
        <p:spPr>
          <a:xfrm>
            <a:off x="3409466" y="3229198"/>
            <a:ext cx="1018729" cy="304726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 w="11906">
            <a:solidFill>
              <a:srgbClr val="3F3F3F">
                <a:alpha val="18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545198" y="3298254"/>
            <a:ext cx="823466" cy="204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20" dirty="0">
                <a:solidFill>
                  <a:srgbClr val="3F3F3F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tracking</a:t>
            </a:r>
            <a:endParaRPr lang="en-US" sz="975" dirty="0"/>
          </a:p>
        </p:txBody>
      </p:sp>
      <p:sp>
        <p:nvSpPr>
          <p:cNvPr id="23" name="Shape 19"/>
          <p:cNvSpPr/>
          <p:nvPr/>
        </p:nvSpPr>
        <p:spPr>
          <a:xfrm>
            <a:off x="4504283" y="3229198"/>
            <a:ext cx="1172208" cy="304726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 w="11906">
            <a:solidFill>
              <a:srgbClr val="3F3F3F">
                <a:alpha val="18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640014" y="3298254"/>
            <a:ext cx="976945" cy="204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20" dirty="0">
                <a:solidFill>
                  <a:srgbClr val="3F3F3F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monitoring</a:t>
            </a:r>
            <a:endParaRPr lang="en-US" sz="975" dirty="0"/>
          </a:p>
        </p:txBody>
      </p:sp>
      <p:sp>
        <p:nvSpPr>
          <p:cNvPr id="25" name="Shape 21"/>
          <p:cNvSpPr/>
          <p:nvPr/>
        </p:nvSpPr>
        <p:spPr>
          <a:xfrm>
            <a:off x="5752579" y="3229198"/>
            <a:ext cx="1249040" cy="304726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 w="11906">
            <a:solidFill>
              <a:srgbClr val="3F3F3F">
                <a:alpha val="1800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888310" y="3298254"/>
            <a:ext cx="1053778" cy="204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20" dirty="0">
                <a:solidFill>
                  <a:srgbClr val="3F3F3F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déploiement</a:t>
            </a:r>
            <a:endParaRPr lang="en-US" sz="975" dirty="0"/>
          </a:p>
        </p:txBody>
      </p:sp>
      <p:sp>
        <p:nvSpPr>
          <p:cNvPr id="27" name="Shape 23"/>
          <p:cNvSpPr/>
          <p:nvPr/>
        </p:nvSpPr>
        <p:spPr>
          <a:xfrm>
            <a:off x="3409466" y="3610012"/>
            <a:ext cx="1632831" cy="304726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 w="11906">
            <a:solidFill>
              <a:srgbClr val="3F3F3F">
                <a:alpha val="18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545198" y="3679068"/>
            <a:ext cx="1437568" cy="204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20" dirty="0">
                <a:solidFill>
                  <a:srgbClr val="3F3F3F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reproductibilité</a:t>
            </a:r>
            <a:endParaRPr lang="en-US" sz="975" dirty="0"/>
          </a:p>
        </p:txBody>
      </p:sp>
      <p:sp>
        <p:nvSpPr>
          <p:cNvPr id="29" name="Shape 25"/>
          <p:cNvSpPr/>
          <p:nvPr/>
        </p:nvSpPr>
        <p:spPr>
          <a:xfrm>
            <a:off x="5118385" y="3610012"/>
            <a:ext cx="1325873" cy="304726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 w="11906">
            <a:solidFill>
              <a:srgbClr val="3F3F3F">
                <a:alpha val="18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254117" y="3679068"/>
            <a:ext cx="1130610" cy="204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20" dirty="0">
                <a:solidFill>
                  <a:srgbClr val="3F3F3F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quality gate</a:t>
            </a:r>
            <a:endParaRPr lang="en-US" sz="975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460" y="3093579"/>
            <a:ext cx="438113" cy="276076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8915549" y="2231492"/>
            <a:ext cx="2438363" cy="2000250"/>
          </a:xfrm>
          <a:prstGeom prst="roundRect">
            <a:avLst>
              <a:gd name="adj" fmla="val 2857"/>
            </a:avLst>
          </a:prstGeom>
          <a:solidFill>
            <a:srgbClr val="F4F4F4"/>
          </a:solidFill>
          <a:ln/>
        </p:spPr>
      </p:sp>
      <p:sp>
        <p:nvSpPr>
          <p:cNvPr id="33" name="Shape 28"/>
          <p:cNvSpPr/>
          <p:nvPr/>
        </p:nvSpPr>
        <p:spPr>
          <a:xfrm>
            <a:off x="8915549" y="4219835"/>
            <a:ext cx="243836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4" name="Shape 29"/>
          <p:cNvSpPr/>
          <p:nvPr/>
        </p:nvSpPr>
        <p:spPr>
          <a:xfrm>
            <a:off x="8915549" y="2231492"/>
            <a:ext cx="243836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5" name="Shape 30"/>
          <p:cNvSpPr/>
          <p:nvPr/>
        </p:nvSpPr>
        <p:spPr>
          <a:xfrm>
            <a:off x="8915549" y="2231492"/>
            <a:ext cx="35719" cy="200025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6" name="Shape 31"/>
          <p:cNvSpPr/>
          <p:nvPr/>
        </p:nvSpPr>
        <p:spPr>
          <a:xfrm>
            <a:off x="11342005" y="2231492"/>
            <a:ext cx="11906" cy="200025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7" name="Text 32"/>
          <p:cNvSpPr/>
          <p:nvPr/>
        </p:nvSpPr>
        <p:spPr>
          <a:xfrm>
            <a:off x="9122606" y="2452874"/>
            <a:ext cx="22317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APRÈS</a:t>
            </a:r>
            <a:endParaRPr lang="en-US" sz="825" dirty="0"/>
          </a:p>
        </p:txBody>
      </p:sp>
      <p:sp>
        <p:nvSpPr>
          <p:cNvPr id="38" name="Shape 33"/>
          <p:cNvSpPr/>
          <p:nvPr/>
        </p:nvSpPr>
        <p:spPr>
          <a:xfrm>
            <a:off x="9122606" y="2709974"/>
            <a:ext cx="533363" cy="533363"/>
          </a:xfrm>
          <a:prstGeom prst="roundRect">
            <a:avLst>
              <a:gd name="adj" fmla="val 5358"/>
            </a:avLst>
          </a:prstGeom>
          <a:solidFill>
            <a:srgbClr val="D7E491"/>
          </a:solidFill>
          <a:ln/>
        </p:spPr>
      </p:sp>
      <p:sp>
        <p:nvSpPr>
          <p:cNvPr id="39" name="Shape 34"/>
          <p:cNvSpPr/>
          <p:nvPr/>
        </p:nvSpPr>
        <p:spPr>
          <a:xfrm>
            <a:off x="9160743" y="2781412"/>
            <a:ext cx="457088" cy="104738"/>
          </a:xfrm>
          <a:prstGeom prst="roundRect">
            <a:avLst>
              <a:gd name="adj" fmla="val 18188"/>
            </a:avLst>
          </a:prstGeom>
          <a:solidFill>
            <a:srgbClr val="FFFFFF"/>
          </a:solidFill>
          <a:ln w="11906">
            <a:solidFill>
              <a:srgbClr val="3F3F3F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9160743" y="2924101"/>
            <a:ext cx="457088" cy="104738"/>
          </a:xfrm>
          <a:prstGeom prst="roundRect">
            <a:avLst>
              <a:gd name="adj" fmla="val 18188"/>
            </a:avLst>
          </a:prstGeom>
          <a:solidFill>
            <a:srgbClr val="FFFFFF"/>
          </a:solidFill>
          <a:ln w="11906">
            <a:solidFill>
              <a:srgbClr val="3F3F3F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9160743" y="3066790"/>
            <a:ext cx="457088" cy="104738"/>
          </a:xfrm>
          <a:prstGeom prst="roundRect">
            <a:avLst>
              <a:gd name="adj" fmla="val 18188"/>
            </a:avLst>
          </a:prstGeom>
          <a:solidFill>
            <a:srgbClr val="FFFFFF"/>
          </a:solidFill>
          <a:ln w="11906">
            <a:solidFill>
              <a:srgbClr val="3F3F3F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9122606" y="3585270"/>
            <a:ext cx="2231789" cy="23232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ML production-ready</a:t>
            </a:r>
            <a:endParaRPr lang="en-US" sz="1275" dirty="0"/>
          </a:p>
        </p:txBody>
      </p:sp>
      <p:sp>
        <p:nvSpPr>
          <p:cNvPr id="43" name="Shape 38"/>
          <p:cNvSpPr/>
          <p:nvPr/>
        </p:nvSpPr>
        <p:spPr>
          <a:xfrm>
            <a:off x="9122606" y="3836603"/>
            <a:ext cx="2028899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4" name="Text 39"/>
          <p:cNvSpPr/>
          <p:nvPr/>
        </p:nvSpPr>
        <p:spPr>
          <a:xfrm>
            <a:off x="9122606" y="3905659"/>
            <a:ext cx="2105099" cy="180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33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 · gates · runs</a:t>
            </a:r>
            <a:endParaRPr lang="en-US" sz="825" dirty="0"/>
          </a:p>
        </p:txBody>
      </p:sp>
      <p:sp>
        <p:nvSpPr>
          <p:cNvPr id="45" name="Shape 40"/>
          <p:cNvSpPr/>
          <p:nvPr/>
        </p:nvSpPr>
        <p:spPr>
          <a:xfrm>
            <a:off x="838088" y="4691807"/>
            <a:ext cx="37951" cy="857250"/>
          </a:xfrm>
          <a:prstGeom prst="roundRect">
            <a:avLst>
              <a:gd name="adj" fmla="val 50000"/>
            </a:avLst>
          </a:prstGeom>
          <a:solidFill>
            <a:srgbClr val="BDD248"/>
          </a:solidFill>
          <a:ln/>
        </p:spPr>
      </p:sp>
      <p:sp>
        <p:nvSpPr>
          <p:cNvPr id="46" name="Text 41"/>
          <p:cNvSpPr/>
          <p:nvPr/>
        </p:nvSpPr>
        <p:spPr>
          <a:xfrm>
            <a:off x="1104491" y="4650693"/>
            <a:ext cx="11274363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PROMESSE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1104491" y="4893469"/>
            <a:ext cx="7191356" cy="734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250" b="1" kern="0" spc="-22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développeur adopte un </a:t>
            </a:r>
            <a:r>
              <a:rPr lang="en-US" sz="2250" b="1" kern="0" spc="-22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contrat→ </a:t>
            </a:r>
            <a:r>
              <a:rPr lang="en-US" sz="2250" b="1" kern="0" spc="-22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il </a:t>
            </a:r>
            <a:r>
              <a:rPr lang="en-US" sz="2250" b="1" kern="0" spc="-22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hérite </a:t>
            </a:r>
            <a:r>
              <a:rPr lang="en-US" sz="2250" b="1" kern="0" spc="-22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 tout l'outillage de production.</a:t>
            </a:r>
            <a:endParaRPr lang="en-US" sz="2250" dirty="0"/>
          </a:p>
        </p:txBody>
      </p:sp>
      <p:sp>
        <p:nvSpPr>
          <p:cNvPr id="48" name="Text 43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49" name="Image 3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03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377790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BLOC 01 · CADRAGE · POSITIONNEMENT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65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850" b="1" kern="0" spc="-57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Pourquoi pas une </a:t>
            </a:r>
            <a:r>
              <a:rPr lang="en-US" sz="2850" b="1" kern="0" spc="-57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plateforme existante </a:t>
            </a:r>
            <a:r>
              <a:rPr lang="en-US" sz="2850" b="1" kern="0" spc="-57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?</a:t>
            </a:r>
            <a:endParaRPr lang="en-US" sz="2850" dirty="0"/>
          </a:p>
        </p:txBody>
      </p:sp>
      <p:sp>
        <p:nvSpPr>
          <p:cNvPr id="6" name="Shape 3"/>
          <p:cNvSpPr/>
          <p:nvPr/>
        </p:nvSpPr>
        <p:spPr>
          <a:xfrm>
            <a:off x="838088" y="1631528"/>
            <a:ext cx="5162662" cy="2659373"/>
          </a:xfrm>
          <a:prstGeom prst="roundRect">
            <a:avLst>
              <a:gd name="adj" fmla="val 2149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7607" y="1852910"/>
            <a:ext cx="270675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-16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Les plateformes du marché</a:t>
            </a:r>
            <a:endParaRPr lang="en-US" sz="1575" dirty="0"/>
          </a:p>
        </p:txBody>
      </p:sp>
      <p:sp>
        <p:nvSpPr>
          <p:cNvPr id="8" name="Text 5"/>
          <p:cNvSpPr/>
          <p:nvPr/>
        </p:nvSpPr>
        <p:spPr>
          <a:xfrm>
            <a:off x="3857253" y="1960066"/>
            <a:ext cx="2072376" cy="180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7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Kubeflow · ZenML · Databricks</a:t>
            </a:r>
            <a:endParaRPr lang="en-US" sz="825" dirty="0"/>
          </a:p>
        </p:txBody>
      </p:sp>
      <p:sp>
        <p:nvSpPr>
          <p:cNvPr id="9" name="Shape 6"/>
          <p:cNvSpPr/>
          <p:nvPr/>
        </p:nvSpPr>
        <p:spPr>
          <a:xfrm>
            <a:off x="1097607" y="2271861"/>
            <a:ext cx="4643624" cy="952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0" name="Shape 7"/>
          <p:cNvSpPr/>
          <p:nvPr/>
        </p:nvSpPr>
        <p:spPr>
          <a:xfrm>
            <a:off x="1097607" y="2735461"/>
            <a:ext cx="4643624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1" name="Shape 8"/>
          <p:cNvSpPr/>
          <p:nvPr/>
        </p:nvSpPr>
        <p:spPr>
          <a:xfrm>
            <a:off x="1097607" y="2443014"/>
            <a:ext cx="123713" cy="123713"/>
          </a:xfrm>
          <a:prstGeom prst="ellipse">
            <a:avLst/>
          </a:prstGeom>
          <a:ln w="11906">
            <a:solidFill>
              <a:srgbClr val="CFCF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92659" y="2414550"/>
            <a:ext cx="4783429" cy="2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63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Cloud-first </a:t>
            </a:r>
            <a:r>
              <a:rPr lang="en-US" sz="116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ou Kubernetes requis</a:t>
            </a:r>
            <a:endParaRPr lang="en-US" sz="1163" dirty="0"/>
          </a:p>
        </p:txBody>
      </p:sp>
      <p:sp>
        <p:nvSpPr>
          <p:cNvPr id="13" name="Shape 10"/>
          <p:cNvSpPr/>
          <p:nvPr/>
        </p:nvSpPr>
        <p:spPr>
          <a:xfrm>
            <a:off x="1097607" y="3182503"/>
            <a:ext cx="4643624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4" name="Shape 11"/>
          <p:cNvSpPr/>
          <p:nvPr/>
        </p:nvSpPr>
        <p:spPr>
          <a:xfrm>
            <a:off x="1097607" y="2890056"/>
            <a:ext cx="123713" cy="123713"/>
          </a:xfrm>
          <a:prstGeom prst="ellipse">
            <a:avLst/>
          </a:prstGeom>
          <a:ln w="11906">
            <a:solidFill>
              <a:srgbClr val="CFCFC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92659" y="2861593"/>
            <a:ext cx="4783429" cy="2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6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Infrastructure </a:t>
            </a:r>
            <a:r>
              <a:rPr lang="en-US" sz="1163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lourde </a:t>
            </a:r>
            <a:r>
              <a:rPr lang="en-US" sz="116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à déployer</a:t>
            </a:r>
            <a:endParaRPr lang="en-US" sz="1163" dirty="0"/>
          </a:p>
        </p:txBody>
      </p:sp>
      <p:sp>
        <p:nvSpPr>
          <p:cNvPr id="16" name="Shape 13"/>
          <p:cNvSpPr/>
          <p:nvPr/>
        </p:nvSpPr>
        <p:spPr>
          <a:xfrm>
            <a:off x="1097607" y="3629546"/>
            <a:ext cx="4643624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7" name="Shape 14"/>
          <p:cNvSpPr/>
          <p:nvPr/>
        </p:nvSpPr>
        <p:spPr>
          <a:xfrm>
            <a:off x="1097607" y="3337099"/>
            <a:ext cx="123713" cy="123713"/>
          </a:xfrm>
          <a:prstGeom prst="ellipse">
            <a:avLst/>
          </a:prstGeom>
          <a:ln w="11906">
            <a:solidFill>
              <a:srgbClr val="CFCFC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92659" y="3308635"/>
            <a:ext cx="4783429" cy="2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6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Une </a:t>
            </a:r>
            <a:r>
              <a:rPr lang="en-US" sz="1163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équipe DevOps </a:t>
            </a:r>
            <a:r>
              <a:rPr lang="en-US" sz="116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nécessaire</a:t>
            </a:r>
            <a:endParaRPr lang="en-US" sz="1163" dirty="0"/>
          </a:p>
        </p:txBody>
      </p:sp>
      <p:sp>
        <p:nvSpPr>
          <p:cNvPr id="19" name="Shape 16"/>
          <p:cNvSpPr/>
          <p:nvPr/>
        </p:nvSpPr>
        <p:spPr>
          <a:xfrm>
            <a:off x="1097607" y="4076588"/>
            <a:ext cx="4643624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0" name="Shape 17"/>
          <p:cNvSpPr/>
          <p:nvPr/>
        </p:nvSpPr>
        <p:spPr>
          <a:xfrm>
            <a:off x="1097607" y="3784141"/>
            <a:ext cx="123713" cy="123713"/>
          </a:xfrm>
          <a:prstGeom prst="ellipse">
            <a:avLst/>
          </a:prstGeom>
          <a:ln w="11906">
            <a:solidFill>
              <a:srgbClr val="CFCFC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392659" y="3755678"/>
            <a:ext cx="4783429" cy="2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6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Données souvent </a:t>
            </a:r>
            <a:r>
              <a:rPr lang="en-US" sz="1163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dans le cloud</a:t>
            </a:r>
            <a:endParaRPr lang="en-US" sz="1163" dirty="0"/>
          </a:p>
        </p:txBody>
      </p:sp>
      <p:sp>
        <p:nvSpPr>
          <p:cNvPr id="22" name="Shape 19"/>
          <p:cNvSpPr/>
          <p:nvPr/>
        </p:nvSpPr>
        <p:spPr>
          <a:xfrm>
            <a:off x="6191250" y="1631528"/>
            <a:ext cx="5162662" cy="2659373"/>
          </a:xfrm>
          <a:prstGeom prst="roundRect">
            <a:avLst>
              <a:gd name="adj" fmla="val 2149"/>
            </a:avLst>
          </a:prstGeom>
          <a:solidFill>
            <a:srgbClr val="2A2A2A"/>
          </a:solidFill>
          <a:ln/>
        </p:spPr>
      </p:sp>
      <p:sp>
        <p:nvSpPr>
          <p:cNvPr id="23" name="Shape 20"/>
          <p:cNvSpPr/>
          <p:nvPr/>
        </p:nvSpPr>
        <p:spPr>
          <a:xfrm>
            <a:off x="6191250" y="1631528"/>
            <a:ext cx="5162662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4" name="Text 21"/>
          <p:cNvSpPr/>
          <p:nvPr/>
        </p:nvSpPr>
        <p:spPr>
          <a:xfrm>
            <a:off x="6438863" y="1864816"/>
            <a:ext cx="85178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-16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Ce socle</a:t>
            </a:r>
            <a:endParaRPr lang="en-US" sz="1575" dirty="0"/>
          </a:p>
        </p:txBody>
      </p:sp>
      <p:sp>
        <p:nvSpPr>
          <p:cNvPr id="25" name="Text 22"/>
          <p:cNvSpPr/>
          <p:nvPr/>
        </p:nvSpPr>
        <p:spPr>
          <a:xfrm>
            <a:off x="10391552" y="1971973"/>
            <a:ext cx="790947" cy="180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7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Local-first</a:t>
            </a:r>
            <a:endParaRPr lang="en-US" sz="825" dirty="0"/>
          </a:p>
        </p:txBody>
      </p:sp>
      <p:sp>
        <p:nvSpPr>
          <p:cNvPr id="26" name="Shape 23"/>
          <p:cNvSpPr/>
          <p:nvPr/>
        </p:nvSpPr>
        <p:spPr>
          <a:xfrm>
            <a:off x="6438863" y="2283768"/>
            <a:ext cx="4667436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6438863" y="2747367"/>
            <a:ext cx="4667436" cy="1190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6438863" y="2445432"/>
            <a:ext cx="114226" cy="17133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9" name="Text 26"/>
          <p:cNvSpPr/>
          <p:nvPr/>
        </p:nvSpPr>
        <p:spPr>
          <a:xfrm>
            <a:off x="6733915" y="2426457"/>
            <a:ext cx="4809623" cy="2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63" b="1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100 % local </a:t>
            </a:r>
            <a:r>
              <a:rPr lang="en-US" sz="1163" dirty="0">
                <a:solidFill>
                  <a:srgbClr val="E6E9E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— aucun cloud requis</a:t>
            </a:r>
            <a:endParaRPr lang="en-US" sz="1163" dirty="0"/>
          </a:p>
        </p:txBody>
      </p:sp>
      <p:sp>
        <p:nvSpPr>
          <p:cNvPr id="30" name="Shape 27"/>
          <p:cNvSpPr/>
          <p:nvPr/>
        </p:nvSpPr>
        <p:spPr>
          <a:xfrm>
            <a:off x="6438863" y="3194410"/>
            <a:ext cx="4667436" cy="1190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6438863" y="2892475"/>
            <a:ext cx="114226" cy="17133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2" name="Text 29"/>
          <p:cNvSpPr/>
          <p:nvPr/>
        </p:nvSpPr>
        <p:spPr>
          <a:xfrm>
            <a:off x="6733915" y="2873499"/>
            <a:ext cx="4809623" cy="2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63" b="1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Souverain </a:t>
            </a:r>
            <a:r>
              <a:rPr lang="en-US" sz="1163" dirty="0">
                <a:solidFill>
                  <a:srgbClr val="E6E9E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— les données ne quittent pas l'entreprise</a:t>
            </a:r>
            <a:endParaRPr lang="en-US" sz="1163" dirty="0"/>
          </a:p>
        </p:txBody>
      </p:sp>
      <p:sp>
        <p:nvSpPr>
          <p:cNvPr id="33" name="Shape 30"/>
          <p:cNvSpPr/>
          <p:nvPr/>
        </p:nvSpPr>
        <p:spPr>
          <a:xfrm>
            <a:off x="6438863" y="3641452"/>
            <a:ext cx="4667436" cy="1190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6438863" y="3339517"/>
            <a:ext cx="114226" cy="17133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5" name="Text 32"/>
          <p:cNvSpPr/>
          <p:nvPr/>
        </p:nvSpPr>
        <p:spPr>
          <a:xfrm>
            <a:off x="6733915" y="3320542"/>
            <a:ext cx="4809623" cy="2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63" b="1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Léger </a:t>
            </a:r>
            <a:r>
              <a:rPr lang="en-US" sz="1163" dirty="0">
                <a:solidFill>
                  <a:srgbClr val="E6E9E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— tourne sur un laptop</a:t>
            </a:r>
            <a:endParaRPr lang="en-US" sz="1163" dirty="0"/>
          </a:p>
        </p:txBody>
      </p:sp>
      <p:sp>
        <p:nvSpPr>
          <p:cNvPr id="36" name="Shape 33"/>
          <p:cNvSpPr/>
          <p:nvPr/>
        </p:nvSpPr>
        <p:spPr>
          <a:xfrm>
            <a:off x="6438863" y="4088495"/>
            <a:ext cx="4667436" cy="1190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6438863" y="3786560"/>
            <a:ext cx="114226" cy="17133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8" name="Text 35"/>
          <p:cNvSpPr/>
          <p:nvPr/>
        </p:nvSpPr>
        <p:spPr>
          <a:xfrm>
            <a:off x="6733915" y="3767584"/>
            <a:ext cx="4809623" cy="2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63" b="1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Maîtrisable </a:t>
            </a:r>
            <a:r>
              <a:rPr lang="en-US" sz="1163" dirty="0">
                <a:solidFill>
                  <a:srgbClr val="E6E9E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par un seul développeur</a:t>
            </a:r>
            <a:endParaRPr lang="en-US" sz="1163" dirty="0"/>
          </a:p>
        </p:txBody>
      </p:sp>
      <p:sp>
        <p:nvSpPr>
          <p:cNvPr id="39" name="Shape 36"/>
          <p:cNvSpPr/>
          <p:nvPr/>
        </p:nvSpPr>
        <p:spPr>
          <a:xfrm>
            <a:off x="838088" y="4462239"/>
            <a:ext cx="10515823" cy="749722"/>
          </a:xfrm>
          <a:prstGeom prst="roundRect">
            <a:avLst>
              <a:gd name="adj" fmla="val 7623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59470" y="4617021"/>
            <a:ext cx="37951" cy="440159"/>
          </a:xfrm>
          <a:prstGeom prst="roundRect">
            <a:avLst>
              <a:gd name="adj" fmla="val 50000"/>
            </a:avLst>
          </a:prstGeom>
          <a:solidFill>
            <a:srgbClr val="6E8523"/>
          </a:solidFill>
          <a:ln/>
        </p:spPr>
      </p:sp>
      <p:sp>
        <p:nvSpPr>
          <p:cNvPr id="41" name="Text 38"/>
          <p:cNvSpPr/>
          <p:nvPr/>
        </p:nvSpPr>
        <p:spPr>
          <a:xfrm>
            <a:off x="1249784" y="4617021"/>
            <a:ext cx="10179228" cy="478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38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L'objectif n'est pas de </a:t>
            </a:r>
            <a:r>
              <a:rPr lang="en-US" sz="1238" b="1" dirty="0">
                <a:solidFill>
                  <a:srgbClr val="4B5A1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concurrencer </a:t>
            </a:r>
            <a:r>
              <a:rPr lang="en-US" sz="1238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ces plateformes, mais de </a:t>
            </a:r>
            <a:r>
              <a:rPr lang="en-US" sz="1238" b="1" dirty="0">
                <a:solidFill>
                  <a:srgbClr val="4B5A1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démontrer leurs principes </a:t>
            </a:r>
            <a:r>
              <a:rPr lang="en-US" sz="1238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dans un contexte où le cloud n'est pas une option.</a:t>
            </a:r>
            <a:endParaRPr lang="en-US" sz="1238" dirty="0"/>
          </a:p>
        </p:txBody>
      </p:sp>
      <p:sp>
        <p:nvSpPr>
          <p:cNvPr id="42" name="Text 39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1099416" y="6418585"/>
            <a:ext cx="254496" cy="1523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2A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1238250" cy="2286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37" y="2286000"/>
            <a:ext cx="1238250" cy="2286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743088" y="2145543"/>
            <a:ext cx="947190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PARTIE 2 · 02 / 04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2743088" y="2464594"/>
            <a:ext cx="7793606" cy="1238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L'architecture générique</a:t>
            </a:r>
            <a:endParaRPr lang="en-US" sz="4500" dirty="0"/>
          </a:p>
        </p:txBody>
      </p:sp>
      <p:sp>
        <p:nvSpPr>
          <p:cNvPr id="7" name="Shape 3"/>
          <p:cNvSpPr/>
          <p:nvPr/>
        </p:nvSpPr>
        <p:spPr>
          <a:xfrm>
            <a:off x="2743088" y="3931109"/>
            <a:ext cx="685726" cy="57113"/>
          </a:xfrm>
          <a:prstGeom prst="roundRect">
            <a:avLst>
              <a:gd name="adj" fmla="val 50000"/>
            </a:avLst>
          </a:prstGeom>
          <a:solidFill>
            <a:srgbClr val="BDD248"/>
          </a:solidFill>
          <a:ln/>
        </p:spPr>
      </p:sp>
      <p:sp>
        <p:nvSpPr>
          <p:cNvPr id="8" name="Text 4"/>
          <p:cNvSpPr/>
          <p:nvPr/>
        </p:nvSpPr>
        <p:spPr>
          <a:xfrm>
            <a:off x="2743088" y="4197697"/>
            <a:ext cx="3602385" cy="552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9AA5B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4 couches, 5 phases, un registry : l'ossature commune à tous les use cases.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913377" y="2230841"/>
            <a:ext cx="4203688" cy="2434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000"/>
              </a:lnSpc>
              <a:buNone/>
            </a:pPr>
            <a:r>
              <a:rPr lang="en-US" sz="25500" b="1" kern="0" spc="-1020" dirty="0">
                <a:solidFill>
                  <a:srgbClr val="BDD248">
                    <a:alpha val="8000"/>
                  </a:srgbClr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02</a:t>
            </a:r>
            <a:endParaRPr lang="en-US" sz="25500" dirty="0"/>
          </a:p>
        </p:txBody>
      </p:sp>
      <p:sp>
        <p:nvSpPr>
          <p:cNvPr id="10" name="Text 6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AA5B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1180341" y="6418585"/>
            <a:ext cx="173571" cy="1523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241131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BLOC 02 · ARCHITECTURE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6713990" cy="5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300" b="1" kern="0" spc="-66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4 couches </a:t>
            </a:r>
            <a:r>
              <a:rPr lang="en-US" sz="3300" b="1" kern="0" spc="-66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d'abstraction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38088" y="1718035"/>
            <a:ext cx="6744146" cy="3619500"/>
          </a:xfrm>
          <a:prstGeom prst="roundRect">
            <a:avLst>
              <a:gd name="adj" fmla="val 1579"/>
            </a:avLst>
          </a:prstGeom>
          <a:ln/>
          <a:effectLst>
            <a:outerShdw blurRad="228600" dist="76200" dir="5400000" algn="bl" rotWithShape="0">
              <a:srgbClr val="2A2A2A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38088" y="1718035"/>
            <a:ext cx="6744146" cy="925711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8" name="Shape 5"/>
          <p:cNvSpPr/>
          <p:nvPr/>
        </p:nvSpPr>
        <p:spPr>
          <a:xfrm>
            <a:off x="838088" y="2631839"/>
            <a:ext cx="6744146" cy="11906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838088" y="1718035"/>
            <a:ext cx="6744146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0" name="Text 7"/>
          <p:cNvSpPr/>
          <p:nvPr/>
        </p:nvSpPr>
        <p:spPr>
          <a:xfrm>
            <a:off x="7139657" y="1895140"/>
            <a:ext cx="347439" cy="621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FFFFFF">
                    <a:alpha val="7000"/>
                  </a:srgbClr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4</a:t>
            </a:r>
            <a:endParaRPr lang="en-US" sz="3150" dirty="0"/>
          </a:p>
        </p:txBody>
      </p:sp>
      <p:sp>
        <p:nvSpPr>
          <p:cNvPr id="11" name="Text 8"/>
          <p:cNvSpPr/>
          <p:nvPr/>
        </p:nvSpPr>
        <p:spPr>
          <a:xfrm>
            <a:off x="1123838" y="1967322"/>
            <a:ext cx="6789911" cy="237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25" b="1" kern="0" spc="43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SERVICES OPS TRANSVERSAUX</a:t>
            </a:r>
            <a:endParaRPr lang="en-US" sz="1425" dirty="0"/>
          </a:p>
        </p:txBody>
      </p:sp>
      <p:sp>
        <p:nvSpPr>
          <p:cNvPr id="12" name="Text 9"/>
          <p:cNvSpPr/>
          <p:nvPr/>
        </p:nvSpPr>
        <p:spPr>
          <a:xfrm>
            <a:off x="1123838" y="2232980"/>
            <a:ext cx="6789911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kern="0" spc="2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MLflow · Prometheus / Grafana · Docker · CI/CT</a:t>
            </a:r>
            <a:endParaRPr lang="en-US" sz="975" dirty="0"/>
          </a:p>
        </p:txBody>
      </p:sp>
      <p:sp>
        <p:nvSpPr>
          <p:cNvPr id="13" name="Shape 10"/>
          <p:cNvSpPr/>
          <p:nvPr/>
        </p:nvSpPr>
        <p:spPr>
          <a:xfrm>
            <a:off x="838088" y="2643746"/>
            <a:ext cx="6744146" cy="90189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4" name="Shape 11"/>
          <p:cNvSpPr/>
          <p:nvPr/>
        </p:nvSpPr>
        <p:spPr>
          <a:xfrm>
            <a:off x="838088" y="3533738"/>
            <a:ext cx="6744146" cy="11906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838088" y="2643746"/>
            <a:ext cx="35719" cy="90189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6" name="Text 13"/>
          <p:cNvSpPr/>
          <p:nvPr/>
        </p:nvSpPr>
        <p:spPr>
          <a:xfrm>
            <a:off x="7170353" y="2797039"/>
            <a:ext cx="316743" cy="621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3F3F3F">
                    <a:alpha val="7000"/>
                  </a:srgbClr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3</a:t>
            </a:r>
            <a:endParaRPr lang="en-US" sz="3150" dirty="0"/>
          </a:p>
        </p:txBody>
      </p:sp>
      <p:sp>
        <p:nvSpPr>
          <p:cNvPr id="17" name="Text 14"/>
          <p:cNvSpPr/>
          <p:nvPr/>
        </p:nvSpPr>
        <p:spPr>
          <a:xfrm>
            <a:off x="1159557" y="2869220"/>
            <a:ext cx="6750621" cy="237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25" b="1" kern="0" spc="43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COMPOSANTS PLUGGABLES</a:t>
            </a:r>
            <a:endParaRPr lang="en-US" sz="1425" dirty="0"/>
          </a:p>
        </p:txBody>
      </p:sp>
      <p:sp>
        <p:nvSpPr>
          <p:cNvPr id="18" name="Text 15"/>
          <p:cNvSpPr/>
          <p:nvPr/>
        </p:nvSpPr>
        <p:spPr>
          <a:xfrm>
            <a:off x="1159557" y="3134878"/>
            <a:ext cx="6750621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kern="0" spc="2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chunkers · embedders · vector stores · generators</a:t>
            </a:r>
            <a:endParaRPr lang="en-US" sz="975" dirty="0"/>
          </a:p>
        </p:txBody>
      </p:sp>
      <p:sp>
        <p:nvSpPr>
          <p:cNvPr id="19" name="Shape 16"/>
          <p:cNvSpPr/>
          <p:nvPr/>
        </p:nvSpPr>
        <p:spPr>
          <a:xfrm>
            <a:off x="838088" y="3545644"/>
            <a:ext cx="6744146" cy="90189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0" name="Shape 17"/>
          <p:cNvSpPr/>
          <p:nvPr/>
        </p:nvSpPr>
        <p:spPr>
          <a:xfrm>
            <a:off x="838088" y="4435636"/>
            <a:ext cx="6744146" cy="11906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7156400" y="3698937"/>
            <a:ext cx="330696" cy="621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3F3F3F">
                    <a:alpha val="7000"/>
                  </a:srgbClr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2</a:t>
            </a:r>
            <a:endParaRPr lang="en-US" sz="3150" dirty="0"/>
          </a:p>
        </p:txBody>
      </p:sp>
      <p:sp>
        <p:nvSpPr>
          <p:cNvPr id="22" name="Text 19"/>
          <p:cNvSpPr/>
          <p:nvPr/>
        </p:nvSpPr>
        <p:spPr>
          <a:xfrm>
            <a:off x="1123838" y="3766840"/>
            <a:ext cx="6789911" cy="237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25" b="1" kern="0" spc="43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USE CASES</a:t>
            </a:r>
            <a:endParaRPr lang="en-US" sz="1425" dirty="0"/>
          </a:p>
        </p:txBody>
      </p:sp>
      <p:sp>
        <p:nvSpPr>
          <p:cNvPr id="23" name="Text 20"/>
          <p:cNvSpPr/>
          <p:nvPr/>
        </p:nvSpPr>
        <p:spPr>
          <a:xfrm>
            <a:off x="1123838" y="4036591"/>
            <a:ext cx="306698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kern="0" spc="20" dirty="0">
                <a:solidFill>
                  <a:srgbClr val="3F3F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RAG</a:t>
            </a:r>
            <a:endParaRPr lang="en-US" sz="975" dirty="0"/>
          </a:p>
        </p:txBody>
      </p:sp>
      <p:sp>
        <p:nvSpPr>
          <p:cNvPr id="24" name="Shape 21"/>
          <p:cNvSpPr/>
          <p:nvPr/>
        </p:nvSpPr>
        <p:spPr>
          <a:xfrm>
            <a:off x="1411449" y="4044218"/>
            <a:ext cx="690563" cy="157944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/>
        </p:spPr>
      </p:sp>
      <p:sp>
        <p:nvSpPr>
          <p:cNvPr id="25" name="Text 22"/>
          <p:cNvSpPr/>
          <p:nvPr/>
        </p:nvSpPr>
        <p:spPr>
          <a:xfrm>
            <a:off x="1478124" y="4063268"/>
            <a:ext cx="633413" cy="15794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675" b="1" kern="0" spc="34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IMPLÉMENTÉ</a:t>
            </a:r>
            <a:endParaRPr lang="en-US" sz="675" dirty="0"/>
          </a:p>
        </p:txBody>
      </p:sp>
      <p:sp>
        <p:nvSpPr>
          <p:cNvPr id="26" name="Text 23"/>
          <p:cNvSpPr/>
          <p:nvPr/>
        </p:nvSpPr>
        <p:spPr>
          <a:xfrm>
            <a:off x="2168612" y="4036591"/>
            <a:ext cx="153033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kern="0" spc="20" dirty="0">
                <a:solidFill>
                  <a:srgbClr val="1C1C1C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2312045" y="4036591"/>
            <a:ext cx="997632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kern="0" spc="20" dirty="0">
                <a:solidFill>
                  <a:srgbClr val="1C1C1C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ML classique</a:t>
            </a:r>
            <a:endParaRPr lang="en-US" sz="975" dirty="0"/>
          </a:p>
        </p:txBody>
      </p:sp>
      <p:sp>
        <p:nvSpPr>
          <p:cNvPr id="28" name="Shape 25"/>
          <p:cNvSpPr/>
          <p:nvPr/>
        </p:nvSpPr>
        <p:spPr>
          <a:xfrm>
            <a:off x="3290590" y="4032498"/>
            <a:ext cx="547129" cy="181756"/>
          </a:xfrm>
          <a:prstGeom prst="roundRect">
            <a:avLst>
              <a:gd name="adj" fmla="val 50000"/>
            </a:avLst>
          </a:prstGeom>
          <a:ln w="11906">
            <a:solidFill>
              <a:srgbClr val="1C1C1C">
                <a:alpha val="50000"/>
              </a:srgbClr>
            </a:solidFill>
            <a:prstDash val="dash"/>
          </a:ln>
        </p:spPr>
      </p:sp>
      <p:sp>
        <p:nvSpPr>
          <p:cNvPr id="29" name="Text 26"/>
          <p:cNvSpPr/>
          <p:nvPr/>
        </p:nvSpPr>
        <p:spPr>
          <a:xfrm>
            <a:off x="3369171" y="4063454"/>
            <a:ext cx="466167" cy="15794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675" b="1" kern="0" spc="34" dirty="0">
                <a:solidFill>
                  <a:srgbClr val="1C1C1C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EXEMPLE</a:t>
            </a:r>
            <a:endParaRPr lang="en-US" sz="675" dirty="0"/>
          </a:p>
        </p:txBody>
      </p:sp>
      <p:sp>
        <p:nvSpPr>
          <p:cNvPr id="30" name="Text 27"/>
          <p:cNvSpPr/>
          <p:nvPr/>
        </p:nvSpPr>
        <p:spPr>
          <a:xfrm>
            <a:off x="3904320" y="4036591"/>
            <a:ext cx="153033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kern="0" spc="20" dirty="0">
                <a:solidFill>
                  <a:srgbClr val="1C1C1C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975" dirty="0"/>
          </a:p>
        </p:txBody>
      </p:sp>
      <p:sp>
        <p:nvSpPr>
          <p:cNvPr id="31" name="Text 28"/>
          <p:cNvSpPr/>
          <p:nvPr/>
        </p:nvSpPr>
        <p:spPr>
          <a:xfrm>
            <a:off x="4047753" y="4036591"/>
            <a:ext cx="920800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kern="0" spc="20" dirty="0">
                <a:solidFill>
                  <a:srgbClr val="1C1C1C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Fine-tuning</a:t>
            </a:r>
            <a:endParaRPr lang="en-US" sz="975" dirty="0"/>
          </a:p>
        </p:txBody>
      </p:sp>
      <p:sp>
        <p:nvSpPr>
          <p:cNvPr id="32" name="Shape 29"/>
          <p:cNvSpPr/>
          <p:nvPr/>
        </p:nvSpPr>
        <p:spPr>
          <a:xfrm>
            <a:off x="4949465" y="4032498"/>
            <a:ext cx="547129" cy="181756"/>
          </a:xfrm>
          <a:prstGeom prst="roundRect">
            <a:avLst>
              <a:gd name="adj" fmla="val 50000"/>
            </a:avLst>
          </a:prstGeom>
          <a:ln w="11906">
            <a:solidFill>
              <a:srgbClr val="1C1C1C">
                <a:alpha val="50000"/>
              </a:srgbClr>
            </a:solidFill>
            <a:prstDash val="dash"/>
          </a:ln>
        </p:spPr>
      </p:sp>
      <p:sp>
        <p:nvSpPr>
          <p:cNvPr id="33" name="Text 30"/>
          <p:cNvSpPr/>
          <p:nvPr/>
        </p:nvSpPr>
        <p:spPr>
          <a:xfrm>
            <a:off x="5028047" y="4063454"/>
            <a:ext cx="466167" cy="15794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675" b="1" kern="0" spc="34" dirty="0">
                <a:solidFill>
                  <a:srgbClr val="1C1C1C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EXEMPLE</a:t>
            </a:r>
            <a:endParaRPr lang="en-US" sz="675" dirty="0"/>
          </a:p>
        </p:txBody>
      </p:sp>
      <p:sp>
        <p:nvSpPr>
          <p:cNvPr id="34" name="Shape 31"/>
          <p:cNvSpPr/>
          <p:nvPr/>
        </p:nvSpPr>
        <p:spPr>
          <a:xfrm>
            <a:off x="838088" y="4447542"/>
            <a:ext cx="6744146" cy="889992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5" name="Text 32"/>
          <p:cNvSpPr/>
          <p:nvPr/>
        </p:nvSpPr>
        <p:spPr>
          <a:xfrm>
            <a:off x="7215188" y="4600835"/>
            <a:ext cx="271909" cy="621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FFFFFF">
                    <a:alpha val="7000"/>
                  </a:srgbClr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</a:t>
            </a:r>
            <a:endParaRPr lang="en-US" sz="3150" dirty="0"/>
          </a:p>
        </p:txBody>
      </p:sp>
      <p:sp>
        <p:nvSpPr>
          <p:cNvPr id="36" name="Text 33"/>
          <p:cNvSpPr/>
          <p:nvPr/>
        </p:nvSpPr>
        <p:spPr>
          <a:xfrm>
            <a:off x="1123838" y="4673017"/>
            <a:ext cx="6789911" cy="237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25" b="1" kern="0" spc="43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MOTEUR GÉNÉRIQUE</a:t>
            </a:r>
            <a:endParaRPr lang="en-US" sz="1425" dirty="0"/>
          </a:p>
        </p:txBody>
      </p:sp>
      <p:sp>
        <p:nvSpPr>
          <p:cNvPr id="37" name="Text 34"/>
          <p:cNvSpPr/>
          <p:nvPr/>
        </p:nvSpPr>
        <p:spPr>
          <a:xfrm>
            <a:off x="1123838" y="4938675"/>
            <a:ext cx="6789911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kern="0" spc="2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phases · Registry · Context</a:t>
            </a:r>
            <a:endParaRPr lang="en-US" sz="975" dirty="0"/>
          </a:p>
        </p:txBody>
      </p:sp>
      <p:sp>
        <p:nvSpPr>
          <p:cNvPr id="38" name="Shape 35"/>
          <p:cNvSpPr/>
          <p:nvPr/>
        </p:nvSpPr>
        <p:spPr>
          <a:xfrm>
            <a:off x="7734598" y="1718035"/>
            <a:ext cx="1600088" cy="3619500"/>
          </a:xfrm>
          <a:prstGeom prst="roundRect">
            <a:avLst>
              <a:gd name="adj" fmla="val 3572"/>
            </a:avLst>
          </a:prstGeom>
          <a:ln/>
          <a:effectLst>
            <a:outerShdw blurRad="76200" dist="19050" dir="5400000" algn="bl" rotWithShape="0">
              <a:srgbClr val="2A2A2A">
                <a:alpha val="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7734598" y="1718035"/>
            <a:ext cx="1600088" cy="90785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0" name="Shape 37"/>
          <p:cNvSpPr/>
          <p:nvPr/>
        </p:nvSpPr>
        <p:spPr>
          <a:xfrm>
            <a:off x="7734598" y="2613980"/>
            <a:ext cx="1600088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1" name="Text 38"/>
          <p:cNvSpPr/>
          <p:nvPr/>
        </p:nvSpPr>
        <p:spPr>
          <a:xfrm>
            <a:off x="7886960" y="1927882"/>
            <a:ext cx="1424899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kern="0" spc="9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 ?</a:t>
            </a:r>
            <a:endParaRPr lang="en-US" sz="675" dirty="0"/>
          </a:p>
        </p:txBody>
      </p:sp>
      <p:sp>
        <p:nvSpPr>
          <p:cNvPr id="42" name="Text 39"/>
          <p:cNvSpPr/>
          <p:nvPr/>
        </p:nvSpPr>
        <p:spPr>
          <a:xfrm>
            <a:off x="7886960" y="2082664"/>
            <a:ext cx="1371563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38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fournis automatiquement</a:t>
            </a:r>
            <a:endParaRPr lang="en-US" sz="938" dirty="0"/>
          </a:p>
        </p:txBody>
      </p:sp>
      <p:sp>
        <p:nvSpPr>
          <p:cNvPr id="43" name="Shape 40"/>
          <p:cNvSpPr/>
          <p:nvPr/>
        </p:nvSpPr>
        <p:spPr>
          <a:xfrm>
            <a:off x="7734598" y="2625886"/>
            <a:ext cx="1600088" cy="907852"/>
          </a:xfrm>
          <a:prstGeom prst="rect">
            <a:avLst/>
          </a:prstGeom>
          <a:solidFill>
            <a:srgbClr val="EFF4D8"/>
          </a:solidFill>
          <a:ln/>
        </p:spPr>
      </p:sp>
      <p:sp>
        <p:nvSpPr>
          <p:cNvPr id="44" name="Shape 41"/>
          <p:cNvSpPr/>
          <p:nvPr/>
        </p:nvSpPr>
        <p:spPr>
          <a:xfrm>
            <a:off x="7734598" y="3521832"/>
            <a:ext cx="1600088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5" name="Shape 42"/>
          <p:cNvSpPr/>
          <p:nvPr/>
        </p:nvSpPr>
        <p:spPr>
          <a:xfrm>
            <a:off x="7734598" y="2625886"/>
            <a:ext cx="23813" cy="907852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6" name="Text 43"/>
          <p:cNvSpPr/>
          <p:nvPr/>
        </p:nvSpPr>
        <p:spPr>
          <a:xfrm>
            <a:off x="7910773" y="2675000"/>
            <a:ext cx="1398705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kern="0" spc="95" dirty="0">
                <a:solidFill>
                  <a:srgbClr val="8FA82E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 ?</a:t>
            </a:r>
            <a:endParaRPr lang="en-US" sz="675" dirty="0"/>
          </a:p>
        </p:txBody>
      </p:sp>
      <p:sp>
        <p:nvSpPr>
          <p:cNvPr id="47" name="Text 44"/>
          <p:cNvSpPr/>
          <p:nvPr/>
        </p:nvSpPr>
        <p:spPr>
          <a:xfrm>
            <a:off x="7910773" y="2829781"/>
            <a:ext cx="1347750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38" b="1" dirty="0">
                <a:solidFill>
                  <a:srgbClr val="8FA82E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choisis dans le catalogue ou ajoutés par le dev (1 classe + 1 ligne)</a:t>
            </a:r>
            <a:endParaRPr lang="en-US" sz="938" dirty="0"/>
          </a:p>
        </p:txBody>
      </p:sp>
      <p:sp>
        <p:nvSpPr>
          <p:cNvPr id="48" name="Shape 45"/>
          <p:cNvSpPr/>
          <p:nvPr/>
        </p:nvSpPr>
        <p:spPr>
          <a:xfrm>
            <a:off x="7734598" y="3533738"/>
            <a:ext cx="1600088" cy="907852"/>
          </a:xfrm>
          <a:prstGeom prst="rect">
            <a:avLst/>
          </a:prstGeom>
          <a:solidFill>
            <a:srgbClr val="EFF4D8"/>
          </a:solidFill>
          <a:ln/>
        </p:spPr>
      </p:sp>
      <p:sp>
        <p:nvSpPr>
          <p:cNvPr id="49" name="Shape 46"/>
          <p:cNvSpPr/>
          <p:nvPr/>
        </p:nvSpPr>
        <p:spPr>
          <a:xfrm>
            <a:off x="7734598" y="4429683"/>
            <a:ext cx="1600088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0" name="Shape 47"/>
          <p:cNvSpPr/>
          <p:nvPr/>
        </p:nvSpPr>
        <p:spPr>
          <a:xfrm>
            <a:off x="7734598" y="3533738"/>
            <a:ext cx="23813" cy="907852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51" name="Text 48"/>
          <p:cNvSpPr/>
          <p:nvPr/>
        </p:nvSpPr>
        <p:spPr>
          <a:xfrm>
            <a:off x="7910773" y="3743585"/>
            <a:ext cx="1398705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kern="0" spc="95" dirty="0">
                <a:solidFill>
                  <a:srgbClr val="8FA82E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 ?</a:t>
            </a:r>
            <a:endParaRPr lang="en-US" sz="675" dirty="0"/>
          </a:p>
        </p:txBody>
      </p:sp>
      <p:sp>
        <p:nvSpPr>
          <p:cNvPr id="52" name="Text 49"/>
          <p:cNvSpPr/>
          <p:nvPr/>
        </p:nvSpPr>
        <p:spPr>
          <a:xfrm>
            <a:off x="7910773" y="3898367"/>
            <a:ext cx="134775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38" b="1" dirty="0">
                <a:solidFill>
                  <a:srgbClr val="8FA82E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écrit par le développeur ML</a:t>
            </a:r>
            <a:endParaRPr lang="en-US" sz="938" dirty="0"/>
          </a:p>
        </p:txBody>
      </p:sp>
      <p:sp>
        <p:nvSpPr>
          <p:cNvPr id="53" name="Shape 50"/>
          <p:cNvSpPr/>
          <p:nvPr/>
        </p:nvSpPr>
        <p:spPr>
          <a:xfrm>
            <a:off x="7734598" y="4441589"/>
            <a:ext cx="1600088" cy="895945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4" name="Text 51"/>
          <p:cNvSpPr/>
          <p:nvPr/>
        </p:nvSpPr>
        <p:spPr>
          <a:xfrm>
            <a:off x="7886960" y="4731804"/>
            <a:ext cx="1424899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kern="0" spc="9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 ?</a:t>
            </a:r>
            <a:endParaRPr lang="en-US" sz="675" dirty="0"/>
          </a:p>
        </p:txBody>
      </p:sp>
      <p:sp>
        <p:nvSpPr>
          <p:cNvPr id="55" name="Text 52"/>
          <p:cNvSpPr/>
          <p:nvPr/>
        </p:nvSpPr>
        <p:spPr>
          <a:xfrm>
            <a:off x="7886960" y="4886585"/>
            <a:ext cx="1424899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38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fourni par la plateforme</a:t>
            </a:r>
            <a:endParaRPr lang="en-US" sz="938" dirty="0"/>
          </a:p>
        </p:txBody>
      </p:sp>
      <p:pic>
        <p:nvPicPr>
          <p:cNvPr id="5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87049" y="1718035"/>
            <a:ext cx="342863" cy="3619500"/>
          </a:xfrm>
          <a:prstGeom prst="rect">
            <a:avLst/>
          </a:prstGeom>
        </p:spPr>
      </p:pic>
      <p:sp>
        <p:nvSpPr>
          <p:cNvPr id="57" name="Text 53"/>
          <p:cNvSpPr/>
          <p:nvPr/>
        </p:nvSpPr>
        <p:spPr>
          <a:xfrm>
            <a:off x="9963113" y="2598539"/>
            <a:ext cx="1466999" cy="1896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développeur </a:t>
            </a:r>
            <a:r>
              <a:rPr lang="en-US" sz="975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écrit </a:t>
            </a: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sa couche use case </a:t>
            </a:r>
            <a:r>
              <a:rPr lang="en-US" sz="975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(2) </a:t>
            </a: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et, si besoin, ajoute ses propres composants </a:t>
            </a:r>
            <a:r>
              <a:rPr lang="en-US" sz="975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(3) </a:t>
            </a: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— la couche 3 est extensible. Il </a:t>
            </a:r>
            <a:r>
              <a:rPr lang="en-US" sz="975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hérite </a:t>
            </a: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gratuitement du moteur </a:t>
            </a:r>
            <a:r>
              <a:rPr lang="en-US" sz="975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(1) </a:t>
            </a: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et des services OPS </a:t>
            </a:r>
            <a:r>
              <a:rPr lang="en-US" sz="975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(4)</a:t>
            </a: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.</a:t>
            </a:r>
            <a:endParaRPr lang="en-US" sz="975" dirty="0"/>
          </a:p>
        </p:txBody>
      </p:sp>
      <p:sp>
        <p:nvSpPr>
          <p:cNvPr id="58" name="Text 54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59" name="Image 2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60" name="Text 55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04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7958"/>
            <a:ext cx="12192000" cy="11906"/>
          </a:xfrm>
          <a:prstGeom prst="rect">
            <a:avLst/>
          </a:prstGeom>
          <a:solidFill>
            <a:srgbClr val="54647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5226" y="282029"/>
            <a:ext cx="85576" cy="1237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" name="Text 2"/>
          <p:cNvSpPr/>
          <p:nvPr/>
        </p:nvSpPr>
        <p:spPr>
          <a:xfrm>
            <a:off x="666378" y="272542"/>
            <a:ext cx="185953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3" kern="0" spc="121" dirty="0">
                <a:solidFill>
                  <a:srgbClr val="54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 02 · ARCHITECTURE</a:t>
            </a:r>
            <a:endParaRPr lang="en-US" sz="863" dirty="0"/>
          </a:p>
        </p:txBody>
      </p:sp>
      <p:sp>
        <p:nvSpPr>
          <p:cNvPr id="5" name="Text 3"/>
          <p:cNvSpPr/>
          <p:nvPr/>
        </p:nvSpPr>
        <p:spPr>
          <a:xfrm>
            <a:off x="8643938" y="171338"/>
            <a:ext cx="3358121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couches </a:t>
            </a:r>
            <a:r>
              <a:rPr lang="en-US" sz="2400" b="1" kern="0" spc="-48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d'abstraction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699864"/>
            <a:ext cx="12192000" cy="1450702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99864"/>
            <a:ext cx="12192000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8" name="Text 6"/>
          <p:cNvSpPr/>
          <p:nvPr/>
        </p:nvSpPr>
        <p:spPr>
          <a:xfrm>
            <a:off x="11486183" y="1094259"/>
            <a:ext cx="477292" cy="723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000" b="1" kern="0" spc="-180" dirty="0">
                <a:solidFill>
                  <a:srgbClr val="FFFFFF">
                    <a:alpha val="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495226" y="1318059"/>
            <a:ext cx="1075283" cy="238125"/>
          </a:xfrm>
          <a:prstGeom prst="roundRect">
            <a:avLst>
              <a:gd name="adj" fmla="val 12000"/>
            </a:avLst>
          </a:prstGeom>
          <a:solidFill>
            <a:srgbClr val="BDD248">
              <a:alpha val="12000"/>
            </a:srgbClr>
          </a:solidFill>
          <a:ln w="11906">
            <a:solidFill>
              <a:srgbClr val="BDD248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432" y="1377590"/>
            <a:ext cx="899071" cy="1571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BDD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FOURNI AUTO.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761009" y="1245505"/>
            <a:ext cx="3759417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OPS TRANSVERSAUX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1761009" y="1462050"/>
            <a:ext cx="375941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BDD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 · Prometheus / Grafana · Docker · CI/CT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0" y="2150566"/>
            <a:ext cx="12192000" cy="1450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150566"/>
            <a:ext cx="12192000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2150566"/>
            <a:ext cx="35719" cy="145088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6" name="Text 14"/>
          <p:cNvSpPr/>
          <p:nvPr/>
        </p:nvSpPr>
        <p:spPr>
          <a:xfrm>
            <a:off x="11486183" y="2544961"/>
            <a:ext cx="477292" cy="723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000" b="1" kern="0" spc="-180" dirty="0">
                <a:solidFill>
                  <a:srgbClr val="1C1C24">
                    <a:alpha val="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0" dirty="0"/>
          </a:p>
        </p:txBody>
      </p:sp>
      <p:sp>
        <p:nvSpPr>
          <p:cNvPr id="17" name="Shape 15"/>
          <p:cNvSpPr/>
          <p:nvPr/>
        </p:nvSpPr>
        <p:spPr>
          <a:xfrm>
            <a:off x="530944" y="2768761"/>
            <a:ext cx="1212391" cy="238125"/>
          </a:xfrm>
          <a:prstGeom prst="roundRect">
            <a:avLst>
              <a:gd name="adj" fmla="val 12000"/>
            </a:avLst>
          </a:prstGeom>
          <a:solidFill>
            <a:srgbClr val="BDD248">
              <a:alpha val="10000"/>
            </a:srgbClr>
          </a:solidFill>
          <a:ln w="11906">
            <a:solidFill>
              <a:srgbClr val="BDD248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7151" y="2828292"/>
            <a:ext cx="1036179" cy="1571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8FA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EXTENSIBLE DEV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933835" y="2696208"/>
            <a:ext cx="4004574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COMPOSANTS PLUGGABLES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1933835" y="2912752"/>
            <a:ext cx="400457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4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chunkers · embedders · vector stores · generators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0" y="3601455"/>
            <a:ext cx="12192000" cy="142707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2" name="Text 20"/>
          <p:cNvSpPr/>
          <p:nvPr/>
        </p:nvSpPr>
        <p:spPr>
          <a:xfrm>
            <a:off x="11486183" y="3972037"/>
            <a:ext cx="477292" cy="723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000" b="1" kern="0" spc="-180" dirty="0">
                <a:solidFill>
                  <a:srgbClr val="1C1C24">
                    <a:alpha val="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0" dirty="0"/>
          </a:p>
        </p:txBody>
      </p:sp>
      <p:sp>
        <p:nvSpPr>
          <p:cNvPr id="23" name="Shape 21"/>
          <p:cNvSpPr/>
          <p:nvPr/>
        </p:nvSpPr>
        <p:spPr>
          <a:xfrm>
            <a:off x="495226" y="4207743"/>
            <a:ext cx="1531627" cy="214313"/>
          </a:xfrm>
          <a:prstGeom prst="roundRect">
            <a:avLst>
              <a:gd name="adj" fmla="val 13333"/>
            </a:avLst>
          </a:prstGeom>
          <a:solidFill>
            <a:srgbClr val="000000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09526" y="4255368"/>
            <a:ext cx="1379227" cy="1571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1C1C24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ÉCRIT PAR LE DEV ML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217353" y="4225603"/>
            <a:ext cx="1003213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3296729" y="4237509"/>
            <a:ext cx="28195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C1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4847" y="4248299"/>
            <a:ext cx="666750" cy="133201"/>
          </a:xfrm>
          <a:prstGeom prst="roundRect">
            <a:avLst>
              <a:gd name="adj" fmla="val 50000"/>
            </a:avLst>
          </a:prstGeom>
          <a:solidFill>
            <a:srgbClr val="1C1C24"/>
          </a:solidFill>
          <a:ln/>
        </p:spPr>
      </p:sp>
      <p:sp>
        <p:nvSpPr>
          <p:cNvPr id="28" name="Text 26"/>
          <p:cNvSpPr/>
          <p:nvPr/>
        </p:nvSpPr>
        <p:spPr>
          <a:xfrm>
            <a:off x="3731047" y="4267349"/>
            <a:ext cx="581025" cy="133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b="1" dirty="0">
                <a:solidFill>
                  <a:srgbClr val="BDD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implémenté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4473959" y="4237509"/>
            <a:ext cx="89922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C1C24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 classique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49342" y="4236393"/>
            <a:ext cx="536153" cy="157014"/>
          </a:xfrm>
          <a:prstGeom prst="roundRect">
            <a:avLst>
              <a:gd name="adj" fmla="val 50000"/>
            </a:avLst>
          </a:prstGeom>
          <a:ln w="11906">
            <a:solidFill>
              <a:srgbClr val="1C1C24">
                <a:alpha val="40000"/>
              </a:srgbClr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5537448" y="4267349"/>
            <a:ext cx="436141" cy="133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b="1" dirty="0">
                <a:solidFill>
                  <a:srgbClr val="1C1C24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exemple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6137858" y="4237509"/>
            <a:ext cx="830759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C1C24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Fine-tuning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044779" y="4236393"/>
            <a:ext cx="536153" cy="157014"/>
          </a:xfrm>
          <a:prstGeom prst="roundRect">
            <a:avLst>
              <a:gd name="adj" fmla="val 50000"/>
            </a:avLst>
          </a:prstGeom>
          <a:ln w="11906">
            <a:solidFill>
              <a:srgbClr val="1C1C24">
                <a:alpha val="40000"/>
              </a:srgbClr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7132886" y="4267349"/>
            <a:ext cx="436141" cy="133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b="1" dirty="0">
                <a:solidFill>
                  <a:srgbClr val="1C1C24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exemple</a:t>
            </a:r>
            <a:endParaRPr lang="en-US" sz="675" dirty="0"/>
          </a:p>
        </p:txBody>
      </p:sp>
      <p:sp>
        <p:nvSpPr>
          <p:cNvPr id="35" name="Shape 33"/>
          <p:cNvSpPr/>
          <p:nvPr/>
        </p:nvSpPr>
        <p:spPr>
          <a:xfrm>
            <a:off x="0" y="5028530"/>
            <a:ext cx="12192000" cy="1427076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36" name="Text 34"/>
          <p:cNvSpPr/>
          <p:nvPr/>
        </p:nvSpPr>
        <p:spPr>
          <a:xfrm>
            <a:off x="11486183" y="5399112"/>
            <a:ext cx="477292" cy="723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000" b="1" kern="0" spc="-180" dirty="0">
                <a:solidFill>
                  <a:srgbClr val="FFFFFF">
                    <a:alpha val="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0" dirty="0"/>
          </a:p>
        </p:txBody>
      </p:sp>
      <p:sp>
        <p:nvSpPr>
          <p:cNvPr id="37" name="Shape 35"/>
          <p:cNvSpPr/>
          <p:nvPr/>
        </p:nvSpPr>
        <p:spPr>
          <a:xfrm>
            <a:off x="495226" y="5622913"/>
            <a:ext cx="1898303" cy="238125"/>
          </a:xfrm>
          <a:prstGeom prst="roundRect">
            <a:avLst>
              <a:gd name="adj" fmla="val 12000"/>
            </a:avLst>
          </a:prstGeom>
          <a:solidFill>
            <a:srgbClr val="FFFFFF">
              <a:alpha val="7000"/>
            </a:srgbClr>
          </a:solidFill>
          <a:ln w="11906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432" y="5682444"/>
            <a:ext cx="1722090" cy="1571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FFFFFF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FOURNI PAR LA PLATEFORME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584028" y="5550359"/>
            <a:ext cx="2370125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MOTEUR GÉNÉRIQUE</a:t>
            </a:r>
            <a:endParaRPr lang="en-US" sz="1275" dirty="0"/>
          </a:p>
        </p:txBody>
      </p:sp>
      <p:sp>
        <p:nvSpPr>
          <p:cNvPr id="40" name="Text 38"/>
          <p:cNvSpPr/>
          <p:nvPr/>
        </p:nvSpPr>
        <p:spPr>
          <a:xfrm>
            <a:off x="2584028" y="5766904"/>
            <a:ext cx="237012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phases · Registry · Context</a:t>
            </a:r>
            <a:endParaRPr lang="en-US" sz="975" dirty="0"/>
          </a:p>
        </p:txBody>
      </p:sp>
      <p:sp>
        <p:nvSpPr>
          <p:cNvPr id="41" name="Shape 39"/>
          <p:cNvSpPr/>
          <p:nvPr/>
        </p:nvSpPr>
        <p:spPr>
          <a:xfrm>
            <a:off x="0" y="6455606"/>
            <a:ext cx="12192000" cy="11906"/>
          </a:xfrm>
          <a:prstGeom prst="rect">
            <a:avLst/>
          </a:prstGeom>
          <a:solidFill>
            <a:srgbClr val="546472">
              <a:alpha val="14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95226" y="6591226"/>
            <a:ext cx="35425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546472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 de Fin d'Études · Pipeline MLOps générique</a:t>
            </a:r>
            <a:endParaRPr lang="en-US" sz="863" dirty="0"/>
          </a:p>
        </p:txBody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1110764" y="6562762"/>
            <a:ext cx="333933" cy="199988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11558922" y="6597179"/>
            <a:ext cx="214052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75" dirty="0"/>
          </a:p>
        </p:txBody>
      </p:sp>
    </p:spTree>
    <p:extLst>
      <p:ext uri="{BB962C8B-B14F-4D97-AF65-F5344CB8AC3E}">
        <p14:creationId xmlns:p14="http://schemas.microsoft.com/office/powerpoint/2010/main" val="1292908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293192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BLOC 02 · MOTEUR GÉNÉRIQUE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6713990" cy="5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300" b="1" kern="0" spc="-66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 contrat universel : </a:t>
            </a:r>
            <a:r>
              <a:rPr lang="en-US" sz="3300" b="1" kern="0" spc="-66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5 phases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38088" y="1737196"/>
            <a:ext cx="1798216" cy="1337965"/>
          </a:xfrm>
          <a:prstGeom prst="roundRect">
            <a:avLst>
              <a:gd name="adj" fmla="val 4271"/>
            </a:avLst>
          </a:prstGeom>
          <a:solidFill>
            <a:srgbClr val="F4F4F4"/>
          </a:solidFill>
          <a:ln/>
        </p:spPr>
      </p:sp>
      <p:sp>
        <p:nvSpPr>
          <p:cNvPr id="7" name="Shape 4"/>
          <p:cNvSpPr/>
          <p:nvPr/>
        </p:nvSpPr>
        <p:spPr>
          <a:xfrm>
            <a:off x="838088" y="3063255"/>
            <a:ext cx="1798216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8" name="Shape 5"/>
          <p:cNvSpPr/>
          <p:nvPr/>
        </p:nvSpPr>
        <p:spPr>
          <a:xfrm>
            <a:off x="838088" y="1737196"/>
            <a:ext cx="1798216" cy="35719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9" name="Shape 6"/>
          <p:cNvSpPr/>
          <p:nvPr/>
        </p:nvSpPr>
        <p:spPr>
          <a:xfrm>
            <a:off x="838088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0" name="Shape 7"/>
          <p:cNvSpPr/>
          <p:nvPr/>
        </p:nvSpPr>
        <p:spPr>
          <a:xfrm>
            <a:off x="2624398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1" name="Text 8"/>
          <p:cNvSpPr/>
          <p:nvPr/>
        </p:nvSpPr>
        <p:spPr>
          <a:xfrm>
            <a:off x="1021333" y="1982391"/>
            <a:ext cx="1574899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54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21333" y="2213260"/>
            <a:ext cx="157489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3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PREPARE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1021333" y="2522823"/>
            <a:ext cx="143172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4" name="Text 11"/>
          <p:cNvSpPr/>
          <p:nvPr/>
        </p:nvSpPr>
        <p:spPr>
          <a:xfrm>
            <a:off x="1021333" y="2687129"/>
            <a:ext cx="1507927" cy="2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données</a:t>
            </a:r>
            <a:endParaRPr lang="en-US" sz="10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5792" y="2291953"/>
            <a:ext cx="361838" cy="228451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017304" y="1737196"/>
            <a:ext cx="1798402" cy="1337965"/>
          </a:xfrm>
          <a:prstGeom prst="roundRect">
            <a:avLst>
              <a:gd name="adj" fmla="val 4271"/>
            </a:avLst>
          </a:prstGeom>
          <a:solidFill>
            <a:srgbClr val="F4F4F4"/>
          </a:solidFill>
          <a:ln/>
        </p:spPr>
      </p:sp>
      <p:sp>
        <p:nvSpPr>
          <p:cNvPr id="17" name="Shape 13"/>
          <p:cNvSpPr/>
          <p:nvPr/>
        </p:nvSpPr>
        <p:spPr>
          <a:xfrm>
            <a:off x="3017304" y="3063255"/>
            <a:ext cx="1798402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8" name="Shape 14"/>
          <p:cNvSpPr/>
          <p:nvPr/>
        </p:nvSpPr>
        <p:spPr>
          <a:xfrm>
            <a:off x="3017304" y="1737196"/>
            <a:ext cx="1798402" cy="35719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9" name="Shape 15"/>
          <p:cNvSpPr/>
          <p:nvPr/>
        </p:nvSpPr>
        <p:spPr>
          <a:xfrm>
            <a:off x="3017304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0" name="Shape 16"/>
          <p:cNvSpPr/>
          <p:nvPr/>
        </p:nvSpPr>
        <p:spPr>
          <a:xfrm>
            <a:off x="4803800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1" name="Text 17"/>
          <p:cNvSpPr/>
          <p:nvPr/>
        </p:nvSpPr>
        <p:spPr>
          <a:xfrm>
            <a:off x="3200549" y="1982391"/>
            <a:ext cx="157510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54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3200549" y="2213260"/>
            <a:ext cx="157510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3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PROCESS</a:t>
            </a:r>
            <a:endParaRPr lang="en-US" sz="1650" dirty="0"/>
          </a:p>
        </p:txBody>
      </p:sp>
      <p:sp>
        <p:nvSpPr>
          <p:cNvPr id="23" name="Shape 19"/>
          <p:cNvSpPr/>
          <p:nvPr/>
        </p:nvSpPr>
        <p:spPr>
          <a:xfrm>
            <a:off x="3200549" y="2522823"/>
            <a:ext cx="143191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4" name="Text 20"/>
          <p:cNvSpPr/>
          <p:nvPr/>
        </p:nvSpPr>
        <p:spPr>
          <a:xfrm>
            <a:off x="3200549" y="2687129"/>
            <a:ext cx="1508113" cy="2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features</a:t>
            </a:r>
            <a:endParaRPr lang="en-US" sz="105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5194" y="2291953"/>
            <a:ext cx="361838" cy="228451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196706" y="1737196"/>
            <a:ext cx="1798402" cy="1337965"/>
          </a:xfrm>
          <a:prstGeom prst="roundRect">
            <a:avLst>
              <a:gd name="adj" fmla="val 4271"/>
            </a:avLst>
          </a:prstGeom>
          <a:solidFill>
            <a:srgbClr val="F4F4F4"/>
          </a:solidFill>
          <a:ln/>
        </p:spPr>
      </p:sp>
      <p:sp>
        <p:nvSpPr>
          <p:cNvPr id="27" name="Shape 22"/>
          <p:cNvSpPr/>
          <p:nvPr/>
        </p:nvSpPr>
        <p:spPr>
          <a:xfrm>
            <a:off x="5196706" y="3063255"/>
            <a:ext cx="1798402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8" name="Shape 23"/>
          <p:cNvSpPr/>
          <p:nvPr/>
        </p:nvSpPr>
        <p:spPr>
          <a:xfrm>
            <a:off x="5196706" y="1737196"/>
            <a:ext cx="1798402" cy="35719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9" name="Shape 24"/>
          <p:cNvSpPr/>
          <p:nvPr/>
        </p:nvSpPr>
        <p:spPr>
          <a:xfrm>
            <a:off x="5196706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0" name="Shape 25"/>
          <p:cNvSpPr/>
          <p:nvPr/>
        </p:nvSpPr>
        <p:spPr>
          <a:xfrm>
            <a:off x="6983202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1" name="Text 26"/>
          <p:cNvSpPr/>
          <p:nvPr/>
        </p:nvSpPr>
        <p:spPr>
          <a:xfrm>
            <a:off x="5379951" y="1982391"/>
            <a:ext cx="157510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54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379951" y="2213260"/>
            <a:ext cx="157510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3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BUILD</a:t>
            </a:r>
            <a:endParaRPr lang="en-US" sz="1650" dirty="0"/>
          </a:p>
        </p:txBody>
      </p:sp>
      <p:sp>
        <p:nvSpPr>
          <p:cNvPr id="33" name="Shape 28"/>
          <p:cNvSpPr/>
          <p:nvPr/>
        </p:nvSpPr>
        <p:spPr>
          <a:xfrm>
            <a:off x="5379951" y="2522823"/>
            <a:ext cx="143191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4" name="Text 29"/>
          <p:cNvSpPr/>
          <p:nvPr/>
        </p:nvSpPr>
        <p:spPr>
          <a:xfrm>
            <a:off x="5379951" y="2687129"/>
            <a:ext cx="1508113" cy="2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index · modèle</a:t>
            </a:r>
            <a:endParaRPr lang="en-US" sz="105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596" y="2291953"/>
            <a:ext cx="361838" cy="228451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7376108" y="1737196"/>
            <a:ext cx="1798402" cy="1337965"/>
          </a:xfrm>
          <a:prstGeom prst="roundRect">
            <a:avLst>
              <a:gd name="adj" fmla="val 4271"/>
            </a:avLst>
          </a:prstGeom>
          <a:solidFill>
            <a:srgbClr val="F4F4F4"/>
          </a:solidFill>
          <a:ln/>
        </p:spPr>
      </p:sp>
      <p:sp>
        <p:nvSpPr>
          <p:cNvPr id="37" name="Shape 31"/>
          <p:cNvSpPr/>
          <p:nvPr/>
        </p:nvSpPr>
        <p:spPr>
          <a:xfrm>
            <a:off x="7376108" y="3063255"/>
            <a:ext cx="1798402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8" name="Shape 32"/>
          <p:cNvSpPr/>
          <p:nvPr/>
        </p:nvSpPr>
        <p:spPr>
          <a:xfrm>
            <a:off x="7376108" y="1737196"/>
            <a:ext cx="1798402" cy="35719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9" name="Shape 33"/>
          <p:cNvSpPr/>
          <p:nvPr/>
        </p:nvSpPr>
        <p:spPr>
          <a:xfrm>
            <a:off x="7376108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0" name="Shape 34"/>
          <p:cNvSpPr/>
          <p:nvPr/>
        </p:nvSpPr>
        <p:spPr>
          <a:xfrm>
            <a:off x="9162604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1" name="Text 35"/>
          <p:cNvSpPr/>
          <p:nvPr/>
        </p:nvSpPr>
        <p:spPr>
          <a:xfrm>
            <a:off x="7559353" y="1982391"/>
            <a:ext cx="157510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54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7559353" y="2213260"/>
            <a:ext cx="157510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3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EVALUATE</a:t>
            </a:r>
            <a:endParaRPr lang="en-US" sz="1650" dirty="0"/>
          </a:p>
        </p:txBody>
      </p:sp>
      <p:sp>
        <p:nvSpPr>
          <p:cNvPr id="43" name="Shape 37"/>
          <p:cNvSpPr/>
          <p:nvPr/>
        </p:nvSpPr>
        <p:spPr>
          <a:xfrm>
            <a:off x="7559353" y="2522823"/>
            <a:ext cx="143191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4" name="Text 38"/>
          <p:cNvSpPr/>
          <p:nvPr/>
        </p:nvSpPr>
        <p:spPr>
          <a:xfrm>
            <a:off x="7559353" y="2687129"/>
            <a:ext cx="1508113" cy="2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qualité</a:t>
            </a:r>
            <a:endParaRPr lang="en-US" sz="1050" dirty="0"/>
          </a:p>
        </p:txBody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3998" y="2291953"/>
            <a:ext cx="361838" cy="228451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9555510" y="1737196"/>
            <a:ext cx="1798402" cy="1337965"/>
          </a:xfrm>
          <a:prstGeom prst="roundRect">
            <a:avLst>
              <a:gd name="adj" fmla="val 4271"/>
            </a:avLst>
          </a:prstGeom>
          <a:solidFill>
            <a:srgbClr val="F4F4F4"/>
          </a:solidFill>
          <a:ln/>
        </p:spPr>
      </p:sp>
      <p:sp>
        <p:nvSpPr>
          <p:cNvPr id="47" name="Shape 40"/>
          <p:cNvSpPr/>
          <p:nvPr/>
        </p:nvSpPr>
        <p:spPr>
          <a:xfrm>
            <a:off x="9555510" y="3063255"/>
            <a:ext cx="1798402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8" name="Shape 41"/>
          <p:cNvSpPr/>
          <p:nvPr/>
        </p:nvSpPr>
        <p:spPr>
          <a:xfrm>
            <a:off x="9555510" y="1737196"/>
            <a:ext cx="1798402" cy="35719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9" name="Shape 42"/>
          <p:cNvSpPr/>
          <p:nvPr/>
        </p:nvSpPr>
        <p:spPr>
          <a:xfrm>
            <a:off x="9555510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0" name="Shape 43"/>
          <p:cNvSpPr/>
          <p:nvPr/>
        </p:nvSpPr>
        <p:spPr>
          <a:xfrm>
            <a:off x="11342005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1" name="Text 44"/>
          <p:cNvSpPr/>
          <p:nvPr/>
        </p:nvSpPr>
        <p:spPr>
          <a:xfrm>
            <a:off x="9738754" y="1982391"/>
            <a:ext cx="157510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54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00" dirty="0"/>
          </a:p>
        </p:txBody>
      </p:sp>
      <p:sp>
        <p:nvSpPr>
          <p:cNvPr id="52" name="Text 45"/>
          <p:cNvSpPr/>
          <p:nvPr/>
        </p:nvSpPr>
        <p:spPr>
          <a:xfrm>
            <a:off x="9738754" y="2213260"/>
            <a:ext cx="157510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3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DEPLOY</a:t>
            </a:r>
            <a:endParaRPr lang="en-US" sz="1650" dirty="0"/>
          </a:p>
        </p:txBody>
      </p:sp>
      <p:sp>
        <p:nvSpPr>
          <p:cNvPr id="53" name="Shape 46"/>
          <p:cNvSpPr/>
          <p:nvPr/>
        </p:nvSpPr>
        <p:spPr>
          <a:xfrm>
            <a:off x="9738754" y="2522823"/>
            <a:ext cx="143191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4" name="Text 47"/>
          <p:cNvSpPr/>
          <p:nvPr/>
        </p:nvSpPr>
        <p:spPr>
          <a:xfrm>
            <a:off x="9738754" y="2687129"/>
            <a:ext cx="1508113" cy="2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serving</a:t>
            </a:r>
            <a:endParaRPr lang="en-US" sz="1050" dirty="0"/>
          </a:p>
        </p:txBody>
      </p:sp>
      <p:sp>
        <p:nvSpPr>
          <p:cNvPr id="55" name="Shape 48"/>
          <p:cNvSpPr/>
          <p:nvPr/>
        </p:nvSpPr>
        <p:spPr>
          <a:xfrm>
            <a:off x="838088" y="3303612"/>
            <a:ext cx="10515823" cy="822647"/>
          </a:xfrm>
          <a:prstGeom prst="roundRect">
            <a:avLst>
              <a:gd name="adj" fmla="val 6947"/>
            </a:avLst>
          </a:prstGeom>
          <a:solidFill>
            <a:srgbClr val="2A2A2A"/>
          </a:solidFill>
          <a:ln/>
        </p:spPr>
      </p:sp>
      <p:sp>
        <p:nvSpPr>
          <p:cNvPr id="56" name="Shape 49"/>
          <p:cNvSpPr/>
          <p:nvPr/>
        </p:nvSpPr>
        <p:spPr>
          <a:xfrm>
            <a:off x="1104677" y="3543598"/>
            <a:ext cx="2879824" cy="342677"/>
          </a:xfrm>
          <a:prstGeom prst="roundRect">
            <a:avLst>
              <a:gd name="adj" fmla="val 8339"/>
            </a:avLst>
          </a:prstGeom>
          <a:ln w="11906">
            <a:solidFill>
              <a:srgbClr val="BDD248">
                <a:alpha val="30000"/>
              </a:srgbClr>
            </a:solidFill>
            <a:prstDash val="solid"/>
          </a:ln>
        </p:spPr>
      </p:sp>
      <p:sp>
        <p:nvSpPr>
          <p:cNvPr id="57" name="Text 50"/>
          <p:cNvSpPr/>
          <p:nvPr/>
        </p:nvSpPr>
        <p:spPr>
          <a:xfrm>
            <a:off x="1268983" y="3631704"/>
            <a:ext cx="2637606" cy="20456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kern="0" spc="41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BasePipeline · classe abstraite</a:t>
            </a:r>
            <a:endParaRPr lang="en-US" sz="1013" dirty="0"/>
          </a:p>
        </p:txBody>
      </p:sp>
      <p:sp>
        <p:nvSpPr>
          <p:cNvPr id="58" name="Text 51"/>
          <p:cNvSpPr/>
          <p:nvPr/>
        </p:nvSpPr>
        <p:spPr>
          <a:xfrm>
            <a:off x="4251089" y="3494112"/>
            <a:ext cx="7041321" cy="479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9AA5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développeur </a:t>
            </a:r>
            <a:r>
              <a:rPr lang="en-US" sz="12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hérite </a:t>
            </a:r>
            <a:r>
              <a:rPr lang="en-US" sz="1200" dirty="0">
                <a:solidFill>
                  <a:srgbClr val="9AA5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 l'orchestration des 5 phases (gratuite) et n'implémente que </a:t>
            </a:r>
            <a:r>
              <a:rPr lang="en-US" sz="12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contenu </a:t>
            </a:r>
            <a:r>
              <a:rPr lang="en-US" sz="1200" dirty="0">
                <a:solidFill>
                  <a:srgbClr val="9AA5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 chaque phase — le core ne connaît </a:t>
            </a:r>
            <a:r>
              <a:rPr lang="en-US" sz="12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aucun use case</a:t>
            </a:r>
            <a:r>
              <a:rPr lang="en-US" sz="1200" dirty="0">
                <a:solidFill>
                  <a:srgbClr val="9AA5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.</a:t>
            </a:r>
            <a:endParaRPr lang="en-US" sz="1200" dirty="0"/>
          </a:p>
        </p:txBody>
      </p:sp>
      <p:sp>
        <p:nvSpPr>
          <p:cNvPr id="59" name="Shape 52"/>
          <p:cNvSpPr/>
          <p:nvPr/>
        </p:nvSpPr>
        <p:spPr>
          <a:xfrm>
            <a:off x="838088" y="4278623"/>
            <a:ext cx="10515823" cy="774650"/>
          </a:xfrm>
          <a:prstGeom prst="roundRect">
            <a:avLst>
              <a:gd name="adj" fmla="val 7378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1059470" y="4442892"/>
            <a:ext cx="37951" cy="446112"/>
          </a:xfrm>
          <a:prstGeom prst="roundRect">
            <a:avLst>
              <a:gd name="adj" fmla="val 50000"/>
            </a:avLst>
          </a:prstGeom>
          <a:solidFill>
            <a:srgbClr val="BDD248"/>
          </a:solidFill>
          <a:ln/>
        </p:spPr>
      </p:sp>
      <p:sp>
        <p:nvSpPr>
          <p:cNvPr id="61" name="Text 54"/>
          <p:cNvSpPr/>
          <p:nvPr/>
        </p:nvSpPr>
        <p:spPr>
          <a:xfrm>
            <a:off x="1249784" y="4442892"/>
            <a:ext cx="10179228" cy="484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238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N'importe quel modèle ML — RAG, classification, fine-tuning — se plie au </a:t>
            </a:r>
            <a:r>
              <a:rPr lang="en-US" sz="1238" b="1" dirty="0">
                <a:solidFill>
                  <a:srgbClr val="4B5A1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même contrat de 5 phases </a:t>
            </a:r>
            <a:r>
              <a:rPr lang="en-US" sz="1238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: c'est ce qui rend la plateforme </a:t>
            </a:r>
            <a:r>
              <a:rPr lang="en-US" sz="1238" b="1" dirty="0">
                <a:solidFill>
                  <a:srgbClr val="4B5A1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générique</a:t>
            </a:r>
            <a:r>
              <a:rPr lang="en-US" sz="1238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.</a:t>
            </a:r>
            <a:endParaRPr lang="en-US" sz="1238" dirty="0"/>
          </a:p>
        </p:txBody>
      </p:sp>
      <p:sp>
        <p:nvSpPr>
          <p:cNvPr id="62" name="Text 55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63" name="Image 5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64" name="Text 56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05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5"/>
          </a:solidFill>
          <a:ln/>
        </p:spPr>
      </p:sp>
      <p:sp>
        <p:nvSpPr>
          <p:cNvPr id="3" name="Shape 1"/>
          <p:cNvSpPr/>
          <p:nvPr/>
        </p:nvSpPr>
        <p:spPr>
          <a:xfrm>
            <a:off x="495226" y="352351"/>
            <a:ext cx="85576" cy="1237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" name="Text 2"/>
          <p:cNvSpPr/>
          <p:nvPr/>
        </p:nvSpPr>
        <p:spPr>
          <a:xfrm>
            <a:off x="666378" y="342863"/>
            <a:ext cx="21837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3" kern="0" spc="121" dirty="0">
                <a:solidFill>
                  <a:srgbClr val="54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 02 · MOTEUR GÉNÉRIQUE</a:t>
            </a:r>
            <a:endParaRPr lang="en-US" sz="863" dirty="0"/>
          </a:p>
        </p:txBody>
      </p:sp>
      <p:sp>
        <p:nvSpPr>
          <p:cNvPr id="5" name="Text 3"/>
          <p:cNvSpPr/>
          <p:nvPr/>
        </p:nvSpPr>
        <p:spPr>
          <a:xfrm>
            <a:off x="495226" y="561826"/>
            <a:ext cx="6270538" cy="4979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50" b="1" kern="0" spc="-86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contrat universel : </a:t>
            </a:r>
            <a:r>
              <a:rPr lang="en-US" sz="3450" b="1" kern="0" spc="-86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phases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495226" y="1250156"/>
            <a:ext cx="1935510" cy="238125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95226" y="3619500"/>
            <a:ext cx="1935510" cy="11906"/>
          </a:xfrm>
          <a:prstGeom prst="rect">
            <a:avLst/>
          </a:prstGeom>
          <a:solidFill>
            <a:srgbClr val="546472">
              <a:alpha val="1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5226" y="1250156"/>
            <a:ext cx="1935510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9" name="Shape 7"/>
          <p:cNvSpPr/>
          <p:nvPr/>
        </p:nvSpPr>
        <p:spPr>
          <a:xfrm>
            <a:off x="495226" y="1250156"/>
            <a:ext cx="11906" cy="2381250"/>
          </a:xfrm>
          <a:prstGeom prst="rect">
            <a:avLst/>
          </a:prstGeom>
          <a:solidFill>
            <a:srgbClr val="546472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418829" y="1250156"/>
            <a:ext cx="11906" cy="2381250"/>
          </a:xfrm>
          <a:prstGeom prst="rect">
            <a:avLst/>
          </a:prstGeom>
          <a:solidFill>
            <a:srgbClr val="546472">
              <a:alpha val="1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333" y="1426332"/>
            <a:ext cx="1809824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640333" y="1604925"/>
            <a:ext cx="1809824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640333" y="3229012"/>
            <a:ext cx="1645295" cy="11906"/>
          </a:xfrm>
          <a:prstGeom prst="rect">
            <a:avLst/>
          </a:prstGeom>
          <a:solidFill>
            <a:srgbClr val="546472">
              <a:alpha val="1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0333" y="3336168"/>
            <a:ext cx="1721495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i="1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</a:t>
            </a:r>
            <a:endParaRPr lang="en-US" sz="975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87848" y="2355019"/>
            <a:ext cx="266588" cy="17133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2811549" y="1250156"/>
            <a:ext cx="1935696" cy="238125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2811549" y="3619500"/>
            <a:ext cx="1935696" cy="11906"/>
          </a:xfrm>
          <a:prstGeom prst="rect">
            <a:avLst/>
          </a:prstGeom>
          <a:solidFill>
            <a:srgbClr val="546472">
              <a:alpha val="18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2811549" y="1250156"/>
            <a:ext cx="1935696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9" name="Shape 16"/>
          <p:cNvSpPr/>
          <p:nvPr/>
        </p:nvSpPr>
        <p:spPr>
          <a:xfrm>
            <a:off x="2811549" y="1250156"/>
            <a:ext cx="11906" cy="2381250"/>
          </a:xfrm>
          <a:prstGeom prst="rect">
            <a:avLst/>
          </a:prstGeom>
          <a:solidFill>
            <a:srgbClr val="546472">
              <a:alpha val="1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4735339" y="1250156"/>
            <a:ext cx="11906" cy="2381250"/>
          </a:xfrm>
          <a:prstGeom prst="rect">
            <a:avLst/>
          </a:prstGeom>
          <a:solidFill>
            <a:srgbClr val="546472">
              <a:alpha val="18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2956657" y="1426332"/>
            <a:ext cx="1810029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2956657" y="1604925"/>
            <a:ext cx="1810029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425" dirty="0"/>
          </a:p>
        </p:txBody>
      </p:sp>
      <p:sp>
        <p:nvSpPr>
          <p:cNvPr id="23" name="Shape 20"/>
          <p:cNvSpPr/>
          <p:nvPr/>
        </p:nvSpPr>
        <p:spPr>
          <a:xfrm>
            <a:off x="2956657" y="3229012"/>
            <a:ext cx="1645481" cy="11906"/>
          </a:xfrm>
          <a:prstGeom prst="rect">
            <a:avLst/>
          </a:prstGeom>
          <a:solidFill>
            <a:srgbClr val="546472">
              <a:alpha val="12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2956657" y="3336168"/>
            <a:ext cx="172168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i="1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975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4358" y="2355019"/>
            <a:ext cx="266588" cy="171338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5128059" y="1250156"/>
            <a:ext cx="1935696" cy="238125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/>
        </p:spPr>
      </p:sp>
      <p:sp>
        <p:nvSpPr>
          <p:cNvPr id="27" name="Shape 23"/>
          <p:cNvSpPr/>
          <p:nvPr/>
        </p:nvSpPr>
        <p:spPr>
          <a:xfrm>
            <a:off x="5128059" y="3619500"/>
            <a:ext cx="1935696" cy="11906"/>
          </a:xfrm>
          <a:prstGeom prst="rect">
            <a:avLst/>
          </a:prstGeom>
          <a:solidFill>
            <a:srgbClr val="546472">
              <a:alpha val="18000"/>
            </a:srgbClr>
          </a:solidFill>
          <a:ln/>
        </p:spPr>
      </p:sp>
      <p:sp>
        <p:nvSpPr>
          <p:cNvPr id="28" name="Shape 24"/>
          <p:cNvSpPr/>
          <p:nvPr/>
        </p:nvSpPr>
        <p:spPr>
          <a:xfrm>
            <a:off x="5128059" y="1250156"/>
            <a:ext cx="1935696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9" name="Shape 25"/>
          <p:cNvSpPr/>
          <p:nvPr/>
        </p:nvSpPr>
        <p:spPr>
          <a:xfrm>
            <a:off x="5128059" y="1250156"/>
            <a:ext cx="11906" cy="2381250"/>
          </a:xfrm>
          <a:prstGeom prst="rect">
            <a:avLst/>
          </a:prstGeom>
          <a:solidFill>
            <a:srgbClr val="546472">
              <a:alpha val="18000"/>
            </a:srgbClr>
          </a:solidFill>
          <a:ln/>
        </p:spPr>
      </p:sp>
      <p:sp>
        <p:nvSpPr>
          <p:cNvPr id="30" name="Shape 26"/>
          <p:cNvSpPr/>
          <p:nvPr/>
        </p:nvSpPr>
        <p:spPr>
          <a:xfrm>
            <a:off x="7051849" y="1250156"/>
            <a:ext cx="11906" cy="2381250"/>
          </a:xfrm>
          <a:prstGeom prst="rect">
            <a:avLst/>
          </a:prstGeom>
          <a:solidFill>
            <a:srgbClr val="546472">
              <a:alpha val="18000"/>
            </a:srgbClr>
          </a:solidFill>
          <a:ln/>
        </p:spPr>
      </p:sp>
      <p:sp>
        <p:nvSpPr>
          <p:cNvPr id="31" name="Text 27"/>
          <p:cNvSpPr/>
          <p:nvPr/>
        </p:nvSpPr>
        <p:spPr>
          <a:xfrm>
            <a:off x="5273167" y="1426332"/>
            <a:ext cx="1810029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25" dirty="0"/>
          </a:p>
        </p:txBody>
      </p:sp>
      <p:sp>
        <p:nvSpPr>
          <p:cNvPr id="32" name="Text 28"/>
          <p:cNvSpPr/>
          <p:nvPr/>
        </p:nvSpPr>
        <p:spPr>
          <a:xfrm>
            <a:off x="5273167" y="1604925"/>
            <a:ext cx="1810029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425" dirty="0"/>
          </a:p>
        </p:txBody>
      </p:sp>
      <p:sp>
        <p:nvSpPr>
          <p:cNvPr id="33" name="Shape 29"/>
          <p:cNvSpPr/>
          <p:nvPr/>
        </p:nvSpPr>
        <p:spPr>
          <a:xfrm>
            <a:off x="5273167" y="3229012"/>
            <a:ext cx="1645481" cy="11906"/>
          </a:xfrm>
          <a:prstGeom prst="rect">
            <a:avLst/>
          </a:prstGeom>
          <a:solidFill>
            <a:srgbClr val="546472">
              <a:alpha val="12000"/>
            </a:srgbClr>
          </a:solidFill>
          <a:ln/>
        </p:spPr>
      </p:sp>
      <p:sp>
        <p:nvSpPr>
          <p:cNvPr id="34" name="Text 30"/>
          <p:cNvSpPr/>
          <p:nvPr/>
        </p:nvSpPr>
        <p:spPr>
          <a:xfrm>
            <a:off x="5273167" y="3336168"/>
            <a:ext cx="172168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i="1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· modèle</a:t>
            </a:r>
            <a:endParaRPr lang="en-US" sz="975" dirty="0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20868" y="2355019"/>
            <a:ext cx="266588" cy="17133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7444569" y="1250156"/>
            <a:ext cx="1935696" cy="238125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/>
        </p:spPr>
      </p:sp>
      <p:sp>
        <p:nvSpPr>
          <p:cNvPr id="37" name="Shape 32"/>
          <p:cNvSpPr/>
          <p:nvPr/>
        </p:nvSpPr>
        <p:spPr>
          <a:xfrm>
            <a:off x="7444569" y="3619500"/>
            <a:ext cx="1935696" cy="11906"/>
          </a:xfrm>
          <a:prstGeom prst="rect">
            <a:avLst/>
          </a:prstGeom>
          <a:solidFill>
            <a:srgbClr val="546472">
              <a:alpha val="18000"/>
            </a:srgbClr>
          </a:solidFill>
          <a:ln/>
        </p:spPr>
      </p:sp>
      <p:sp>
        <p:nvSpPr>
          <p:cNvPr id="38" name="Shape 33"/>
          <p:cNvSpPr/>
          <p:nvPr/>
        </p:nvSpPr>
        <p:spPr>
          <a:xfrm>
            <a:off x="7444569" y="1250156"/>
            <a:ext cx="1935696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9" name="Shape 34"/>
          <p:cNvSpPr/>
          <p:nvPr/>
        </p:nvSpPr>
        <p:spPr>
          <a:xfrm>
            <a:off x="7444569" y="1250156"/>
            <a:ext cx="11906" cy="2381250"/>
          </a:xfrm>
          <a:prstGeom prst="rect">
            <a:avLst/>
          </a:prstGeom>
          <a:solidFill>
            <a:srgbClr val="546472">
              <a:alpha val="18000"/>
            </a:srgbClr>
          </a:solidFill>
          <a:ln/>
        </p:spPr>
      </p:sp>
      <p:sp>
        <p:nvSpPr>
          <p:cNvPr id="40" name="Shape 35"/>
          <p:cNvSpPr/>
          <p:nvPr/>
        </p:nvSpPr>
        <p:spPr>
          <a:xfrm>
            <a:off x="9368358" y="1250156"/>
            <a:ext cx="11906" cy="2381250"/>
          </a:xfrm>
          <a:prstGeom prst="rect">
            <a:avLst/>
          </a:prstGeom>
          <a:solidFill>
            <a:srgbClr val="546472">
              <a:alpha val="18000"/>
            </a:srgbClr>
          </a:solidFill>
          <a:ln/>
        </p:spPr>
      </p:sp>
      <p:sp>
        <p:nvSpPr>
          <p:cNvPr id="41" name="Text 36"/>
          <p:cNvSpPr/>
          <p:nvPr/>
        </p:nvSpPr>
        <p:spPr>
          <a:xfrm>
            <a:off x="7589676" y="1426332"/>
            <a:ext cx="1810029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25" dirty="0"/>
          </a:p>
        </p:txBody>
      </p:sp>
      <p:sp>
        <p:nvSpPr>
          <p:cNvPr id="42" name="Text 37"/>
          <p:cNvSpPr/>
          <p:nvPr/>
        </p:nvSpPr>
        <p:spPr>
          <a:xfrm>
            <a:off x="7589676" y="1604925"/>
            <a:ext cx="1810029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425" dirty="0"/>
          </a:p>
        </p:txBody>
      </p:sp>
      <p:sp>
        <p:nvSpPr>
          <p:cNvPr id="43" name="Shape 38"/>
          <p:cNvSpPr/>
          <p:nvPr/>
        </p:nvSpPr>
        <p:spPr>
          <a:xfrm>
            <a:off x="7589676" y="3229012"/>
            <a:ext cx="1645481" cy="11906"/>
          </a:xfrm>
          <a:prstGeom prst="rect">
            <a:avLst/>
          </a:prstGeom>
          <a:solidFill>
            <a:srgbClr val="546472">
              <a:alpha val="12000"/>
            </a:srgbClr>
          </a:solidFill>
          <a:ln/>
        </p:spPr>
      </p:sp>
      <p:sp>
        <p:nvSpPr>
          <p:cNvPr id="44" name="Text 39"/>
          <p:cNvSpPr/>
          <p:nvPr/>
        </p:nvSpPr>
        <p:spPr>
          <a:xfrm>
            <a:off x="7589676" y="3336168"/>
            <a:ext cx="172168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i="1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qualité</a:t>
            </a:r>
            <a:endParaRPr lang="en-US" sz="975" dirty="0"/>
          </a:p>
        </p:txBody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37377" y="2355019"/>
            <a:ext cx="266588" cy="171338"/>
          </a:xfrm>
          <a:prstGeom prst="rect">
            <a:avLst/>
          </a:prstGeom>
        </p:spPr>
      </p:pic>
      <p:sp>
        <p:nvSpPr>
          <p:cNvPr id="46" name="Shape 40"/>
          <p:cNvSpPr/>
          <p:nvPr/>
        </p:nvSpPr>
        <p:spPr>
          <a:xfrm>
            <a:off x="9761079" y="1250156"/>
            <a:ext cx="1935696" cy="238125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/>
        </p:spPr>
      </p:sp>
      <p:sp>
        <p:nvSpPr>
          <p:cNvPr id="47" name="Shape 41"/>
          <p:cNvSpPr/>
          <p:nvPr/>
        </p:nvSpPr>
        <p:spPr>
          <a:xfrm>
            <a:off x="9761079" y="3619500"/>
            <a:ext cx="1935696" cy="11906"/>
          </a:xfrm>
          <a:prstGeom prst="rect">
            <a:avLst/>
          </a:prstGeom>
          <a:solidFill>
            <a:srgbClr val="546472">
              <a:alpha val="18000"/>
            </a:srgbClr>
          </a:solidFill>
          <a:ln/>
        </p:spPr>
      </p:sp>
      <p:sp>
        <p:nvSpPr>
          <p:cNvPr id="48" name="Shape 42"/>
          <p:cNvSpPr/>
          <p:nvPr/>
        </p:nvSpPr>
        <p:spPr>
          <a:xfrm>
            <a:off x="9761079" y="1250156"/>
            <a:ext cx="1935696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9" name="Shape 43"/>
          <p:cNvSpPr/>
          <p:nvPr/>
        </p:nvSpPr>
        <p:spPr>
          <a:xfrm>
            <a:off x="9761079" y="1250156"/>
            <a:ext cx="11906" cy="2381250"/>
          </a:xfrm>
          <a:prstGeom prst="rect">
            <a:avLst/>
          </a:prstGeom>
          <a:solidFill>
            <a:srgbClr val="546472">
              <a:alpha val="18000"/>
            </a:srgbClr>
          </a:solidFill>
          <a:ln/>
        </p:spPr>
      </p:sp>
      <p:sp>
        <p:nvSpPr>
          <p:cNvPr id="50" name="Shape 44"/>
          <p:cNvSpPr/>
          <p:nvPr/>
        </p:nvSpPr>
        <p:spPr>
          <a:xfrm>
            <a:off x="11684868" y="1250156"/>
            <a:ext cx="11906" cy="2381250"/>
          </a:xfrm>
          <a:prstGeom prst="rect">
            <a:avLst/>
          </a:prstGeom>
          <a:solidFill>
            <a:srgbClr val="546472">
              <a:alpha val="18000"/>
            </a:srgbClr>
          </a:solidFill>
          <a:ln/>
        </p:spPr>
      </p:sp>
      <p:sp>
        <p:nvSpPr>
          <p:cNvPr id="51" name="Text 45"/>
          <p:cNvSpPr/>
          <p:nvPr/>
        </p:nvSpPr>
        <p:spPr>
          <a:xfrm>
            <a:off x="9906186" y="1426332"/>
            <a:ext cx="1810029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25" dirty="0"/>
          </a:p>
        </p:txBody>
      </p:sp>
      <p:sp>
        <p:nvSpPr>
          <p:cNvPr id="52" name="Text 46"/>
          <p:cNvSpPr/>
          <p:nvPr/>
        </p:nvSpPr>
        <p:spPr>
          <a:xfrm>
            <a:off x="9906186" y="1604925"/>
            <a:ext cx="1810029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425" dirty="0"/>
          </a:p>
        </p:txBody>
      </p:sp>
      <p:sp>
        <p:nvSpPr>
          <p:cNvPr id="53" name="Shape 47"/>
          <p:cNvSpPr/>
          <p:nvPr/>
        </p:nvSpPr>
        <p:spPr>
          <a:xfrm>
            <a:off x="9906186" y="3229012"/>
            <a:ext cx="1645481" cy="11906"/>
          </a:xfrm>
          <a:prstGeom prst="rect">
            <a:avLst/>
          </a:prstGeom>
          <a:solidFill>
            <a:srgbClr val="546472">
              <a:alpha val="12000"/>
            </a:srgbClr>
          </a:solidFill>
          <a:ln/>
        </p:spPr>
      </p:sp>
      <p:sp>
        <p:nvSpPr>
          <p:cNvPr id="54" name="Text 48"/>
          <p:cNvSpPr/>
          <p:nvPr/>
        </p:nvSpPr>
        <p:spPr>
          <a:xfrm>
            <a:off x="9906186" y="3336168"/>
            <a:ext cx="172168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i="1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</a:t>
            </a:r>
            <a:endParaRPr lang="en-US" sz="975" dirty="0"/>
          </a:p>
        </p:txBody>
      </p:sp>
      <p:sp>
        <p:nvSpPr>
          <p:cNvPr id="55" name="Shape 49"/>
          <p:cNvSpPr/>
          <p:nvPr/>
        </p:nvSpPr>
        <p:spPr>
          <a:xfrm>
            <a:off x="495226" y="3783769"/>
            <a:ext cx="5512594" cy="1266341"/>
          </a:xfrm>
          <a:prstGeom prst="roundRect">
            <a:avLst>
              <a:gd name="adj" fmla="val 6017"/>
            </a:avLst>
          </a:prstGeom>
          <a:solidFill>
            <a:srgbClr val="1C1C24"/>
          </a:solidFill>
          <a:ln/>
        </p:spPr>
      </p:sp>
      <p:sp>
        <p:nvSpPr>
          <p:cNvPr id="56" name="Shape 50"/>
          <p:cNvSpPr/>
          <p:nvPr/>
        </p:nvSpPr>
        <p:spPr>
          <a:xfrm>
            <a:off x="685726" y="4270437"/>
            <a:ext cx="2416225" cy="292819"/>
          </a:xfrm>
          <a:prstGeom prst="roundRect">
            <a:avLst>
              <a:gd name="adj" fmla="val 9759"/>
            </a:avLst>
          </a:prstGeom>
          <a:ln w="11906">
            <a:solidFill>
              <a:srgbClr val="BDD248">
                <a:alpha val="30000"/>
              </a:srgbClr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830982" y="4339493"/>
            <a:ext cx="2201912" cy="19280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DD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BasePipeline · classe abstraite</a:t>
            </a:r>
            <a:endParaRPr lang="en-US" sz="900" dirty="0"/>
          </a:p>
        </p:txBody>
      </p:sp>
      <p:sp>
        <p:nvSpPr>
          <p:cNvPr id="58" name="Text 52"/>
          <p:cNvSpPr/>
          <p:nvPr/>
        </p:nvSpPr>
        <p:spPr>
          <a:xfrm>
            <a:off x="3254313" y="3916970"/>
            <a:ext cx="2639897" cy="10380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développeur </a:t>
            </a: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hérite </a:t>
            </a:r>
            <a:r>
              <a:rPr lang="en-US" sz="112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l'orchestration (gratuite) et n'implémente que </a:t>
            </a: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contenu </a:t>
            </a:r>
            <a:r>
              <a:rPr lang="en-US" sz="112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chaque phase — le core ne connaît </a:t>
            </a: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use case</a:t>
            </a:r>
            <a:r>
              <a:rPr lang="en-US" sz="112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25" dirty="0"/>
          </a:p>
        </p:txBody>
      </p:sp>
      <p:sp>
        <p:nvSpPr>
          <p:cNvPr id="59" name="Shape 53"/>
          <p:cNvSpPr/>
          <p:nvPr/>
        </p:nvSpPr>
        <p:spPr>
          <a:xfrm>
            <a:off x="6160182" y="3783769"/>
            <a:ext cx="5536592" cy="1266341"/>
          </a:xfrm>
          <a:prstGeom prst="roundRect">
            <a:avLst>
              <a:gd name="adj" fmla="val 6017"/>
            </a:avLst>
          </a:prstGeom>
          <a:solidFill>
            <a:srgbClr val="BDD248">
              <a:alpha val="10000"/>
            </a:srgbClr>
          </a:solidFill>
          <a:ln w="11906">
            <a:solidFill>
              <a:srgbClr val="BDD248">
                <a:alpha val="40000"/>
              </a:srgbClr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6362588" y="3928876"/>
            <a:ext cx="37951" cy="976126"/>
          </a:xfrm>
          <a:prstGeom prst="roundRect">
            <a:avLst>
              <a:gd name="adj" fmla="val 50000"/>
            </a:avLst>
          </a:prstGeom>
          <a:solidFill>
            <a:srgbClr val="8FA82E"/>
          </a:solidFill>
          <a:ln/>
        </p:spPr>
      </p:sp>
      <p:sp>
        <p:nvSpPr>
          <p:cNvPr id="61" name="Text 55"/>
          <p:cNvSpPr/>
          <p:nvPr/>
        </p:nvSpPr>
        <p:spPr>
          <a:xfrm>
            <a:off x="6533741" y="4216859"/>
            <a:ext cx="5109446" cy="438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546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N'importe quel modèle ML — RAG, classification, fine-tuning — se plie au </a:t>
            </a:r>
            <a:r>
              <a:rPr lang="en-US" sz="1125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contrat de 5 phases </a:t>
            </a:r>
            <a:r>
              <a:rPr lang="en-US" sz="1125" b="1" dirty="0">
                <a:solidFill>
                  <a:srgbClr val="546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c'est ce qui rend la plateforme </a:t>
            </a:r>
            <a:r>
              <a:rPr lang="en-US" sz="1125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générique</a:t>
            </a:r>
            <a:r>
              <a:rPr lang="en-US" sz="1125" b="1" dirty="0">
                <a:solidFill>
                  <a:srgbClr val="546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25" dirty="0"/>
          </a:p>
        </p:txBody>
      </p:sp>
      <p:sp>
        <p:nvSpPr>
          <p:cNvPr id="62" name="Shape 56"/>
          <p:cNvSpPr/>
          <p:nvPr/>
        </p:nvSpPr>
        <p:spPr>
          <a:xfrm>
            <a:off x="495226" y="5183312"/>
            <a:ext cx="11201549" cy="11906"/>
          </a:xfrm>
          <a:prstGeom prst="rect">
            <a:avLst/>
          </a:prstGeom>
          <a:solidFill>
            <a:srgbClr val="546472">
              <a:alpha val="14000"/>
            </a:srgbClr>
          </a:solidFill>
          <a:ln/>
        </p:spPr>
      </p:sp>
      <p:sp>
        <p:nvSpPr>
          <p:cNvPr id="63" name="Text 57"/>
          <p:cNvSpPr/>
          <p:nvPr/>
        </p:nvSpPr>
        <p:spPr>
          <a:xfrm>
            <a:off x="990451" y="5328419"/>
            <a:ext cx="35425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546472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 de Fin d'Études · Pipeline MLOps générique</a:t>
            </a:r>
            <a:endParaRPr lang="en-US" sz="863" dirty="0"/>
          </a:p>
        </p:txBody>
      </p:sp>
      <p:pic>
        <p:nvPicPr>
          <p:cNvPr id="64" name="Image 4" descr="preencoded.png"/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10615538" y="5299956"/>
            <a:ext cx="333933" cy="199988"/>
          </a:xfrm>
          <a:prstGeom prst="rect">
            <a:avLst/>
          </a:prstGeom>
        </p:spPr>
      </p:pic>
      <p:sp>
        <p:nvSpPr>
          <p:cNvPr id="65" name="Text 58"/>
          <p:cNvSpPr/>
          <p:nvPr/>
        </p:nvSpPr>
        <p:spPr>
          <a:xfrm>
            <a:off x="11063697" y="5334372"/>
            <a:ext cx="214052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75" dirty="0"/>
          </a:p>
        </p:txBody>
      </p:sp>
    </p:spTree>
    <p:extLst>
      <p:ext uri="{BB962C8B-B14F-4D97-AF65-F5344CB8AC3E}">
        <p14:creationId xmlns:p14="http://schemas.microsoft.com/office/powerpoint/2010/main" val="1714256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340655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BLOC 02 · PATTERN ARCHITECTURAL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5493321" cy="5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300" b="1" kern="0" spc="-66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Dispatch sans </a:t>
            </a:r>
            <a:r>
              <a:rPr lang="en-US" sz="3300" b="1" kern="0" spc="-66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if/else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838088" y="1718035"/>
            <a:ext cx="54585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REGISTRY — CLÉ → CLASSE</a:t>
            </a:r>
            <a:endParaRPr lang="en-US" sz="825" dirty="0"/>
          </a:p>
        </p:txBody>
      </p:sp>
      <p:sp>
        <p:nvSpPr>
          <p:cNvPr id="7" name="Shape 4"/>
          <p:cNvSpPr/>
          <p:nvPr/>
        </p:nvSpPr>
        <p:spPr>
          <a:xfrm>
            <a:off x="838088" y="2032248"/>
            <a:ext cx="1409588" cy="435694"/>
          </a:xfrm>
          <a:prstGeom prst="roundRect">
            <a:avLst>
              <a:gd name="adj" fmla="val 8745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1445" y="2148929"/>
            <a:ext cx="1119076" cy="240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F3F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"rag"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2927" y="2189262"/>
            <a:ext cx="228451" cy="14287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666628" y="2038201"/>
            <a:ext cx="2260141" cy="423788"/>
          </a:xfrm>
          <a:prstGeom prst="roundRect">
            <a:avLst>
              <a:gd name="adj" fmla="val 8990"/>
            </a:avLst>
          </a:prstGeom>
          <a:solidFill>
            <a:srgbClr val="F4F4F4"/>
          </a:solidFill>
          <a:ln/>
        </p:spPr>
      </p:sp>
      <p:sp>
        <p:nvSpPr>
          <p:cNvPr id="11" name="Shape 7"/>
          <p:cNvSpPr/>
          <p:nvPr/>
        </p:nvSpPr>
        <p:spPr>
          <a:xfrm>
            <a:off x="2666628" y="2450083"/>
            <a:ext cx="2260141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2" name="Shape 8"/>
          <p:cNvSpPr/>
          <p:nvPr/>
        </p:nvSpPr>
        <p:spPr>
          <a:xfrm>
            <a:off x="2666628" y="2038201"/>
            <a:ext cx="2260141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3" name="Shape 9"/>
          <p:cNvSpPr/>
          <p:nvPr/>
        </p:nvSpPr>
        <p:spPr>
          <a:xfrm>
            <a:off x="2666628" y="2038201"/>
            <a:ext cx="23813" cy="42378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4" name="Shape 10"/>
          <p:cNvSpPr/>
          <p:nvPr/>
        </p:nvSpPr>
        <p:spPr>
          <a:xfrm>
            <a:off x="4914863" y="2038201"/>
            <a:ext cx="11906" cy="423788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5" name="Text 11"/>
          <p:cNvSpPr/>
          <p:nvPr/>
        </p:nvSpPr>
        <p:spPr>
          <a:xfrm>
            <a:off x="2842840" y="2154882"/>
            <a:ext cx="1995822" cy="228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F3F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RAGPipeline</a:t>
            </a:r>
            <a:endParaRPr lang="en-US" sz="1125" dirty="0"/>
          </a:p>
        </p:txBody>
      </p:sp>
      <p:sp>
        <p:nvSpPr>
          <p:cNvPr id="16" name="Shape 12"/>
          <p:cNvSpPr/>
          <p:nvPr/>
        </p:nvSpPr>
        <p:spPr>
          <a:xfrm>
            <a:off x="5040995" y="2162101"/>
            <a:ext cx="759396" cy="175989"/>
          </a:xfrm>
          <a:prstGeom prst="roundRect">
            <a:avLst>
              <a:gd name="adj" fmla="val 50000"/>
            </a:avLst>
          </a:prstGeom>
          <a:solidFill>
            <a:srgbClr val="BDD248"/>
          </a:solidFill>
          <a:ln/>
        </p:spPr>
      </p:sp>
      <p:sp>
        <p:nvSpPr>
          <p:cNvPr id="17" name="Text 13"/>
          <p:cNvSpPr/>
          <p:nvPr/>
        </p:nvSpPr>
        <p:spPr>
          <a:xfrm>
            <a:off x="5126720" y="2190676"/>
            <a:ext cx="664146" cy="15693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13" b="1" kern="0" spc="36" dirty="0">
                <a:solidFill>
                  <a:srgbClr val="2A2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IMPLÉMENTÉ</a:t>
            </a:r>
            <a:endParaRPr lang="en-US" sz="713" dirty="0"/>
          </a:p>
        </p:txBody>
      </p:sp>
      <p:sp>
        <p:nvSpPr>
          <p:cNvPr id="18" name="Shape 14"/>
          <p:cNvSpPr/>
          <p:nvPr/>
        </p:nvSpPr>
        <p:spPr>
          <a:xfrm>
            <a:off x="838088" y="2620305"/>
            <a:ext cx="1463911" cy="435694"/>
          </a:xfrm>
          <a:prstGeom prst="roundRect">
            <a:avLst>
              <a:gd name="adj" fmla="val 8745"/>
            </a:avLst>
          </a:prstGeom>
          <a:solidFill>
            <a:srgbClr val="FAFAFA"/>
          </a:solidFill>
          <a:ln w="11906">
            <a:solidFill>
              <a:srgbClr val="CFCFCF"/>
            </a:solidFill>
            <a:prstDash val="dash"/>
          </a:ln>
        </p:spPr>
      </p:sp>
      <p:sp>
        <p:nvSpPr>
          <p:cNvPr id="19" name="Text 15"/>
          <p:cNvSpPr/>
          <p:nvPr/>
        </p:nvSpPr>
        <p:spPr>
          <a:xfrm>
            <a:off x="1021445" y="2736986"/>
            <a:ext cx="1173398" cy="240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"ml_classic"</a:t>
            </a:r>
            <a:endParaRPr lang="en-US" sz="12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7249" y="2777319"/>
            <a:ext cx="228451" cy="142875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2720950" y="2626258"/>
            <a:ext cx="2358368" cy="423788"/>
          </a:xfrm>
          <a:prstGeom prst="roundRect">
            <a:avLst>
              <a:gd name="adj" fmla="val 8990"/>
            </a:avLst>
          </a:prstGeom>
          <a:solidFill>
            <a:srgbClr val="FAFAFA"/>
          </a:solidFill>
          <a:ln/>
        </p:spPr>
      </p:sp>
      <p:sp>
        <p:nvSpPr>
          <p:cNvPr id="22" name="Shape 17"/>
          <p:cNvSpPr/>
          <p:nvPr/>
        </p:nvSpPr>
        <p:spPr>
          <a:xfrm>
            <a:off x="2720950" y="3038140"/>
            <a:ext cx="2358368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3" name="Shape 18"/>
          <p:cNvSpPr/>
          <p:nvPr/>
        </p:nvSpPr>
        <p:spPr>
          <a:xfrm>
            <a:off x="2720950" y="2626258"/>
            <a:ext cx="2358368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4" name="Shape 19"/>
          <p:cNvSpPr/>
          <p:nvPr/>
        </p:nvSpPr>
        <p:spPr>
          <a:xfrm>
            <a:off x="2720950" y="2626258"/>
            <a:ext cx="23813" cy="423788"/>
          </a:xfrm>
          <a:prstGeom prst="rect">
            <a:avLst/>
          </a:prstGeom>
          <a:solidFill>
            <a:srgbClr val="CFCFCF"/>
          </a:solidFill>
          <a:ln/>
        </p:spPr>
      </p:sp>
      <p:sp>
        <p:nvSpPr>
          <p:cNvPr id="25" name="Shape 20"/>
          <p:cNvSpPr/>
          <p:nvPr/>
        </p:nvSpPr>
        <p:spPr>
          <a:xfrm>
            <a:off x="5067412" y="2626258"/>
            <a:ext cx="11906" cy="423788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6" name="Text 21"/>
          <p:cNvSpPr/>
          <p:nvPr/>
        </p:nvSpPr>
        <p:spPr>
          <a:xfrm>
            <a:off x="2897163" y="2742940"/>
            <a:ext cx="2094049" cy="228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MLClassicPipeline</a:t>
            </a:r>
            <a:endParaRPr lang="en-US" sz="1125" dirty="0"/>
          </a:p>
        </p:txBody>
      </p:sp>
      <p:sp>
        <p:nvSpPr>
          <p:cNvPr id="27" name="Shape 22"/>
          <p:cNvSpPr/>
          <p:nvPr/>
        </p:nvSpPr>
        <p:spPr>
          <a:xfrm>
            <a:off x="5193543" y="2738251"/>
            <a:ext cx="606847" cy="199802"/>
          </a:xfrm>
          <a:prstGeom prst="roundRect">
            <a:avLst>
              <a:gd name="adj" fmla="val 50000"/>
            </a:avLst>
          </a:prstGeom>
          <a:ln w="11906">
            <a:solidFill>
              <a:srgbClr val="CFCFCF"/>
            </a:solidFill>
            <a:prstDash val="dash"/>
          </a:ln>
        </p:spPr>
      </p:sp>
      <p:sp>
        <p:nvSpPr>
          <p:cNvPr id="28" name="Text 23"/>
          <p:cNvSpPr/>
          <p:nvPr/>
        </p:nvSpPr>
        <p:spPr>
          <a:xfrm>
            <a:off x="5291175" y="2778733"/>
            <a:ext cx="487784" cy="15693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13" b="1" kern="0" spc="36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EXEMPLE</a:t>
            </a:r>
            <a:endParaRPr lang="en-US" sz="713" dirty="0"/>
          </a:p>
        </p:txBody>
      </p:sp>
      <p:sp>
        <p:nvSpPr>
          <p:cNvPr id="29" name="Shape 24"/>
          <p:cNvSpPr/>
          <p:nvPr/>
        </p:nvSpPr>
        <p:spPr>
          <a:xfrm>
            <a:off x="838088" y="3208362"/>
            <a:ext cx="1409588" cy="435694"/>
          </a:xfrm>
          <a:prstGeom prst="roundRect">
            <a:avLst>
              <a:gd name="adj" fmla="val 8745"/>
            </a:avLst>
          </a:prstGeom>
          <a:solidFill>
            <a:srgbClr val="FAFAFA"/>
          </a:solidFill>
          <a:ln w="11906">
            <a:solidFill>
              <a:srgbClr val="CFCFCF"/>
            </a:solidFill>
            <a:prstDash val="dash"/>
          </a:ln>
        </p:spPr>
      </p:sp>
      <p:sp>
        <p:nvSpPr>
          <p:cNvPr id="30" name="Text 25"/>
          <p:cNvSpPr/>
          <p:nvPr/>
        </p:nvSpPr>
        <p:spPr>
          <a:xfrm>
            <a:off x="1021445" y="3325044"/>
            <a:ext cx="1119076" cy="240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"finetune"</a:t>
            </a:r>
            <a:endParaRPr lang="en-US" sz="12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2927" y="3365376"/>
            <a:ext cx="228451" cy="142875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2666628" y="3214315"/>
            <a:ext cx="2412690" cy="423788"/>
          </a:xfrm>
          <a:prstGeom prst="roundRect">
            <a:avLst>
              <a:gd name="adj" fmla="val 8990"/>
            </a:avLst>
          </a:prstGeom>
          <a:solidFill>
            <a:srgbClr val="FAFAFA"/>
          </a:solidFill>
          <a:ln/>
        </p:spPr>
      </p:sp>
      <p:sp>
        <p:nvSpPr>
          <p:cNvPr id="33" name="Shape 27"/>
          <p:cNvSpPr/>
          <p:nvPr/>
        </p:nvSpPr>
        <p:spPr>
          <a:xfrm>
            <a:off x="2666628" y="3626197"/>
            <a:ext cx="241269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4" name="Shape 28"/>
          <p:cNvSpPr/>
          <p:nvPr/>
        </p:nvSpPr>
        <p:spPr>
          <a:xfrm>
            <a:off x="2666628" y="3214315"/>
            <a:ext cx="241269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5" name="Shape 29"/>
          <p:cNvSpPr/>
          <p:nvPr/>
        </p:nvSpPr>
        <p:spPr>
          <a:xfrm>
            <a:off x="2666628" y="3214315"/>
            <a:ext cx="23813" cy="423788"/>
          </a:xfrm>
          <a:prstGeom prst="rect">
            <a:avLst/>
          </a:prstGeom>
          <a:solidFill>
            <a:srgbClr val="CFCFCF"/>
          </a:solidFill>
          <a:ln/>
        </p:spPr>
      </p:sp>
      <p:sp>
        <p:nvSpPr>
          <p:cNvPr id="36" name="Shape 30"/>
          <p:cNvSpPr/>
          <p:nvPr/>
        </p:nvSpPr>
        <p:spPr>
          <a:xfrm>
            <a:off x="5067412" y="3214315"/>
            <a:ext cx="11906" cy="423788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7" name="Text 31"/>
          <p:cNvSpPr/>
          <p:nvPr/>
        </p:nvSpPr>
        <p:spPr>
          <a:xfrm>
            <a:off x="2842840" y="3330997"/>
            <a:ext cx="2148371" cy="228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FineTunePipeline</a:t>
            </a:r>
            <a:endParaRPr lang="en-US" sz="1125" dirty="0"/>
          </a:p>
        </p:txBody>
      </p:sp>
      <p:sp>
        <p:nvSpPr>
          <p:cNvPr id="38" name="Shape 32"/>
          <p:cNvSpPr/>
          <p:nvPr/>
        </p:nvSpPr>
        <p:spPr>
          <a:xfrm>
            <a:off x="5193543" y="3326309"/>
            <a:ext cx="606847" cy="199802"/>
          </a:xfrm>
          <a:prstGeom prst="roundRect">
            <a:avLst>
              <a:gd name="adj" fmla="val 50000"/>
            </a:avLst>
          </a:prstGeom>
          <a:ln w="11906">
            <a:solidFill>
              <a:srgbClr val="CFCFCF"/>
            </a:solidFill>
            <a:prstDash val="dash"/>
          </a:ln>
        </p:spPr>
      </p:sp>
      <p:sp>
        <p:nvSpPr>
          <p:cNvPr id="39" name="Text 33"/>
          <p:cNvSpPr/>
          <p:nvPr/>
        </p:nvSpPr>
        <p:spPr>
          <a:xfrm>
            <a:off x="5291175" y="3366790"/>
            <a:ext cx="487784" cy="15693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13" b="1" kern="0" spc="36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EXEMPLE</a:t>
            </a:r>
            <a:endParaRPr lang="en-US" sz="713" dirty="0"/>
          </a:p>
        </p:txBody>
      </p:sp>
      <p:sp>
        <p:nvSpPr>
          <p:cNvPr id="40" name="Shape 34"/>
          <p:cNvSpPr/>
          <p:nvPr/>
        </p:nvSpPr>
        <p:spPr>
          <a:xfrm>
            <a:off x="6143253" y="1718035"/>
            <a:ext cx="5210659" cy="3391979"/>
          </a:xfrm>
          <a:prstGeom prst="roundRect">
            <a:avLst>
              <a:gd name="adj" fmla="val 1685"/>
            </a:avLst>
          </a:prstGeom>
          <a:solidFill>
            <a:srgbClr val="1A1A1A"/>
          </a:solidFill>
          <a:ln/>
          <a:effectLst>
            <a:outerShdw blurRad="342900" dist="114300" dir="5400000" algn="bl" rotWithShape="0">
              <a:srgbClr val="1A1A1A">
                <a:alpha val="22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6429003" y="2241724"/>
            <a:ext cx="4639159" cy="11906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42" name="Text 36"/>
          <p:cNvSpPr/>
          <p:nvPr/>
        </p:nvSpPr>
        <p:spPr>
          <a:xfrm>
            <a:off x="6429003" y="1965647"/>
            <a:ext cx="4778333" cy="180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REGISTRY.PY</a:t>
            </a:r>
            <a:endParaRPr lang="en-US" sz="825" dirty="0"/>
          </a:p>
        </p:txBody>
      </p:sp>
      <p:sp>
        <p:nvSpPr>
          <p:cNvPr id="43" name="Text 37"/>
          <p:cNvSpPr/>
          <p:nvPr/>
        </p:nvSpPr>
        <p:spPr>
          <a:xfrm>
            <a:off x="6429003" y="2424968"/>
            <a:ext cx="4778333" cy="304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200" dirty="0">
                <a:solidFill>
                  <a:srgbClr val="5CC2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register</a:t>
            </a:r>
            <a:r>
              <a:rPr lang="en-US" sz="1200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20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"rag"</a:t>
            </a:r>
            <a:r>
              <a:rPr lang="en-US" sz="1200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200" dirty="0">
                <a:solidFill>
                  <a:srgbClr val="E2A9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RAGPipeline</a:t>
            </a:r>
            <a:r>
              <a:rPr lang="en-US" sz="1200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</a:t>
            </a:r>
            <a:r>
              <a:rPr lang="en-US" sz="975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← seul use case implémenté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6429003" y="2843919"/>
            <a:ext cx="4778333" cy="571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050" dirty="0">
                <a:solidFill>
                  <a:srgbClr val="70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extensions futures (exemples — pas encore implémentées) :</a:t>
            </a:r>
            <a:endParaRPr lang="en-US" sz="1050" dirty="0"/>
          </a:p>
        </p:txBody>
      </p:sp>
      <p:sp>
        <p:nvSpPr>
          <p:cNvPr id="45" name="Text 39"/>
          <p:cNvSpPr/>
          <p:nvPr/>
        </p:nvSpPr>
        <p:spPr>
          <a:xfrm>
            <a:off x="6429003" y="3377096"/>
            <a:ext cx="4778333" cy="304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050" dirty="0">
                <a:solidFill>
                  <a:srgbClr val="70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register("ml_classic", MLClassicPipeline)</a:t>
            </a:r>
            <a:endParaRPr lang="en-US" sz="1050" dirty="0"/>
          </a:p>
        </p:txBody>
      </p:sp>
      <p:sp>
        <p:nvSpPr>
          <p:cNvPr id="46" name="Text 40"/>
          <p:cNvSpPr/>
          <p:nvPr/>
        </p:nvSpPr>
        <p:spPr>
          <a:xfrm>
            <a:off x="6429003" y="3643685"/>
            <a:ext cx="4778333" cy="304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050" dirty="0">
                <a:solidFill>
                  <a:srgbClr val="70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register("finetune", FineTunePipeline)</a:t>
            </a:r>
            <a:endParaRPr lang="en-US" sz="1050" dirty="0"/>
          </a:p>
        </p:txBody>
      </p:sp>
      <p:sp>
        <p:nvSpPr>
          <p:cNvPr id="47" name="Text 41"/>
          <p:cNvSpPr/>
          <p:nvPr/>
        </p:nvSpPr>
        <p:spPr>
          <a:xfrm>
            <a:off x="6429003" y="4062636"/>
            <a:ext cx="4778333" cy="304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050" dirty="0">
                <a:solidFill>
                  <a:srgbClr val="6068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dispatch à l'exécution</a:t>
            </a:r>
            <a:endParaRPr lang="en-US" sz="1050" dirty="0"/>
          </a:p>
        </p:txBody>
      </p:sp>
      <p:sp>
        <p:nvSpPr>
          <p:cNvPr id="48" name="Text 42"/>
          <p:cNvSpPr/>
          <p:nvPr/>
        </p:nvSpPr>
        <p:spPr>
          <a:xfrm>
            <a:off x="6429003" y="4329224"/>
            <a:ext cx="4778333" cy="304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200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 = </a:t>
            </a:r>
            <a:r>
              <a:rPr lang="en-US" sz="1200" dirty="0">
                <a:solidFill>
                  <a:srgbClr val="5CC2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get_pipeline</a:t>
            </a:r>
            <a:r>
              <a:rPr lang="en-US" sz="1200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20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"rag"</a:t>
            </a:r>
            <a:r>
              <a:rPr lang="en-US" sz="1200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00" dirty="0"/>
          </a:p>
        </p:txBody>
      </p:sp>
      <p:sp>
        <p:nvSpPr>
          <p:cNvPr id="49" name="Text 43"/>
          <p:cNvSpPr/>
          <p:nvPr/>
        </p:nvSpPr>
        <p:spPr>
          <a:xfrm>
            <a:off x="6429003" y="4595813"/>
            <a:ext cx="4778333" cy="304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200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pipeline.</a:t>
            </a:r>
            <a:r>
              <a:rPr lang="en-US" sz="1200" dirty="0">
                <a:solidFill>
                  <a:srgbClr val="5CC2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</a:t>
            </a:r>
            <a:r>
              <a:rPr lang="en-US" sz="1200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(ctx)</a:t>
            </a:r>
            <a:endParaRPr lang="en-US" sz="1200" dirty="0"/>
          </a:p>
        </p:txBody>
      </p:sp>
      <p:sp>
        <p:nvSpPr>
          <p:cNvPr id="50" name="Shape 44"/>
          <p:cNvSpPr/>
          <p:nvPr/>
        </p:nvSpPr>
        <p:spPr>
          <a:xfrm>
            <a:off x="838088" y="5414739"/>
            <a:ext cx="10515823" cy="595126"/>
          </a:xfrm>
          <a:prstGeom prst="roundRect">
            <a:avLst>
              <a:gd name="adj" fmla="val 9603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470" y="5579008"/>
            <a:ext cx="171338" cy="266588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1383171" y="5593147"/>
            <a:ext cx="417135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Ajouter un use case = </a:t>
            </a:r>
            <a:r>
              <a:rPr lang="en-US" sz="1275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 ligne </a:t>
            </a:r>
            <a:r>
              <a:rPr lang="en-US" sz="12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— zéro modif du core</a:t>
            </a:r>
            <a:endParaRPr lang="en-US" sz="1275" dirty="0"/>
          </a:p>
        </p:txBody>
      </p:sp>
      <p:sp>
        <p:nvSpPr>
          <p:cNvPr id="53" name="Text 46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54" name="Image 5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06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271826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BLOC 02 · PIPELINECONTEXT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7429919" cy="1027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300" b="1" kern="0" spc="-66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Les données </a:t>
            </a:r>
            <a:r>
              <a:rPr lang="en-US" sz="3300" b="1" kern="0" spc="-66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circulent </a:t>
            </a:r>
            <a:r>
              <a:rPr lang="en-US" sz="3300" b="1" kern="0" spc="-66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entre les phases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38088" y="2174379"/>
            <a:ext cx="1828726" cy="702097"/>
          </a:xfrm>
          <a:prstGeom prst="roundRect">
            <a:avLst>
              <a:gd name="adj" fmla="val 8140"/>
            </a:avLst>
          </a:prstGeom>
          <a:solidFill>
            <a:srgbClr val="F4F4F4"/>
          </a:solidFill>
          <a:ln/>
        </p:spPr>
      </p:sp>
      <p:sp>
        <p:nvSpPr>
          <p:cNvPr id="7" name="Shape 4"/>
          <p:cNvSpPr/>
          <p:nvPr/>
        </p:nvSpPr>
        <p:spPr>
          <a:xfrm>
            <a:off x="838088" y="2864569"/>
            <a:ext cx="1828726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8" name="Shape 5"/>
          <p:cNvSpPr/>
          <p:nvPr/>
        </p:nvSpPr>
        <p:spPr>
          <a:xfrm>
            <a:off x="838088" y="2174379"/>
            <a:ext cx="1828726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9" name="Shape 6"/>
          <p:cNvSpPr/>
          <p:nvPr/>
        </p:nvSpPr>
        <p:spPr>
          <a:xfrm>
            <a:off x="838088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0" name="Shape 7"/>
          <p:cNvSpPr/>
          <p:nvPr/>
        </p:nvSpPr>
        <p:spPr>
          <a:xfrm>
            <a:off x="2654908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1" name="Text 8"/>
          <p:cNvSpPr/>
          <p:nvPr/>
        </p:nvSpPr>
        <p:spPr>
          <a:xfrm>
            <a:off x="906270" y="2331393"/>
            <a:ext cx="169236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906270" y="2512219"/>
            <a:ext cx="169236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kern="0" spc="27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PREPARE</a:t>
            </a:r>
            <a:endParaRPr lang="en-US" sz="13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6814" y="2411202"/>
            <a:ext cx="361838" cy="228451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009677" y="2174379"/>
            <a:ext cx="1828912" cy="702097"/>
          </a:xfrm>
          <a:prstGeom prst="roundRect">
            <a:avLst>
              <a:gd name="adj" fmla="val 8140"/>
            </a:avLst>
          </a:prstGeom>
          <a:solidFill>
            <a:srgbClr val="F4F4F4"/>
          </a:solidFill>
          <a:ln/>
        </p:spPr>
      </p:sp>
      <p:sp>
        <p:nvSpPr>
          <p:cNvPr id="15" name="Shape 11"/>
          <p:cNvSpPr/>
          <p:nvPr/>
        </p:nvSpPr>
        <p:spPr>
          <a:xfrm>
            <a:off x="3009677" y="2864569"/>
            <a:ext cx="1828912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6" name="Shape 12"/>
          <p:cNvSpPr/>
          <p:nvPr/>
        </p:nvSpPr>
        <p:spPr>
          <a:xfrm>
            <a:off x="3009677" y="2174379"/>
            <a:ext cx="1828912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7" name="Shape 13"/>
          <p:cNvSpPr/>
          <p:nvPr/>
        </p:nvSpPr>
        <p:spPr>
          <a:xfrm>
            <a:off x="3009677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8" name="Shape 14"/>
          <p:cNvSpPr/>
          <p:nvPr/>
        </p:nvSpPr>
        <p:spPr>
          <a:xfrm>
            <a:off x="4826682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9" name="Text 15"/>
          <p:cNvSpPr/>
          <p:nvPr/>
        </p:nvSpPr>
        <p:spPr>
          <a:xfrm>
            <a:off x="3077849" y="2331393"/>
            <a:ext cx="169256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825" dirty="0"/>
          </a:p>
        </p:txBody>
      </p:sp>
      <p:sp>
        <p:nvSpPr>
          <p:cNvPr id="20" name="Text 16"/>
          <p:cNvSpPr/>
          <p:nvPr/>
        </p:nvSpPr>
        <p:spPr>
          <a:xfrm>
            <a:off x="3077849" y="2512219"/>
            <a:ext cx="169256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kern="0" spc="27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PROCESS</a:t>
            </a:r>
            <a:endParaRPr lang="en-US" sz="135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8588" y="2411202"/>
            <a:ext cx="361838" cy="228451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181451" y="2174379"/>
            <a:ext cx="1828912" cy="702097"/>
          </a:xfrm>
          <a:prstGeom prst="roundRect">
            <a:avLst>
              <a:gd name="adj" fmla="val 8140"/>
            </a:avLst>
          </a:prstGeom>
          <a:solidFill>
            <a:srgbClr val="F4F4F4"/>
          </a:solidFill>
          <a:ln/>
        </p:spPr>
      </p:sp>
      <p:sp>
        <p:nvSpPr>
          <p:cNvPr id="23" name="Shape 18"/>
          <p:cNvSpPr/>
          <p:nvPr/>
        </p:nvSpPr>
        <p:spPr>
          <a:xfrm>
            <a:off x="5181451" y="2864569"/>
            <a:ext cx="1828912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4" name="Shape 19"/>
          <p:cNvSpPr/>
          <p:nvPr/>
        </p:nvSpPr>
        <p:spPr>
          <a:xfrm>
            <a:off x="5181451" y="2174379"/>
            <a:ext cx="1828912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5" name="Shape 20"/>
          <p:cNvSpPr/>
          <p:nvPr/>
        </p:nvSpPr>
        <p:spPr>
          <a:xfrm>
            <a:off x="5181451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6" name="Shape 21"/>
          <p:cNvSpPr/>
          <p:nvPr/>
        </p:nvSpPr>
        <p:spPr>
          <a:xfrm>
            <a:off x="6998457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7" name="Text 22"/>
          <p:cNvSpPr/>
          <p:nvPr/>
        </p:nvSpPr>
        <p:spPr>
          <a:xfrm>
            <a:off x="5249624" y="2331393"/>
            <a:ext cx="169256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25" dirty="0"/>
          </a:p>
        </p:txBody>
      </p:sp>
      <p:sp>
        <p:nvSpPr>
          <p:cNvPr id="28" name="Text 23"/>
          <p:cNvSpPr/>
          <p:nvPr/>
        </p:nvSpPr>
        <p:spPr>
          <a:xfrm>
            <a:off x="5249624" y="2512219"/>
            <a:ext cx="169256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kern="0" spc="27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BUILD</a:t>
            </a:r>
            <a:endParaRPr lang="en-US" sz="135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363" y="2411202"/>
            <a:ext cx="361838" cy="228451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7353226" y="2174379"/>
            <a:ext cx="1828912" cy="702097"/>
          </a:xfrm>
          <a:prstGeom prst="roundRect">
            <a:avLst>
              <a:gd name="adj" fmla="val 8140"/>
            </a:avLst>
          </a:prstGeom>
          <a:solidFill>
            <a:srgbClr val="F4F4F4"/>
          </a:solidFill>
          <a:ln/>
        </p:spPr>
      </p:sp>
      <p:sp>
        <p:nvSpPr>
          <p:cNvPr id="31" name="Shape 25"/>
          <p:cNvSpPr/>
          <p:nvPr/>
        </p:nvSpPr>
        <p:spPr>
          <a:xfrm>
            <a:off x="7353226" y="2864569"/>
            <a:ext cx="1828912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2" name="Shape 26"/>
          <p:cNvSpPr/>
          <p:nvPr/>
        </p:nvSpPr>
        <p:spPr>
          <a:xfrm>
            <a:off x="7353226" y="2174379"/>
            <a:ext cx="1828912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3" name="Shape 27"/>
          <p:cNvSpPr/>
          <p:nvPr/>
        </p:nvSpPr>
        <p:spPr>
          <a:xfrm>
            <a:off x="7353226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4" name="Shape 28"/>
          <p:cNvSpPr/>
          <p:nvPr/>
        </p:nvSpPr>
        <p:spPr>
          <a:xfrm>
            <a:off x="9170231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5" name="Text 29"/>
          <p:cNvSpPr/>
          <p:nvPr/>
        </p:nvSpPr>
        <p:spPr>
          <a:xfrm>
            <a:off x="7421398" y="2331393"/>
            <a:ext cx="169256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825" dirty="0"/>
          </a:p>
        </p:txBody>
      </p:sp>
      <p:sp>
        <p:nvSpPr>
          <p:cNvPr id="36" name="Text 30"/>
          <p:cNvSpPr/>
          <p:nvPr/>
        </p:nvSpPr>
        <p:spPr>
          <a:xfrm>
            <a:off x="7421398" y="2512219"/>
            <a:ext cx="169256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kern="0" spc="27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EVALUATE</a:t>
            </a:r>
            <a:endParaRPr lang="en-US" sz="135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137" y="2411202"/>
            <a:ext cx="361838" cy="228451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9525000" y="2174379"/>
            <a:ext cx="1828912" cy="702097"/>
          </a:xfrm>
          <a:prstGeom prst="roundRect">
            <a:avLst>
              <a:gd name="adj" fmla="val 8140"/>
            </a:avLst>
          </a:prstGeom>
          <a:solidFill>
            <a:srgbClr val="F4F4F4"/>
          </a:solidFill>
          <a:ln/>
        </p:spPr>
      </p:sp>
      <p:sp>
        <p:nvSpPr>
          <p:cNvPr id="39" name="Shape 32"/>
          <p:cNvSpPr/>
          <p:nvPr/>
        </p:nvSpPr>
        <p:spPr>
          <a:xfrm>
            <a:off x="9525000" y="2864569"/>
            <a:ext cx="1828912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0" name="Shape 33"/>
          <p:cNvSpPr/>
          <p:nvPr/>
        </p:nvSpPr>
        <p:spPr>
          <a:xfrm>
            <a:off x="9525000" y="2174379"/>
            <a:ext cx="1828912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1" name="Shape 34"/>
          <p:cNvSpPr/>
          <p:nvPr/>
        </p:nvSpPr>
        <p:spPr>
          <a:xfrm>
            <a:off x="9525000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2" name="Shape 35"/>
          <p:cNvSpPr/>
          <p:nvPr/>
        </p:nvSpPr>
        <p:spPr>
          <a:xfrm>
            <a:off x="11342005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3" name="Text 36"/>
          <p:cNvSpPr/>
          <p:nvPr/>
        </p:nvSpPr>
        <p:spPr>
          <a:xfrm>
            <a:off x="9593173" y="2331393"/>
            <a:ext cx="169256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825" dirty="0"/>
          </a:p>
        </p:txBody>
      </p:sp>
      <p:sp>
        <p:nvSpPr>
          <p:cNvPr id="44" name="Text 37"/>
          <p:cNvSpPr/>
          <p:nvPr/>
        </p:nvSpPr>
        <p:spPr>
          <a:xfrm>
            <a:off x="9593173" y="2512219"/>
            <a:ext cx="169256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kern="0" spc="27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DEPLOY</a:t>
            </a:r>
            <a:endParaRPr lang="en-US" sz="1350" dirty="0"/>
          </a:p>
        </p:txBody>
      </p:sp>
      <p:sp>
        <p:nvSpPr>
          <p:cNvPr id="45" name="Shape 38"/>
          <p:cNvSpPr/>
          <p:nvPr/>
        </p:nvSpPr>
        <p:spPr>
          <a:xfrm>
            <a:off x="1742963" y="2933588"/>
            <a:ext cx="18976" cy="19050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6" name="Shape 39"/>
          <p:cNvSpPr/>
          <p:nvPr/>
        </p:nvSpPr>
        <p:spPr>
          <a:xfrm>
            <a:off x="3914552" y="2933588"/>
            <a:ext cx="18976" cy="19050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7" name="Shape 40"/>
          <p:cNvSpPr/>
          <p:nvPr/>
        </p:nvSpPr>
        <p:spPr>
          <a:xfrm>
            <a:off x="6086326" y="2933588"/>
            <a:ext cx="18976" cy="19050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8" name="Shape 41"/>
          <p:cNvSpPr/>
          <p:nvPr/>
        </p:nvSpPr>
        <p:spPr>
          <a:xfrm>
            <a:off x="8258101" y="2933588"/>
            <a:ext cx="18976" cy="19050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9" name="Shape 42"/>
          <p:cNvSpPr/>
          <p:nvPr/>
        </p:nvSpPr>
        <p:spPr>
          <a:xfrm>
            <a:off x="10429875" y="2933588"/>
            <a:ext cx="18976" cy="19050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50" name="Shape 43"/>
          <p:cNvSpPr/>
          <p:nvPr/>
        </p:nvSpPr>
        <p:spPr>
          <a:xfrm>
            <a:off x="838088" y="4000314"/>
            <a:ext cx="1828726" cy="495226"/>
          </a:xfrm>
          <a:prstGeom prst="roundRect">
            <a:avLst>
              <a:gd name="adj" fmla="val 5770"/>
            </a:avLst>
          </a:prstGeom>
          <a:solidFill>
            <a:srgbClr val="BDD248">
              <a:alpha val="14000"/>
            </a:srgbClr>
          </a:solidFill>
          <a:ln/>
        </p:spPr>
      </p:sp>
      <p:sp>
        <p:nvSpPr>
          <p:cNvPr id="51" name="Text 44"/>
          <p:cNvSpPr/>
          <p:nvPr/>
        </p:nvSpPr>
        <p:spPr>
          <a:xfrm>
            <a:off x="746652" y="3790838"/>
            <a:ext cx="2011598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kern="0" spc="3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ctx v1</a:t>
            </a:r>
            <a:endParaRPr lang="en-US" sz="750" dirty="0"/>
          </a:p>
        </p:txBody>
      </p:sp>
      <p:sp>
        <p:nvSpPr>
          <p:cNvPr id="52" name="Text 45"/>
          <p:cNvSpPr/>
          <p:nvPr/>
        </p:nvSpPr>
        <p:spPr>
          <a:xfrm>
            <a:off x="952314" y="4226533"/>
            <a:ext cx="1760302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2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raw_docs</a:t>
            </a:r>
            <a:endParaRPr lang="en-US" sz="900" dirty="0"/>
          </a:p>
        </p:txBody>
      </p:sp>
      <p:sp>
        <p:nvSpPr>
          <p:cNvPr id="53" name="Shape 46"/>
          <p:cNvSpPr/>
          <p:nvPr/>
        </p:nvSpPr>
        <p:spPr>
          <a:xfrm>
            <a:off x="3009677" y="3790838"/>
            <a:ext cx="1828912" cy="704701"/>
          </a:xfrm>
          <a:prstGeom prst="roundRect">
            <a:avLst>
              <a:gd name="adj" fmla="val 4055"/>
            </a:avLst>
          </a:prstGeom>
          <a:solidFill>
            <a:srgbClr val="BDD248">
              <a:alpha val="28000"/>
            </a:srgbClr>
          </a:solidFill>
          <a:ln/>
        </p:spPr>
      </p:sp>
      <p:sp>
        <p:nvSpPr>
          <p:cNvPr id="54" name="Text 47"/>
          <p:cNvSpPr/>
          <p:nvPr/>
        </p:nvSpPr>
        <p:spPr>
          <a:xfrm>
            <a:off x="2918231" y="3581363"/>
            <a:ext cx="2011803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kern="0" spc="3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ctx v2</a:t>
            </a:r>
            <a:endParaRPr lang="en-US" sz="750" dirty="0"/>
          </a:p>
        </p:txBody>
      </p:sp>
      <p:sp>
        <p:nvSpPr>
          <p:cNvPr id="55" name="Text 48"/>
          <p:cNvSpPr/>
          <p:nvPr/>
        </p:nvSpPr>
        <p:spPr>
          <a:xfrm>
            <a:off x="3123902" y="4041986"/>
            <a:ext cx="1760506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5" dirty="0">
                <a:solidFill>
                  <a:srgbClr val="3F3F3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raw_docs</a:t>
            </a:r>
            <a:endParaRPr lang="en-US" sz="825" dirty="0"/>
          </a:p>
        </p:txBody>
      </p:sp>
      <p:sp>
        <p:nvSpPr>
          <p:cNvPr id="56" name="Text 49"/>
          <p:cNvSpPr/>
          <p:nvPr/>
        </p:nvSpPr>
        <p:spPr>
          <a:xfrm>
            <a:off x="3123902" y="4226533"/>
            <a:ext cx="176050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2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chunks</a:t>
            </a:r>
            <a:endParaRPr lang="en-US" sz="900" dirty="0"/>
          </a:p>
        </p:txBody>
      </p:sp>
      <p:sp>
        <p:nvSpPr>
          <p:cNvPr id="57" name="Shape 50"/>
          <p:cNvSpPr/>
          <p:nvPr/>
        </p:nvSpPr>
        <p:spPr>
          <a:xfrm>
            <a:off x="5181451" y="3581177"/>
            <a:ext cx="1828912" cy="914363"/>
          </a:xfrm>
          <a:prstGeom prst="roundRect">
            <a:avLst>
              <a:gd name="adj" fmla="val 3125"/>
            </a:avLst>
          </a:prstGeom>
          <a:solidFill>
            <a:srgbClr val="BDD248">
              <a:alpha val="46000"/>
            </a:srgbClr>
          </a:solidFill>
          <a:ln/>
        </p:spPr>
      </p:sp>
      <p:sp>
        <p:nvSpPr>
          <p:cNvPr id="58" name="Text 51"/>
          <p:cNvSpPr/>
          <p:nvPr/>
        </p:nvSpPr>
        <p:spPr>
          <a:xfrm>
            <a:off x="5090006" y="3371701"/>
            <a:ext cx="2011803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kern="0" spc="3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ctx v3</a:t>
            </a:r>
            <a:endParaRPr lang="en-US" sz="750" dirty="0"/>
          </a:p>
        </p:txBody>
      </p:sp>
      <p:sp>
        <p:nvSpPr>
          <p:cNvPr id="59" name="Text 52"/>
          <p:cNvSpPr/>
          <p:nvPr/>
        </p:nvSpPr>
        <p:spPr>
          <a:xfrm>
            <a:off x="5295677" y="4041986"/>
            <a:ext cx="1760506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5" dirty="0">
                <a:solidFill>
                  <a:srgbClr val="3F3F3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raw_docs · chunks</a:t>
            </a:r>
            <a:endParaRPr lang="en-US" sz="825" dirty="0"/>
          </a:p>
        </p:txBody>
      </p:sp>
      <p:sp>
        <p:nvSpPr>
          <p:cNvPr id="60" name="Text 53"/>
          <p:cNvSpPr/>
          <p:nvPr/>
        </p:nvSpPr>
        <p:spPr>
          <a:xfrm>
            <a:off x="5295677" y="4226533"/>
            <a:ext cx="176050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2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index</a:t>
            </a:r>
            <a:endParaRPr lang="en-US" sz="900" dirty="0"/>
          </a:p>
        </p:txBody>
      </p:sp>
      <p:sp>
        <p:nvSpPr>
          <p:cNvPr id="61" name="Shape 54"/>
          <p:cNvSpPr/>
          <p:nvPr/>
        </p:nvSpPr>
        <p:spPr>
          <a:xfrm>
            <a:off x="7353226" y="3390677"/>
            <a:ext cx="1828912" cy="1104863"/>
          </a:xfrm>
          <a:prstGeom prst="roundRect">
            <a:avLst>
              <a:gd name="adj" fmla="val 2586"/>
            </a:avLst>
          </a:prstGeom>
          <a:solidFill>
            <a:srgbClr val="BDD248">
              <a:alpha val="66000"/>
            </a:srgbClr>
          </a:solidFill>
          <a:ln/>
        </p:spPr>
      </p:sp>
      <p:sp>
        <p:nvSpPr>
          <p:cNvPr id="62" name="Text 55"/>
          <p:cNvSpPr/>
          <p:nvPr/>
        </p:nvSpPr>
        <p:spPr>
          <a:xfrm>
            <a:off x="7261780" y="3181201"/>
            <a:ext cx="2011803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kern="0" spc="3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ctx v4</a:t>
            </a:r>
            <a:endParaRPr lang="en-US" sz="750" dirty="0"/>
          </a:p>
        </p:txBody>
      </p:sp>
      <p:sp>
        <p:nvSpPr>
          <p:cNvPr id="63" name="Text 56"/>
          <p:cNvSpPr/>
          <p:nvPr/>
        </p:nvSpPr>
        <p:spPr>
          <a:xfrm>
            <a:off x="7467451" y="4041986"/>
            <a:ext cx="1760506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5" dirty="0">
                <a:solidFill>
                  <a:srgbClr val="3F3F3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chunks · index</a:t>
            </a:r>
            <a:endParaRPr lang="en-US" sz="825" dirty="0"/>
          </a:p>
        </p:txBody>
      </p:sp>
      <p:sp>
        <p:nvSpPr>
          <p:cNvPr id="64" name="Text 57"/>
          <p:cNvSpPr/>
          <p:nvPr/>
        </p:nvSpPr>
        <p:spPr>
          <a:xfrm>
            <a:off x="7467451" y="4226533"/>
            <a:ext cx="176050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2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métriques</a:t>
            </a:r>
            <a:endParaRPr lang="en-US" sz="900" dirty="0"/>
          </a:p>
        </p:txBody>
      </p:sp>
      <p:sp>
        <p:nvSpPr>
          <p:cNvPr id="65" name="Shape 58"/>
          <p:cNvSpPr/>
          <p:nvPr/>
        </p:nvSpPr>
        <p:spPr>
          <a:xfrm>
            <a:off x="9525000" y="3181201"/>
            <a:ext cx="1828912" cy="1314338"/>
          </a:xfrm>
          <a:prstGeom prst="roundRect">
            <a:avLst>
              <a:gd name="adj" fmla="val 2174"/>
            </a:avLst>
          </a:prstGeom>
          <a:solidFill>
            <a:srgbClr val="BDD248"/>
          </a:solidFill>
          <a:ln/>
        </p:spPr>
      </p:sp>
      <p:sp>
        <p:nvSpPr>
          <p:cNvPr id="66" name="Text 59"/>
          <p:cNvSpPr/>
          <p:nvPr/>
        </p:nvSpPr>
        <p:spPr>
          <a:xfrm>
            <a:off x="9433554" y="2971726"/>
            <a:ext cx="2011803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kern="0" spc="3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ctx v5</a:t>
            </a:r>
            <a:endParaRPr lang="en-US" sz="750" dirty="0"/>
          </a:p>
        </p:txBody>
      </p:sp>
      <p:sp>
        <p:nvSpPr>
          <p:cNvPr id="67" name="Text 60"/>
          <p:cNvSpPr/>
          <p:nvPr/>
        </p:nvSpPr>
        <p:spPr>
          <a:xfrm>
            <a:off x="9639226" y="4041986"/>
            <a:ext cx="1760506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5" dirty="0">
                <a:solidFill>
                  <a:srgbClr val="3F3F3F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index · métriques</a:t>
            </a:r>
            <a:endParaRPr lang="en-US" sz="825" dirty="0"/>
          </a:p>
        </p:txBody>
      </p:sp>
      <p:sp>
        <p:nvSpPr>
          <p:cNvPr id="68" name="Text 61"/>
          <p:cNvSpPr/>
          <p:nvPr/>
        </p:nvSpPr>
        <p:spPr>
          <a:xfrm>
            <a:off x="9639226" y="4226533"/>
            <a:ext cx="176050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2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api_config ✓</a:t>
            </a:r>
            <a:endParaRPr lang="en-US" sz="900" dirty="0"/>
          </a:p>
        </p:txBody>
      </p:sp>
      <p:sp>
        <p:nvSpPr>
          <p:cNvPr id="69" name="Shape 62"/>
          <p:cNvSpPr/>
          <p:nvPr/>
        </p:nvSpPr>
        <p:spPr>
          <a:xfrm>
            <a:off x="838088" y="4762128"/>
            <a:ext cx="10515823" cy="556803"/>
          </a:xfrm>
          <a:prstGeom prst="roundRect">
            <a:avLst>
              <a:gd name="adj" fmla="val 10264"/>
            </a:avLst>
          </a:prstGeom>
          <a:solidFill>
            <a:srgbClr val="F4F4F4"/>
          </a:solidFill>
          <a:ln/>
        </p:spPr>
      </p:sp>
      <p:sp>
        <p:nvSpPr>
          <p:cNvPr id="70" name="Shape 63"/>
          <p:cNvSpPr/>
          <p:nvPr/>
        </p:nvSpPr>
        <p:spPr>
          <a:xfrm>
            <a:off x="838088" y="5307025"/>
            <a:ext cx="1051582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71" name="Shape 64"/>
          <p:cNvSpPr/>
          <p:nvPr/>
        </p:nvSpPr>
        <p:spPr>
          <a:xfrm>
            <a:off x="838088" y="4762128"/>
            <a:ext cx="1051582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72" name="Shape 65"/>
          <p:cNvSpPr/>
          <p:nvPr/>
        </p:nvSpPr>
        <p:spPr>
          <a:xfrm>
            <a:off x="838088" y="4762128"/>
            <a:ext cx="35719" cy="55680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73" name="Shape 66"/>
          <p:cNvSpPr/>
          <p:nvPr/>
        </p:nvSpPr>
        <p:spPr>
          <a:xfrm>
            <a:off x="11342005" y="4762128"/>
            <a:ext cx="11906" cy="556803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74" name="Shape 67"/>
          <p:cNvSpPr/>
          <p:nvPr/>
        </p:nvSpPr>
        <p:spPr>
          <a:xfrm>
            <a:off x="1064307" y="4907235"/>
            <a:ext cx="171338" cy="26658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75" name="Text 68"/>
          <p:cNvSpPr/>
          <p:nvPr/>
        </p:nvSpPr>
        <p:spPr>
          <a:xfrm>
            <a:off x="1368847" y="4921374"/>
            <a:ext cx="618520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Découplage total </a:t>
            </a:r>
            <a:r>
              <a:rPr lang="en-US" sz="12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entre les phases — chaque phase lit et enrichit le contexte.</a:t>
            </a:r>
            <a:endParaRPr lang="en-US" sz="1275" dirty="0"/>
          </a:p>
        </p:txBody>
      </p:sp>
      <p:sp>
        <p:nvSpPr>
          <p:cNvPr id="76" name="Text 69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77" name="Image 5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78" name="Text 70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07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95226" y="314213"/>
            <a:ext cx="85576" cy="1237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" name="Text 2"/>
          <p:cNvSpPr/>
          <p:nvPr/>
        </p:nvSpPr>
        <p:spPr>
          <a:xfrm>
            <a:off x="666378" y="304726"/>
            <a:ext cx="21026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3" kern="0" spc="121" dirty="0">
                <a:solidFill>
                  <a:srgbClr val="54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 02 · PIPELINECONTEXT</a:t>
            </a:r>
            <a:endParaRPr lang="en-US" sz="863" dirty="0"/>
          </a:p>
        </p:txBody>
      </p:sp>
      <p:sp>
        <p:nvSpPr>
          <p:cNvPr id="5" name="Text 3"/>
          <p:cNvSpPr/>
          <p:nvPr/>
        </p:nvSpPr>
        <p:spPr>
          <a:xfrm>
            <a:off x="495226" y="523689"/>
            <a:ext cx="7558125" cy="4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300" b="1" kern="0" spc="-82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données </a:t>
            </a:r>
            <a:r>
              <a:rPr lang="en-US" sz="3300" b="1" kern="0" spc="-82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circulent </a:t>
            </a:r>
            <a:r>
              <a:rPr lang="en-US" sz="3300" b="1" kern="0" spc="-82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les phases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495226" y="1154162"/>
            <a:ext cx="1996529" cy="762000"/>
          </a:xfrm>
          <a:prstGeom prst="roundRect">
            <a:avLst>
              <a:gd name="adj" fmla="val 10000"/>
            </a:avLst>
          </a:prstGeom>
          <a:solidFill>
            <a:srgbClr val="F9FAF5"/>
          </a:solidFill>
          <a:ln/>
        </p:spPr>
      </p:sp>
      <p:sp>
        <p:nvSpPr>
          <p:cNvPr id="7" name="Shape 5"/>
          <p:cNvSpPr/>
          <p:nvPr/>
        </p:nvSpPr>
        <p:spPr>
          <a:xfrm>
            <a:off x="495226" y="1904256"/>
            <a:ext cx="1996529" cy="11906"/>
          </a:xfrm>
          <a:prstGeom prst="rect">
            <a:avLst/>
          </a:prstGeom>
          <a:solidFill>
            <a:srgbClr val="546472">
              <a:alpha val="1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5226" y="1154162"/>
            <a:ext cx="1996529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9" name="Shape 7"/>
          <p:cNvSpPr/>
          <p:nvPr/>
        </p:nvSpPr>
        <p:spPr>
          <a:xfrm>
            <a:off x="495226" y="1154162"/>
            <a:ext cx="11906" cy="762000"/>
          </a:xfrm>
          <a:prstGeom prst="rect">
            <a:avLst/>
          </a:prstGeom>
          <a:solidFill>
            <a:srgbClr val="546472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479849" y="1154162"/>
            <a:ext cx="11906" cy="762000"/>
          </a:xfrm>
          <a:prstGeom prst="rect">
            <a:avLst/>
          </a:prstGeom>
          <a:solidFill>
            <a:srgbClr val="546472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436191" y="1398240"/>
            <a:ext cx="19061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57325" y="1517303"/>
            <a:ext cx="74853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</a:t>
            </a:r>
            <a:endParaRPr lang="en-US" sz="1125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39380" y="1468562"/>
            <a:ext cx="209476" cy="133201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796480" y="1154162"/>
            <a:ext cx="1996529" cy="762000"/>
          </a:xfrm>
          <a:prstGeom prst="roundRect">
            <a:avLst>
              <a:gd name="adj" fmla="val 10000"/>
            </a:avLst>
          </a:prstGeom>
          <a:solidFill>
            <a:srgbClr val="F9FAF5"/>
          </a:solidFill>
          <a:ln/>
        </p:spPr>
      </p:sp>
      <p:sp>
        <p:nvSpPr>
          <p:cNvPr id="15" name="Shape 12"/>
          <p:cNvSpPr/>
          <p:nvPr/>
        </p:nvSpPr>
        <p:spPr>
          <a:xfrm>
            <a:off x="2796480" y="1904256"/>
            <a:ext cx="1996529" cy="11906"/>
          </a:xfrm>
          <a:prstGeom prst="rect">
            <a:avLst/>
          </a:prstGeom>
          <a:solidFill>
            <a:srgbClr val="546472">
              <a:alpha val="15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2796480" y="1154162"/>
            <a:ext cx="1996529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7" name="Shape 14"/>
          <p:cNvSpPr/>
          <p:nvPr/>
        </p:nvSpPr>
        <p:spPr>
          <a:xfrm>
            <a:off x="2796480" y="1154162"/>
            <a:ext cx="11906" cy="762000"/>
          </a:xfrm>
          <a:prstGeom prst="rect">
            <a:avLst/>
          </a:prstGeom>
          <a:solidFill>
            <a:srgbClr val="546472">
              <a:alpha val="15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4781104" y="1154162"/>
            <a:ext cx="11906" cy="762000"/>
          </a:xfrm>
          <a:prstGeom prst="rect">
            <a:avLst/>
          </a:prstGeom>
          <a:solidFill>
            <a:srgbClr val="546472">
              <a:alpha val="15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3737446" y="1398240"/>
            <a:ext cx="19061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445371" y="1517303"/>
            <a:ext cx="774948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125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40635" y="1468562"/>
            <a:ext cx="209476" cy="133201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5097735" y="1154162"/>
            <a:ext cx="1996529" cy="762000"/>
          </a:xfrm>
          <a:prstGeom prst="roundRect">
            <a:avLst>
              <a:gd name="adj" fmla="val 10000"/>
            </a:avLst>
          </a:prstGeom>
          <a:solidFill>
            <a:srgbClr val="F9FAF5"/>
          </a:solidFill>
          <a:ln/>
        </p:spPr>
      </p:sp>
      <p:sp>
        <p:nvSpPr>
          <p:cNvPr id="23" name="Shape 19"/>
          <p:cNvSpPr/>
          <p:nvPr/>
        </p:nvSpPr>
        <p:spPr>
          <a:xfrm>
            <a:off x="5097735" y="1904256"/>
            <a:ext cx="1996529" cy="11906"/>
          </a:xfrm>
          <a:prstGeom prst="rect">
            <a:avLst/>
          </a:prstGeom>
          <a:solidFill>
            <a:srgbClr val="546472">
              <a:alpha val="15000"/>
            </a:srgbClr>
          </a:solidFill>
          <a:ln/>
        </p:spPr>
      </p:sp>
      <p:sp>
        <p:nvSpPr>
          <p:cNvPr id="24" name="Shape 20"/>
          <p:cNvSpPr/>
          <p:nvPr/>
        </p:nvSpPr>
        <p:spPr>
          <a:xfrm>
            <a:off x="5097735" y="1154162"/>
            <a:ext cx="1996529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5" name="Shape 21"/>
          <p:cNvSpPr/>
          <p:nvPr/>
        </p:nvSpPr>
        <p:spPr>
          <a:xfrm>
            <a:off x="5097735" y="1154162"/>
            <a:ext cx="11906" cy="762000"/>
          </a:xfrm>
          <a:prstGeom prst="rect">
            <a:avLst/>
          </a:prstGeom>
          <a:solidFill>
            <a:srgbClr val="546472">
              <a:alpha val="15000"/>
            </a:srgbClr>
          </a:solidFill>
          <a:ln/>
        </p:spPr>
      </p:sp>
      <p:sp>
        <p:nvSpPr>
          <p:cNvPr id="26" name="Shape 22"/>
          <p:cNvSpPr/>
          <p:nvPr/>
        </p:nvSpPr>
        <p:spPr>
          <a:xfrm>
            <a:off x="7082358" y="1154162"/>
            <a:ext cx="11906" cy="762000"/>
          </a:xfrm>
          <a:prstGeom prst="rect">
            <a:avLst/>
          </a:prstGeom>
          <a:solidFill>
            <a:srgbClr val="546472">
              <a:alpha val="15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6038701" y="1398240"/>
            <a:ext cx="19061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5885594" y="1517303"/>
            <a:ext cx="4970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125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41890" y="1468562"/>
            <a:ext cx="209476" cy="133201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7398990" y="1154162"/>
            <a:ext cx="1996529" cy="762000"/>
          </a:xfrm>
          <a:prstGeom prst="roundRect">
            <a:avLst>
              <a:gd name="adj" fmla="val 10000"/>
            </a:avLst>
          </a:prstGeom>
          <a:solidFill>
            <a:srgbClr val="F9FAF5"/>
          </a:solidFill>
          <a:ln/>
        </p:spPr>
      </p:sp>
      <p:sp>
        <p:nvSpPr>
          <p:cNvPr id="31" name="Shape 26"/>
          <p:cNvSpPr/>
          <p:nvPr/>
        </p:nvSpPr>
        <p:spPr>
          <a:xfrm>
            <a:off x="7398990" y="1904256"/>
            <a:ext cx="1996529" cy="11906"/>
          </a:xfrm>
          <a:prstGeom prst="rect">
            <a:avLst/>
          </a:prstGeom>
          <a:solidFill>
            <a:srgbClr val="546472">
              <a:alpha val="15000"/>
            </a:srgbClr>
          </a:solidFill>
          <a:ln/>
        </p:spPr>
      </p:sp>
      <p:sp>
        <p:nvSpPr>
          <p:cNvPr id="32" name="Shape 27"/>
          <p:cNvSpPr/>
          <p:nvPr/>
        </p:nvSpPr>
        <p:spPr>
          <a:xfrm>
            <a:off x="7398990" y="1154162"/>
            <a:ext cx="1996529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3" name="Shape 28"/>
          <p:cNvSpPr/>
          <p:nvPr/>
        </p:nvSpPr>
        <p:spPr>
          <a:xfrm>
            <a:off x="7398990" y="1154162"/>
            <a:ext cx="11906" cy="762000"/>
          </a:xfrm>
          <a:prstGeom prst="rect">
            <a:avLst/>
          </a:prstGeom>
          <a:solidFill>
            <a:srgbClr val="546472">
              <a:alpha val="15000"/>
            </a:srgbClr>
          </a:solidFill>
          <a:ln/>
        </p:spPr>
      </p:sp>
      <p:sp>
        <p:nvSpPr>
          <p:cNvPr id="34" name="Shape 29"/>
          <p:cNvSpPr/>
          <p:nvPr/>
        </p:nvSpPr>
        <p:spPr>
          <a:xfrm>
            <a:off x="9383613" y="1154162"/>
            <a:ext cx="11906" cy="762000"/>
          </a:xfrm>
          <a:prstGeom prst="rect">
            <a:avLst/>
          </a:prstGeom>
          <a:solidFill>
            <a:srgbClr val="546472">
              <a:alpha val="15000"/>
            </a:srgbClr>
          </a:solidFill>
          <a:ln/>
        </p:spPr>
      </p:sp>
      <p:sp>
        <p:nvSpPr>
          <p:cNvPr id="35" name="Text 30"/>
          <p:cNvSpPr/>
          <p:nvPr/>
        </p:nvSpPr>
        <p:spPr>
          <a:xfrm>
            <a:off x="8339956" y="1398240"/>
            <a:ext cx="19061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8034486" y="1517303"/>
            <a:ext cx="80155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125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43145" y="1468562"/>
            <a:ext cx="209476" cy="133201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9700245" y="1154162"/>
            <a:ext cx="1996529" cy="762000"/>
          </a:xfrm>
          <a:prstGeom prst="roundRect">
            <a:avLst>
              <a:gd name="adj" fmla="val 10000"/>
            </a:avLst>
          </a:prstGeom>
          <a:solidFill>
            <a:srgbClr val="F9FAF5"/>
          </a:solidFill>
          <a:ln/>
        </p:spPr>
      </p:sp>
      <p:sp>
        <p:nvSpPr>
          <p:cNvPr id="39" name="Shape 33"/>
          <p:cNvSpPr/>
          <p:nvPr/>
        </p:nvSpPr>
        <p:spPr>
          <a:xfrm>
            <a:off x="9700245" y="1904256"/>
            <a:ext cx="1996529" cy="11906"/>
          </a:xfrm>
          <a:prstGeom prst="rect">
            <a:avLst/>
          </a:prstGeom>
          <a:solidFill>
            <a:srgbClr val="546472">
              <a:alpha val="15000"/>
            </a:srgbClr>
          </a:solidFill>
          <a:ln/>
        </p:spPr>
      </p:sp>
      <p:sp>
        <p:nvSpPr>
          <p:cNvPr id="40" name="Shape 34"/>
          <p:cNvSpPr/>
          <p:nvPr/>
        </p:nvSpPr>
        <p:spPr>
          <a:xfrm>
            <a:off x="9700245" y="1154162"/>
            <a:ext cx="1996529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1" name="Shape 35"/>
          <p:cNvSpPr/>
          <p:nvPr/>
        </p:nvSpPr>
        <p:spPr>
          <a:xfrm>
            <a:off x="9700245" y="1154162"/>
            <a:ext cx="11906" cy="762000"/>
          </a:xfrm>
          <a:prstGeom prst="rect">
            <a:avLst/>
          </a:prstGeom>
          <a:solidFill>
            <a:srgbClr val="546472">
              <a:alpha val="15000"/>
            </a:srgbClr>
          </a:solidFill>
          <a:ln/>
        </p:spPr>
      </p:sp>
      <p:sp>
        <p:nvSpPr>
          <p:cNvPr id="42" name="Shape 36"/>
          <p:cNvSpPr/>
          <p:nvPr/>
        </p:nvSpPr>
        <p:spPr>
          <a:xfrm>
            <a:off x="11684868" y="1154162"/>
            <a:ext cx="11906" cy="762000"/>
          </a:xfrm>
          <a:prstGeom prst="rect">
            <a:avLst/>
          </a:prstGeom>
          <a:solidFill>
            <a:srgbClr val="546472">
              <a:alpha val="15000"/>
            </a:srgbClr>
          </a:solidFill>
          <a:ln/>
        </p:spPr>
      </p:sp>
      <p:sp>
        <p:nvSpPr>
          <p:cNvPr id="43" name="Text 37"/>
          <p:cNvSpPr/>
          <p:nvPr/>
        </p:nvSpPr>
        <p:spPr>
          <a:xfrm>
            <a:off x="10641211" y="1398240"/>
            <a:ext cx="19061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750" dirty="0"/>
          </a:p>
        </p:txBody>
      </p:sp>
      <p:sp>
        <p:nvSpPr>
          <p:cNvPr id="44" name="Text 38"/>
          <p:cNvSpPr/>
          <p:nvPr/>
        </p:nvSpPr>
        <p:spPr>
          <a:xfrm>
            <a:off x="10408667" y="1517303"/>
            <a:ext cx="65588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125" dirty="0"/>
          </a:p>
        </p:txBody>
      </p:sp>
      <p:sp>
        <p:nvSpPr>
          <p:cNvPr id="45" name="Shape 39"/>
          <p:cNvSpPr/>
          <p:nvPr/>
        </p:nvSpPr>
        <p:spPr>
          <a:xfrm>
            <a:off x="495226" y="3687961"/>
            <a:ext cx="1966020" cy="437927"/>
          </a:xfrm>
          <a:prstGeom prst="roundRect">
            <a:avLst>
              <a:gd name="adj" fmla="val 13050"/>
            </a:avLst>
          </a:prstGeom>
          <a:solidFill>
            <a:srgbClr val="BDD248">
              <a:alpha val="14000"/>
            </a:srgbClr>
          </a:solidFill>
          <a:ln/>
        </p:spPr>
      </p:sp>
      <p:sp>
        <p:nvSpPr>
          <p:cNvPr id="46" name="Text 40"/>
          <p:cNvSpPr/>
          <p:nvPr/>
        </p:nvSpPr>
        <p:spPr>
          <a:xfrm>
            <a:off x="590476" y="3764049"/>
            <a:ext cx="1953071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kern="0" spc="41" dirty="0">
                <a:solidFill>
                  <a:srgbClr val="8FA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 V1</a:t>
            </a:r>
            <a:endParaRPr lang="en-US" sz="675" dirty="0"/>
          </a:p>
        </p:txBody>
      </p:sp>
      <p:sp>
        <p:nvSpPr>
          <p:cNvPr id="47" name="Text 41"/>
          <p:cNvSpPr/>
          <p:nvPr/>
        </p:nvSpPr>
        <p:spPr>
          <a:xfrm>
            <a:off x="590476" y="3899669"/>
            <a:ext cx="195307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1C1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raw_docs</a:t>
            </a:r>
            <a:endParaRPr lang="en-US" sz="938" dirty="0"/>
          </a:p>
        </p:txBody>
      </p:sp>
      <p:sp>
        <p:nvSpPr>
          <p:cNvPr id="48" name="Shape 42"/>
          <p:cNvSpPr/>
          <p:nvPr/>
        </p:nvSpPr>
        <p:spPr>
          <a:xfrm>
            <a:off x="2804108" y="2659187"/>
            <a:ext cx="1966020" cy="1466701"/>
          </a:xfrm>
          <a:prstGeom prst="roundRect">
            <a:avLst>
              <a:gd name="adj" fmla="val 3896"/>
            </a:avLst>
          </a:prstGeom>
          <a:solidFill>
            <a:srgbClr val="BDD248">
              <a:alpha val="26000"/>
            </a:srgbClr>
          </a:solidFill>
          <a:ln/>
        </p:spPr>
      </p:sp>
      <p:sp>
        <p:nvSpPr>
          <p:cNvPr id="49" name="Text 43"/>
          <p:cNvSpPr/>
          <p:nvPr/>
        </p:nvSpPr>
        <p:spPr>
          <a:xfrm>
            <a:off x="2899358" y="3633081"/>
            <a:ext cx="1953071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kern="0" spc="41" dirty="0">
                <a:solidFill>
                  <a:srgbClr val="8FA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 V2</a:t>
            </a:r>
            <a:endParaRPr lang="en-US" sz="675" dirty="0"/>
          </a:p>
        </p:txBody>
      </p:sp>
      <p:sp>
        <p:nvSpPr>
          <p:cNvPr id="50" name="Text 44"/>
          <p:cNvSpPr/>
          <p:nvPr/>
        </p:nvSpPr>
        <p:spPr>
          <a:xfrm>
            <a:off x="2899358" y="3768700"/>
            <a:ext cx="195307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1C1C24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raw_docs</a:t>
            </a:r>
            <a:endParaRPr lang="en-US" sz="825" dirty="0"/>
          </a:p>
        </p:txBody>
      </p:sp>
      <p:sp>
        <p:nvSpPr>
          <p:cNvPr id="51" name="Text 45"/>
          <p:cNvSpPr/>
          <p:nvPr/>
        </p:nvSpPr>
        <p:spPr>
          <a:xfrm>
            <a:off x="2899358" y="3899669"/>
            <a:ext cx="195307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1C1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chunks</a:t>
            </a:r>
            <a:endParaRPr lang="en-US" sz="938" dirty="0"/>
          </a:p>
        </p:txBody>
      </p:sp>
      <p:sp>
        <p:nvSpPr>
          <p:cNvPr id="52" name="Shape 46"/>
          <p:cNvSpPr/>
          <p:nvPr/>
        </p:nvSpPr>
        <p:spPr>
          <a:xfrm>
            <a:off x="5112990" y="2449525"/>
            <a:ext cx="1966020" cy="1676363"/>
          </a:xfrm>
          <a:prstGeom prst="roundRect">
            <a:avLst>
              <a:gd name="adj" fmla="val 3409"/>
            </a:avLst>
          </a:prstGeom>
          <a:solidFill>
            <a:srgbClr val="BDD248">
              <a:alpha val="40000"/>
            </a:srgbClr>
          </a:solidFill>
          <a:ln/>
        </p:spPr>
      </p:sp>
      <p:sp>
        <p:nvSpPr>
          <p:cNvPr id="53" name="Text 47"/>
          <p:cNvSpPr/>
          <p:nvPr/>
        </p:nvSpPr>
        <p:spPr>
          <a:xfrm>
            <a:off x="5208240" y="3633081"/>
            <a:ext cx="1953071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kern="0" spc="41" dirty="0">
                <a:solidFill>
                  <a:srgbClr val="8FA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 V3</a:t>
            </a:r>
            <a:endParaRPr lang="en-US" sz="675" dirty="0"/>
          </a:p>
        </p:txBody>
      </p:sp>
      <p:sp>
        <p:nvSpPr>
          <p:cNvPr id="54" name="Text 48"/>
          <p:cNvSpPr/>
          <p:nvPr/>
        </p:nvSpPr>
        <p:spPr>
          <a:xfrm>
            <a:off x="5208240" y="3768700"/>
            <a:ext cx="195307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1C1C24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raw_docs · chunks</a:t>
            </a:r>
            <a:endParaRPr lang="en-US" sz="825" dirty="0"/>
          </a:p>
        </p:txBody>
      </p:sp>
      <p:sp>
        <p:nvSpPr>
          <p:cNvPr id="55" name="Text 49"/>
          <p:cNvSpPr/>
          <p:nvPr/>
        </p:nvSpPr>
        <p:spPr>
          <a:xfrm>
            <a:off x="5208240" y="3899669"/>
            <a:ext cx="195307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1C1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index</a:t>
            </a:r>
            <a:endParaRPr lang="en-US" sz="938" dirty="0"/>
          </a:p>
        </p:txBody>
      </p:sp>
      <p:sp>
        <p:nvSpPr>
          <p:cNvPr id="56" name="Shape 50"/>
          <p:cNvSpPr/>
          <p:nvPr/>
        </p:nvSpPr>
        <p:spPr>
          <a:xfrm>
            <a:off x="7421873" y="2240049"/>
            <a:ext cx="1966020" cy="1885838"/>
          </a:xfrm>
          <a:prstGeom prst="roundRect">
            <a:avLst>
              <a:gd name="adj" fmla="val 3030"/>
            </a:avLst>
          </a:prstGeom>
          <a:solidFill>
            <a:srgbClr val="BDD248">
              <a:alpha val="60000"/>
            </a:srgbClr>
          </a:solidFill>
          <a:ln/>
        </p:spPr>
      </p:sp>
      <p:sp>
        <p:nvSpPr>
          <p:cNvPr id="57" name="Text 51"/>
          <p:cNvSpPr/>
          <p:nvPr/>
        </p:nvSpPr>
        <p:spPr>
          <a:xfrm>
            <a:off x="7517123" y="3633081"/>
            <a:ext cx="1953071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kern="0" spc="41" dirty="0">
                <a:solidFill>
                  <a:srgbClr val="546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 V4</a:t>
            </a:r>
            <a:endParaRPr lang="en-US" sz="675" dirty="0"/>
          </a:p>
        </p:txBody>
      </p:sp>
      <p:sp>
        <p:nvSpPr>
          <p:cNvPr id="58" name="Text 52"/>
          <p:cNvSpPr/>
          <p:nvPr/>
        </p:nvSpPr>
        <p:spPr>
          <a:xfrm>
            <a:off x="7517123" y="3768700"/>
            <a:ext cx="195307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1C1C24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chunks · index</a:t>
            </a:r>
            <a:endParaRPr lang="en-US" sz="825" dirty="0"/>
          </a:p>
        </p:txBody>
      </p:sp>
      <p:sp>
        <p:nvSpPr>
          <p:cNvPr id="59" name="Text 53"/>
          <p:cNvSpPr/>
          <p:nvPr/>
        </p:nvSpPr>
        <p:spPr>
          <a:xfrm>
            <a:off x="7517123" y="3899669"/>
            <a:ext cx="195307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1C1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métriques</a:t>
            </a:r>
            <a:endParaRPr lang="en-US" sz="938" dirty="0"/>
          </a:p>
        </p:txBody>
      </p:sp>
      <p:sp>
        <p:nvSpPr>
          <p:cNvPr id="60" name="Shape 54"/>
          <p:cNvSpPr/>
          <p:nvPr/>
        </p:nvSpPr>
        <p:spPr>
          <a:xfrm>
            <a:off x="9730755" y="2030388"/>
            <a:ext cx="1966020" cy="2095500"/>
          </a:xfrm>
          <a:prstGeom prst="roundRect">
            <a:avLst>
              <a:gd name="adj" fmla="val 2907"/>
            </a:avLst>
          </a:prstGeom>
          <a:solidFill>
            <a:srgbClr val="BDD248"/>
          </a:solidFill>
          <a:ln/>
        </p:spPr>
      </p:sp>
      <p:sp>
        <p:nvSpPr>
          <p:cNvPr id="61" name="Text 55"/>
          <p:cNvSpPr/>
          <p:nvPr/>
        </p:nvSpPr>
        <p:spPr>
          <a:xfrm>
            <a:off x="9826005" y="3597362"/>
            <a:ext cx="1953071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kern="0" spc="41" dirty="0">
                <a:solidFill>
                  <a:srgbClr val="1C1C24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 V5</a:t>
            </a:r>
            <a:endParaRPr lang="en-US" sz="675" dirty="0"/>
          </a:p>
        </p:txBody>
      </p:sp>
      <p:sp>
        <p:nvSpPr>
          <p:cNvPr id="62" name="Text 56"/>
          <p:cNvSpPr/>
          <p:nvPr/>
        </p:nvSpPr>
        <p:spPr>
          <a:xfrm>
            <a:off x="9826005" y="3732981"/>
            <a:ext cx="195307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1C1C24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· métriques</a:t>
            </a:r>
            <a:endParaRPr lang="en-US" sz="825" dirty="0"/>
          </a:p>
        </p:txBody>
      </p:sp>
      <p:sp>
        <p:nvSpPr>
          <p:cNvPr id="63" name="Text 57"/>
          <p:cNvSpPr/>
          <p:nvPr/>
        </p:nvSpPr>
        <p:spPr>
          <a:xfrm>
            <a:off x="9826005" y="3863950"/>
            <a:ext cx="195307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1C1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api_config ✓</a:t>
            </a:r>
            <a:endParaRPr lang="en-US" sz="938" dirty="0"/>
          </a:p>
        </p:txBody>
      </p:sp>
      <p:sp>
        <p:nvSpPr>
          <p:cNvPr id="64" name="Shape 58"/>
          <p:cNvSpPr/>
          <p:nvPr/>
        </p:nvSpPr>
        <p:spPr>
          <a:xfrm>
            <a:off x="495226" y="4240113"/>
            <a:ext cx="11201549" cy="437927"/>
          </a:xfrm>
          <a:prstGeom prst="roundRect">
            <a:avLst>
              <a:gd name="adj" fmla="val 17400"/>
            </a:avLst>
          </a:prstGeom>
          <a:solidFill>
            <a:srgbClr val="1C1C24"/>
          </a:solidFill>
          <a:ln/>
        </p:spPr>
      </p:sp>
      <p:sp>
        <p:nvSpPr>
          <p:cNvPr id="65" name="Shape 59"/>
          <p:cNvSpPr/>
          <p:nvPr/>
        </p:nvSpPr>
        <p:spPr>
          <a:xfrm>
            <a:off x="685726" y="4354339"/>
            <a:ext cx="133201" cy="20947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66" name="Text 60"/>
          <p:cNvSpPr/>
          <p:nvPr/>
        </p:nvSpPr>
        <p:spPr>
          <a:xfrm>
            <a:off x="952128" y="4369780"/>
            <a:ext cx="6049938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Découplage total </a:t>
            </a: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les phases — chaque phase lit et enrichit le contexte.</a:t>
            </a:r>
            <a:endParaRPr lang="en-US" sz="1275" dirty="0"/>
          </a:p>
        </p:txBody>
      </p:sp>
      <p:sp>
        <p:nvSpPr>
          <p:cNvPr id="67" name="Shape 61"/>
          <p:cNvSpPr/>
          <p:nvPr/>
        </p:nvSpPr>
        <p:spPr>
          <a:xfrm>
            <a:off x="495226" y="4773290"/>
            <a:ext cx="11201549" cy="11906"/>
          </a:xfrm>
          <a:prstGeom prst="rect">
            <a:avLst/>
          </a:prstGeom>
          <a:solidFill>
            <a:srgbClr val="546472">
              <a:alpha val="14000"/>
            </a:srgbClr>
          </a:solidFill>
          <a:ln/>
        </p:spPr>
      </p:sp>
      <p:sp>
        <p:nvSpPr>
          <p:cNvPr id="68" name="Text 62"/>
          <p:cNvSpPr/>
          <p:nvPr/>
        </p:nvSpPr>
        <p:spPr>
          <a:xfrm>
            <a:off x="990451" y="4918397"/>
            <a:ext cx="35425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546472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 de Fin d'Études · Pipeline MLOps générique</a:t>
            </a:r>
            <a:endParaRPr lang="en-US" sz="863" dirty="0"/>
          </a:p>
        </p:txBody>
      </p:sp>
      <p:pic>
        <p:nvPicPr>
          <p:cNvPr id="69" name="Image 4" descr="preencoded.png"/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10615538" y="4889934"/>
            <a:ext cx="333933" cy="199988"/>
          </a:xfrm>
          <a:prstGeom prst="rect">
            <a:avLst/>
          </a:prstGeom>
        </p:spPr>
      </p:pic>
      <p:sp>
        <p:nvSpPr>
          <p:cNvPr id="70" name="Text 63"/>
          <p:cNvSpPr/>
          <p:nvPr/>
        </p:nvSpPr>
        <p:spPr>
          <a:xfrm>
            <a:off x="11063697" y="4924351"/>
            <a:ext cx="214052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75" dirty="0"/>
          </a:p>
        </p:txBody>
      </p:sp>
    </p:spTree>
    <p:extLst>
      <p:ext uri="{BB962C8B-B14F-4D97-AF65-F5344CB8AC3E}">
        <p14:creationId xmlns:p14="http://schemas.microsoft.com/office/powerpoint/2010/main" val="2033956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262993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COMPOSANTS · MÉCANISME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000" b="1" kern="0" spc="-6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Chargement </a:t>
            </a:r>
            <a:r>
              <a:rPr lang="en-US" sz="3000" b="1" kern="0" spc="-6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à la demande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38088" y="1673014"/>
            <a:ext cx="6439235" cy="638101"/>
          </a:xfrm>
          <a:prstGeom prst="roundRect">
            <a:avLst>
              <a:gd name="adj" fmla="val 8956"/>
            </a:avLst>
          </a:prstGeom>
          <a:solidFill>
            <a:srgbClr val="2A2A2A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3406" y="1837320"/>
            <a:ext cx="6608599" cy="347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kern="0" spc="66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ComponentRegistry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1676177" y="2311115"/>
            <a:ext cx="18976" cy="30472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9" name="Shape 6"/>
          <p:cNvSpPr/>
          <p:nvPr/>
        </p:nvSpPr>
        <p:spPr>
          <a:xfrm>
            <a:off x="838088" y="2711090"/>
            <a:ext cx="1047750" cy="890178"/>
          </a:xfrm>
          <a:prstGeom prst="roundRect">
            <a:avLst>
              <a:gd name="adj" fmla="val 6420"/>
            </a:avLst>
          </a:prstGeom>
          <a:solidFill>
            <a:srgbClr val="BDD24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22908" y="2875359"/>
            <a:ext cx="55431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FAISS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009464" y="3189573"/>
            <a:ext cx="704999" cy="285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3F3F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FAISSVector Store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2019040" y="2711090"/>
            <a:ext cx="1047750" cy="890178"/>
          </a:xfrm>
          <a:prstGeom prst="roundRect">
            <a:avLst>
              <a:gd name="adj" fmla="val 6420"/>
            </a:avLst>
          </a:prstGeom>
          <a:solidFill>
            <a:srgbClr val="F4F4F4">
              <a:alpha val="40000"/>
            </a:srgbClr>
          </a:solidFill>
          <a:ln w="11906">
            <a:solidFill>
              <a:srgbClr val="E4E4E4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57909" y="2875359"/>
            <a:ext cx="64602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F3F3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Qdrant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2161766" y="3189573"/>
            <a:ext cx="762112" cy="285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QdrantVector Store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3199991" y="2711090"/>
            <a:ext cx="1047750" cy="890178"/>
          </a:xfrm>
          <a:prstGeom prst="roundRect">
            <a:avLst>
              <a:gd name="adj" fmla="val 6420"/>
            </a:avLst>
          </a:prstGeom>
          <a:solidFill>
            <a:srgbClr val="F4F4F4">
              <a:alpha val="40000"/>
            </a:srgbClr>
          </a:solidFill>
          <a:ln w="11906">
            <a:solidFill>
              <a:srgbClr val="E4E4E4">
                <a:alpha val="4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13931" y="2875359"/>
            <a:ext cx="69606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F3F3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Chroma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3342717" y="3189573"/>
            <a:ext cx="762112" cy="285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ChromaVector Store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380942" y="2711090"/>
            <a:ext cx="1047750" cy="890178"/>
          </a:xfrm>
          <a:prstGeom prst="roundRect">
            <a:avLst>
              <a:gd name="adj" fmla="val 6420"/>
            </a:avLst>
          </a:prstGeom>
          <a:solidFill>
            <a:srgbClr val="F4F4F4">
              <a:alpha val="40000"/>
            </a:srgbClr>
          </a:solidFill>
          <a:ln w="11906">
            <a:solidFill>
              <a:srgbClr val="E4E4E4">
                <a:alpha val="4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47902" y="2875359"/>
            <a:ext cx="58984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F3F3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Milvus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523668" y="3189573"/>
            <a:ext cx="762112" cy="285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MilvusVector Store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561893" y="2691929"/>
            <a:ext cx="1047750" cy="909340"/>
          </a:xfrm>
          <a:prstGeom prst="roundRect">
            <a:avLst>
              <a:gd name="adj" fmla="val 6285"/>
            </a:avLst>
          </a:prstGeom>
          <a:solidFill>
            <a:srgbClr val="F4F4F4">
              <a:alpha val="20000"/>
            </a:srgbClr>
          </a:solidFill>
          <a:ln w="11906">
            <a:solidFill>
              <a:srgbClr val="E4E4E4">
                <a:alpha val="2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49032" y="2856198"/>
            <a:ext cx="34967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10" dirty="0">
                <a:solidFill>
                  <a:srgbClr val="3F3F3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…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5847494" y="3313286"/>
            <a:ext cx="476362" cy="161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plug-in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734412" y="1863514"/>
            <a:ext cx="3619500" cy="995474"/>
          </a:xfrm>
          <a:prstGeom prst="roundRect">
            <a:avLst>
              <a:gd name="adj" fmla="val 5741"/>
            </a:avLst>
          </a:prstGeom>
          <a:solidFill>
            <a:srgbClr val="F4F4F4"/>
          </a:solidFill>
          <a:ln/>
        </p:spPr>
      </p:sp>
      <p:sp>
        <p:nvSpPr>
          <p:cNvPr id="25" name="Shape 22"/>
          <p:cNvSpPr/>
          <p:nvPr/>
        </p:nvSpPr>
        <p:spPr>
          <a:xfrm>
            <a:off x="7734412" y="2847082"/>
            <a:ext cx="361950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6" name="Shape 23"/>
          <p:cNvSpPr/>
          <p:nvPr/>
        </p:nvSpPr>
        <p:spPr>
          <a:xfrm>
            <a:off x="7734412" y="1863514"/>
            <a:ext cx="361950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7" name="Shape 24"/>
          <p:cNvSpPr/>
          <p:nvPr/>
        </p:nvSpPr>
        <p:spPr>
          <a:xfrm>
            <a:off x="7734412" y="1863514"/>
            <a:ext cx="35719" cy="995474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42005" y="1863514"/>
            <a:ext cx="11906" cy="995474"/>
          </a:xfrm>
          <a:prstGeom prst="rect">
            <a:avLst/>
          </a:prstGeom>
          <a:solidFill>
            <a:srgbClr val="E4E4E4"/>
          </a:solidFill>
          <a:ln/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0630" y="2075222"/>
            <a:ext cx="171338" cy="26658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8265170" y="2034853"/>
            <a:ext cx="213933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Pas d'imports lourds inutiles</a:t>
            </a:r>
            <a:endParaRPr lang="en-US" sz="1275" dirty="0"/>
          </a:p>
        </p:txBody>
      </p:sp>
      <p:sp>
        <p:nvSpPr>
          <p:cNvPr id="31" name="Text 27"/>
          <p:cNvSpPr/>
          <p:nvPr/>
        </p:nvSpPr>
        <p:spPr>
          <a:xfrm>
            <a:off x="8265170" y="2341252"/>
            <a:ext cx="2453729" cy="372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torch · faiss · qdrant-client — chargés uniquement si utilisés</a:t>
            </a:r>
            <a:endParaRPr lang="en-US" sz="975" dirty="0"/>
          </a:p>
        </p:txBody>
      </p:sp>
      <p:sp>
        <p:nvSpPr>
          <p:cNvPr id="32" name="Shape 28"/>
          <p:cNvSpPr/>
          <p:nvPr/>
        </p:nvSpPr>
        <p:spPr>
          <a:xfrm>
            <a:off x="7734412" y="3049488"/>
            <a:ext cx="3619500" cy="828229"/>
          </a:xfrm>
          <a:prstGeom prst="roundRect">
            <a:avLst>
              <a:gd name="adj" fmla="val 6900"/>
            </a:avLst>
          </a:prstGeom>
          <a:solidFill>
            <a:srgbClr val="F4F4F4"/>
          </a:solidFill>
          <a:ln/>
        </p:spPr>
      </p:sp>
      <p:sp>
        <p:nvSpPr>
          <p:cNvPr id="33" name="Shape 29"/>
          <p:cNvSpPr/>
          <p:nvPr/>
        </p:nvSpPr>
        <p:spPr>
          <a:xfrm>
            <a:off x="7734412" y="3865811"/>
            <a:ext cx="361950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4" name="Shape 30"/>
          <p:cNvSpPr/>
          <p:nvPr/>
        </p:nvSpPr>
        <p:spPr>
          <a:xfrm>
            <a:off x="7734412" y="3049488"/>
            <a:ext cx="361950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5" name="Shape 31"/>
          <p:cNvSpPr/>
          <p:nvPr/>
        </p:nvSpPr>
        <p:spPr>
          <a:xfrm>
            <a:off x="7734412" y="3049488"/>
            <a:ext cx="35719" cy="828229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6" name="Shape 32"/>
          <p:cNvSpPr/>
          <p:nvPr/>
        </p:nvSpPr>
        <p:spPr>
          <a:xfrm>
            <a:off x="11342005" y="3049488"/>
            <a:ext cx="11906" cy="828229"/>
          </a:xfrm>
          <a:prstGeom prst="rect">
            <a:avLst/>
          </a:prstGeom>
          <a:solidFill>
            <a:srgbClr val="E4E4E4"/>
          </a:solidFill>
          <a:ln/>
        </p:spPr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0630" y="3261196"/>
            <a:ext cx="171338" cy="26658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8265170" y="3220827"/>
            <a:ext cx="140895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Ajouter un store =</a:t>
            </a:r>
            <a:endParaRPr lang="en-US" sz="1275" dirty="0"/>
          </a:p>
        </p:txBody>
      </p:sp>
      <p:sp>
        <p:nvSpPr>
          <p:cNvPr id="39" name="Text 34"/>
          <p:cNvSpPr/>
          <p:nvPr/>
        </p:nvSpPr>
        <p:spPr>
          <a:xfrm>
            <a:off x="9646481" y="3220827"/>
            <a:ext cx="65867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 classe</a:t>
            </a:r>
            <a:endParaRPr lang="en-US" sz="1275" dirty="0"/>
          </a:p>
        </p:txBody>
      </p:sp>
      <p:sp>
        <p:nvSpPr>
          <p:cNvPr id="40" name="Text 35"/>
          <p:cNvSpPr/>
          <p:nvPr/>
        </p:nvSpPr>
        <p:spPr>
          <a:xfrm>
            <a:off x="8265170" y="3527227"/>
            <a:ext cx="2860439" cy="205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register("faiss", FAISSVectorStore)</a:t>
            </a:r>
            <a:endParaRPr lang="en-US" sz="975" dirty="0"/>
          </a:p>
        </p:txBody>
      </p:sp>
      <p:sp>
        <p:nvSpPr>
          <p:cNvPr id="41" name="Shape 36"/>
          <p:cNvSpPr/>
          <p:nvPr/>
        </p:nvSpPr>
        <p:spPr>
          <a:xfrm>
            <a:off x="838088" y="5772485"/>
            <a:ext cx="10515823" cy="476064"/>
          </a:xfrm>
          <a:prstGeom prst="roundRect">
            <a:avLst>
              <a:gd name="adj" fmla="val 6002"/>
            </a:avLst>
          </a:prstGeom>
          <a:solidFill>
            <a:srgbClr val="2A2A2A"/>
          </a:solidFill>
          <a:ln/>
        </p:spPr>
      </p:sp>
      <p:sp>
        <p:nvSpPr>
          <p:cNvPr id="42" name="Shape 37"/>
          <p:cNvSpPr/>
          <p:nvPr/>
        </p:nvSpPr>
        <p:spPr>
          <a:xfrm>
            <a:off x="1028588" y="5884478"/>
            <a:ext cx="852227" cy="252078"/>
          </a:xfrm>
          <a:prstGeom prst="roundRect">
            <a:avLst>
              <a:gd name="adj" fmla="val 7557"/>
            </a:avLst>
          </a:prstGeom>
          <a:solidFill>
            <a:srgbClr val="BDD248">
              <a:alpha val="12000"/>
            </a:srgbClr>
          </a:solidFill>
          <a:ln w="11906">
            <a:solidFill>
              <a:srgbClr val="BDD248">
                <a:alpha val="30000"/>
              </a:srgbClr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1135745" y="5924959"/>
            <a:ext cx="714115" cy="209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b="1" kern="0" spc="18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Mécanisme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1956904" y="5896198"/>
            <a:ext cx="169962" cy="266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kern="0" spc="18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2126754" y="5884478"/>
            <a:ext cx="852227" cy="252078"/>
          </a:xfrm>
          <a:prstGeom prst="roundRect">
            <a:avLst>
              <a:gd name="adj" fmla="val 7557"/>
            </a:avLst>
          </a:prstGeom>
          <a:solidFill>
            <a:srgbClr val="BDD248">
              <a:alpha val="12000"/>
            </a:srgbClr>
          </a:solidFill>
          <a:ln w="11906">
            <a:solidFill>
              <a:srgbClr val="BDD248">
                <a:alpha val="30000"/>
              </a:srgbClr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233910" y="5924959"/>
            <a:ext cx="714115" cy="209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b="1" kern="0" spc="18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Catalogue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3112182" y="5877223"/>
            <a:ext cx="18976" cy="266588"/>
          </a:xfrm>
          <a:prstGeom prst="roundRect">
            <a:avLst>
              <a:gd name="adj" fmla="val 49999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8" name="Text 43"/>
          <p:cNvSpPr/>
          <p:nvPr/>
        </p:nvSpPr>
        <p:spPr>
          <a:xfrm>
            <a:off x="3264359" y="5917592"/>
            <a:ext cx="2807847" cy="2239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 b="1" kern="0" spc="18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= composants réellement interchangeables</a:t>
            </a:r>
            <a:endParaRPr lang="en-US" sz="975" dirty="0"/>
          </a:p>
        </p:txBody>
      </p:sp>
      <p:sp>
        <p:nvSpPr>
          <p:cNvPr id="49" name="Text 44"/>
          <p:cNvSpPr/>
          <p:nvPr/>
        </p:nvSpPr>
        <p:spPr>
          <a:xfrm>
            <a:off x="7585211" y="5931917"/>
            <a:ext cx="3936020" cy="195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25" kern="0" spc="18" dirty="0">
                <a:solidFill>
                  <a:srgbClr val="FFFFFF">
                    <a:alpha val="3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slide suivante : le catalogue des options disponibles</a:t>
            </a:r>
            <a:endParaRPr lang="en-US" sz="825" dirty="0"/>
          </a:p>
        </p:txBody>
      </p:sp>
      <p:sp>
        <p:nvSpPr>
          <p:cNvPr id="50" name="Text 45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51" name="Image 3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08</a:t>
            </a:r>
            <a:endParaRPr lang="en-US" sz="9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5"/>
          </a:solidFill>
          <a:ln/>
        </p:spPr>
      </p:sp>
      <p:sp>
        <p:nvSpPr>
          <p:cNvPr id="3" name="Shape 1"/>
          <p:cNvSpPr/>
          <p:nvPr/>
        </p:nvSpPr>
        <p:spPr>
          <a:xfrm>
            <a:off x="495226" y="314213"/>
            <a:ext cx="85576" cy="1237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" name="Text 2"/>
          <p:cNvSpPr/>
          <p:nvPr/>
        </p:nvSpPr>
        <p:spPr>
          <a:xfrm>
            <a:off x="666378" y="304726"/>
            <a:ext cx="185953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3" kern="0" spc="121" dirty="0">
                <a:solidFill>
                  <a:srgbClr val="54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COMPOSANTS · MÉCANISME</a:t>
            </a:r>
            <a:endParaRPr lang="en-US" sz="863" dirty="0"/>
          </a:p>
        </p:txBody>
      </p:sp>
      <p:sp>
        <p:nvSpPr>
          <p:cNvPr id="5" name="Text 3"/>
          <p:cNvSpPr/>
          <p:nvPr/>
        </p:nvSpPr>
        <p:spPr>
          <a:xfrm>
            <a:off x="495226" y="523689"/>
            <a:ext cx="5430087" cy="4979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50" b="1" kern="0" spc="-86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Chargement </a:t>
            </a:r>
            <a:r>
              <a:rPr lang="en-US" sz="3450" b="1" kern="0" spc="-86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la demande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495226" y="1174068"/>
            <a:ext cx="11201549" cy="540246"/>
          </a:xfrm>
          <a:prstGeom prst="roundRect">
            <a:avLst>
              <a:gd name="adj" fmla="val 14105"/>
            </a:avLst>
          </a:prstGeom>
          <a:solidFill>
            <a:srgbClr val="1C1C24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45510" y="1100398"/>
            <a:ext cx="700980" cy="119063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8" name="Text 6"/>
          <p:cNvSpPr/>
          <p:nvPr/>
        </p:nvSpPr>
        <p:spPr>
          <a:xfrm>
            <a:off x="5786661" y="1100398"/>
            <a:ext cx="618679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kern="0" spc="90" dirty="0">
                <a:solidFill>
                  <a:srgbClr val="BDD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99541" y="1319175"/>
            <a:ext cx="11792917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ComponentRegistry</a:t>
            </a:r>
            <a:endParaRPr lang="en-US" sz="16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0238" y="1828354"/>
            <a:ext cx="171338" cy="26658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95226" y="2132893"/>
            <a:ext cx="2548310" cy="1905000"/>
          </a:xfrm>
          <a:prstGeom prst="roundRect">
            <a:avLst>
              <a:gd name="adj" fmla="val 4000"/>
            </a:avLst>
          </a:prstGeom>
          <a:solidFill>
            <a:srgbClr val="BDD248"/>
          </a:solidFill>
          <a:ln/>
        </p:spPr>
      </p:sp>
      <p:sp>
        <p:nvSpPr>
          <p:cNvPr id="12" name="Shape 9"/>
          <p:cNvSpPr/>
          <p:nvPr/>
        </p:nvSpPr>
        <p:spPr>
          <a:xfrm>
            <a:off x="851204" y="2047317"/>
            <a:ext cx="1836353" cy="119063"/>
          </a:xfrm>
          <a:prstGeom prst="rect">
            <a:avLst/>
          </a:prstGeom>
          <a:solidFill>
            <a:srgbClr val="F9FAF5"/>
          </a:solidFill>
          <a:ln/>
        </p:spPr>
      </p:sp>
      <p:sp>
        <p:nvSpPr>
          <p:cNvPr id="13" name="Text 10"/>
          <p:cNvSpPr/>
          <p:nvPr/>
        </p:nvSpPr>
        <p:spPr>
          <a:xfrm>
            <a:off x="927404" y="2047317"/>
            <a:ext cx="1867588" cy="1571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60" dirty="0">
                <a:solidFill>
                  <a:srgbClr val="1C1C24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IMPORTLIB.IMPORT_MODULE(…)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472282" y="2822339"/>
            <a:ext cx="670210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416881" y="3110322"/>
            <a:ext cx="70499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C1C24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FAISSVector Store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157761" y="2609143"/>
            <a:ext cx="2191680" cy="1428750"/>
          </a:xfrm>
          <a:prstGeom prst="roundRect">
            <a:avLst>
              <a:gd name="adj" fmla="val 5333"/>
            </a:avLst>
          </a:prstGeom>
          <a:solidFill>
            <a:srgbClr val="FFFFFF">
              <a:alpha val="40000"/>
            </a:srgbClr>
          </a:solidFill>
          <a:ln w="11906">
            <a:solidFill>
              <a:srgbClr val="546472">
                <a:alpha val="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33155" y="3060464"/>
            <a:ext cx="716905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3872545" y="3348447"/>
            <a:ext cx="76211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QdrantVector Store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5463667" y="2704393"/>
            <a:ext cx="2191680" cy="1333500"/>
          </a:xfrm>
          <a:prstGeom prst="roundRect">
            <a:avLst>
              <a:gd name="adj" fmla="val 5714"/>
            </a:avLst>
          </a:prstGeom>
          <a:solidFill>
            <a:srgbClr val="FFFFFF">
              <a:alpha val="35000"/>
            </a:srgbClr>
          </a:solidFill>
          <a:ln w="11906">
            <a:solidFill>
              <a:srgbClr val="546472">
                <a:alpha val="7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86785" y="3108089"/>
            <a:ext cx="821643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6178451" y="3396072"/>
            <a:ext cx="76211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ChromaVector Store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769572" y="2799643"/>
            <a:ext cx="2191680" cy="1238250"/>
          </a:xfrm>
          <a:prstGeom prst="roundRect">
            <a:avLst>
              <a:gd name="adj" fmla="val 6154"/>
            </a:avLst>
          </a:prstGeom>
          <a:solidFill>
            <a:srgbClr val="FFFFFF">
              <a:alpha val="30000"/>
            </a:srgbClr>
          </a:solidFill>
          <a:ln w="11906">
            <a:solidFill>
              <a:srgbClr val="546472">
                <a:alpha val="6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68407" y="3155714"/>
            <a:ext cx="670024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Milvus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8484357" y="3443697"/>
            <a:ext cx="76211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MilvusVector Store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10075478" y="2990143"/>
            <a:ext cx="1621296" cy="1047750"/>
          </a:xfrm>
          <a:prstGeom prst="roundRect">
            <a:avLst>
              <a:gd name="adj" fmla="val 7273"/>
            </a:avLst>
          </a:prstGeom>
          <a:solidFill>
            <a:srgbClr val="FFFFFF">
              <a:alpha val="20000"/>
            </a:srgbClr>
          </a:solidFill>
          <a:ln w="11906">
            <a:solidFill>
              <a:srgbClr val="546472">
                <a:alpha val="4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739438" y="3359237"/>
            <a:ext cx="36957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1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495226" y="4171094"/>
            <a:ext cx="5534174" cy="611684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495226" y="4770872"/>
            <a:ext cx="5534174" cy="11906"/>
          </a:xfrm>
          <a:prstGeom prst="rect">
            <a:avLst/>
          </a:prstGeom>
          <a:solidFill>
            <a:srgbClr val="546472">
              <a:alpha val="14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495226" y="4171094"/>
            <a:ext cx="5534174" cy="11906"/>
          </a:xfrm>
          <a:prstGeom prst="rect">
            <a:avLst/>
          </a:prstGeom>
          <a:solidFill>
            <a:srgbClr val="546472">
              <a:alpha val="14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495226" y="4171094"/>
            <a:ext cx="23813" cy="611684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1" name="Shape 28"/>
          <p:cNvSpPr/>
          <p:nvPr/>
        </p:nvSpPr>
        <p:spPr>
          <a:xfrm>
            <a:off x="6017493" y="4171094"/>
            <a:ext cx="11906" cy="611684"/>
          </a:xfrm>
          <a:prstGeom prst="rect">
            <a:avLst/>
          </a:prstGeom>
          <a:solidFill>
            <a:srgbClr val="546472">
              <a:alpha val="14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671401" y="4316202"/>
            <a:ext cx="133201" cy="20947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3" name="Text 30"/>
          <p:cNvSpPr/>
          <p:nvPr/>
        </p:nvSpPr>
        <p:spPr>
          <a:xfrm>
            <a:off x="918828" y="4297226"/>
            <a:ext cx="467722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d'imports lourds inutiles</a:t>
            </a:r>
            <a:endParaRPr lang="en-US" sz="1125" dirty="0"/>
          </a:p>
        </p:txBody>
      </p:sp>
      <p:sp>
        <p:nvSpPr>
          <p:cNvPr id="34" name="Text 31"/>
          <p:cNvSpPr/>
          <p:nvPr/>
        </p:nvSpPr>
        <p:spPr>
          <a:xfrm>
            <a:off x="918828" y="4501865"/>
            <a:ext cx="4677221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4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 · faiss · qdrant-client — chargés uniquement si utilisés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162601" y="4171094"/>
            <a:ext cx="5534174" cy="611684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/>
        </p:spPr>
      </p:sp>
      <p:sp>
        <p:nvSpPr>
          <p:cNvPr id="36" name="Shape 33"/>
          <p:cNvSpPr/>
          <p:nvPr/>
        </p:nvSpPr>
        <p:spPr>
          <a:xfrm>
            <a:off x="6162601" y="4770872"/>
            <a:ext cx="5534174" cy="11906"/>
          </a:xfrm>
          <a:prstGeom prst="rect">
            <a:avLst/>
          </a:prstGeom>
          <a:solidFill>
            <a:srgbClr val="546472">
              <a:alpha val="14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6162601" y="4171094"/>
            <a:ext cx="5534174" cy="11906"/>
          </a:xfrm>
          <a:prstGeom prst="rect">
            <a:avLst/>
          </a:prstGeom>
          <a:solidFill>
            <a:srgbClr val="546472">
              <a:alpha val="14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6162601" y="4171094"/>
            <a:ext cx="23813" cy="611684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9" name="Shape 36"/>
          <p:cNvSpPr/>
          <p:nvPr/>
        </p:nvSpPr>
        <p:spPr>
          <a:xfrm>
            <a:off x="11684868" y="4171094"/>
            <a:ext cx="11906" cy="611684"/>
          </a:xfrm>
          <a:prstGeom prst="rect">
            <a:avLst/>
          </a:prstGeom>
          <a:solidFill>
            <a:srgbClr val="546472">
              <a:alpha val="14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6338776" y="4316202"/>
            <a:ext cx="133201" cy="20947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1" name="Text 38"/>
          <p:cNvSpPr/>
          <p:nvPr/>
        </p:nvSpPr>
        <p:spPr>
          <a:xfrm>
            <a:off x="6586203" y="4297226"/>
            <a:ext cx="2640453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Ajouter un store = </a:t>
            </a:r>
            <a:r>
              <a:rPr lang="en-US" sz="1125" b="1" dirty="0">
                <a:solidFill>
                  <a:srgbClr val="00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classe</a:t>
            </a:r>
            <a:endParaRPr lang="en-US" sz="1125" dirty="0"/>
          </a:p>
        </p:txBody>
      </p:sp>
      <p:sp>
        <p:nvSpPr>
          <p:cNvPr id="42" name="Text 39"/>
          <p:cNvSpPr/>
          <p:nvPr/>
        </p:nvSpPr>
        <p:spPr>
          <a:xfrm>
            <a:off x="6586203" y="4501865"/>
            <a:ext cx="2640453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4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register("faiss", FAISSVectorStore)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495226" y="4897003"/>
            <a:ext cx="11201549" cy="11906"/>
          </a:xfrm>
          <a:prstGeom prst="rect">
            <a:avLst/>
          </a:prstGeom>
          <a:solidFill>
            <a:srgbClr val="546472">
              <a:alpha val="14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990451" y="5042111"/>
            <a:ext cx="35425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546472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 de Fin d'Études · Pipeline MLOps générique</a:t>
            </a:r>
            <a:endParaRPr lang="en-US" sz="863" dirty="0"/>
          </a:p>
        </p:txBody>
      </p:sp>
      <p:pic>
        <p:nvPicPr>
          <p:cNvPr id="45" name="Image 1" descr="preencoded.png"/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10615538" y="5013647"/>
            <a:ext cx="333933" cy="199988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11063697" y="5048064"/>
            <a:ext cx="214052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75" dirty="0"/>
          </a:p>
        </p:txBody>
      </p:sp>
    </p:spTree>
    <p:extLst>
      <p:ext uri="{BB962C8B-B14F-4D97-AF65-F5344CB8AC3E}">
        <p14:creationId xmlns:p14="http://schemas.microsoft.com/office/powerpoint/2010/main" val="772820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2A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1238250" cy="2286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37" y="2286000"/>
            <a:ext cx="1238250" cy="2286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743088" y="2145543"/>
            <a:ext cx="947190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PARTIE 3 · 03 / 04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2743088" y="2464594"/>
            <a:ext cx="7793606" cy="1238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use case RAG en pratique</a:t>
            </a:r>
            <a:endParaRPr lang="en-US" sz="4500" dirty="0"/>
          </a:p>
        </p:txBody>
      </p:sp>
      <p:sp>
        <p:nvSpPr>
          <p:cNvPr id="7" name="Shape 3"/>
          <p:cNvSpPr/>
          <p:nvPr/>
        </p:nvSpPr>
        <p:spPr>
          <a:xfrm>
            <a:off x="2743088" y="3931109"/>
            <a:ext cx="685726" cy="57113"/>
          </a:xfrm>
          <a:prstGeom prst="roundRect">
            <a:avLst>
              <a:gd name="adj" fmla="val 50000"/>
            </a:avLst>
          </a:prstGeom>
          <a:solidFill>
            <a:srgbClr val="BDD248"/>
          </a:solidFill>
          <a:ln/>
        </p:spPr>
      </p:sp>
      <p:sp>
        <p:nvSpPr>
          <p:cNvPr id="8" name="Text 4"/>
          <p:cNvSpPr/>
          <p:nvPr/>
        </p:nvSpPr>
        <p:spPr>
          <a:xfrm>
            <a:off x="2743088" y="4197697"/>
            <a:ext cx="3602385" cy="552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9AA5B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Le contrat appliqué de bout en bout, sur un cas réel : ingestion → index → API.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913377" y="2230841"/>
            <a:ext cx="4203688" cy="2434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000"/>
              </a:lnSpc>
              <a:buNone/>
            </a:pPr>
            <a:r>
              <a:rPr lang="en-US" sz="25500" b="1" kern="0" spc="-1020" dirty="0">
                <a:solidFill>
                  <a:srgbClr val="BDD248">
                    <a:alpha val="8000"/>
                  </a:srgbClr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03</a:t>
            </a:r>
            <a:endParaRPr lang="en-US" sz="25500" dirty="0"/>
          </a:p>
        </p:txBody>
      </p:sp>
      <p:sp>
        <p:nvSpPr>
          <p:cNvPr id="10" name="Text 6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AA5B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1180341" y="6418585"/>
            <a:ext cx="173571" cy="15236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238694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BLOC 03 · USE CASE RAG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000" b="1" kern="0" spc="-6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RAG : le contrat </a:t>
            </a:r>
            <a:r>
              <a:rPr lang="en-US" sz="3000" b="1" kern="0" spc="-6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5 phases </a:t>
            </a:r>
            <a:r>
              <a:rPr lang="en-US" sz="3000" b="1" kern="0" spc="-6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 action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38088" y="1692176"/>
            <a:ext cx="1466887" cy="1040867"/>
          </a:xfrm>
          <a:prstGeom prst="roundRect">
            <a:avLst>
              <a:gd name="adj" fmla="val 5491"/>
            </a:avLst>
          </a:prstGeom>
          <a:solidFill>
            <a:srgbClr val="F4F4F4"/>
          </a:solidFill>
          <a:ln/>
        </p:spPr>
      </p:sp>
      <p:sp>
        <p:nvSpPr>
          <p:cNvPr id="7" name="Shape 4"/>
          <p:cNvSpPr/>
          <p:nvPr/>
        </p:nvSpPr>
        <p:spPr>
          <a:xfrm>
            <a:off x="838088" y="2721136"/>
            <a:ext cx="146688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8" name="Shape 5"/>
          <p:cNvSpPr/>
          <p:nvPr/>
        </p:nvSpPr>
        <p:spPr>
          <a:xfrm>
            <a:off x="838088" y="1692176"/>
            <a:ext cx="1466887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9" name="Shape 6"/>
          <p:cNvSpPr/>
          <p:nvPr/>
        </p:nvSpPr>
        <p:spPr>
          <a:xfrm>
            <a:off x="838088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0" name="Shape 7"/>
          <p:cNvSpPr/>
          <p:nvPr/>
        </p:nvSpPr>
        <p:spPr>
          <a:xfrm>
            <a:off x="2293069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1" name="Shape 8"/>
          <p:cNvSpPr/>
          <p:nvPr/>
        </p:nvSpPr>
        <p:spPr>
          <a:xfrm>
            <a:off x="983196" y="1887327"/>
            <a:ext cx="618939" cy="175989"/>
          </a:xfrm>
          <a:prstGeom prst="roundRect">
            <a:avLst>
              <a:gd name="adj" fmla="val 10825"/>
            </a:avLst>
          </a:prstGeom>
          <a:solidFill>
            <a:srgbClr val="EFF4D8"/>
          </a:solidFill>
          <a:ln/>
        </p:spPr>
      </p:sp>
      <p:sp>
        <p:nvSpPr>
          <p:cNvPr id="12" name="Text 9"/>
          <p:cNvSpPr/>
          <p:nvPr/>
        </p:nvSpPr>
        <p:spPr>
          <a:xfrm>
            <a:off x="1059396" y="1915902"/>
            <a:ext cx="542739" cy="156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PREPARE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983196" y="2196517"/>
            <a:ext cx="1252872" cy="257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75" b="1" kern="0" spc="16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ingest</a:t>
            </a:r>
            <a:endParaRPr lang="en-US" sz="1575" dirty="0"/>
          </a:p>
        </p:txBody>
      </p:sp>
      <p:sp>
        <p:nvSpPr>
          <p:cNvPr id="14" name="Shape 11"/>
          <p:cNvSpPr/>
          <p:nvPr/>
        </p:nvSpPr>
        <p:spPr>
          <a:xfrm>
            <a:off x="2064618" y="2416411"/>
            <a:ext cx="95250" cy="95250"/>
          </a:xfrm>
          <a:prstGeom prst="ellipse">
            <a:avLst/>
          </a:prstGeom>
          <a:solidFill>
            <a:srgbClr val="BDD248"/>
          </a:solidFill>
          <a:ln/>
          <a:effectLst>
            <a:outerShdw blurRad="101600" dist="50800" dir="16200000" algn="bl" rotWithShape="0">
              <a:srgbClr val="BDD248">
                <a:alpha val="25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4976" y="2098291"/>
            <a:ext cx="361838" cy="228451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647838" y="1692176"/>
            <a:ext cx="1467073" cy="1040867"/>
          </a:xfrm>
          <a:prstGeom prst="roundRect">
            <a:avLst>
              <a:gd name="adj" fmla="val 5491"/>
            </a:avLst>
          </a:prstGeom>
          <a:solidFill>
            <a:srgbClr val="F4F4F4"/>
          </a:solidFill>
          <a:ln/>
        </p:spPr>
      </p:sp>
      <p:sp>
        <p:nvSpPr>
          <p:cNvPr id="17" name="Shape 13"/>
          <p:cNvSpPr/>
          <p:nvPr/>
        </p:nvSpPr>
        <p:spPr>
          <a:xfrm>
            <a:off x="2647838" y="2721136"/>
            <a:ext cx="146707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8" name="Shape 14"/>
          <p:cNvSpPr/>
          <p:nvPr/>
        </p:nvSpPr>
        <p:spPr>
          <a:xfrm>
            <a:off x="2647838" y="1692176"/>
            <a:ext cx="1467073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9" name="Shape 15"/>
          <p:cNvSpPr/>
          <p:nvPr/>
        </p:nvSpPr>
        <p:spPr>
          <a:xfrm>
            <a:off x="2647838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0" name="Shape 16"/>
          <p:cNvSpPr/>
          <p:nvPr/>
        </p:nvSpPr>
        <p:spPr>
          <a:xfrm>
            <a:off x="4103005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1" name="Shape 17"/>
          <p:cNvSpPr/>
          <p:nvPr/>
        </p:nvSpPr>
        <p:spPr>
          <a:xfrm>
            <a:off x="2792946" y="1887327"/>
            <a:ext cx="618939" cy="175989"/>
          </a:xfrm>
          <a:prstGeom prst="roundRect">
            <a:avLst>
              <a:gd name="adj" fmla="val 10825"/>
            </a:avLst>
          </a:prstGeom>
          <a:solidFill>
            <a:srgbClr val="F0F0F0"/>
          </a:solidFill>
          <a:ln/>
        </p:spPr>
      </p:sp>
      <p:sp>
        <p:nvSpPr>
          <p:cNvPr id="22" name="Text 18"/>
          <p:cNvSpPr/>
          <p:nvPr/>
        </p:nvSpPr>
        <p:spPr>
          <a:xfrm>
            <a:off x="2869146" y="1915902"/>
            <a:ext cx="542739" cy="156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PROCESS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2792946" y="2196517"/>
            <a:ext cx="1253058" cy="257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75" b="1" kern="0" spc="16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chunking</a:t>
            </a:r>
            <a:endParaRPr lang="en-US" sz="1575" dirty="0"/>
          </a:p>
        </p:txBody>
      </p:sp>
      <p:sp>
        <p:nvSpPr>
          <p:cNvPr id="24" name="Shape 20"/>
          <p:cNvSpPr/>
          <p:nvPr/>
        </p:nvSpPr>
        <p:spPr>
          <a:xfrm>
            <a:off x="3874554" y="2416411"/>
            <a:ext cx="95250" cy="95250"/>
          </a:xfrm>
          <a:prstGeom prst="ellipse">
            <a:avLst/>
          </a:prstGeom>
          <a:solidFill>
            <a:srgbClr val="BDD248"/>
          </a:solidFill>
          <a:ln/>
          <a:effectLst>
            <a:outerShdw blurRad="101600" dist="50800" dir="16200000" algn="bl" rotWithShape="0">
              <a:srgbClr val="BDD248">
                <a:alpha val="25000"/>
              </a:srgbClr>
            </a:outerShdw>
          </a:effectLst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912" y="2098291"/>
            <a:ext cx="361838" cy="228451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4457774" y="1692176"/>
            <a:ext cx="1466887" cy="1040867"/>
          </a:xfrm>
          <a:prstGeom prst="roundRect">
            <a:avLst>
              <a:gd name="adj" fmla="val 5491"/>
            </a:avLst>
          </a:prstGeom>
          <a:solidFill>
            <a:srgbClr val="F4F4F4"/>
          </a:solidFill>
          <a:ln/>
        </p:spPr>
      </p:sp>
      <p:sp>
        <p:nvSpPr>
          <p:cNvPr id="27" name="Shape 22"/>
          <p:cNvSpPr/>
          <p:nvPr/>
        </p:nvSpPr>
        <p:spPr>
          <a:xfrm>
            <a:off x="4457774" y="2721136"/>
            <a:ext cx="146688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8" name="Shape 23"/>
          <p:cNvSpPr/>
          <p:nvPr/>
        </p:nvSpPr>
        <p:spPr>
          <a:xfrm>
            <a:off x="4457774" y="1692176"/>
            <a:ext cx="1466887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9" name="Shape 24"/>
          <p:cNvSpPr/>
          <p:nvPr/>
        </p:nvSpPr>
        <p:spPr>
          <a:xfrm>
            <a:off x="4457774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0" name="Shape 25"/>
          <p:cNvSpPr/>
          <p:nvPr/>
        </p:nvSpPr>
        <p:spPr>
          <a:xfrm>
            <a:off x="5912755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1" name="Shape 26"/>
          <p:cNvSpPr/>
          <p:nvPr/>
        </p:nvSpPr>
        <p:spPr>
          <a:xfrm>
            <a:off x="4602882" y="1887327"/>
            <a:ext cx="618939" cy="175989"/>
          </a:xfrm>
          <a:prstGeom prst="roundRect">
            <a:avLst>
              <a:gd name="adj" fmla="val 10825"/>
            </a:avLst>
          </a:prstGeom>
          <a:solidFill>
            <a:srgbClr val="F0F0F0"/>
          </a:solidFill>
          <a:ln/>
        </p:spPr>
      </p:sp>
      <p:sp>
        <p:nvSpPr>
          <p:cNvPr id="32" name="Text 27"/>
          <p:cNvSpPr/>
          <p:nvPr/>
        </p:nvSpPr>
        <p:spPr>
          <a:xfrm>
            <a:off x="4679082" y="1915902"/>
            <a:ext cx="542739" cy="156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PROCESS</a:t>
            </a:r>
            <a:endParaRPr lang="en-US" sz="750" dirty="0"/>
          </a:p>
        </p:txBody>
      </p:sp>
      <p:sp>
        <p:nvSpPr>
          <p:cNvPr id="33" name="Text 28"/>
          <p:cNvSpPr/>
          <p:nvPr/>
        </p:nvSpPr>
        <p:spPr>
          <a:xfrm>
            <a:off x="4602882" y="2196517"/>
            <a:ext cx="1252872" cy="257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75" b="1" kern="0" spc="16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embedding</a:t>
            </a:r>
            <a:endParaRPr lang="en-US" sz="1575" dirty="0"/>
          </a:p>
        </p:txBody>
      </p:sp>
      <p:sp>
        <p:nvSpPr>
          <p:cNvPr id="34" name="Shape 29"/>
          <p:cNvSpPr/>
          <p:nvPr/>
        </p:nvSpPr>
        <p:spPr>
          <a:xfrm>
            <a:off x="5684304" y="2416411"/>
            <a:ext cx="95250" cy="95250"/>
          </a:xfrm>
          <a:prstGeom prst="ellipse">
            <a:avLst/>
          </a:prstGeom>
          <a:solidFill>
            <a:srgbClr val="BDD248"/>
          </a:solidFill>
          <a:ln/>
          <a:effectLst>
            <a:outerShdw blurRad="101600" dist="50800" dir="16200000" algn="bl" rotWithShape="0">
              <a:srgbClr val="BDD248">
                <a:alpha val="25000"/>
              </a:srgbClr>
            </a:outerShdw>
          </a:effectLst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662" y="2098291"/>
            <a:ext cx="361838" cy="228451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6267524" y="1692176"/>
            <a:ext cx="1466887" cy="1040867"/>
          </a:xfrm>
          <a:prstGeom prst="roundRect">
            <a:avLst>
              <a:gd name="adj" fmla="val 5491"/>
            </a:avLst>
          </a:prstGeom>
          <a:solidFill>
            <a:srgbClr val="F4F4F4"/>
          </a:solidFill>
          <a:ln/>
        </p:spPr>
      </p:sp>
      <p:sp>
        <p:nvSpPr>
          <p:cNvPr id="37" name="Shape 31"/>
          <p:cNvSpPr/>
          <p:nvPr/>
        </p:nvSpPr>
        <p:spPr>
          <a:xfrm>
            <a:off x="6267524" y="2721136"/>
            <a:ext cx="146688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8" name="Shape 32"/>
          <p:cNvSpPr/>
          <p:nvPr/>
        </p:nvSpPr>
        <p:spPr>
          <a:xfrm>
            <a:off x="6267524" y="1692176"/>
            <a:ext cx="1466887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9" name="Shape 33"/>
          <p:cNvSpPr/>
          <p:nvPr/>
        </p:nvSpPr>
        <p:spPr>
          <a:xfrm>
            <a:off x="6267524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0" name="Shape 34"/>
          <p:cNvSpPr/>
          <p:nvPr/>
        </p:nvSpPr>
        <p:spPr>
          <a:xfrm>
            <a:off x="7722505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1" name="Shape 35"/>
          <p:cNvSpPr/>
          <p:nvPr/>
        </p:nvSpPr>
        <p:spPr>
          <a:xfrm>
            <a:off x="6412632" y="1887327"/>
            <a:ext cx="485552" cy="175989"/>
          </a:xfrm>
          <a:prstGeom prst="roundRect">
            <a:avLst>
              <a:gd name="adj" fmla="val 10825"/>
            </a:avLst>
          </a:prstGeom>
          <a:solidFill>
            <a:srgbClr val="EFF4D8"/>
          </a:solidFill>
          <a:ln/>
        </p:spPr>
      </p:sp>
      <p:sp>
        <p:nvSpPr>
          <p:cNvPr id="42" name="Text 36"/>
          <p:cNvSpPr/>
          <p:nvPr/>
        </p:nvSpPr>
        <p:spPr>
          <a:xfrm>
            <a:off x="6488832" y="1915902"/>
            <a:ext cx="409352" cy="156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</a:t>
            </a:r>
            <a:endParaRPr lang="en-US" sz="750" dirty="0"/>
          </a:p>
        </p:txBody>
      </p:sp>
      <p:sp>
        <p:nvSpPr>
          <p:cNvPr id="43" name="Text 37"/>
          <p:cNvSpPr/>
          <p:nvPr/>
        </p:nvSpPr>
        <p:spPr>
          <a:xfrm>
            <a:off x="6412632" y="2196517"/>
            <a:ext cx="1252872" cy="257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75" b="1" kern="0" spc="16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indexing</a:t>
            </a:r>
            <a:endParaRPr lang="en-US" sz="1575" dirty="0"/>
          </a:p>
        </p:txBody>
      </p:sp>
      <p:sp>
        <p:nvSpPr>
          <p:cNvPr id="44" name="Shape 38"/>
          <p:cNvSpPr/>
          <p:nvPr/>
        </p:nvSpPr>
        <p:spPr>
          <a:xfrm>
            <a:off x="7494054" y="2416411"/>
            <a:ext cx="95250" cy="95250"/>
          </a:xfrm>
          <a:prstGeom prst="ellipse">
            <a:avLst/>
          </a:prstGeom>
          <a:solidFill>
            <a:srgbClr val="BDD248"/>
          </a:solidFill>
          <a:ln/>
          <a:effectLst>
            <a:outerShdw blurRad="101600" dist="50800" dir="16200000" algn="bl" rotWithShape="0">
              <a:srgbClr val="BDD248">
                <a:alpha val="25000"/>
              </a:srgbClr>
            </a:outerShdw>
          </a:effectLst>
        </p:spPr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4412" y="2098291"/>
            <a:ext cx="361838" cy="228451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8077274" y="1692176"/>
            <a:ext cx="1466887" cy="1040867"/>
          </a:xfrm>
          <a:prstGeom prst="roundRect">
            <a:avLst>
              <a:gd name="adj" fmla="val 5491"/>
            </a:avLst>
          </a:prstGeom>
          <a:solidFill>
            <a:srgbClr val="F4F4F4"/>
          </a:solidFill>
          <a:ln/>
        </p:spPr>
      </p:sp>
      <p:sp>
        <p:nvSpPr>
          <p:cNvPr id="47" name="Shape 40"/>
          <p:cNvSpPr/>
          <p:nvPr/>
        </p:nvSpPr>
        <p:spPr>
          <a:xfrm>
            <a:off x="8077274" y="2721136"/>
            <a:ext cx="146688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8" name="Shape 41"/>
          <p:cNvSpPr/>
          <p:nvPr/>
        </p:nvSpPr>
        <p:spPr>
          <a:xfrm>
            <a:off x="8077274" y="1692176"/>
            <a:ext cx="1466887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9" name="Shape 42"/>
          <p:cNvSpPr/>
          <p:nvPr/>
        </p:nvSpPr>
        <p:spPr>
          <a:xfrm>
            <a:off x="8077274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0" name="Shape 43"/>
          <p:cNvSpPr/>
          <p:nvPr/>
        </p:nvSpPr>
        <p:spPr>
          <a:xfrm>
            <a:off x="9532255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1" name="Shape 44"/>
          <p:cNvSpPr/>
          <p:nvPr/>
        </p:nvSpPr>
        <p:spPr>
          <a:xfrm>
            <a:off x="8222382" y="1887327"/>
            <a:ext cx="685726" cy="175989"/>
          </a:xfrm>
          <a:prstGeom prst="roundRect">
            <a:avLst>
              <a:gd name="adj" fmla="val 10825"/>
            </a:avLst>
          </a:prstGeom>
          <a:solidFill>
            <a:srgbClr val="EFF4D8"/>
          </a:solidFill>
          <a:ln/>
        </p:spPr>
      </p:sp>
      <p:sp>
        <p:nvSpPr>
          <p:cNvPr id="52" name="Text 45"/>
          <p:cNvSpPr/>
          <p:nvPr/>
        </p:nvSpPr>
        <p:spPr>
          <a:xfrm>
            <a:off x="8298582" y="1915902"/>
            <a:ext cx="609526" cy="156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EVALUATE</a:t>
            </a:r>
            <a:endParaRPr lang="en-US" sz="750" dirty="0"/>
          </a:p>
        </p:txBody>
      </p:sp>
      <p:sp>
        <p:nvSpPr>
          <p:cNvPr id="53" name="Text 46"/>
          <p:cNvSpPr/>
          <p:nvPr/>
        </p:nvSpPr>
        <p:spPr>
          <a:xfrm>
            <a:off x="8222382" y="2196517"/>
            <a:ext cx="1252872" cy="257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75" b="1" kern="0" spc="16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evaluate</a:t>
            </a:r>
            <a:endParaRPr lang="en-US" sz="1575" dirty="0"/>
          </a:p>
        </p:txBody>
      </p:sp>
      <p:sp>
        <p:nvSpPr>
          <p:cNvPr id="54" name="Shape 47"/>
          <p:cNvSpPr/>
          <p:nvPr/>
        </p:nvSpPr>
        <p:spPr>
          <a:xfrm>
            <a:off x="9303804" y="2416411"/>
            <a:ext cx="95250" cy="95250"/>
          </a:xfrm>
          <a:prstGeom prst="ellipse">
            <a:avLst/>
          </a:prstGeom>
          <a:solidFill>
            <a:srgbClr val="BDD248"/>
          </a:solidFill>
          <a:ln/>
          <a:effectLst>
            <a:outerShdw blurRad="101600" dist="50800" dir="16200000" algn="bl" rotWithShape="0">
              <a:srgbClr val="BDD248">
                <a:alpha val="25000"/>
              </a:srgbClr>
            </a:outerShdw>
          </a:effectLst>
        </p:spPr>
      </p:sp>
      <p:pic>
        <p:nvPicPr>
          <p:cNvPr id="5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4162" y="2098291"/>
            <a:ext cx="361838" cy="228451"/>
          </a:xfrm>
          <a:prstGeom prst="rect">
            <a:avLst/>
          </a:prstGeom>
        </p:spPr>
      </p:pic>
      <p:sp>
        <p:nvSpPr>
          <p:cNvPr id="56" name="Shape 48"/>
          <p:cNvSpPr/>
          <p:nvPr/>
        </p:nvSpPr>
        <p:spPr>
          <a:xfrm>
            <a:off x="9887024" y="1692176"/>
            <a:ext cx="1466887" cy="1040867"/>
          </a:xfrm>
          <a:prstGeom prst="roundRect">
            <a:avLst>
              <a:gd name="adj" fmla="val 5491"/>
            </a:avLst>
          </a:prstGeom>
          <a:solidFill>
            <a:srgbClr val="F4F4F4"/>
          </a:solidFill>
          <a:ln/>
        </p:spPr>
      </p:sp>
      <p:sp>
        <p:nvSpPr>
          <p:cNvPr id="57" name="Shape 49"/>
          <p:cNvSpPr/>
          <p:nvPr/>
        </p:nvSpPr>
        <p:spPr>
          <a:xfrm>
            <a:off x="9887024" y="2721136"/>
            <a:ext cx="146688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8" name="Shape 50"/>
          <p:cNvSpPr/>
          <p:nvPr/>
        </p:nvSpPr>
        <p:spPr>
          <a:xfrm>
            <a:off x="9887024" y="1692176"/>
            <a:ext cx="1466887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59" name="Shape 51"/>
          <p:cNvSpPr/>
          <p:nvPr/>
        </p:nvSpPr>
        <p:spPr>
          <a:xfrm>
            <a:off x="9887024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60" name="Shape 52"/>
          <p:cNvSpPr/>
          <p:nvPr/>
        </p:nvSpPr>
        <p:spPr>
          <a:xfrm>
            <a:off x="11342005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61" name="Shape 53"/>
          <p:cNvSpPr/>
          <p:nvPr/>
        </p:nvSpPr>
        <p:spPr>
          <a:xfrm>
            <a:off x="10032132" y="1887327"/>
            <a:ext cx="552338" cy="175989"/>
          </a:xfrm>
          <a:prstGeom prst="roundRect">
            <a:avLst>
              <a:gd name="adj" fmla="val 10825"/>
            </a:avLst>
          </a:prstGeom>
          <a:solidFill>
            <a:srgbClr val="EFF4D8"/>
          </a:solidFill>
          <a:ln/>
        </p:spPr>
      </p:sp>
      <p:sp>
        <p:nvSpPr>
          <p:cNvPr id="62" name="Text 54"/>
          <p:cNvSpPr/>
          <p:nvPr/>
        </p:nvSpPr>
        <p:spPr>
          <a:xfrm>
            <a:off x="10108332" y="1915902"/>
            <a:ext cx="476138" cy="156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DEPLOY</a:t>
            </a:r>
            <a:endParaRPr lang="en-US" sz="750" dirty="0"/>
          </a:p>
        </p:txBody>
      </p:sp>
      <p:sp>
        <p:nvSpPr>
          <p:cNvPr id="63" name="Text 55"/>
          <p:cNvSpPr/>
          <p:nvPr/>
        </p:nvSpPr>
        <p:spPr>
          <a:xfrm>
            <a:off x="10032132" y="2196517"/>
            <a:ext cx="1252872" cy="257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75" b="1" kern="0" spc="16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deploy</a:t>
            </a:r>
            <a:endParaRPr lang="en-US" sz="1575" dirty="0"/>
          </a:p>
        </p:txBody>
      </p:sp>
      <p:sp>
        <p:nvSpPr>
          <p:cNvPr id="64" name="Shape 56"/>
          <p:cNvSpPr/>
          <p:nvPr/>
        </p:nvSpPr>
        <p:spPr>
          <a:xfrm>
            <a:off x="11113554" y="2416411"/>
            <a:ext cx="95250" cy="95250"/>
          </a:xfrm>
          <a:prstGeom prst="ellipse">
            <a:avLst/>
          </a:prstGeom>
          <a:solidFill>
            <a:srgbClr val="BDD248"/>
          </a:solidFill>
          <a:ln/>
          <a:effectLst>
            <a:outerShdw blurRad="101600" dist="50800" dir="16200000" algn="bl" rotWithShape="0">
              <a:srgbClr val="BDD248">
                <a:alpha val="25000"/>
              </a:srgbClr>
            </a:outerShdw>
          </a:effectLst>
        </p:spPr>
      </p:sp>
      <p:sp>
        <p:nvSpPr>
          <p:cNvPr id="65" name="Shape 57"/>
          <p:cNvSpPr/>
          <p:nvPr/>
        </p:nvSpPr>
        <p:spPr>
          <a:xfrm>
            <a:off x="838088" y="2938983"/>
            <a:ext cx="85576" cy="85576"/>
          </a:xfrm>
          <a:prstGeom prst="ellipse">
            <a:avLst/>
          </a:prstGeom>
          <a:solidFill>
            <a:srgbClr val="BDD248"/>
          </a:solidFill>
          <a:ln/>
        </p:spPr>
      </p:sp>
      <p:sp>
        <p:nvSpPr>
          <p:cNvPr id="66" name="Text 58"/>
          <p:cNvSpPr/>
          <p:nvPr/>
        </p:nvSpPr>
        <p:spPr>
          <a:xfrm>
            <a:off x="999753" y="2904381"/>
            <a:ext cx="110497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statut : succès</a:t>
            </a:r>
            <a:endParaRPr lang="en-US" sz="900" dirty="0"/>
          </a:p>
        </p:txBody>
      </p:sp>
      <p:sp>
        <p:nvSpPr>
          <p:cNvPr id="67" name="Shape 59"/>
          <p:cNvSpPr/>
          <p:nvPr/>
        </p:nvSpPr>
        <p:spPr>
          <a:xfrm>
            <a:off x="2219027" y="2967447"/>
            <a:ext cx="304726" cy="28463"/>
          </a:xfrm>
          <a:prstGeom prst="roundRect">
            <a:avLst>
              <a:gd name="adj" fmla="val 50001"/>
            </a:avLst>
          </a:prstGeom>
          <a:solidFill>
            <a:srgbClr val="BDD248"/>
          </a:solidFill>
          <a:ln/>
        </p:spPr>
      </p:sp>
      <p:sp>
        <p:nvSpPr>
          <p:cNvPr id="68" name="Text 60"/>
          <p:cNvSpPr/>
          <p:nvPr/>
        </p:nvSpPr>
        <p:spPr>
          <a:xfrm>
            <a:off x="2599841" y="2904381"/>
            <a:ext cx="89922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 complété</a:t>
            </a:r>
            <a:endParaRPr lang="en-US" sz="900" dirty="0"/>
          </a:p>
        </p:txBody>
      </p:sp>
      <p:sp>
        <p:nvSpPr>
          <p:cNvPr id="69" name="Text 61"/>
          <p:cNvSpPr/>
          <p:nvPr/>
        </p:nvSpPr>
        <p:spPr>
          <a:xfrm>
            <a:off x="3689449" y="2904381"/>
            <a:ext cx="399823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clin d'œil au DAG live du Studio (MLflow / Prefect)</a:t>
            </a:r>
            <a:endParaRPr lang="en-US" sz="900" dirty="0"/>
          </a:p>
        </p:txBody>
      </p:sp>
      <p:sp>
        <p:nvSpPr>
          <p:cNvPr id="70" name="Shape 62"/>
          <p:cNvSpPr/>
          <p:nvPr/>
        </p:nvSpPr>
        <p:spPr>
          <a:xfrm>
            <a:off x="838088" y="3192363"/>
            <a:ext cx="1505769" cy="1190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71" name="Text 63"/>
          <p:cNvSpPr/>
          <p:nvPr/>
        </p:nvSpPr>
        <p:spPr>
          <a:xfrm>
            <a:off x="838088" y="3280470"/>
            <a:ext cx="1505769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kern="0" spc="50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PREPARE</a:t>
            </a:r>
            <a:endParaRPr lang="en-US" sz="825" dirty="0"/>
          </a:p>
        </p:txBody>
      </p:sp>
      <p:sp>
        <p:nvSpPr>
          <p:cNvPr id="72" name="Shape 64"/>
          <p:cNvSpPr/>
          <p:nvPr/>
        </p:nvSpPr>
        <p:spPr>
          <a:xfrm>
            <a:off x="2686720" y="3192363"/>
            <a:ext cx="3121298" cy="11906"/>
          </a:xfrm>
          <a:prstGeom prst="rect">
            <a:avLst/>
          </a:prstGeom>
          <a:solidFill>
            <a:srgbClr val="525252"/>
          </a:solidFill>
          <a:ln/>
        </p:spPr>
      </p:sp>
      <p:sp>
        <p:nvSpPr>
          <p:cNvPr id="73" name="Text 65"/>
          <p:cNvSpPr/>
          <p:nvPr/>
        </p:nvSpPr>
        <p:spPr>
          <a:xfrm>
            <a:off x="2678000" y="3280470"/>
            <a:ext cx="3138737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kern="0" spc="5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PROCESS (×2)</a:t>
            </a:r>
            <a:endParaRPr lang="en-US" sz="825" dirty="0"/>
          </a:p>
        </p:txBody>
      </p:sp>
      <p:sp>
        <p:nvSpPr>
          <p:cNvPr id="74" name="Shape 66"/>
          <p:cNvSpPr/>
          <p:nvPr/>
        </p:nvSpPr>
        <p:spPr>
          <a:xfrm>
            <a:off x="6150880" y="3192363"/>
            <a:ext cx="1505769" cy="1190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75" name="Text 67"/>
          <p:cNvSpPr/>
          <p:nvPr/>
        </p:nvSpPr>
        <p:spPr>
          <a:xfrm>
            <a:off x="6150880" y="3280470"/>
            <a:ext cx="1505769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kern="0" spc="50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BUILD</a:t>
            </a:r>
            <a:endParaRPr lang="en-US" sz="825" dirty="0"/>
          </a:p>
        </p:txBody>
      </p:sp>
      <p:sp>
        <p:nvSpPr>
          <p:cNvPr id="76" name="Shape 68"/>
          <p:cNvSpPr/>
          <p:nvPr/>
        </p:nvSpPr>
        <p:spPr>
          <a:xfrm>
            <a:off x="7999512" y="3192363"/>
            <a:ext cx="1505769" cy="1190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77" name="Text 69"/>
          <p:cNvSpPr/>
          <p:nvPr/>
        </p:nvSpPr>
        <p:spPr>
          <a:xfrm>
            <a:off x="7999512" y="3280470"/>
            <a:ext cx="1505769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kern="0" spc="50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EVALUATE</a:t>
            </a:r>
            <a:endParaRPr lang="en-US" sz="825" dirty="0"/>
          </a:p>
        </p:txBody>
      </p:sp>
      <p:sp>
        <p:nvSpPr>
          <p:cNvPr id="78" name="Shape 70"/>
          <p:cNvSpPr/>
          <p:nvPr/>
        </p:nvSpPr>
        <p:spPr>
          <a:xfrm>
            <a:off x="9848143" y="3192363"/>
            <a:ext cx="1505769" cy="1190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79" name="Text 71"/>
          <p:cNvSpPr/>
          <p:nvPr/>
        </p:nvSpPr>
        <p:spPr>
          <a:xfrm>
            <a:off x="9848143" y="3280470"/>
            <a:ext cx="1505769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kern="0" spc="50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DEPLOY</a:t>
            </a:r>
            <a:endParaRPr lang="en-US" sz="825" dirty="0"/>
          </a:p>
        </p:txBody>
      </p:sp>
      <p:sp>
        <p:nvSpPr>
          <p:cNvPr id="80" name="Shape 72"/>
          <p:cNvSpPr/>
          <p:nvPr/>
        </p:nvSpPr>
        <p:spPr>
          <a:xfrm>
            <a:off x="838088" y="3651684"/>
            <a:ext cx="10515823" cy="719770"/>
          </a:xfrm>
          <a:prstGeom prst="roundRect">
            <a:avLst>
              <a:gd name="adj" fmla="val 7940"/>
            </a:avLst>
          </a:prstGeom>
          <a:solidFill>
            <a:srgbClr val="2A2A2A"/>
          </a:solidFill>
          <a:ln/>
        </p:spPr>
      </p:sp>
      <p:sp>
        <p:nvSpPr>
          <p:cNvPr id="81" name="Shape 73"/>
          <p:cNvSpPr/>
          <p:nvPr/>
        </p:nvSpPr>
        <p:spPr>
          <a:xfrm>
            <a:off x="1066540" y="3846091"/>
            <a:ext cx="1076399" cy="330771"/>
          </a:xfrm>
          <a:prstGeom prst="roundRect">
            <a:avLst>
              <a:gd name="adj" fmla="val 8639"/>
            </a:avLst>
          </a:prstGeom>
          <a:solidFill>
            <a:srgbClr val="BDD248"/>
          </a:solidFill>
          <a:ln/>
        </p:spPr>
      </p:sp>
      <p:sp>
        <p:nvSpPr>
          <p:cNvPr id="82" name="Text 74"/>
          <p:cNvSpPr/>
          <p:nvPr/>
        </p:nvSpPr>
        <p:spPr>
          <a:xfrm>
            <a:off x="1209415" y="3922291"/>
            <a:ext cx="866849" cy="2164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68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RÉFÉRENCE</a:t>
            </a:r>
            <a:endParaRPr lang="en-US" sz="975" dirty="0"/>
          </a:p>
        </p:txBody>
      </p:sp>
      <p:sp>
        <p:nvSpPr>
          <p:cNvPr id="83" name="Text 75"/>
          <p:cNvSpPr/>
          <p:nvPr/>
        </p:nvSpPr>
        <p:spPr>
          <a:xfrm>
            <a:off x="2333439" y="3794559"/>
            <a:ext cx="9055782" cy="472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88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RAG = implémentation de référence. </a:t>
            </a:r>
            <a:r>
              <a:rPr lang="en-US" sz="1088" dirty="0">
                <a:solidFill>
                  <a:srgbClr val="9AA5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</a:t>
            </a:r>
            <a:r>
              <a:rPr lang="en-US" sz="906" baseline="30000" dirty="0">
                <a:solidFill>
                  <a:srgbClr val="9AA5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er </a:t>
            </a:r>
            <a:r>
              <a:rPr lang="en-US" sz="1088" dirty="0">
                <a:solidFill>
                  <a:srgbClr val="9AA5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use case complet : il prouve l'architecture de bout en bout </a:t>
            </a:r>
            <a:r>
              <a:rPr lang="en-US" sz="1088" b="1" dirty="0">
                <a:solidFill>
                  <a:srgbClr val="BDD24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et hérite automatiquement de tout l'outillage OPS </a:t>
            </a:r>
            <a:r>
              <a:rPr lang="en-US" sz="1088" dirty="0">
                <a:solidFill>
                  <a:srgbClr val="9AA5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(MLflow, monitoring, Docker, CI/CT). Un développeur peut s'en inspirer comme modèle pour son propre use case.</a:t>
            </a:r>
            <a:endParaRPr lang="en-US" sz="1088" dirty="0"/>
          </a:p>
        </p:txBody>
      </p:sp>
      <p:sp>
        <p:nvSpPr>
          <p:cNvPr id="84" name="Text 76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85" name="Image 6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86" name="Text 77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09</a:t>
            </a:r>
            <a:endParaRPr lang="en-US" sz="9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260572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COMPOSANTS · CATALOGUE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000" b="1" kern="0" spc="-6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Switch en </a:t>
            </a:r>
            <a:r>
              <a:rPr lang="en-US" sz="3000" b="1" kern="0" spc="-6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une ligne </a:t>
            </a:r>
            <a:r>
              <a:rPr lang="en-US" sz="3000" b="1" kern="0" spc="-6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YAML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38088" y="1692176"/>
            <a:ext cx="6333939" cy="3149575"/>
          </a:xfrm>
          <a:prstGeom prst="roundRect">
            <a:avLst>
              <a:gd name="adj" fmla="val 1815"/>
            </a:avLst>
          </a:prstGeom>
          <a:ln/>
          <a:effectLst>
            <a:outerShdw blurRad="76200" dist="19050" dir="5400000" algn="bl" rotWithShape="0">
              <a:srgbClr val="2A2A2A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38088" y="1692176"/>
            <a:ext cx="6333939" cy="437927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8" name="Text 5"/>
          <p:cNvSpPr/>
          <p:nvPr/>
        </p:nvSpPr>
        <p:spPr>
          <a:xfrm>
            <a:off x="1047638" y="1816001"/>
            <a:ext cx="1085850" cy="228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84" dirty="0">
                <a:solidFill>
                  <a:srgbClr val="BDD24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CATÉGORIE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476388" y="1816001"/>
            <a:ext cx="4633245" cy="228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84" dirty="0">
                <a:solidFill>
                  <a:srgbClr val="9AA5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OPTIONS DISPONIBLES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38088" y="2130103"/>
            <a:ext cx="6333939" cy="5387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838088" y="2656954"/>
            <a:ext cx="142875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2" name="Text 9"/>
          <p:cNvSpPr/>
          <p:nvPr/>
        </p:nvSpPr>
        <p:spPr>
          <a:xfrm>
            <a:off x="1047638" y="2244403"/>
            <a:ext cx="1085850" cy="33635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Chunker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266838" y="2656954"/>
            <a:ext cx="4905189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4" name="Shape 11"/>
          <p:cNvSpPr/>
          <p:nvPr/>
        </p:nvSpPr>
        <p:spPr>
          <a:xfrm>
            <a:off x="2476314" y="2263304"/>
            <a:ext cx="902084" cy="266402"/>
          </a:xfrm>
          <a:prstGeom prst="roundRect">
            <a:avLst>
              <a:gd name="adj" fmla="val 10726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92995" y="2313310"/>
            <a:ext cx="744922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recursive</a:t>
            </a:r>
            <a:endParaRPr lang="en-US" sz="975" dirty="0"/>
          </a:p>
        </p:txBody>
      </p:sp>
      <p:sp>
        <p:nvSpPr>
          <p:cNvPr id="16" name="Shape 13"/>
          <p:cNvSpPr/>
          <p:nvPr/>
        </p:nvSpPr>
        <p:spPr>
          <a:xfrm>
            <a:off x="3426023" y="2263304"/>
            <a:ext cx="827670" cy="266402"/>
          </a:xfrm>
          <a:prstGeom prst="roundRect">
            <a:avLst>
              <a:gd name="adj" fmla="val 10726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42705" y="2313310"/>
            <a:ext cx="670508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semantic</a:t>
            </a:r>
            <a:endParaRPr lang="en-US" sz="975" dirty="0"/>
          </a:p>
        </p:txBody>
      </p:sp>
      <p:sp>
        <p:nvSpPr>
          <p:cNvPr id="18" name="Shape 15"/>
          <p:cNvSpPr/>
          <p:nvPr/>
        </p:nvSpPr>
        <p:spPr>
          <a:xfrm>
            <a:off x="838088" y="2668860"/>
            <a:ext cx="6333939" cy="544711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9" name="Shape 16"/>
          <p:cNvSpPr/>
          <p:nvPr/>
        </p:nvSpPr>
        <p:spPr>
          <a:xfrm>
            <a:off x="838088" y="3201665"/>
            <a:ext cx="142875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0" name="Text 17"/>
          <p:cNvSpPr/>
          <p:nvPr/>
        </p:nvSpPr>
        <p:spPr>
          <a:xfrm>
            <a:off x="1047638" y="2783160"/>
            <a:ext cx="1085850" cy="3423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Embedder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266838" y="3201665"/>
            <a:ext cx="4905189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2" name="Shape 19"/>
          <p:cNvSpPr/>
          <p:nvPr/>
        </p:nvSpPr>
        <p:spPr>
          <a:xfrm>
            <a:off x="2476314" y="2808015"/>
            <a:ext cx="1050541" cy="266402"/>
          </a:xfrm>
          <a:prstGeom prst="roundRect">
            <a:avLst>
              <a:gd name="adj" fmla="val 10726"/>
            </a:avLst>
          </a:prstGeom>
          <a:solidFill>
            <a:srgbClr val="FFFFFF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592995" y="2858021"/>
            <a:ext cx="893378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huggingface</a:t>
            </a:r>
            <a:endParaRPr lang="en-US" sz="975" dirty="0"/>
          </a:p>
        </p:txBody>
      </p:sp>
      <p:sp>
        <p:nvSpPr>
          <p:cNvPr id="24" name="Shape 21"/>
          <p:cNvSpPr/>
          <p:nvPr/>
        </p:nvSpPr>
        <p:spPr>
          <a:xfrm>
            <a:off x="3574479" y="2808015"/>
            <a:ext cx="902084" cy="266402"/>
          </a:xfrm>
          <a:prstGeom prst="roundRect">
            <a:avLst>
              <a:gd name="adj" fmla="val 10726"/>
            </a:avLst>
          </a:prstGeom>
          <a:solidFill>
            <a:srgbClr val="FFFFFF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91161" y="2858021"/>
            <a:ext cx="744922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fastembed</a:t>
            </a:r>
            <a:endParaRPr lang="en-US" sz="975" dirty="0"/>
          </a:p>
        </p:txBody>
      </p:sp>
      <p:sp>
        <p:nvSpPr>
          <p:cNvPr id="26" name="Shape 23"/>
          <p:cNvSpPr/>
          <p:nvPr/>
        </p:nvSpPr>
        <p:spPr>
          <a:xfrm>
            <a:off x="838088" y="3213571"/>
            <a:ext cx="6333939" cy="5447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838088" y="3746376"/>
            <a:ext cx="142875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8" name="Text 25"/>
          <p:cNvSpPr/>
          <p:nvPr/>
        </p:nvSpPr>
        <p:spPr>
          <a:xfrm>
            <a:off x="1047638" y="3327871"/>
            <a:ext cx="1085850" cy="3423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Vector store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266838" y="3746376"/>
            <a:ext cx="4905189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0" name="Shape 27"/>
          <p:cNvSpPr/>
          <p:nvPr/>
        </p:nvSpPr>
        <p:spPr>
          <a:xfrm>
            <a:off x="2476314" y="3352726"/>
            <a:ext cx="604800" cy="266402"/>
          </a:xfrm>
          <a:prstGeom prst="roundRect">
            <a:avLst>
              <a:gd name="adj" fmla="val 10726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592995" y="3402732"/>
            <a:ext cx="447638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FAISS</a:t>
            </a:r>
            <a:endParaRPr lang="en-US" sz="975" dirty="0"/>
          </a:p>
        </p:txBody>
      </p:sp>
      <p:sp>
        <p:nvSpPr>
          <p:cNvPr id="32" name="Shape 29"/>
          <p:cNvSpPr/>
          <p:nvPr/>
        </p:nvSpPr>
        <p:spPr>
          <a:xfrm>
            <a:off x="3128739" y="3352726"/>
            <a:ext cx="827670" cy="266402"/>
          </a:xfrm>
          <a:prstGeom prst="roundRect">
            <a:avLst>
              <a:gd name="adj" fmla="val 10726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245421" y="3402732"/>
            <a:ext cx="670508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ChromaDB</a:t>
            </a:r>
            <a:endParaRPr lang="en-US" sz="975" dirty="0"/>
          </a:p>
        </p:txBody>
      </p:sp>
      <p:sp>
        <p:nvSpPr>
          <p:cNvPr id="34" name="Shape 31"/>
          <p:cNvSpPr/>
          <p:nvPr/>
        </p:nvSpPr>
        <p:spPr>
          <a:xfrm>
            <a:off x="4004035" y="3352726"/>
            <a:ext cx="679214" cy="266402"/>
          </a:xfrm>
          <a:prstGeom prst="roundRect">
            <a:avLst>
              <a:gd name="adj" fmla="val 10726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120716" y="3402732"/>
            <a:ext cx="522052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Qdrant</a:t>
            </a:r>
            <a:endParaRPr lang="en-US" sz="975" dirty="0"/>
          </a:p>
        </p:txBody>
      </p:sp>
      <p:sp>
        <p:nvSpPr>
          <p:cNvPr id="36" name="Shape 33"/>
          <p:cNvSpPr/>
          <p:nvPr/>
        </p:nvSpPr>
        <p:spPr>
          <a:xfrm>
            <a:off x="4730874" y="3352726"/>
            <a:ext cx="679214" cy="266402"/>
          </a:xfrm>
          <a:prstGeom prst="roundRect">
            <a:avLst>
              <a:gd name="adj" fmla="val 10726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47555" y="3402732"/>
            <a:ext cx="522052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Milvus</a:t>
            </a:r>
            <a:endParaRPr lang="en-US" sz="975" dirty="0"/>
          </a:p>
        </p:txBody>
      </p:sp>
      <p:sp>
        <p:nvSpPr>
          <p:cNvPr id="38" name="Shape 35"/>
          <p:cNvSpPr/>
          <p:nvPr/>
        </p:nvSpPr>
        <p:spPr>
          <a:xfrm>
            <a:off x="838088" y="3758282"/>
            <a:ext cx="6333939" cy="544711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9" name="Shape 36"/>
          <p:cNvSpPr/>
          <p:nvPr/>
        </p:nvSpPr>
        <p:spPr>
          <a:xfrm>
            <a:off x="838088" y="4291087"/>
            <a:ext cx="142875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0" name="Text 37"/>
          <p:cNvSpPr/>
          <p:nvPr/>
        </p:nvSpPr>
        <p:spPr>
          <a:xfrm>
            <a:off x="1047638" y="3872582"/>
            <a:ext cx="1085850" cy="3423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Retriever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2266838" y="4291087"/>
            <a:ext cx="4905189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2" name="Shape 39"/>
          <p:cNvSpPr/>
          <p:nvPr/>
        </p:nvSpPr>
        <p:spPr>
          <a:xfrm>
            <a:off x="2476314" y="3897437"/>
            <a:ext cx="604800" cy="266402"/>
          </a:xfrm>
          <a:prstGeom prst="roundRect">
            <a:avLst>
              <a:gd name="adj" fmla="val 10726"/>
            </a:avLst>
          </a:prstGeom>
          <a:solidFill>
            <a:srgbClr val="FFFFFF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592995" y="3947443"/>
            <a:ext cx="447638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naive</a:t>
            </a:r>
            <a:endParaRPr lang="en-US" sz="975" dirty="0"/>
          </a:p>
        </p:txBody>
      </p:sp>
      <p:sp>
        <p:nvSpPr>
          <p:cNvPr id="44" name="Shape 41"/>
          <p:cNvSpPr/>
          <p:nvPr/>
        </p:nvSpPr>
        <p:spPr>
          <a:xfrm>
            <a:off x="3128739" y="3897437"/>
            <a:ext cx="679214" cy="266402"/>
          </a:xfrm>
          <a:prstGeom prst="roundRect">
            <a:avLst>
              <a:gd name="adj" fmla="val 10726"/>
            </a:avLst>
          </a:prstGeom>
          <a:solidFill>
            <a:srgbClr val="FFFFFF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245421" y="3947443"/>
            <a:ext cx="522052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hybrid</a:t>
            </a:r>
            <a:endParaRPr lang="en-US" sz="975" dirty="0"/>
          </a:p>
        </p:txBody>
      </p:sp>
      <p:sp>
        <p:nvSpPr>
          <p:cNvPr id="46" name="Shape 43"/>
          <p:cNvSpPr/>
          <p:nvPr/>
        </p:nvSpPr>
        <p:spPr>
          <a:xfrm>
            <a:off x="838088" y="4302993"/>
            <a:ext cx="6333939" cy="5387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4"/>
          <p:cNvSpPr/>
          <p:nvPr/>
        </p:nvSpPr>
        <p:spPr>
          <a:xfrm>
            <a:off x="1047638" y="4417293"/>
            <a:ext cx="1085850" cy="34825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Reranker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2476314" y="4442147"/>
            <a:ext cx="530572" cy="266402"/>
          </a:xfrm>
          <a:prstGeom prst="roundRect">
            <a:avLst>
              <a:gd name="adj" fmla="val 10726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592995" y="4492154"/>
            <a:ext cx="373410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none</a:t>
            </a:r>
            <a:endParaRPr lang="en-US" sz="975" dirty="0"/>
          </a:p>
        </p:txBody>
      </p:sp>
      <p:sp>
        <p:nvSpPr>
          <p:cNvPr id="50" name="Shape 47"/>
          <p:cNvSpPr/>
          <p:nvPr/>
        </p:nvSpPr>
        <p:spPr>
          <a:xfrm>
            <a:off x="3054511" y="4442147"/>
            <a:ext cx="902084" cy="266402"/>
          </a:xfrm>
          <a:prstGeom prst="roundRect">
            <a:avLst>
              <a:gd name="adj" fmla="val 10726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171192" y="4492154"/>
            <a:ext cx="744922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flashrank</a:t>
            </a:r>
            <a:endParaRPr lang="en-US" sz="975" dirty="0"/>
          </a:p>
        </p:txBody>
      </p:sp>
      <p:sp>
        <p:nvSpPr>
          <p:cNvPr id="52" name="Shape 49"/>
          <p:cNvSpPr/>
          <p:nvPr/>
        </p:nvSpPr>
        <p:spPr>
          <a:xfrm>
            <a:off x="7514890" y="1692176"/>
            <a:ext cx="3838835" cy="3154226"/>
          </a:xfrm>
          <a:prstGeom prst="roundRect">
            <a:avLst>
              <a:gd name="adj" fmla="val 1812"/>
            </a:avLst>
          </a:prstGeom>
          <a:solidFill>
            <a:srgbClr val="1A1A1A"/>
          </a:solidFill>
          <a:ln/>
          <a:effectLst>
            <a:outerShdw blurRad="342900" dist="114300" dir="5400000" algn="bl" rotWithShape="0">
              <a:srgbClr val="1A1A1A">
                <a:alpha val="22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7762503" y="2158752"/>
            <a:ext cx="3343610" cy="11906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54" name="Text 51"/>
          <p:cNvSpPr/>
          <p:nvPr/>
        </p:nvSpPr>
        <p:spPr>
          <a:xfrm>
            <a:off x="7762503" y="1901651"/>
            <a:ext cx="3443918" cy="1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CONFIG.YAML</a:t>
            </a:r>
            <a:endParaRPr lang="en-US" sz="825" dirty="0"/>
          </a:p>
        </p:txBody>
      </p:sp>
      <p:sp>
        <p:nvSpPr>
          <p:cNvPr id="55" name="Text 52"/>
          <p:cNvSpPr/>
          <p:nvPr/>
        </p:nvSpPr>
        <p:spPr>
          <a:xfrm>
            <a:off x="7762503" y="2323021"/>
            <a:ext cx="3443918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125" dirty="0">
                <a:solidFill>
                  <a:srgbClr val="7DB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</a:t>
            </a:r>
            <a:r>
              <a:rPr lang="en-US" sz="1125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125" dirty="0"/>
          </a:p>
        </p:txBody>
      </p:sp>
      <p:sp>
        <p:nvSpPr>
          <p:cNvPr id="56" name="Text 53"/>
          <p:cNvSpPr/>
          <p:nvPr/>
        </p:nvSpPr>
        <p:spPr>
          <a:xfrm>
            <a:off x="7914903" y="2580122"/>
            <a:ext cx="3291518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125" dirty="0">
                <a:solidFill>
                  <a:srgbClr val="7DB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chunker</a:t>
            </a:r>
            <a:r>
              <a:rPr lang="en-US" sz="1125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125" dirty="0"/>
          </a:p>
        </p:txBody>
      </p:sp>
      <p:sp>
        <p:nvSpPr>
          <p:cNvPr id="57" name="Text 54"/>
          <p:cNvSpPr/>
          <p:nvPr/>
        </p:nvSpPr>
        <p:spPr>
          <a:xfrm>
            <a:off x="8067303" y="2837222"/>
            <a:ext cx="3139118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125" dirty="0">
                <a:solidFill>
                  <a:srgbClr val="7DB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strategy</a:t>
            </a:r>
            <a:r>
              <a:rPr lang="en-US" sz="1125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125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recursive</a:t>
            </a:r>
            <a:endParaRPr lang="en-US" sz="1125" dirty="0"/>
          </a:p>
        </p:txBody>
      </p:sp>
      <p:sp>
        <p:nvSpPr>
          <p:cNvPr id="58" name="Text 55"/>
          <p:cNvSpPr/>
          <p:nvPr/>
        </p:nvSpPr>
        <p:spPr>
          <a:xfrm>
            <a:off x="7914903" y="3094323"/>
            <a:ext cx="3291518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125" dirty="0">
                <a:solidFill>
                  <a:srgbClr val="7DB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embedder</a:t>
            </a:r>
            <a:r>
              <a:rPr lang="en-US" sz="1125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125" dirty="0"/>
          </a:p>
        </p:txBody>
      </p:sp>
      <p:sp>
        <p:nvSpPr>
          <p:cNvPr id="59" name="Text 56"/>
          <p:cNvSpPr/>
          <p:nvPr/>
        </p:nvSpPr>
        <p:spPr>
          <a:xfrm>
            <a:off x="8067303" y="3351423"/>
            <a:ext cx="3139118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125" dirty="0">
                <a:solidFill>
                  <a:srgbClr val="7DB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strategy</a:t>
            </a:r>
            <a:r>
              <a:rPr lang="en-US" sz="1125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125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huggingface</a:t>
            </a:r>
            <a:endParaRPr lang="en-US" sz="1125" dirty="0"/>
          </a:p>
        </p:txBody>
      </p:sp>
      <p:sp>
        <p:nvSpPr>
          <p:cNvPr id="60" name="Text 57"/>
          <p:cNvSpPr/>
          <p:nvPr/>
        </p:nvSpPr>
        <p:spPr>
          <a:xfrm>
            <a:off x="7914903" y="3608524"/>
            <a:ext cx="3291518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125" dirty="0">
                <a:solidFill>
                  <a:srgbClr val="7DB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vector_store</a:t>
            </a:r>
            <a:r>
              <a:rPr lang="en-US" sz="1125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125" dirty="0"/>
          </a:p>
        </p:txBody>
      </p:sp>
      <p:sp>
        <p:nvSpPr>
          <p:cNvPr id="61" name="Shape 58"/>
          <p:cNvSpPr/>
          <p:nvPr/>
        </p:nvSpPr>
        <p:spPr>
          <a:xfrm>
            <a:off x="7734040" y="3865625"/>
            <a:ext cx="3372073" cy="257101"/>
          </a:xfrm>
          <a:prstGeom prst="roundRect">
            <a:avLst>
              <a:gd name="adj" fmla="val 7410"/>
            </a:avLst>
          </a:prstGeom>
          <a:solidFill>
            <a:srgbClr val="BDD248">
              <a:alpha val="15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7734040" y="3865625"/>
            <a:ext cx="23813" cy="25710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63" name="Text 60"/>
          <p:cNvSpPr/>
          <p:nvPr/>
        </p:nvSpPr>
        <p:spPr>
          <a:xfrm>
            <a:off x="8034077" y="3865625"/>
            <a:ext cx="3173198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125" dirty="0">
                <a:solidFill>
                  <a:srgbClr val="7DB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strategy</a:t>
            </a:r>
            <a:r>
              <a:rPr lang="en-US" sz="1125" dirty="0">
                <a:solidFill>
                  <a:srgbClr val="CDD3E0"/>
                </a:solidFill>
                <a:highlight>
                  <a:srgbClr val="F5F8E4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125" b="1" dirty="0">
                <a:solidFill>
                  <a:srgbClr val="D0E8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qdrant</a:t>
            </a:r>
            <a:endParaRPr lang="en-US" sz="1125" dirty="0"/>
          </a:p>
        </p:txBody>
      </p:sp>
      <p:sp>
        <p:nvSpPr>
          <p:cNvPr id="64" name="Text 61"/>
          <p:cNvSpPr/>
          <p:nvPr/>
        </p:nvSpPr>
        <p:spPr>
          <a:xfrm>
            <a:off x="7914903" y="4122725"/>
            <a:ext cx="3291518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125" dirty="0">
                <a:solidFill>
                  <a:srgbClr val="7DB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retriever</a:t>
            </a:r>
            <a:r>
              <a:rPr lang="en-US" sz="1125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125" dirty="0"/>
          </a:p>
        </p:txBody>
      </p:sp>
      <p:sp>
        <p:nvSpPr>
          <p:cNvPr id="65" name="Text 62"/>
          <p:cNvSpPr/>
          <p:nvPr/>
        </p:nvSpPr>
        <p:spPr>
          <a:xfrm>
            <a:off x="8067303" y="4379826"/>
            <a:ext cx="3139118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125" dirty="0">
                <a:solidFill>
                  <a:srgbClr val="7DB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strategy</a:t>
            </a:r>
            <a:r>
              <a:rPr lang="en-US" sz="1125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125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hybrid</a:t>
            </a:r>
            <a:endParaRPr lang="en-US" sz="1125" dirty="0"/>
          </a:p>
        </p:txBody>
      </p:sp>
      <p:sp>
        <p:nvSpPr>
          <p:cNvPr id="66" name="Shape 63"/>
          <p:cNvSpPr/>
          <p:nvPr/>
        </p:nvSpPr>
        <p:spPr>
          <a:xfrm>
            <a:off x="838088" y="5772485"/>
            <a:ext cx="10515823" cy="476064"/>
          </a:xfrm>
          <a:prstGeom prst="roundRect">
            <a:avLst>
              <a:gd name="adj" fmla="val 6002"/>
            </a:avLst>
          </a:prstGeom>
          <a:solidFill>
            <a:srgbClr val="2A2A2A"/>
          </a:solidFill>
          <a:ln/>
        </p:spPr>
      </p:sp>
      <p:sp>
        <p:nvSpPr>
          <p:cNvPr id="67" name="Shape 64"/>
          <p:cNvSpPr/>
          <p:nvPr/>
        </p:nvSpPr>
        <p:spPr>
          <a:xfrm>
            <a:off x="1028588" y="5884478"/>
            <a:ext cx="852227" cy="252078"/>
          </a:xfrm>
          <a:prstGeom prst="roundRect">
            <a:avLst>
              <a:gd name="adj" fmla="val 7557"/>
            </a:avLst>
          </a:prstGeom>
          <a:solidFill>
            <a:srgbClr val="BDD248">
              <a:alpha val="12000"/>
            </a:srgbClr>
          </a:solidFill>
          <a:ln w="11906">
            <a:solidFill>
              <a:srgbClr val="BDD248">
                <a:alpha val="30000"/>
              </a:srgbClr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1135745" y="5924959"/>
            <a:ext cx="714115" cy="209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b="1" kern="0" spc="18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Mécanisme</a:t>
            </a:r>
            <a:endParaRPr lang="en-US" sz="900" dirty="0"/>
          </a:p>
        </p:txBody>
      </p:sp>
      <p:sp>
        <p:nvSpPr>
          <p:cNvPr id="69" name="Text 66"/>
          <p:cNvSpPr/>
          <p:nvPr/>
        </p:nvSpPr>
        <p:spPr>
          <a:xfrm>
            <a:off x="1956904" y="5896198"/>
            <a:ext cx="169962" cy="266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kern="0" spc="18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</a:t>
            </a:r>
            <a:endParaRPr lang="en-US" sz="1200" dirty="0"/>
          </a:p>
        </p:txBody>
      </p:sp>
      <p:sp>
        <p:nvSpPr>
          <p:cNvPr id="70" name="Shape 67"/>
          <p:cNvSpPr/>
          <p:nvPr/>
        </p:nvSpPr>
        <p:spPr>
          <a:xfrm>
            <a:off x="2126754" y="5884478"/>
            <a:ext cx="852227" cy="252078"/>
          </a:xfrm>
          <a:prstGeom prst="roundRect">
            <a:avLst>
              <a:gd name="adj" fmla="val 7557"/>
            </a:avLst>
          </a:prstGeom>
          <a:solidFill>
            <a:srgbClr val="BDD248">
              <a:alpha val="12000"/>
            </a:srgbClr>
          </a:solidFill>
          <a:ln w="11906">
            <a:solidFill>
              <a:srgbClr val="BDD248">
                <a:alpha val="30000"/>
              </a:srgbClr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2233910" y="5924959"/>
            <a:ext cx="714115" cy="209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b="1" kern="0" spc="18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Catalogue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3112182" y="5877223"/>
            <a:ext cx="18976" cy="266588"/>
          </a:xfrm>
          <a:prstGeom prst="roundRect">
            <a:avLst>
              <a:gd name="adj" fmla="val 49999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3" name="Text 70"/>
          <p:cNvSpPr/>
          <p:nvPr/>
        </p:nvSpPr>
        <p:spPr>
          <a:xfrm>
            <a:off x="3264359" y="5917592"/>
            <a:ext cx="2807847" cy="2239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 b="1" kern="0" spc="18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= composants réellement interchangeables</a:t>
            </a:r>
            <a:endParaRPr lang="en-US" sz="975" dirty="0"/>
          </a:p>
        </p:txBody>
      </p:sp>
      <p:sp>
        <p:nvSpPr>
          <p:cNvPr id="74" name="Text 71"/>
          <p:cNvSpPr/>
          <p:nvPr/>
        </p:nvSpPr>
        <p:spPr>
          <a:xfrm>
            <a:off x="8106482" y="5931917"/>
            <a:ext cx="3362623" cy="195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25" kern="0" spc="18" dirty="0">
                <a:solidFill>
                  <a:srgbClr val="FFFFFF">
                    <a:alpha val="3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← slide précédente : le mécanisme de chargement</a:t>
            </a:r>
            <a:endParaRPr lang="en-US" sz="825" dirty="0"/>
          </a:p>
        </p:txBody>
      </p:sp>
      <p:sp>
        <p:nvSpPr>
          <p:cNvPr id="75" name="Text 72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76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77" name="Text 73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10</a:t>
            </a:r>
            <a:endParaRPr lang="en-US" sz="9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70538" cy="6858000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3" name="Shape 1"/>
          <p:cNvSpPr/>
          <p:nvPr/>
        </p:nvSpPr>
        <p:spPr>
          <a:xfrm>
            <a:off x="342863" y="276076"/>
            <a:ext cx="85576" cy="1237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" name="Text 2"/>
          <p:cNvSpPr/>
          <p:nvPr/>
        </p:nvSpPr>
        <p:spPr>
          <a:xfrm>
            <a:off x="514015" y="266588"/>
            <a:ext cx="185953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3" kern="0" spc="121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COMPOSANTS · CATALOGUE</a:t>
            </a:r>
            <a:endParaRPr lang="en-US" sz="863" dirty="0"/>
          </a:p>
        </p:txBody>
      </p:sp>
      <p:sp>
        <p:nvSpPr>
          <p:cNvPr id="5" name="Text 3"/>
          <p:cNvSpPr/>
          <p:nvPr/>
        </p:nvSpPr>
        <p:spPr>
          <a:xfrm>
            <a:off x="342863" y="523689"/>
            <a:ext cx="548329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-5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en </a:t>
            </a:r>
            <a:r>
              <a:rPr lang="en-US" sz="2550" b="1" kern="0" spc="-51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ligne </a:t>
            </a:r>
            <a:r>
              <a:rPr lang="en-US" sz="2550" b="1" kern="0" spc="-5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342863" y="1348569"/>
            <a:ext cx="4984812" cy="11906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42863" y="1171389"/>
            <a:ext cx="1175668" cy="150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kern="0" spc="90" dirty="0">
                <a:solidFill>
                  <a:srgbClr val="BDD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CATÉGORIE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442331" y="1171389"/>
            <a:ext cx="4001905" cy="150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kern="0" spc="90" dirty="0">
                <a:solidFill>
                  <a:srgbClr val="54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OPTIONS DISPONIBLES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42863" y="1805471"/>
            <a:ext cx="4984812" cy="11906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42863" y="1455725"/>
            <a:ext cx="1175668" cy="304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Chunker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1442331" y="1461678"/>
            <a:ext cx="831577" cy="254496"/>
          </a:xfrm>
          <a:prstGeom prst="roundRect">
            <a:avLst>
              <a:gd name="adj" fmla="val 11228"/>
            </a:avLst>
          </a:prstGeom>
          <a:solidFill>
            <a:srgbClr val="FFFFFF">
              <a:alpha val="6000"/>
            </a:srgbClr>
          </a:solidFill>
          <a:ln w="11906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49487" y="1511684"/>
            <a:ext cx="693465" cy="192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CD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recursive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14463" y="1461678"/>
            <a:ext cx="763116" cy="254496"/>
          </a:xfrm>
          <a:prstGeom prst="roundRect">
            <a:avLst>
              <a:gd name="adj" fmla="val 11228"/>
            </a:avLst>
          </a:prstGeom>
          <a:solidFill>
            <a:srgbClr val="FFFFFF">
              <a:alpha val="6000"/>
            </a:srgbClr>
          </a:solidFill>
          <a:ln w="11906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1620" y="1511684"/>
            <a:ext cx="625004" cy="192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CD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2863" y="2262374"/>
            <a:ext cx="4984812" cy="11906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42863" y="1912627"/>
            <a:ext cx="1175668" cy="304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Embedder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1442331" y="1918581"/>
            <a:ext cx="968871" cy="254496"/>
          </a:xfrm>
          <a:prstGeom prst="roundRect">
            <a:avLst>
              <a:gd name="adj" fmla="val 11228"/>
            </a:avLst>
          </a:prstGeom>
          <a:solidFill>
            <a:srgbClr val="FFFFFF">
              <a:alpha val="6000"/>
            </a:srgbClr>
          </a:solidFill>
          <a:ln w="11906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49487" y="1968587"/>
            <a:ext cx="830759" cy="192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CD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huggingface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51757" y="1918581"/>
            <a:ext cx="831577" cy="254496"/>
          </a:xfrm>
          <a:prstGeom prst="roundRect">
            <a:avLst>
              <a:gd name="adj" fmla="val 11228"/>
            </a:avLst>
          </a:prstGeom>
          <a:solidFill>
            <a:srgbClr val="FFFFFF">
              <a:alpha val="6000"/>
            </a:srgbClr>
          </a:solidFill>
          <a:ln w="11906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58914" y="1968587"/>
            <a:ext cx="693465" cy="192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CD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fastembed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2863" y="2719276"/>
            <a:ext cx="4984812" cy="11906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42863" y="2369530"/>
            <a:ext cx="1175668" cy="304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1442331" y="2375483"/>
            <a:ext cx="557361" cy="254496"/>
          </a:xfrm>
          <a:prstGeom prst="roundRect">
            <a:avLst>
              <a:gd name="adj" fmla="val 11228"/>
            </a:avLst>
          </a:prstGeom>
          <a:solidFill>
            <a:srgbClr val="BDD248">
              <a:alpha val="12000"/>
            </a:srgbClr>
          </a:solidFill>
          <a:ln w="11906">
            <a:solidFill>
              <a:srgbClr val="BDD248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49487" y="2425489"/>
            <a:ext cx="419249" cy="192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DD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FAISS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40248" y="2375483"/>
            <a:ext cx="763116" cy="254496"/>
          </a:xfrm>
          <a:prstGeom prst="roundRect">
            <a:avLst>
              <a:gd name="adj" fmla="val 11228"/>
            </a:avLst>
          </a:prstGeom>
          <a:solidFill>
            <a:srgbClr val="FFFFFF">
              <a:alpha val="6000"/>
            </a:srgbClr>
          </a:solidFill>
          <a:ln w="11906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47404" y="2425489"/>
            <a:ext cx="625004" cy="192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CD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ChromaDB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843919" y="2375483"/>
            <a:ext cx="625822" cy="254496"/>
          </a:xfrm>
          <a:prstGeom prst="roundRect">
            <a:avLst>
              <a:gd name="adj" fmla="val 11228"/>
            </a:avLst>
          </a:prstGeom>
          <a:solidFill>
            <a:srgbClr val="FFFFFF">
              <a:alpha val="6000"/>
            </a:srgbClr>
          </a:solidFill>
          <a:ln w="11906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51076" y="2425489"/>
            <a:ext cx="487710" cy="192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CD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Qdrant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510297" y="2375483"/>
            <a:ext cx="625822" cy="254496"/>
          </a:xfrm>
          <a:prstGeom prst="roundRect">
            <a:avLst>
              <a:gd name="adj" fmla="val 11228"/>
            </a:avLst>
          </a:prstGeom>
          <a:solidFill>
            <a:srgbClr val="FFFFFF">
              <a:alpha val="6000"/>
            </a:srgbClr>
          </a:solidFill>
          <a:ln w="11906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17454" y="2425489"/>
            <a:ext cx="487710" cy="192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CD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Milvus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2863" y="3176178"/>
            <a:ext cx="4984812" cy="11906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42863" y="2826432"/>
            <a:ext cx="1175668" cy="304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Retriever</a:t>
            </a:r>
            <a:endParaRPr lang="en-US" sz="1125" dirty="0"/>
          </a:p>
        </p:txBody>
      </p:sp>
      <p:sp>
        <p:nvSpPr>
          <p:cNvPr id="33" name="Shape 31"/>
          <p:cNvSpPr/>
          <p:nvPr/>
        </p:nvSpPr>
        <p:spPr>
          <a:xfrm>
            <a:off x="1442331" y="2832385"/>
            <a:ext cx="557361" cy="254496"/>
          </a:xfrm>
          <a:prstGeom prst="roundRect">
            <a:avLst>
              <a:gd name="adj" fmla="val 11228"/>
            </a:avLst>
          </a:prstGeom>
          <a:solidFill>
            <a:srgbClr val="FFFFFF">
              <a:alpha val="6000"/>
            </a:srgbClr>
          </a:solidFill>
          <a:ln w="11906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49487" y="2882392"/>
            <a:ext cx="419249" cy="192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CD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naive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040248" y="2832385"/>
            <a:ext cx="625822" cy="254496"/>
          </a:xfrm>
          <a:prstGeom prst="roundRect">
            <a:avLst>
              <a:gd name="adj" fmla="val 11228"/>
            </a:avLst>
          </a:prstGeom>
          <a:solidFill>
            <a:srgbClr val="FFFFFF">
              <a:alpha val="6000"/>
            </a:srgbClr>
          </a:solidFill>
          <a:ln w="11906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47404" y="2882392"/>
            <a:ext cx="487710" cy="192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CD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863" y="3283334"/>
            <a:ext cx="1175668" cy="298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Reranker</a:t>
            </a:r>
            <a:endParaRPr lang="en-US" sz="1125" dirty="0"/>
          </a:p>
        </p:txBody>
      </p:sp>
      <p:sp>
        <p:nvSpPr>
          <p:cNvPr id="38" name="Shape 36"/>
          <p:cNvSpPr/>
          <p:nvPr/>
        </p:nvSpPr>
        <p:spPr>
          <a:xfrm>
            <a:off x="1442331" y="3289288"/>
            <a:ext cx="488714" cy="254496"/>
          </a:xfrm>
          <a:prstGeom prst="roundRect">
            <a:avLst>
              <a:gd name="adj" fmla="val 11228"/>
            </a:avLst>
          </a:prstGeom>
          <a:solidFill>
            <a:srgbClr val="FFFFFF">
              <a:alpha val="6000"/>
            </a:srgbClr>
          </a:solidFill>
          <a:ln w="11906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549487" y="3339294"/>
            <a:ext cx="350602" cy="192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CD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971601" y="3289288"/>
            <a:ext cx="831577" cy="254496"/>
          </a:xfrm>
          <a:prstGeom prst="roundRect">
            <a:avLst>
              <a:gd name="adj" fmla="val 11228"/>
            </a:avLst>
          </a:prstGeom>
          <a:solidFill>
            <a:srgbClr val="FFFFFF">
              <a:alpha val="6000"/>
            </a:srgbClr>
          </a:solidFill>
          <a:ln w="11906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78757" y="3339294"/>
            <a:ext cx="693465" cy="192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CD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flashrank</a:t>
            </a:r>
            <a:endParaRPr lang="en-US" sz="900" dirty="0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342863" y="6353287"/>
            <a:ext cx="216917" cy="19050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5670538" y="0"/>
            <a:ext cx="6521276" cy="6858000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44" name="Shape 41"/>
          <p:cNvSpPr/>
          <p:nvPr/>
        </p:nvSpPr>
        <p:spPr>
          <a:xfrm>
            <a:off x="6051538" y="1868351"/>
            <a:ext cx="5759276" cy="11906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45" name="Text 42"/>
          <p:cNvSpPr/>
          <p:nvPr/>
        </p:nvSpPr>
        <p:spPr>
          <a:xfrm>
            <a:off x="6051538" y="1570881"/>
            <a:ext cx="5932055" cy="221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825" kern="0" spc="83" dirty="0">
                <a:solidFill>
                  <a:srgbClr val="54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CONFIG.YAML</a:t>
            </a:r>
            <a:endParaRPr lang="en-US" sz="825" dirty="0"/>
          </a:p>
        </p:txBody>
      </p:sp>
      <p:sp>
        <p:nvSpPr>
          <p:cNvPr id="46" name="Text 43"/>
          <p:cNvSpPr/>
          <p:nvPr/>
        </p:nvSpPr>
        <p:spPr>
          <a:xfrm>
            <a:off x="6051538" y="2032620"/>
            <a:ext cx="5932055" cy="342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dirty="0">
                <a:solidFill>
                  <a:srgbClr val="7DB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</a:t>
            </a:r>
            <a:r>
              <a:rPr lang="en-US" sz="1200" dirty="0">
                <a:solidFill>
                  <a:srgbClr val="CD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6242038" y="2337346"/>
            <a:ext cx="5741555" cy="342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dirty="0">
                <a:solidFill>
                  <a:srgbClr val="7DB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chunker</a:t>
            </a:r>
            <a:r>
              <a:rPr lang="en-US" sz="1200" dirty="0">
                <a:solidFill>
                  <a:srgbClr val="CD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6432538" y="2642071"/>
            <a:ext cx="5551055" cy="342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dirty="0">
                <a:solidFill>
                  <a:srgbClr val="7DB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r>
              <a:rPr lang="en-US" sz="1200" dirty="0">
                <a:solidFill>
                  <a:srgbClr val="CD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00" dirty="0">
                <a:solidFill>
                  <a:srgbClr val="BDD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recursive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6242038" y="2946797"/>
            <a:ext cx="5741555" cy="342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dirty="0">
                <a:solidFill>
                  <a:srgbClr val="7DB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embedder</a:t>
            </a:r>
            <a:r>
              <a:rPr lang="en-US" sz="1200" dirty="0">
                <a:solidFill>
                  <a:srgbClr val="CD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6432538" y="3251522"/>
            <a:ext cx="5551055" cy="342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dirty="0">
                <a:solidFill>
                  <a:srgbClr val="7DB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r>
              <a:rPr lang="en-US" sz="1200" dirty="0">
                <a:solidFill>
                  <a:srgbClr val="CD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00" dirty="0">
                <a:solidFill>
                  <a:srgbClr val="BDD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huggingface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6242038" y="3556248"/>
            <a:ext cx="5741555" cy="342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dirty="0">
                <a:solidFill>
                  <a:srgbClr val="7DB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vector_store</a:t>
            </a:r>
            <a:r>
              <a:rPr lang="en-US" sz="1200" dirty="0">
                <a:solidFill>
                  <a:srgbClr val="CD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6023074" y="3860974"/>
            <a:ext cx="5787740" cy="316632"/>
          </a:xfrm>
          <a:prstGeom prst="roundRect">
            <a:avLst>
              <a:gd name="adj" fmla="val 6016"/>
            </a:avLst>
          </a:prstGeom>
          <a:solidFill>
            <a:srgbClr val="BDD248">
              <a:alpha val="15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6023074" y="3860974"/>
            <a:ext cx="23813" cy="316632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54" name="Text 51"/>
          <p:cNvSpPr/>
          <p:nvPr/>
        </p:nvSpPr>
        <p:spPr>
          <a:xfrm>
            <a:off x="6427887" y="3860974"/>
            <a:ext cx="5556559" cy="354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dirty="0">
                <a:solidFill>
                  <a:srgbClr val="7DB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r>
              <a:rPr lang="en-US" sz="1200" dirty="0">
                <a:solidFill>
                  <a:srgbClr val="CDD3E0"/>
                </a:solidFill>
                <a:highlight>
                  <a:srgbClr val="F5F8E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00" b="1" dirty="0">
                <a:solidFill>
                  <a:srgbClr val="BDD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qdrant </a:t>
            </a:r>
            <a:r>
              <a:rPr lang="en-US" sz="900" dirty="0">
                <a:solidFill>
                  <a:srgbClr val="8FA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changer ici suffit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6242038" y="4177605"/>
            <a:ext cx="5741555" cy="342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dirty="0">
                <a:solidFill>
                  <a:srgbClr val="7DB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retriever</a:t>
            </a:r>
            <a:r>
              <a:rPr lang="en-US" sz="1200" dirty="0">
                <a:solidFill>
                  <a:srgbClr val="CD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6432538" y="4482331"/>
            <a:ext cx="5551055" cy="342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dirty="0">
                <a:solidFill>
                  <a:srgbClr val="7DB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r>
              <a:rPr lang="en-US" sz="1200" dirty="0">
                <a:solidFill>
                  <a:srgbClr val="CD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00" dirty="0">
                <a:solidFill>
                  <a:srgbClr val="BDD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6051538" y="4977557"/>
            <a:ext cx="5759276" cy="11906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58" name="Text 55"/>
          <p:cNvSpPr/>
          <p:nvPr/>
        </p:nvSpPr>
        <p:spPr>
          <a:xfrm>
            <a:off x="6051538" y="5103763"/>
            <a:ext cx="5932055" cy="221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825" kern="0" spc="66" dirty="0">
                <a:solidFill>
                  <a:srgbClr val="54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 de Fin d'Études · Pipeline MLOps générique</a:t>
            </a:r>
            <a:endParaRPr lang="en-US" sz="825" dirty="0"/>
          </a:p>
        </p:txBody>
      </p:sp>
    </p:spTree>
    <p:extLst>
      <p:ext uri="{BB962C8B-B14F-4D97-AF65-F5344CB8AC3E}">
        <p14:creationId xmlns:p14="http://schemas.microsoft.com/office/powerpoint/2010/main" val="23783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2A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1238250" cy="2286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37" y="2286000"/>
            <a:ext cx="1238250" cy="2286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743088" y="2145543"/>
            <a:ext cx="947190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PARTIE 4 · 04 / 04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2743088" y="2464594"/>
            <a:ext cx="7793606" cy="1238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cœur du projet — les services OPS</a:t>
            </a:r>
            <a:endParaRPr lang="en-US" sz="4500" dirty="0"/>
          </a:p>
        </p:txBody>
      </p:sp>
      <p:sp>
        <p:nvSpPr>
          <p:cNvPr id="7" name="Shape 3"/>
          <p:cNvSpPr/>
          <p:nvPr/>
        </p:nvSpPr>
        <p:spPr>
          <a:xfrm>
            <a:off x="2743088" y="3931109"/>
            <a:ext cx="685726" cy="57113"/>
          </a:xfrm>
          <a:prstGeom prst="roundRect">
            <a:avLst>
              <a:gd name="adj" fmla="val 50000"/>
            </a:avLst>
          </a:prstGeom>
          <a:solidFill>
            <a:srgbClr val="BDD248"/>
          </a:solidFill>
          <a:ln/>
        </p:spPr>
      </p:sp>
      <p:sp>
        <p:nvSpPr>
          <p:cNvPr id="8" name="Text 4"/>
          <p:cNvSpPr/>
          <p:nvPr/>
        </p:nvSpPr>
        <p:spPr>
          <a:xfrm>
            <a:off x="2743088" y="4197697"/>
            <a:ext cx="3602385" cy="552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9AA5B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Tracking, monitoring, conteneurisation, CI/CT : l'industrialisation.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913377" y="2230841"/>
            <a:ext cx="4203688" cy="2434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000"/>
              </a:lnSpc>
              <a:buNone/>
            </a:pPr>
            <a:r>
              <a:rPr lang="en-US" sz="25500" b="1" kern="0" spc="-1020" dirty="0">
                <a:solidFill>
                  <a:srgbClr val="BDD248">
                    <a:alpha val="8000"/>
                  </a:srgbClr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04</a:t>
            </a:r>
            <a:endParaRPr lang="en-US" sz="25500" dirty="0"/>
          </a:p>
        </p:txBody>
      </p:sp>
      <p:sp>
        <p:nvSpPr>
          <p:cNvPr id="10" name="Text 6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AA5B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1180341" y="6418585"/>
            <a:ext cx="173571" cy="15236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171982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POURQUOI MLOPS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65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850" b="1" kern="0" spc="-57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modèle ML n’est que la </a:t>
            </a:r>
            <a:r>
              <a:rPr lang="en-US" sz="2850" b="1" kern="0" spc="-57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partie émergée</a:t>
            </a:r>
            <a:endParaRPr lang="en-US" sz="2850" dirty="0"/>
          </a:p>
        </p:txBody>
      </p:sp>
      <p:sp>
        <p:nvSpPr>
          <p:cNvPr id="6" name="Shape 3"/>
          <p:cNvSpPr/>
          <p:nvPr/>
        </p:nvSpPr>
        <p:spPr>
          <a:xfrm>
            <a:off x="838088" y="1517303"/>
            <a:ext cx="10515823" cy="2423852"/>
          </a:xfrm>
          <a:prstGeom prst="roundRect">
            <a:avLst>
              <a:gd name="adj" fmla="val 5502"/>
            </a:avLst>
          </a:prstGeom>
          <a:solidFill>
            <a:srgbClr val="F7F7F7"/>
          </a:solidFill>
          <a:ln w="11906">
            <a:solidFill>
              <a:srgbClr val="CFCFC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0495" y="1424471"/>
            <a:ext cx="1920255" cy="194965"/>
          </a:xfrm>
          <a:prstGeom prst="roundRect">
            <a:avLst>
              <a:gd name="adj" fmla="val 19542"/>
            </a:avLst>
          </a:prstGeom>
          <a:solidFill>
            <a:srgbClr val="2A2A2A"/>
          </a:solidFill>
          <a:ln/>
        </p:spPr>
      </p:sp>
      <p:sp>
        <p:nvSpPr>
          <p:cNvPr id="8" name="Text 5"/>
          <p:cNvSpPr/>
          <p:nvPr/>
        </p:nvSpPr>
        <p:spPr>
          <a:xfrm>
            <a:off x="1154795" y="1462571"/>
            <a:ext cx="1767855" cy="156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105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SYSTÈME ML EN PRODUCTION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1040495" y="1776822"/>
            <a:ext cx="2456222" cy="590476"/>
          </a:xfrm>
          <a:prstGeom prst="roundRect">
            <a:avLst>
              <a:gd name="adj" fmla="val 12905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28601" y="1788728"/>
            <a:ext cx="2280010" cy="604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52525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Config</a:t>
            </a:r>
            <a:endParaRPr lang="en-US" sz="1013" dirty="0"/>
          </a:p>
        </p:txBody>
      </p:sp>
      <p:sp>
        <p:nvSpPr>
          <p:cNvPr id="11" name="Shape 8"/>
          <p:cNvSpPr/>
          <p:nvPr/>
        </p:nvSpPr>
        <p:spPr>
          <a:xfrm>
            <a:off x="3591967" y="1776822"/>
            <a:ext cx="2456408" cy="590476"/>
          </a:xfrm>
          <a:prstGeom prst="roundRect">
            <a:avLst>
              <a:gd name="adj" fmla="val 12905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80073" y="1788728"/>
            <a:ext cx="2280196" cy="604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52525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Collecte de données</a:t>
            </a:r>
            <a:endParaRPr lang="en-US" sz="1013" dirty="0"/>
          </a:p>
        </p:txBody>
      </p:sp>
      <p:sp>
        <p:nvSpPr>
          <p:cNvPr id="13" name="Shape 10"/>
          <p:cNvSpPr/>
          <p:nvPr/>
        </p:nvSpPr>
        <p:spPr>
          <a:xfrm>
            <a:off x="6143625" y="1776822"/>
            <a:ext cx="2456222" cy="590476"/>
          </a:xfrm>
          <a:prstGeom prst="roundRect">
            <a:avLst>
              <a:gd name="adj" fmla="val 12905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31731" y="1788728"/>
            <a:ext cx="2280010" cy="604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52525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Vérification données</a:t>
            </a:r>
            <a:endParaRPr lang="en-US" sz="1013" dirty="0"/>
          </a:p>
        </p:txBody>
      </p:sp>
      <p:sp>
        <p:nvSpPr>
          <p:cNvPr id="15" name="Shape 12"/>
          <p:cNvSpPr/>
          <p:nvPr/>
        </p:nvSpPr>
        <p:spPr>
          <a:xfrm>
            <a:off x="8695097" y="1776822"/>
            <a:ext cx="2456408" cy="590476"/>
          </a:xfrm>
          <a:prstGeom prst="roundRect">
            <a:avLst>
              <a:gd name="adj" fmla="val 12905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83203" y="1788728"/>
            <a:ext cx="2280196" cy="604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52525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Feature extraction</a:t>
            </a:r>
            <a:endParaRPr lang="en-US" sz="1013" dirty="0"/>
          </a:p>
        </p:txBody>
      </p:sp>
      <p:sp>
        <p:nvSpPr>
          <p:cNvPr id="17" name="Shape 14"/>
          <p:cNvSpPr/>
          <p:nvPr/>
        </p:nvSpPr>
        <p:spPr>
          <a:xfrm>
            <a:off x="1040495" y="2462547"/>
            <a:ext cx="4302993" cy="590476"/>
          </a:xfrm>
          <a:prstGeom prst="roundRect">
            <a:avLst>
              <a:gd name="adj" fmla="val 12905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02156" y="2474454"/>
            <a:ext cx="4179670" cy="604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52525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Gestion des ressources</a:t>
            </a:r>
            <a:endParaRPr lang="en-US" sz="1013" dirty="0"/>
          </a:p>
        </p:txBody>
      </p:sp>
      <p:sp>
        <p:nvSpPr>
          <p:cNvPr id="19" name="Shape 16"/>
          <p:cNvSpPr/>
          <p:nvPr/>
        </p:nvSpPr>
        <p:spPr>
          <a:xfrm>
            <a:off x="5438738" y="2557797"/>
            <a:ext cx="1314338" cy="399976"/>
          </a:xfrm>
          <a:prstGeom prst="roundRect">
            <a:avLst>
              <a:gd name="adj" fmla="val 19051"/>
            </a:avLst>
          </a:prstGeom>
          <a:solidFill>
            <a:srgbClr val="2A2A2A"/>
          </a:solidFill>
          <a:ln w="11906">
            <a:solidFill>
              <a:srgbClr val="8FA82E"/>
            </a:solidFill>
            <a:prstDash val="solid"/>
          </a:ln>
          <a:effectLst>
            <a:outerShdw blurRad="152400" dist="5715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661422" y="2627933"/>
            <a:ext cx="944984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00" kern="0" spc="96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 SEUL CODE ML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5763927" y="2744577"/>
            <a:ext cx="74015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kern="0" spc="1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CODE ML</a:t>
            </a:r>
            <a:endParaRPr lang="en-US" sz="1125" dirty="0"/>
          </a:p>
        </p:txBody>
      </p:sp>
      <p:sp>
        <p:nvSpPr>
          <p:cNvPr id="22" name="Shape 19"/>
          <p:cNvSpPr/>
          <p:nvPr/>
        </p:nvSpPr>
        <p:spPr>
          <a:xfrm>
            <a:off x="6848326" y="2462547"/>
            <a:ext cx="4303179" cy="590476"/>
          </a:xfrm>
          <a:prstGeom prst="roundRect">
            <a:avLst>
              <a:gd name="adj" fmla="val 12905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09985" y="2474454"/>
            <a:ext cx="4179862" cy="604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52525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Serving</a:t>
            </a:r>
            <a:endParaRPr lang="en-US" sz="1013" dirty="0"/>
          </a:p>
        </p:txBody>
      </p:sp>
      <p:sp>
        <p:nvSpPr>
          <p:cNvPr id="24" name="Shape 21"/>
          <p:cNvSpPr/>
          <p:nvPr/>
        </p:nvSpPr>
        <p:spPr>
          <a:xfrm>
            <a:off x="1040495" y="3148273"/>
            <a:ext cx="3306775" cy="590476"/>
          </a:xfrm>
          <a:prstGeom prst="roundRect">
            <a:avLst>
              <a:gd name="adj" fmla="val 12905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17099" y="3160179"/>
            <a:ext cx="3153566" cy="604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52525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Monitoring</a:t>
            </a:r>
            <a:endParaRPr lang="en-US" sz="1013" dirty="0"/>
          </a:p>
        </p:txBody>
      </p:sp>
      <p:sp>
        <p:nvSpPr>
          <p:cNvPr id="26" name="Shape 23"/>
          <p:cNvSpPr/>
          <p:nvPr/>
        </p:nvSpPr>
        <p:spPr>
          <a:xfrm>
            <a:off x="4442520" y="3148273"/>
            <a:ext cx="3306961" cy="590476"/>
          </a:xfrm>
          <a:prstGeom prst="roundRect">
            <a:avLst>
              <a:gd name="adj" fmla="val 12905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19121" y="3160179"/>
            <a:ext cx="3153757" cy="604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52525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Tracking</a:t>
            </a:r>
            <a:endParaRPr lang="en-US" sz="1013" dirty="0"/>
          </a:p>
        </p:txBody>
      </p:sp>
      <p:sp>
        <p:nvSpPr>
          <p:cNvPr id="28" name="Shape 25"/>
          <p:cNvSpPr/>
          <p:nvPr/>
        </p:nvSpPr>
        <p:spPr>
          <a:xfrm>
            <a:off x="7844730" y="3148273"/>
            <a:ext cx="3306775" cy="590476"/>
          </a:xfrm>
          <a:prstGeom prst="roundRect">
            <a:avLst>
              <a:gd name="adj" fmla="val 12905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21335" y="3160179"/>
            <a:ext cx="3153566" cy="604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52525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CI/CT</a:t>
            </a:r>
            <a:endParaRPr lang="en-US" sz="1013" dirty="0"/>
          </a:p>
        </p:txBody>
      </p:sp>
      <p:sp>
        <p:nvSpPr>
          <p:cNvPr id="30" name="Text 27"/>
          <p:cNvSpPr/>
          <p:nvPr/>
        </p:nvSpPr>
        <p:spPr>
          <a:xfrm>
            <a:off x="838088" y="4074356"/>
            <a:ext cx="10831298" cy="4976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2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modèle, c’est </a:t>
            </a:r>
            <a:r>
              <a:rPr lang="en-US" sz="1275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~10 % </a:t>
            </a:r>
            <a:r>
              <a:rPr lang="en-US" sz="12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du système. Les </a:t>
            </a:r>
            <a:r>
              <a:rPr lang="en-US" sz="1275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90 % </a:t>
            </a:r>
            <a:r>
              <a:rPr lang="en-US" sz="12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qui le font tenir en production — tracking, monitoring, serving, reproductibilité — c’est l’OPS. C’est le cœur de ce projet.</a:t>
            </a:r>
            <a:endParaRPr lang="en-US" sz="1275" dirty="0"/>
          </a:p>
        </p:txBody>
      </p:sp>
      <p:sp>
        <p:nvSpPr>
          <p:cNvPr id="31" name="Text 28"/>
          <p:cNvSpPr/>
          <p:nvPr/>
        </p:nvSpPr>
        <p:spPr>
          <a:xfrm>
            <a:off x="838088" y="4667064"/>
            <a:ext cx="11567406" cy="174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25" i="1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D’après Sculley et al., Hidden Technical Debt in Machine Learning Systems, NeurIPS 2015.</a:t>
            </a:r>
            <a:endParaRPr lang="en-US" sz="825" dirty="0"/>
          </a:p>
        </p:txBody>
      </p:sp>
      <p:sp>
        <p:nvSpPr>
          <p:cNvPr id="32" name="Shape 29"/>
          <p:cNvSpPr/>
          <p:nvPr/>
        </p:nvSpPr>
        <p:spPr>
          <a:xfrm>
            <a:off x="838088" y="4936257"/>
            <a:ext cx="10515823" cy="413184"/>
          </a:xfrm>
          <a:prstGeom prst="roundRect">
            <a:avLst>
              <a:gd name="adj" fmla="val 18442"/>
            </a:avLst>
          </a:prstGeom>
          <a:solidFill>
            <a:srgbClr val="EFF4D8"/>
          </a:solidFill>
          <a:ln/>
        </p:spPr>
      </p:sp>
      <p:sp>
        <p:nvSpPr>
          <p:cNvPr id="33" name="Shape 30"/>
          <p:cNvSpPr/>
          <p:nvPr/>
        </p:nvSpPr>
        <p:spPr>
          <a:xfrm>
            <a:off x="838088" y="5337535"/>
            <a:ext cx="10515823" cy="1190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4" name="Shape 31"/>
          <p:cNvSpPr/>
          <p:nvPr/>
        </p:nvSpPr>
        <p:spPr>
          <a:xfrm>
            <a:off x="838088" y="4936257"/>
            <a:ext cx="10515823" cy="1190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5" name="Shape 32"/>
          <p:cNvSpPr/>
          <p:nvPr/>
        </p:nvSpPr>
        <p:spPr>
          <a:xfrm>
            <a:off x="838088" y="4936257"/>
            <a:ext cx="23813" cy="413184"/>
          </a:xfrm>
          <a:prstGeom prst="rect">
            <a:avLst/>
          </a:prstGeom>
          <a:solidFill>
            <a:srgbClr val="8FA82E"/>
          </a:solidFill>
          <a:ln/>
        </p:spPr>
      </p:sp>
      <p:sp>
        <p:nvSpPr>
          <p:cNvPr id="36" name="Shape 33"/>
          <p:cNvSpPr/>
          <p:nvPr/>
        </p:nvSpPr>
        <p:spPr>
          <a:xfrm>
            <a:off x="11342005" y="4936257"/>
            <a:ext cx="11906" cy="413184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7" name="Shape 34"/>
          <p:cNvSpPr/>
          <p:nvPr/>
        </p:nvSpPr>
        <p:spPr>
          <a:xfrm>
            <a:off x="1033239" y="5080992"/>
            <a:ext cx="104738" cy="123713"/>
          </a:xfrm>
          <a:prstGeom prst="rect">
            <a:avLst/>
          </a:prstGeom>
          <a:solidFill>
            <a:srgbClr val="8FA82E"/>
          </a:solidFill>
          <a:ln/>
        </p:spPr>
      </p:sp>
      <p:sp>
        <p:nvSpPr>
          <p:cNvPr id="38" name="Text 35"/>
          <p:cNvSpPr/>
          <p:nvPr/>
        </p:nvSpPr>
        <p:spPr>
          <a:xfrm>
            <a:off x="1261690" y="5052901"/>
            <a:ext cx="6938070" cy="217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Cette plateforme industrialise ces 90 % une fois pour toutes — tout use case en hérite automatiquement.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1099416" y="6418585"/>
            <a:ext cx="254496" cy="15236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00500" cy="6858000"/>
          </a:xfrm>
          <a:prstGeom prst="rect">
            <a:avLst/>
          </a:prstGeom>
          <a:solidFill>
            <a:srgbClr val="F9FAF5"/>
          </a:solidFill>
          <a:ln/>
        </p:spPr>
      </p:sp>
      <p:sp>
        <p:nvSpPr>
          <p:cNvPr id="3" name="Shape 1"/>
          <p:cNvSpPr/>
          <p:nvPr/>
        </p:nvSpPr>
        <p:spPr>
          <a:xfrm>
            <a:off x="3988594" y="0"/>
            <a:ext cx="11906" cy="6858000"/>
          </a:xfrm>
          <a:prstGeom prst="rect">
            <a:avLst/>
          </a:prstGeom>
          <a:solidFill>
            <a:srgbClr val="546472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863" y="314213"/>
            <a:ext cx="85576" cy="1237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5" name="Text 3"/>
          <p:cNvSpPr/>
          <p:nvPr/>
        </p:nvSpPr>
        <p:spPr>
          <a:xfrm>
            <a:off x="514015" y="304726"/>
            <a:ext cx="121101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3" kern="0" spc="121" dirty="0">
                <a:solidFill>
                  <a:srgbClr val="54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POURQUOI MLOPS</a:t>
            </a:r>
            <a:endParaRPr lang="en-US" sz="863" dirty="0"/>
          </a:p>
        </p:txBody>
      </p:sp>
      <p:sp>
        <p:nvSpPr>
          <p:cNvPr id="6" name="Text 4"/>
          <p:cNvSpPr/>
          <p:nvPr/>
        </p:nvSpPr>
        <p:spPr>
          <a:xfrm>
            <a:off x="342863" y="580802"/>
            <a:ext cx="3401954" cy="7081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kern="0" spc="-48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modèle ML n'est que la </a:t>
            </a:r>
            <a:r>
              <a:rPr lang="en-US" sz="2400" b="1" kern="0" spc="-48" dirty="0">
                <a:solidFill>
                  <a:srgbClr val="8FA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émergée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42863" y="1441400"/>
            <a:ext cx="3302868" cy="4802312"/>
          </a:xfrm>
          <a:prstGeom prst="roundRect">
            <a:avLst>
              <a:gd name="adj" fmla="val 2307"/>
            </a:avLst>
          </a:prstGeom>
          <a:solidFill>
            <a:srgbClr val="FFFFFF"/>
          </a:solidFill>
          <a:ln w="11906">
            <a:solidFill>
              <a:srgbClr val="546472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7132" y="1605669"/>
            <a:ext cx="953244" cy="461739"/>
          </a:xfrm>
          <a:prstGeom prst="roundRect">
            <a:avLst>
              <a:gd name="adj" fmla="val 8251"/>
            </a:avLst>
          </a:prstGeom>
          <a:solidFill>
            <a:srgbClr val="F0F0F0"/>
          </a:solidFill>
          <a:ln/>
        </p:spPr>
      </p:sp>
      <p:sp>
        <p:nvSpPr>
          <p:cNvPr id="9" name="Text 7"/>
          <p:cNvSpPr/>
          <p:nvPr/>
        </p:nvSpPr>
        <p:spPr>
          <a:xfrm>
            <a:off x="545232" y="1681869"/>
            <a:ext cx="877044" cy="347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17489" y="1605669"/>
            <a:ext cx="953430" cy="461739"/>
          </a:xfrm>
          <a:prstGeom prst="roundRect">
            <a:avLst>
              <a:gd name="adj" fmla="val 8251"/>
            </a:avLst>
          </a:prstGeom>
          <a:solidFill>
            <a:srgbClr val="F0F0F0"/>
          </a:solidFill>
          <a:ln/>
        </p:spPr>
      </p:sp>
      <p:sp>
        <p:nvSpPr>
          <p:cNvPr id="11" name="Text 9"/>
          <p:cNvSpPr/>
          <p:nvPr/>
        </p:nvSpPr>
        <p:spPr>
          <a:xfrm>
            <a:off x="1555589" y="1681869"/>
            <a:ext cx="877230" cy="347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 de données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28032" y="1605669"/>
            <a:ext cx="953430" cy="461739"/>
          </a:xfrm>
          <a:prstGeom prst="roundRect">
            <a:avLst>
              <a:gd name="adj" fmla="val 8251"/>
            </a:avLst>
          </a:prstGeom>
          <a:solidFill>
            <a:srgbClr val="F0F0F0"/>
          </a:solidFill>
          <a:ln/>
        </p:spPr>
      </p:sp>
      <p:sp>
        <p:nvSpPr>
          <p:cNvPr id="13" name="Text 11"/>
          <p:cNvSpPr/>
          <p:nvPr/>
        </p:nvSpPr>
        <p:spPr>
          <a:xfrm>
            <a:off x="2566132" y="1681869"/>
            <a:ext cx="877230" cy="347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Vérification données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7132" y="2169728"/>
            <a:ext cx="1001427" cy="461739"/>
          </a:xfrm>
          <a:prstGeom prst="roundRect">
            <a:avLst>
              <a:gd name="adj" fmla="val 8251"/>
            </a:avLst>
          </a:prstGeom>
          <a:solidFill>
            <a:srgbClr val="F0F0F0"/>
          </a:solidFill>
          <a:ln/>
        </p:spPr>
      </p:sp>
      <p:sp>
        <p:nvSpPr>
          <p:cNvPr id="15" name="Text 13"/>
          <p:cNvSpPr/>
          <p:nvPr/>
        </p:nvSpPr>
        <p:spPr>
          <a:xfrm>
            <a:off x="545232" y="2245928"/>
            <a:ext cx="925227" cy="347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ressources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565672" y="2143497"/>
            <a:ext cx="857250" cy="514201"/>
          </a:xfrm>
          <a:prstGeom prst="roundRect">
            <a:avLst>
              <a:gd name="adj" fmla="val 11114"/>
            </a:avLst>
          </a:prstGeom>
          <a:solidFill>
            <a:srgbClr val="1C1C24"/>
          </a:solidFill>
          <a:ln w="11906">
            <a:solidFill>
              <a:srgbClr val="8FA8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07518" y="2281535"/>
            <a:ext cx="449759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00" kern="0" spc="60" dirty="0">
                <a:solidFill>
                  <a:srgbClr val="BDD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ML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1834121" y="2388691"/>
            <a:ext cx="396367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~10%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2480035" y="2191122"/>
            <a:ext cx="1001427" cy="418951"/>
          </a:xfrm>
          <a:prstGeom prst="roundRect">
            <a:avLst>
              <a:gd name="adj" fmla="val 9094"/>
            </a:avLst>
          </a:prstGeom>
          <a:solidFill>
            <a:srgbClr val="F0F0F0"/>
          </a:solidFill>
          <a:ln/>
        </p:spPr>
      </p:sp>
      <p:sp>
        <p:nvSpPr>
          <p:cNvPr id="20" name="Text 18"/>
          <p:cNvSpPr/>
          <p:nvPr/>
        </p:nvSpPr>
        <p:spPr>
          <a:xfrm>
            <a:off x="2518135" y="2267322"/>
            <a:ext cx="925227" cy="304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7132" y="2733787"/>
            <a:ext cx="953244" cy="418951"/>
          </a:xfrm>
          <a:prstGeom prst="roundRect">
            <a:avLst>
              <a:gd name="adj" fmla="val 9094"/>
            </a:avLst>
          </a:prstGeom>
          <a:solidFill>
            <a:srgbClr val="F0F0F0"/>
          </a:solidFill>
          <a:ln/>
        </p:spPr>
      </p:sp>
      <p:sp>
        <p:nvSpPr>
          <p:cNvPr id="22" name="Text 20"/>
          <p:cNvSpPr/>
          <p:nvPr/>
        </p:nvSpPr>
        <p:spPr>
          <a:xfrm>
            <a:off x="545232" y="2809987"/>
            <a:ext cx="877044" cy="304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517489" y="2733787"/>
            <a:ext cx="953430" cy="418951"/>
          </a:xfrm>
          <a:prstGeom prst="roundRect">
            <a:avLst>
              <a:gd name="adj" fmla="val 9094"/>
            </a:avLst>
          </a:prstGeom>
          <a:solidFill>
            <a:srgbClr val="F0F0F0"/>
          </a:solidFill>
          <a:ln/>
        </p:spPr>
      </p:sp>
      <p:sp>
        <p:nvSpPr>
          <p:cNvPr id="24" name="Text 22"/>
          <p:cNvSpPr/>
          <p:nvPr/>
        </p:nvSpPr>
        <p:spPr>
          <a:xfrm>
            <a:off x="1555589" y="2809987"/>
            <a:ext cx="877230" cy="304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28032" y="2733787"/>
            <a:ext cx="953430" cy="418951"/>
          </a:xfrm>
          <a:prstGeom prst="roundRect">
            <a:avLst>
              <a:gd name="adj" fmla="val 9094"/>
            </a:avLst>
          </a:prstGeom>
          <a:solidFill>
            <a:srgbClr val="F0F0F0"/>
          </a:solidFill>
          <a:ln/>
        </p:spPr>
      </p:sp>
      <p:sp>
        <p:nvSpPr>
          <p:cNvPr id="26" name="Text 24"/>
          <p:cNvSpPr/>
          <p:nvPr/>
        </p:nvSpPr>
        <p:spPr>
          <a:xfrm>
            <a:off x="2566132" y="2809987"/>
            <a:ext cx="877230" cy="304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2863" y="6338962"/>
            <a:ext cx="340195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Sculley et al., Hidden Technical Debt in ML Systems, NeurIPS 2015.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495726" y="1867607"/>
            <a:ext cx="1609483" cy="9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250" b="1" kern="0" spc="-330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r>
              <a:rPr lang="en-US" sz="3750" b="1" kern="0" spc="-330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8250" dirty="0"/>
          </a:p>
        </p:txBody>
      </p:sp>
      <p:sp>
        <p:nvSpPr>
          <p:cNvPr id="29" name="Text 27"/>
          <p:cNvSpPr/>
          <p:nvPr/>
        </p:nvSpPr>
        <p:spPr>
          <a:xfrm>
            <a:off x="6149392" y="2462919"/>
            <a:ext cx="2162584" cy="582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c'est l'OPS. </a:t>
            </a:r>
            <a:r>
              <a:rPr lang="en-US" sz="135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C'est le cœur de ce projet.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4495726" y="3235709"/>
            <a:ext cx="7201049" cy="9525"/>
          </a:xfrm>
          <a:prstGeom prst="rect">
            <a:avLst/>
          </a:prstGeom>
          <a:solidFill>
            <a:srgbClr val="546472">
              <a:alpha val="1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495726" y="3473648"/>
            <a:ext cx="7417080" cy="571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modèle, c'est </a:t>
            </a:r>
            <a:r>
              <a:rPr lang="en-US" sz="1500" b="1" dirty="0">
                <a:solidFill>
                  <a:srgbClr val="8FA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~10 % </a:t>
            </a:r>
            <a:r>
              <a:rPr lang="en-US" sz="1500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système. Les 90 % qui le font tenir en production — tracking, monitoring, serving, reproductibilité.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495726" y="4235276"/>
            <a:ext cx="7201049" cy="754931"/>
          </a:xfrm>
          <a:prstGeom prst="roundRect">
            <a:avLst>
              <a:gd name="adj" fmla="val 10094"/>
            </a:avLst>
          </a:prstGeom>
          <a:solidFill>
            <a:srgbClr val="BDD248">
              <a:alpha val="10000"/>
            </a:srgbClr>
          </a:solidFill>
          <a:ln w="11906">
            <a:solidFill>
              <a:srgbClr val="BDD248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98132" y="4508004"/>
            <a:ext cx="133201" cy="20947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4" name="Text 32"/>
          <p:cNvSpPr/>
          <p:nvPr/>
        </p:nvSpPr>
        <p:spPr>
          <a:xfrm>
            <a:off x="4964534" y="4399545"/>
            <a:ext cx="6725729" cy="4644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546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Cette plateforme industrialise ces 90 % une fois pour toutes — tout use case en hérite automatiquement.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756488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341594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BLOC 04 · OPS · TRACKING MLFLOW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000" b="1" kern="0" spc="-6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Reproductibilité </a:t>
            </a:r>
            <a:r>
              <a:rPr lang="en-US" sz="3000" b="1" kern="0" spc="-6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 bout en bout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38088" y="1501676"/>
            <a:ext cx="11567406" cy="2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38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Chaque exécution est rejouable à l’identique — </a:t>
            </a:r>
            <a:r>
              <a:rPr lang="en-US" sz="1238" b="1" i="1" dirty="0">
                <a:solidFill>
                  <a:srgbClr val="52525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fini le “ça marchait sur ma machine”.</a:t>
            </a:r>
            <a:endParaRPr lang="en-US" sz="1238" dirty="0"/>
          </a:p>
        </p:txBody>
      </p:sp>
      <p:sp>
        <p:nvSpPr>
          <p:cNvPr id="7" name="Shape 4"/>
          <p:cNvSpPr/>
          <p:nvPr/>
        </p:nvSpPr>
        <p:spPr>
          <a:xfrm>
            <a:off x="838088" y="1893094"/>
            <a:ext cx="2617143" cy="976312"/>
          </a:xfrm>
          <a:prstGeom prst="roundRect">
            <a:avLst>
              <a:gd name="adj" fmla="val 2927"/>
            </a:avLst>
          </a:prstGeom>
          <a:solidFill>
            <a:srgbClr val="F4F4F4"/>
          </a:solidFill>
          <a:ln/>
        </p:spPr>
      </p:sp>
      <p:sp>
        <p:nvSpPr>
          <p:cNvPr id="8" name="Shape 5"/>
          <p:cNvSpPr/>
          <p:nvPr/>
        </p:nvSpPr>
        <p:spPr>
          <a:xfrm>
            <a:off x="838088" y="2857500"/>
            <a:ext cx="261714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9" name="Shape 6"/>
          <p:cNvSpPr/>
          <p:nvPr/>
        </p:nvSpPr>
        <p:spPr>
          <a:xfrm>
            <a:off x="838088" y="1893094"/>
            <a:ext cx="261714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0" name="Shape 7"/>
          <p:cNvSpPr/>
          <p:nvPr/>
        </p:nvSpPr>
        <p:spPr>
          <a:xfrm>
            <a:off x="838088" y="1893094"/>
            <a:ext cx="23813" cy="976312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1" name="Shape 8"/>
          <p:cNvSpPr/>
          <p:nvPr/>
        </p:nvSpPr>
        <p:spPr>
          <a:xfrm>
            <a:off x="3443325" y="1893094"/>
            <a:ext cx="11906" cy="976312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2" name="Text 9"/>
          <p:cNvSpPr/>
          <p:nvPr/>
        </p:nvSpPr>
        <p:spPr>
          <a:xfrm>
            <a:off x="995102" y="2019226"/>
            <a:ext cx="2546524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Params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95102" y="2283396"/>
            <a:ext cx="2391221" cy="4979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63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whitelist de ~17 params utiles (au lieu de 80 bruités) — comparaison inter-runs lisible</a:t>
            </a:r>
            <a:endParaRPr lang="en-US" sz="863" dirty="0"/>
          </a:p>
        </p:txBody>
      </p:sp>
      <p:sp>
        <p:nvSpPr>
          <p:cNvPr id="14" name="Shape 11"/>
          <p:cNvSpPr/>
          <p:nvPr/>
        </p:nvSpPr>
        <p:spPr>
          <a:xfrm>
            <a:off x="3569457" y="1893094"/>
            <a:ext cx="2617143" cy="976312"/>
          </a:xfrm>
          <a:prstGeom prst="roundRect">
            <a:avLst>
              <a:gd name="adj" fmla="val 2927"/>
            </a:avLst>
          </a:prstGeom>
          <a:solidFill>
            <a:srgbClr val="F4F4F4"/>
          </a:solidFill>
          <a:ln/>
        </p:spPr>
      </p:sp>
      <p:sp>
        <p:nvSpPr>
          <p:cNvPr id="15" name="Shape 12"/>
          <p:cNvSpPr/>
          <p:nvPr/>
        </p:nvSpPr>
        <p:spPr>
          <a:xfrm>
            <a:off x="3569457" y="2857500"/>
            <a:ext cx="261714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6" name="Shape 13"/>
          <p:cNvSpPr/>
          <p:nvPr/>
        </p:nvSpPr>
        <p:spPr>
          <a:xfrm>
            <a:off x="3569457" y="1893094"/>
            <a:ext cx="261714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7" name="Shape 14"/>
          <p:cNvSpPr/>
          <p:nvPr/>
        </p:nvSpPr>
        <p:spPr>
          <a:xfrm>
            <a:off x="3569457" y="1893094"/>
            <a:ext cx="23813" cy="976312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8" name="Shape 15"/>
          <p:cNvSpPr/>
          <p:nvPr/>
        </p:nvSpPr>
        <p:spPr>
          <a:xfrm>
            <a:off x="6174693" y="1893094"/>
            <a:ext cx="11906" cy="976312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9" name="Text 16"/>
          <p:cNvSpPr/>
          <p:nvPr/>
        </p:nvSpPr>
        <p:spPr>
          <a:xfrm>
            <a:off x="3726470" y="2019226"/>
            <a:ext cx="2546524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Métriques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726470" y="2283396"/>
            <a:ext cx="2391221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63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faithfulness · context_precision · latence retrieval/generation</a:t>
            </a:r>
            <a:endParaRPr lang="en-US" sz="863" dirty="0"/>
          </a:p>
        </p:txBody>
      </p:sp>
      <p:sp>
        <p:nvSpPr>
          <p:cNvPr id="21" name="Shape 18"/>
          <p:cNvSpPr/>
          <p:nvPr/>
        </p:nvSpPr>
        <p:spPr>
          <a:xfrm>
            <a:off x="838088" y="2983632"/>
            <a:ext cx="2617143" cy="976312"/>
          </a:xfrm>
          <a:prstGeom prst="roundRect">
            <a:avLst>
              <a:gd name="adj" fmla="val 2927"/>
            </a:avLst>
          </a:prstGeom>
          <a:solidFill>
            <a:srgbClr val="F4F4F4"/>
          </a:solidFill>
          <a:ln/>
        </p:spPr>
      </p:sp>
      <p:sp>
        <p:nvSpPr>
          <p:cNvPr id="22" name="Shape 19"/>
          <p:cNvSpPr/>
          <p:nvPr/>
        </p:nvSpPr>
        <p:spPr>
          <a:xfrm>
            <a:off x="838088" y="3948038"/>
            <a:ext cx="261714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3" name="Shape 20"/>
          <p:cNvSpPr/>
          <p:nvPr/>
        </p:nvSpPr>
        <p:spPr>
          <a:xfrm>
            <a:off x="838088" y="2983632"/>
            <a:ext cx="261714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4" name="Shape 21"/>
          <p:cNvSpPr/>
          <p:nvPr/>
        </p:nvSpPr>
        <p:spPr>
          <a:xfrm>
            <a:off x="838088" y="2983632"/>
            <a:ext cx="23813" cy="976312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5" name="Shape 22"/>
          <p:cNvSpPr/>
          <p:nvPr/>
        </p:nvSpPr>
        <p:spPr>
          <a:xfrm>
            <a:off x="3443325" y="2983632"/>
            <a:ext cx="11906" cy="976312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6" name="Text 23"/>
          <p:cNvSpPr/>
          <p:nvPr/>
        </p:nvSpPr>
        <p:spPr>
          <a:xfrm>
            <a:off x="995102" y="3109764"/>
            <a:ext cx="2546524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Artifacts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95102" y="3373934"/>
            <a:ext cx="2391221" cy="4979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63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index · configs · full_config.yaml · pip_freeze — 215 packages = snapshot d’env déterministe</a:t>
            </a:r>
            <a:endParaRPr lang="en-US" sz="863" dirty="0"/>
          </a:p>
        </p:txBody>
      </p:sp>
      <p:sp>
        <p:nvSpPr>
          <p:cNvPr id="28" name="Shape 25"/>
          <p:cNvSpPr/>
          <p:nvPr/>
        </p:nvSpPr>
        <p:spPr>
          <a:xfrm>
            <a:off x="3569457" y="2983632"/>
            <a:ext cx="2617143" cy="976312"/>
          </a:xfrm>
          <a:prstGeom prst="roundRect">
            <a:avLst>
              <a:gd name="adj" fmla="val 2927"/>
            </a:avLst>
          </a:prstGeom>
          <a:solidFill>
            <a:srgbClr val="F4F4F4"/>
          </a:solidFill>
          <a:ln/>
        </p:spPr>
      </p:sp>
      <p:sp>
        <p:nvSpPr>
          <p:cNvPr id="29" name="Shape 26"/>
          <p:cNvSpPr/>
          <p:nvPr/>
        </p:nvSpPr>
        <p:spPr>
          <a:xfrm>
            <a:off x="3569457" y="3948038"/>
            <a:ext cx="261714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0" name="Shape 27"/>
          <p:cNvSpPr/>
          <p:nvPr/>
        </p:nvSpPr>
        <p:spPr>
          <a:xfrm>
            <a:off x="3569457" y="2983632"/>
            <a:ext cx="261714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1" name="Shape 28"/>
          <p:cNvSpPr/>
          <p:nvPr/>
        </p:nvSpPr>
        <p:spPr>
          <a:xfrm>
            <a:off x="3569457" y="2983632"/>
            <a:ext cx="23813" cy="976312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2" name="Shape 29"/>
          <p:cNvSpPr/>
          <p:nvPr/>
        </p:nvSpPr>
        <p:spPr>
          <a:xfrm>
            <a:off x="6174693" y="2983632"/>
            <a:ext cx="11906" cy="976312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3" name="Text 30"/>
          <p:cNvSpPr/>
          <p:nvPr/>
        </p:nvSpPr>
        <p:spPr>
          <a:xfrm>
            <a:off x="3726470" y="3109764"/>
            <a:ext cx="2546524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Traces · Autolog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726470" y="3373934"/>
            <a:ext cx="2546524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63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appels LLM · spans · durées</a:t>
            </a:r>
            <a:endParaRPr lang="en-US" sz="863" dirty="0"/>
          </a:p>
        </p:txBody>
      </p:sp>
      <p:sp>
        <p:nvSpPr>
          <p:cNvPr id="35" name="Shape 32"/>
          <p:cNvSpPr/>
          <p:nvPr/>
        </p:nvSpPr>
        <p:spPr>
          <a:xfrm>
            <a:off x="838088" y="4074170"/>
            <a:ext cx="5348511" cy="669727"/>
          </a:xfrm>
          <a:prstGeom prst="roundRect">
            <a:avLst>
              <a:gd name="adj" fmla="val 4267"/>
            </a:avLst>
          </a:prstGeom>
          <a:solidFill>
            <a:srgbClr val="EFF4D8"/>
          </a:solidFill>
          <a:ln/>
        </p:spPr>
      </p:sp>
      <p:sp>
        <p:nvSpPr>
          <p:cNvPr id="36" name="Shape 33"/>
          <p:cNvSpPr/>
          <p:nvPr/>
        </p:nvSpPr>
        <p:spPr>
          <a:xfrm>
            <a:off x="838088" y="4731990"/>
            <a:ext cx="5348511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7" name="Shape 34"/>
          <p:cNvSpPr/>
          <p:nvPr/>
        </p:nvSpPr>
        <p:spPr>
          <a:xfrm>
            <a:off x="838088" y="4074170"/>
            <a:ext cx="5348511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8" name="Shape 35"/>
          <p:cNvSpPr/>
          <p:nvPr/>
        </p:nvSpPr>
        <p:spPr>
          <a:xfrm>
            <a:off x="838088" y="4074170"/>
            <a:ext cx="23813" cy="669727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9" name="Shape 36"/>
          <p:cNvSpPr/>
          <p:nvPr/>
        </p:nvSpPr>
        <p:spPr>
          <a:xfrm>
            <a:off x="6174693" y="4074170"/>
            <a:ext cx="11906" cy="66972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0" name="Text 37"/>
          <p:cNvSpPr/>
          <p:nvPr/>
        </p:nvSpPr>
        <p:spPr>
          <a:xfrm>
            <a:off x="995102" y="4200302"/>
            <a:ext cx="5551029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Prompt versioning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995102" y="4464472"/>
            <a:ext cx="5551029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63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templates trackés, dédupliqués par hash côté serveur</a:t>
            </a:r>
            <a:endParaRPr lang="en-US" sz="863" dirty="0"/>
          </a:p>
        </p:txBody>
      </p:sp>
      <p:sp>
        <p:nvSpPr>
          <p:cNvPr id="42" name="Shape 39"/>
          <p:cNvSpPr/>
          <p:nvPr/>
        </p:nvSpPr>
        <p:spPr>
          <a:xfrm>
            <a:off x="838088" y="4877098"/>
            <a:ext cx="5348511" cy="996590"/>
          </a:xfrm>
          <a:prstGeom prst="roundRect">
            <a:avLst>
              <a:gd name="adj" fmla="val 5735"/>
            </a:avLst>
          </a:prstGeom>
          <a:solidFill>
            <a:srgbClr val="EFF4D8"/>
          </a:solidFill>
          <a:ln/>
        </p:spPr>
      </p:sp>
      <p:sp>
        <p:nvSpPr>
          <p:cNvPr id="43" name="Shape 40"/>
          <p:cNvSpPr/>
          <p:nvPr/>
        </p:nvSpPr>
        <p:spPr>
          <a:xfrm>
            <a:off x="838088" y="5861782"/>
            <a:ext cx="5348511" cy="1190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4" name="Shape 41"/>
          <p:cNvSpPr/>
          <p:nvPr/>
        </p:nvSpPr>
        <p:spPr>
          <a:xfrm>
            <a:off x="838088" y="4877098"/>
            <a:ext cx="5348511" cy="1190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5" name="Shape 42"/>
          <p:cNvSpPr/>
          <p:nvPr/>
        </p:nvSpPr>
        <p:spPr>
          <a:xfrm>
            <a:off x="838088" y="4877098"/>
            <a:ext cx="23813" cy="996590"/>
          </a:xfrm>
          <a:prstGeom prst="rect">
            <a:avLst/>
          </a:prstGeom>
          <a:solidFill>
            <a:srgbClr val="8FA82E"/>
          </a:solidFill>
          <a:ln/>
        </p:spPr>
      </p:sp>
      <p:sp>
        <p:nvSpPr>
          <p:cNvPr id="46" name="Shape 43"/>
          <p:cNvSpPr/>
          <p:nvPr/>
        </p:nvSpPr>
        <p:spPr>
          <a:xfrm>
            <a:off x="6174693" y="4877098"/>
            <a:ext cx="11906" cy="99659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7" name="Text 44"/>
          <p:cNvSpPr/>
          <p:nvPr/>
        </p:nvSpPr>
        <p:spPr>
          <a:xfrm>
            <a:off x="1033239" y="5012717"/>
            <a:ext cx="5467127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kern="0" spc="105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 CONTRIBUTION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1033239" y="5179405"/>
            <a:ext cx="5119219" cy="5967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13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Le tracking est branché dans le </a:t>
            </a:r>
            <a:r>
              <a:rPr lang="en-US" sz="1013" b="1" dirty="0">
                <a:solidFill>
                  <a:srgbClr val="8FA82E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BasePipeline générique </a:t>
            </a:r>
            <a:r>
              <a:rPr lang="en-US" sz="1013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: n’importe quel use case hérite automatiquement du logging params/métriques/artifacts, </a:t>
            </a:r>
            <a:r>
              <a:rPr lang="en-US" sz="1013" b="1" dirty="0">
                <a:solidFill>
                  <a:srgbClr val="8FA82E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sans une ligne de code en plus </a:t>
            </a:r>
            <a:r>
              <a:rPr lang="en-US" sz="1013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.</a:t>
            </a:r>
            <a:endParaRPr lang="en-US" sz="1013" dirty="0"/>
          </a:p>
        </p:txBody>
      </p:sp>
      <p:sp>
        <p:nvSpPr>
          <p:cNvPr id="49" name="Shape 46"/>
          <p:cNvSpPr/>
          <p:nvPr/>
        </p:nvSpPr>
        <p:spPr>
          <a:xfrm>
            <a:off x="6491325" y="1893094"/>
            <a:ext cx="4862587" cy="4355455"/>
          </a:xfrm>
          <a:prstGeom prst="roundRect">
            <a:avLst>
              <a:gd name="adj" fmla="val 1312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dash"/>
          </a:ln>
        </p:spPr>
      </p:sp>
      <p:sp>
        <p:nvSpPr>
          <p:cNvPr id="50" name="Shape 47"/>
          <p:cNvSpPr/>
          <p:nvPr/>
        </p:nvSpPr>
        <p:spPr>
          <a:xfrm>
            <a:off x="8693981" y="3482578"/>
            <a:ext cx="457088" cy="361838"/>
          </a:xfrm>
          <a:prstGeom prst="roundRect">
            <a:avLst>
              <a:gd name="adj" fmla="val 7897"/>
            </a:avLst>
          </a:prstGeom>
          <a:solidFill>
            <a:srgbClr val="CFCFCF">
              <a:alpha val="40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623535" y="3958642"/>
            <a:ext cx="2598167" cy="700236"/>
          </a:xfrm>
          <a:prstGeom prst="roundRect">
            <a:avLst>
              <a:gd name="adj" fmla="val 5441"/>
            </a:avLst>
          </a:prstGeom>
          <a:solidFill>
            <a:srgbClr val="F4F4F4"/>
          </a:solidFill>
          <a:ln/>
        </p:spPr>
      </p:sp>
      <p:sp>
        <p:nvSpPr>
          <p:cNvPr id="52" name="Text 49"/>
          <p:cNvSpPr/>
          <p:nvPr/>
        </p:nvSpPr>
        <p:spPr>
          <a:xfrm>
            <a:off x="7717912" y="4034842"/>
            <a:ext cx="2409412" cy="585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900" dirty="0">
                <a:solidFill>
                  <a:srgbClr val="909090"/>
                </a:solidFill>
                <a:highlight>
                  <a:srgbClr val="F4F4F4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Capture MLflow UI Interface Experiments · Run detail glisser-déposer ici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54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55" name="Text 51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12</a:t>
            </a:r>
            <a:endParaRPr lang="en-US" sz="9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3" name="Shape 1"/>
          <p:cNvSpPr/>
          <p:nvPr/>
        </p:nvSpPr>
        <p:spPr>
          <a:xfrm>
            <a:off x="342863" y="276076"/>
            <a:ext cx="85576" cy="1237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" name="Text 2"/>
          <p:cNvSpPr/>
          <p:nvPr/>
        </p:nvSpPr>
        <p:spPr>
          <a:xfrm>
            <a:off x="514015" y="266588"/>
            <a:ext cx="25891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3" kern="0" spc="121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 04 · OPS · TRACKING MLFLOW</a:t>
            </a:r>
            <a:endParaRPr lang="en-US" sz="863" dirty="0"/>
          </a:p>
        </p:txBody>
      </p:sp>
      <p:sp>
        <p:nvSpPr>
          <p:cNvPr id="5" name="Text 3"/>
          <p:cNvSpPr/>
          <p:nvPr/>
        </p:nvSpPr>
        <p:spPr>
          <a:xfrm>
            <a:off x="342863" y="504713"/>
            <a:ext cx="5951302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Reproductibilité </a:t>
            </a:r>
            <a:r>
              <a:rPr lang="en-US" sz="2400" b="1" kern="0" spc="-48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bout en bout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42863" y="887946"/>
            <a:ext cx="595130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i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 le "ça marchait sur ma machine".</a:t>
            </a:r>
            <a:endParaRPr lang="en-US" sz="1125" dirty="0"/>
          </a:p>
        </p:txBody>
      </p:sp>
      <p:sp>
        <p:nvSpPr>
          <p:cNvPr id="7" name="Shape 5"/>
          <p:cNvSpPr/>
          <p:nvPr/>
        </p:nvSpPr>
        <p:spPr>
          <a:xfrm>
            <a:off x="342863" y="1763241"/>
            <a:ext cx="5410274" cy="11906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42863" y="1311734"/>
            <a:ext cx="102870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428564" y="1311734"/>
            <a:ext cx="445431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whitelist de ~17 params utiles (vs 80 bruités) — comparaison inter-runs lisible</a:t>
            </a:r>
            <a:endParaRPr lang="en-US" sz="975" dirty="0"/>
          </a:p>
        </p:txBody>
      </p:sp>
      <p:sp>
        <p:nvSpPr>
          <p:cNvPr id="10" name="Shape 8"/>
          <p:cNvSpPr/>
          <p:nvPr/>
        </p:nvSpPr>
        <p:spPr>
          <a:xfrm>
            <a:off x="342863" y="2158008"/>
            <a:ext cx="5410274" cy="11906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42863" y="1879885"/>
            <a:ext cx="1028700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Métriques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428564" y="1879885"/>
            <a:ext cx="3823469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faithfulness · context_precision · latence retrieval/generation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342863" y="2726159"/>
            <a:ext cx="5410274" cy="11906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42863" y="2274652"/>
            <a:ext cx="102870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428564" y="2274652"/>
            <a:ext cx="445431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· configs · full_config.yaml · pip_freeze — 215 packages = snapshot déterministe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342863" y="3120926"/>
            <a:ext cx="5410274" cy="11906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42863" y="2842803"/>
            <a:ext cx="1028700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428564" y="2842803"/>
            <a:ext cx="2296046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appels LLM · spans · durées · autolog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342863" y="3132832"/>
            <a:ext cx="5410274" cy="382860"/>
          </a:xfrm>
          <a:prstGeom prst="roundRect">
            <a:avLst>
              <a:gd name="adj" fmla="val 9951"/>
            </a:avLst>
          </a:prstGeom>
          <a:solidFill>
            <a:srgbClr val="BDD248">
              <a:alpha val="7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38113" y="3237570"/>
            <a:ext cx="1028700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v.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523814" y="3237570"/>
            <a:ext cx="3399048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trackés, dédupliqués par hash côté serveur</a:t>
            </a:r>
            <a:endParaRPr lang="en-US" sz="975" dirty="0"/>
          </a:p>
        </p:txBody>
      </p:sp>
      <p:sp>
        <p:nvSpPr>
          <p:cNvPr id="22" name="Shape 20"/>
          <p:cNvSpPr/>
          <p:nvPr/>
        </p:nvSpPr>
        <p:spPr>
          <a:xfrm>
            <a:off x="342863" y="5825691"/>
            <a:ext cx="5410274" cy="765721"/>
          </a:xfrm>
          <a:prstGeom prst="roundRect">
            <a:avLst>
              <a:gd name="adj" fmla="val 9951"/>
            </a:avLst>
          </a:prstGeom>
          <a:solidFill>
            <a:srgbClr val="BDD248">
              <a:alpha val="10000"/>
            </a:srgbClr>
          </a:solidFill>
          <a:ln w="11906">
            <a:solidFill>
              <a:srgbClr val="BDD248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132" y="5951823"/>
            <a:ext cx="558991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BDD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 CONTRIBUTION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7132" y="6118510"/>
            <a:ext cx="5234188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Branché dans le </a:t>
            </a: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BasePipeline générique </a:t>
            </a:r>
            <a:r>
              <a:rPr lang="en-US" sz="97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n'importe quel use case hérite automatiquement du logging, </a:t>
            </a: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une ligne de code en plus</a:t>
            </a:r>
            <a:r>
              <a:rPr lang="en-US" sz="97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75" dirty="0"/>
          </a:p>
        </p:txBody>
      </p:sp>
      <p:sp>
        <p:nvSpPr>
          <p:cNvPr id="25" name="Shape 23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9FAF5"/>
          </a:solidFill>
          <a:ln/>
        </p:spPr>
      </p:sp>
      <p:sp>
        <p:nvSpPr>
          <p:cNvPr id="26" name="Shape 24"/>
          <p:cNvSpPr/>
          <p:nvPr/>
        </p:nvSpPr>
        <p:spPr>
          <a:xfrm>
            <a:off x="6096000" y="0"/>
            <a:ext cx="11906" cy="6858000"/>
          </a:xfrm>
          <a:prstGeom prst="rect">
            <a:avLst/>
          </a:prstGeom>
          <a:solidFill>
            <a:srgbClr val="546472">
              <a:alpha val="1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768953" y="2515009"/>
            <a:ext cx="762000" cy="571500"/>
          </a:xfrm>
          <a:prstGeom prst="roundRect">
            <a:avLst>
              <a:gd name="adj" fmla="val 10000"/>
            </a:avLst>
          </a:prstGeom>
          <a:solidFill>
            <a:srgbClr val="546472">
              <a:alpha val="1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845042" y="2591098"/>
            <a:ext cx="609823" cy="85576"/>
          </a:xfrm>
          <a:prstGeom prst="roundRect">
            <a:avLst>
              <a:gd name="adj" fmla="val 22261"/>
            </a:avLst>
          </a:prstGeom>
          <a:solidFill>
            <a:srgbClr val="546472">
              <a:alpha val="2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703530" y="3238872"/>
            <a:ext cx="2892661" cy="808695"/>
          </a:xfrm>
          <a:prstGeom prst="roundRect">
            <a:avLst>
              <a:gd name="adj" fmla="val 7067"/>
            </a:avLst>
          </a:prstGeom>
          <a:solidFill>
            <a:srgbClr val="FFFFFF"/>
          </a:solidFill>
          <a:ln w="11906">
            <a:solidFill>
              <a:srgbClr val="546472">
                <a:alpha val="14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43496" y="3346028"/>
            <a:ext cx="2612728" cy="632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975" dirty="0">
                <a:solidFill>
                  <a:srgbClr val="9AA5B8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 MLflow UI Interface Experiments · Run detail glisser-déposer ici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8301261" y="4199930"/>
            <a:ext cx="186712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 de Fin d'Études · </a:t>
            </a:r>
            <a:r>
              <a:rPr lang="en-US" sz="825" b="1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25" dirty="0"/>
          </a:p>
        </p:txBody>
      </p:sp>
    </p:spTree>
    <p:extLst>
      <p:ext uri="{BB962C8B-B14F-4D97-AF65-F5344CB8AC3E}">
        <p14:creationId xmlns:p14="http://schemas.microsoft.com/office/powerpoint/2010/main" val="4317441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40185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OPS · MLFLOW · OBSERVABILITÉ DES RUNS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65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850" b="1" kern="0" spc="-57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Voir l’intérieur d’un run, </a:t>
            </a:r>
            <a:r>
              <a:rPr lang="en-US" sz="2850" b="1" kern="0" spc="-57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comparer en un clic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838088" y="1479352"/>
            <a:ext cx="11567406" cy="251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 ne se contente pas de scores : on voit chaque étape interne, et on isole exactement ce qui fait la différence entre deux runs.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38088" y="2575843"/>
            <a:ext cx="5244517" cy="1586322"/>
          </a:xfrm>
          <a:prstGeom prst="roundRect">
            <a:avLst>
              <a:gd name="adj" fmla="val 3603"/>
            </a:avLst>
          </a:prstGeom>
          <a:solidFill>
            <a:srgbClr val="F4F4F4"/>
          </a:solidFill>
          <a:ln/>
        </p:spPr>
      </p:sp>
      <p:sp>
        <p:nvSpPr>
          <p:cNvPr id="8" name="Shape 5"/>
          <p:cNvSpPr/>
          <p:nvPr/>
        </p:nvSpPr>
        <p:spPr>
          <a:xfrm>
            <a:off x="838088" y="4150258"/>
            <a:ext cx="524451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9" name="Shape 6"/>
          <p:cNvSpPr/>
          <p:nvPr/>
        </p:nvSpPr>
        <p:spPr>
          <a:xfrm>
            <a:off x="838088" y="2575843"/>
            <a:ext cx="524451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0" name="Shape 7"/>
          <p:cNvSpPr/>
          <p:nvPr/>
        </p:nvSpPr>
        <p:spPr>
          <a:xfrm>
            <a:off x="838088" y="2575843"/>
            <a:ext cx="23813" cy="1586322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1" name="Shape 8"/>
          <p:cNvSpPr/>
          <p:nvPr/>
        </p:nvSpPr>
        <p:spPr>
          <a:xfrm>
            <a:off x="6070699" y="2575843"/>
            <a:ext cx="11906" cy="1586322"/>
          </a:xfrm>
          <a:prstGeom prst="rect">
            <a:avLst/>
          </a:prstGeom>
          <a:solidFill>
            <a:srgbClr val="E4E4E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39" y="2800759"/>
            <a:ext cx="85576" cy="1047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14065" y="2740112"/>
            <a:ext cx="1329519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8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Traces &amp; Autolog</a:t>
            </a:r>
            <a:endParaRPr lang="en-US" sz="1238" dirty="0"/>
          </a:p>
        </p:txBody>
      </p:sp>
      <p:sp>
        <p:nvSpPr>
          <p:cNvPr id="14" name="Text 10"/>
          <p:cNvSpPr/>
          <p:nvPr/>
        </p:nvSpPr>
        <p:spPr>
          <a:xfrm>
            <a:off x="1033239" y="3051907"/>
            <a:ext cx="5012105" cy="413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6000"/>
              </a:lnSpc>
              <a:buNone/>
            </a:pPr>
            <a:r>
              <a:rPr lang="en-US" sz="101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Capture automatique des </a:t>
            </a:r>
            <a:r>
              <a:rPr lang="en-US" sz="1013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spans </a:t>
            </a:r>
            <a:r>
              <a:rPr lang="en-US" sz="101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d’un run — appels LLM, retrieval, durées. </a:t>
            </a:r>
            <a:r>
              <a:rPr lang="en-US" sz="1013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~24–36 traces </a:t>
            </a:r>
            <a:r>
              <a:rPr lang="en-US" sz="101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par run.</a:t>
            </a:r>
            <a:endParaRPr lang="en-US" sz="1013" dirty="0"/>
          </a:p>
        </p:txBody>
      </p:sp>
      <p:sp>
        <p:nvSpPr>
          <p:cNvPr id="15" name="Shape 11"/>
          <p:cNvSpPr/>
          <p:nvPr/>
        </p:nvSpPr>
        <p:spPr>
          <a:xfrm>
            <a:off x="1033239" y="3540993"/>
            <a:ext cx="2385343" cy="456902"/>
          </a:xfrm>
          <a:prstGeom prst="roundRect">
            <a:avLst>
              <a:gd name="adj" fmla="val 14593"/>
            </a:avLst>
          </a:prstGeom>
          <a:solidFill>
            <a:srgbClr val="2A2A2A"/>
          </a:solidFill>
          <a:ln/>
        </p:spPr>
      </p:sp>
      <p:sp>
        <p:nvSpPr>
          <p:cNvPr id="16" name="Text 12"/>
          <p:cNvSpPr/>
          <p:nvPr/>
        </p:nvSpPr>
        <p:spPr>
          <a:xfrm>
            <a:off x="1147465" y="3617082"/>
            <a:ext cx="2372581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mlops-pipeline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47465" y="3790838"/>
            <a:ext cx="237258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63" i="1" dirty="0">
                <a:solidFill>
                  <a:srgbClr val="9AA5B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le pipeline</a:t>
            </a:r>
            <a:endParaRPr lang="en-US" sz="863" dirty="0"/>
          </a:p>
        </p:txBody>
      </p:sp>
      <p:sp>
        <p:nvSpPr>
          <p:cNvPr id="18" name="Shape 14"/>
          <p:cNvSpPr/>
          <p:nvPr/>
        </p:nvSpPr>
        <p:spPr>
          <a:xfrm>
            <a:off x="3513832" y="3540993"/>
            <a:ext cx="2385529" cy="456902"/>
          </a:xfrm>
          <a:prstGeom prst="roundRect">
            <a:avLst>
              <a:gd name="adj" fmla="val 14593"/>
            </a:avLst>
          </a:prstGeom>
          <a:solidFill>
            <a:srgbClr val="2A2A2A"/>
          </a:solidFill>
          <a:ln/>
        </p:spPr>
      </p:sp>
      <p:sp>
        <p:nvSpPr>
          <p:cNvPr id="19" name="Text 15"/>
          <p:cNvSpPr/>
          <p:nvPr/>
        </p:nvSpPr>
        <p:spPr>
          <a:xfrm>
            <a:off x="3628058" y="3617082"/>
            <a:ext cx="237278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rag-api-production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628058" y="3790838"/>
            <a:ext cx="2372785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63" i="1" dirty="0">
                <a:solidFill>
                  <a:srgbClr val="9AA5B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le trafic API réel</a:t>
            </a:r>
            <a:endParaRPr lang="en-US" sz="863" dirty="0"/>
          </a:p>
        </p:txBody>
      </p:sp>
      <p:sp>
        <p:nvSpPr>
          <p:cNvPr id="21" name="Shape 17"/>
          <p:cNvSpPr/>
          <p:nvPr/>
        </p:nvSpPr>
        <p:spPr>
          <a:xfrm>
            <a:off x="838088" y="4314527"/>
            <a:ext cx="5244517" cy="1202903"/>
          </a:xfrm>
          <a:prstGeom prst="roundRect">
            <a:avLst>
              <a:gd name="adj" fmla="val 4751"/>
            </a:avLst>
          </a:prstGeom>
          <a:solidFill>
            <a:srgbClr val="F4F4F4"/>
          </a:solidFill>
          <a:ln/>
        </p:spPr>
      </p:sp>
      <p:sp>
        <p:nvSpPr>
          <p:cNvPr id="22" name="Shape 18"/>
          <p:cNvSpPr/>
          <p:nvPr/>
        </p:nvSpPr>
        <p:spPr>
          <a:xfrm>
            <a:off x="838088" y="5505524"/>
            <a:ext cx="524451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3" name="Shape 19"/>
          <p:cNvSpPr/>
          <p:nvPr/>
        </p:nvSpPr>
        <p:spPr>
          <a:xfrm>
            <a:off x="838088" y="4314527"/>
            <a:ext cx="524451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4" name="Shape 20"/>
          <p:cNvSpPr/>
          <p:nvPr/>
        </p:nvSpPr>
        <p:spPr>
          <a:xfrm>
            <a:off x="838088" y="4314527"/>
            <a:ext cx="23813" cy="120290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5" name="Shape 21"/>
          <p:cNvSpPr/>
          <p:nvPr/>
        </p:nvSpPr>
        <p:spPr>
          <a:xfrm>
            <a:off x="6070699" y="4314527"/>
            <a:ext cx="11906" cy="1202903"/>
          </a:xfrm>
          <a:prstGeom prst="rect">
            <a:avLst/>
          </a:prstGeom>
          <a:solidFill>
            <a:srgbClr val="E4E4E4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39" y="4539444"/>
            <a:ext cx="85576" cy="10473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14065" y="4478796"/>
            <a:ext cx="1635547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8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Comparaison de runs</a:t>
            </a:r>
            <a:endParaRPr lang="en-US" sz="1238" dirty="0"/>
          </a:p>
        </p:txBody>
      </p:sp>
      <p:sp>
        <p:nvSpPr>
          <p:cNvPr id="28" name="Text 23"/>
          <p:cNvSpPr/>
          <p:nvPr/>
        </p:nvSpPr>
        <p:spPr>
          <a:xfrm>
            <a:off x="1033239" y="4790591"/>
            <a:ext cx="5012105" cy="600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6000"/>
              </a:lnSpc>
              <a:buNone/>
            </a:pPr>
            <a:r>
              <a:rPr lang="en-US" sz="101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Deux runs partagent la </a:t>
            </a:r>
            <a:r>
              <a:rPr lang="en-US" sz="1013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même version de prompt </a:t>
            </a:r>
            <a:r>
              <a:rPr lang="en-US" sz="101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→ tout écart de score est attribuable aux </a:t>
            </a:r>
            <a:r>
              <a:rPr lang="en-US" sz="1013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autres variables </a:t>
            </a:r>
            <a:r>
              <a:rPr lang="en-US" sz="101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(vector store, embedder, chunking). C’est ce qui rend les expériences scientifiquement comparables.</a:t>
            </a:r>
            <a:endParaRPr lang="en-US" sz="1013" dirty="0"/>
          </a:p>
        </p:txBody>
      </p:sp>
      <p:sp>
        <p:nvSpPr>
          <p:cNvPr id="29" name="Shape 24"/>
          <p:cNvSpPr/>
          <p:nvPr/>
        </p:nvSpPr>
        <p:spPr>
          <a:xfrm>
            <a:off x="6311057" y="1844725"/>
            <a:ext cx="5042855" cy="4403824"/>
          </a:xfrm>
          <a:prstGeom prst="roundRect">
            <a:avLst>
              <a:gd name="adj" fmla="val 1298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dash"/>
          </a:ln>
        </p:spPr>
      </p:sp>
      <p:sp>
        <p:nvSpPr>
          <p:cNvPr id="30" name="Shape 25"/>
          <p:cNvSpPr/>
          <p:nvPr/>
        </p:nvSpPr>
        <p:spPr>
          <a:xfrm>
            <a:off x="8575291" y="3439418"/>
            <a:ext cx="514201" cy="399976"/>
          </a:xfrm>
          <a:prstGeom prst="roundRect">
            <a:avLst>
              <a:gd name="adj" fmla="val 9526"/>
            </a:avLst>
          </a:prstGeom>
          <a:solidFill>
            <a:srgbClr val="CFCFCF">
              <a:alpha val="40000"/>
            </a:srgbClr>
          </a:solidFill>
          <a:ln/>
        </p:spPr>
      </p:sp>
      <p:sp>
        <p:nvSpPr>
          <p:cNvPr id="31" name="Shape 26"/>
          <p:cNvSpPr/>
          <p:nvPr/>
        </p:nvSpPr>
        <p:spPr>
          <a:xfrm>
            <a:off x="7499077" y="3953619"/>
            <a:ext cx="2666814" cy="700236"/>
          </a:xfrm>
          <a:prstGeom prst="roundRect">
            <a:avLst>
              <a:gd name="adj" fmla="val 5441"/>
            </a:avLst>
          </a:prstGeom>
          <a:solidFill>
            <a:srgbClr val="F4F4F4"/>
          </a:solidFill>
          <a:ln/>
        </p:spPr>
      </p:sp>
      <p:sp>
        <p:nvSpPr>
          <p:cNvPr id="32" name="Text 27"/>
          <p:cNvSpPr/>
          <p:nvPr/>
        </p:nvSpPr>
        <p:spPr>
          <a:xfrm>
            <a:off x="7592425" y="4029819"/>
            <a:ext cx="2480118" cy="585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900" dirty="0">
                <a:solidFill>
                  <a:srgbClr val="909090"/>
                </a:solidFill>
                <a:highlight>
                  <a:srgbClr val="F4F4F4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Capture MLflow UI Onglet Traces · Comparaison de runs glisser-déposer ici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1099416" y="6418585"/>
            <a:ext cx="254496" cy="15236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5"/>
          </a:solidFill>
          <a:ln/>
        </p:spPr>
      </p:sp>
      <p:sp>
        <p:nvSpPr>
          <p:cNvPr id="3" name="Shape 1"/>
          <p:cNvSpPr/>
          <p:nvPr/>
        </p:nvSpPr>
        <p:spPr>
          <a:xfrm>
            <a:off x="495226" y="276076"/>
            <a:ext cx="85576" cy="1237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" name="Text 2"/>
          <p:cNvSpPr/>
          <p:nvPr/>
        </p:nvSpPr>
        <p:spPr>
          <a:xfrm>
            <a:off x="666378" y="266588"/>
            <a:ext cx="30892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3" kern="0" spc="121" dirty="0">
                <a:solidFill>
                  <a:srgbClr val="54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 · MLFLOW · OBSERVABILITÉ DES RUNS</a:t>
            </a:r>
            <a:endParaRPr lang="en-US" sz="863" dirty="0"/>
          </a:p>
        </p:txBody>
      </p:sp>
      <p:sp>
        <p:nvSpPr>
          <p:cNvPr id="5" name="Text 3"/>
          <p:cNvSpPr/>
          <p:nvPr/>
        </p:nvSpPr>
        <p:spPr>
          <a:xfrm>
            <a:off x="495226" y="485552"/>
            <a:ext cx="8629204" cy="454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kern="0" spc="-57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Voir l'intérieur d'un run, </a:t>
            </a:r>
            <a:r>
              <a:rPr lang="en-US" sz="2850" b="1" kern="0" spc="-57" dirty="0">
                <a:solidFill>
                  <a:srgbClr val="8FA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comparer en un clic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495226" y="959383"/>
            <a:ext cx="8629204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ne se contente pas de scores : on voit chaque étape interne, et on isole exactement ce qui fait la différence.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5226" y="1314152"/>
            <a:ext cx="5613425" cy="2437433"/>
          </a:xfrm>
          <a:prstGeom prst="roundRect">
            <a:avLst>
              <a:gd name="adj" fmla="val 3126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95226" y="3739679"/>
            <a:ext cx="5613425" cy="11906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5226" y="1314152"/>
            <a:ext cx="5613425" cy="11906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95226" y="1314152"/>
            <a:ext cx="23813" cy="243743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1" name="Shape 9"/>
          <p:cNvSpPr/>
          <p:nvPr/>
        </p:nvSpPr>
        <p:spPr>
          <a:xfrm>
            <a:off x="6096744" y="1314152"/>
            <a:ext cx="11906" cy="2437433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09538" y="1497397"/>
            <a:ext cx="133201" cy="20947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3" name="Text 11"/>
          <p:cNvSpPr/>
          <p:nvPr/>
        </p:nvSpPr>
        <p:spPr>
          <a:xfrm>
            <a:off x="937989" y="1512838"/>
            <a:ext cx="1349797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 &amp; Autolog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709538" y="1802123"/>
            <a:ext cx="5352607" cy="452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25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automatique des </a:t>
            </a:r>
            <a:r>
              <a:rPr lang="en-US" sz="1125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spans </a:t>
            </a:r>
            <a:r>
              <a:rPr lang="en-US" sz="1125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d'un run — appels LLM, retrieval, durées. </a:t>
            </a:r>
            <a:r>
              <a:rPr lang="en-US" sz="1125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~24–36 traces </a:t>
            </a:r>
            <a:r>
              <a:rPr lang="en-US" sz="1125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run.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709538" y="2330462"/>
            <a:ext cx="2550728" cy="426021"/>
          </a:xfrm>
          <a:prstGeom prst="roundRect">
            <a:avLst>
              <a:gd name="adj" fmla="val 13415"/>
            </a:avLst>
          </a:prstGeom>
          <a:solidFill>
            <a:srgbClr val="1C1C24"/>
          </a:solidFill>
          <a:ln/>
        </p:spPr>
      </p:sp>
      <p:sp>
        <p:nvSpPr>
          <p:cNvPr id="16" name="Text 14"/>
          <p:cNvSpPr/>
          <p:nvPr/>
        </p:nvSpPr>
        <p:spPr>
          <a:xfrm>
            <a:off x="823764" y="2406551"/>
            <a:ext cx="2554505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DD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mlops-pipeline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3764" y="2537520"/>
            <a:ext cx="25545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pipeline</a:t>
            </a:r>
            <a:endParaRPr lang="en-US" sz="825" dirty="0"/>
          </a:p>
        </p:txBody>
      </p:sp>
      <p:sp>
        <p:nvSpPr>
          <p:cNvPr id="18" name="Shape 16"/>
          <p:cNvSpPr/>
          <p:nvPr/>
        </p:nvSpPr>
        <p:spPr>
          <a:xfrm>
            <a:off x="3355516" y="2330462"/>
            <a:ext cx="2550728" cy="426021"/>
          </a:xfrm>
          <a:prstGeom prst="roundRect">
            <a:avLst>
              <a:gd name="adj" fmla="val 13415"/>
            </a:avLst>
          </a:prstGeom>
          <a:solidFill>
            <a:srgbClr val="1C1C24"/>
          </a:solidFill>
          <a:ln/>
        </p:spPr>
      </p:sp>
      <p:sp>
        <p:nvSpPr>
          <p:cNvPr id="19" name="Text 17"/>
          <p:cNvSpPr/>
          <p:nvPr/>
        </p:nvSpPr>
        <p:spPr>
          <a:xfrm>
            <a:off x="3469742" y="2406551"/>
            <a:ext cx="2554505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DD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rag-api-production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69742" y="2537520"/>
            <a:ext cx="25545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trafic API réel</a:t>
            </a:r>
            <a:endParaRPr lang="en-US" sz="825" dirty="0"/>
          </a:p>
        </p:txBody>
      </p:sp>
      <p:sp>
        <p:nvSpPr>
          <p:cNvPr id="21" name="Shape 19"/>
          <p:cNvSpPr/>
          <p:nvPr/>
        </p:nvSpPr>
        <p:spPr>
          <a:xfrm>
            <a:off x="495226" y="3884786"/>
            <a:ext cx="5613425" cy="2437619"/>
          </a:xfrm>
          <a:prstGeom prst="roundRect">
            <a:avLst>
              <a:gd name="adj" fmla="val 3126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95226" y="6310499"/>
            <a:ext cx="5613425" cy="11906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95226" y="3884786"/>
            <a:ext cx="5613425" cy="11906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95226" y="3884786"/>
            <a:ext cx="23813" cy="2437619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5" name="Shape 23"/>
          <p:cNvSpPr/>
          <p:nvPr/>
        </p:nvSpPr>
        <p:spPr>
          <a:xfrm>
            <a:off x="6096744" y="3884786"/>
            <a:ext cx="11906" cy="2437619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09538" y="4068031"/>
            <a:ext cx="133201" cy="20947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7" name="Text 25"/>
          <p:cNvSpPr/>
          <p:nvPr/>
        </p:nvSpPr>
        <p:spPr>
          <a:xfrm>
            <a:off x="937989" y="4083472"/>
            <a:ext cx="1703003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Comparaison de runs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709538" y="4372756"/>
            <a:ext cx="5352607" cy="659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25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runs partagent la </a:t>
            </a:r>
            <a:r>
              <a:rPr lang="en-US" sz="1125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version de prompt </a:t>
            </a:r>
            <a:r>
              <a:rPr lang="en-US" sz="1125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tout écart de score est attribuable aux </a:t>
            </a:r>
            <a:r>
              <a:rPr lang="en-US" sz="1125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autres variables </a:t>
            </a:r>
            <a:r>
              <a:rPr lang="en-US" sz="1125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(vector store, embedder, chunking). C'est ce qui rend les expériences scientifiquement comparables.</a:t>
            </a:r>
            <a:endParaRPr lang="en-US" sz="1125" dirty="0"/>
          </a:p>
        </p:txBody>
      </p:sp>
      <p:sp>
        <p:nvSpPr>
          <p:cNvPr id="29" name="Shape 27"/>
          <p:cNvSpPr/>
          <p:nvPr/>
        </p:nvSpPr>
        <p:spPr>
          <a:xfrm>
            <a:off x="6299150" y="1314152"/>
            <a:ext cx="5397624" cy="5008252"/>
          </a:xfrm>
          <a:prstGeom prst="roundRect">
            <a:avLst>
              <a:gd name="adj" fmla="val 1521"/>
            </a:avLst>
          </a:prstGeom>
          <a:solidFill>
            <a:srgbClr val="FFFFFF"/>
          </a:solidFill>
          <a:ln w="11906">
            <a:solidFill>
              <a:srgbClr val="546472">
                <a:alpha val="20000"/>
              </a:srgbClr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8693237" y="3130600"/>
            <a:ext cx="609451" cy="457088"/>
          </a:xfrm>
          <a:prstGeom prst="roundRect">
            <a:avLst>
              <a:gd name="adj" fmla="val 10419"/>
            </a:avLst>
          </a:prstGeom>
          <a:solidFill>
            <a:srgbClr val="546472">
              <a:alpha val="1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759837" y="3197200"/>
            <a:ext cx="476250" cy="76088"/>
          </a:xfrm>
          <a:prstGeom prst="roundRect">
            <a:avLst>
              <a:gd name="adj" fmla="val 25037"/>
            </a:avLst>
          </a:prstGeom>
          <a:solidFill>
            <a:srgbClr val="546472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545400" y="3720889"/>
            <a:ext cx="2905125" cy="784882"/>
          </a:xfrm>
          <a:prstGeom prst="roundRect">
            <a:avLst>
              <a:gd name="adj" fmla="val 7281"/>
            </a:avLst>
          </a:prstGeom>
          <a:solidFill>
            <a:srgbClr val="F9FAF5"/>
          </a:solidFill>
          <a:ln/>
        </p:spPr>
      </p:sp>
      <p:sp>
        <p:nvSpPr>
          <p:cNvPr id="33" name="Text 31"/>
          <p:cNvSpPr/>
          <p:nvPr/>
        </p:nvSpPr>
        <p:spPr>
          <a:xfrm>
            <a:off x="7654223" y="3816139"/>
            <a:ext cx="2687479" cy="632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975" dirty="0">
                <a:solidFill>
                  <a:srgbClr val="9AA5B8"/>
                </a:solidFill>
                <a:highlight>
                  <a:srgbClr val="F9FAF5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 MLflow UI Onglet Traces · Comparaison de runs glisser-déposer ici</a:t>
            </a:r>
            <a:endParaRPr lang="en-US" sz="975" dirty="0"/>
          </a:p>
        </p:txBody>
      </p:sp>
      <p:sp>
        <p:nvSpPr>
          <p:cNvPr id="34" name="Shape 32"/>
          <p:cNvSpPr/>
          <p:nvPr/>
        </p:nvSpPr>
        <p:spPr>
          <a:xfrm>
            <a:off x="495226" y="6436630"/>
            <a:ext cx="11201549" cy="11906"/>
          </a:xfrm>
          <a:prstGeom prst="rect">
            <a:avLst/>
          </a:prstGeom>
          <a:solidFill>
            <a:srgbClr val="546472">
              <a:alpha val="1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990451" y="6581738"/>
            <a:ext cx="35425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546472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 de Fin d'Études · Pipeline MLOps générique</a:t>
            </a:r>
            <a:endParaRPr lang="en-US" sz="863" dirty="0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0867616" y="6553274"/>
            <a:ext cx="333933" cy="19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7874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283994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BLOC 04 · OPS · MONITORING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000" b="1" kern="0" spc="-6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Observabilité </a:t>
            </a:r>
            <a:r>
              <a:rPr lang="en-US" sz="3000" b="1" kern="0" spc="-6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 production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38088" y="1501676"/>
            <a:ext cx="11567406" cy="251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 sait en temps réel si le service va bien — et on est alerté </a:t>
            </a:r>
            <a:r>
              <a:rPr lang="en-US" sz="1200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avant </a:t>
            </a: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l’utilisateur.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38088" y="1867049"/>
            <a:ext cx="2710160" cy="1681572"/>
          </a:xfrm>
          <a:prstGeom prst="roundRect">
            <a:avLst>
              <a:gd name="adj" fmla="val 3399"/>
            </a:avLst>
          </a:prstGeom>
          <a:solidFill>
            <a:srgbClr val="F4F4F4"/>
          </a:solidFill>
          <a:ln/>
        </p:spPr>
      </p:sp>
      <p:sp>
        <p:nvSpPr>
          <p:cNvPr id="8" name="Shape 5"/>
          <p:cNvSpPr/>
          <p:nvPr/>
        </p:nvSpPr>
        <p:spPr>
          <a:xfrm>
            <a:off x="838088" y="3536714"/>
            <a:ext cx="271016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9" name="Shape 6"/>
          <p:cNvSpPr/>
          <p:nvPr/>
        </p:nvSpPr>
        <p:spPr>
          <a:xfrm>
            <a:off x="838088" y="1867049"/>
            <a:ext cx="2710160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0" name="Shape 7"/>
          <p:cNvSpPr/>
          <p:nvPr/>
        </p:nvSpPr>
        <p:spPr>
          <a:xfrm>
            <a:off x="838088" y="1867049"/>
            <a:ext cx="11906" cy="1681572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1" name="Shape 8"/>
          <p:cNvSpPr/>
          <p:nvPr/>
        </p:nvSpPr>
        <p:spPr>
          <a:xfrm>
            <a:off x="3536342" y="1867049"/>
            <a:ext cx="11906" cy="1681572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2" name="Text 9"/>
          <p:cNvSpPr/>
          <p:nvPr/>
        </p:nvSpPr>
        <p:spPr>
          <a:xfrm>
            <a:off x="992870" y="2014575"/>
            <a:ext cx="264065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TRAFIC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992870" y="2224050"/>
            <a:ext cx="264065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38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Requêtes/s · requêtes actives</a:t>
            </a:r>
            <a:endParaRPr lang="en-US" sz="938" dirty="0"/>
          </a:p>
        </p:txBody>
      </p:sp>
      <p:sp>
        <p:nvSpPr>
          <p:cNvPr id="14" name="Shape 11"/>
          <p:cNvSpPr/>
          <p:nvPr/>
        </p:nvSpPr>
        <p:spPr>
          <a:xfrm>
            <a:off x="992870" y="3189387"/>
            <a:ext cx="1256295" cy="223614"/>
          </a:xfrm>
          <a:prstGeom prst="roundRect">
            <a:avLst>
              <a:gd name="adj" fmla="val 17038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80976" y="3229868"/>
            <a:ext cx="1156283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2A2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rag_active_queries</a:t>
            </a:r>
            <a:endParaRPr lang="en-US" sz="788" dirty="0"/>
          </a:p>
        </p:txBody>
      </p:sp>
      <p:sp>
        <p:nvSpPr>
          <p:cNvPr id="16" name="Shape 13"/>
          <p:cNvSpPr/>
          <p:nvPr/>
        </p:nvSpPr>
        <p:spPr>
          <a:xfrm>
            <a:off x="3662474" y="1867049"/>
            <a:ext cx="2710346" cy="1681572"/>
          </a:xfrm>
          <a:prstGeom prst="roundRect">
            <a:avLst>
              <a:gd name="adj" fmla="val 3399"/>
            </a:avLst>
          </a:prstGeom>
          <a:solidFill>
            <a:srgbClr val="F4F4F4"/>
          </a:solidFill>
          <a:ln/>
        </p:spPr>
      </p:sp>
      <p:sp>
        <p:nvSpPr>
          <p:cNvPr id="17" name="Shape 14"/>
          <p:cNvSpPr/>
          <p:nvPr/>
        </p:nvSpPr>
        <p:spPr>
          <a:xfrm>
            <a:off x="3662474" y="3536714"/>
            <a:ext cx="2710346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8" name="Shape 15"/>
          <p:cNvSpPr/>
          <p:nvPr/>
        </p:nvSpPr>
        <p:spPr>
          <a:xfrm>
            <a:off x="3662474" y="1867049"/>
            <a:ext cx="2710346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9" name="Shape 16"/>
          <p:cNvSpPr/>
          <p:nvPr/>
        </p:nvSpPr>
        <p:spPr>
          <a:xfrm>
            <a:off x="3662474" y="1867049"/>
            <a:ext cx="11906" cy="1681572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0" name="Shape 17"/>
          <p:cNvSpPr/>
          <p:nvPr/>
        </p:nvSpPr>
        <p:spPr>
          <a:xfrm>
            <a:off x="6360914" y="1867049"/>
            <a:ext cx="11906" cy="1681572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1" name="Text 18"/>
          <p:cNvSpPr/>
          <p:nvPr/>
        </p:nvSpPr>
        <p:spPr>
          <a:xfrm>
            <a:off x="3817255" y="2014575"/>
            <a:ext cx="264086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LATENCE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3817255" y="2224050"/>
            <a:ext cx="247698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38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retrieval ~250 ms · génération ~25–30 s </a:t>
            </a:r>
            <a:r>
              <a:rPr lang="en-US" sz="938" i="1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(P95)</a:t>
            </a:r>
            <a:endParaRPr lang="en-US" sz="938" dirty="0"/>
          </a:p>
        </p:txBody>
      </p:sp>
      <p:sp>
        <p:nvSpPr>
          <p:cNvPr id="23" name="Shape 20"/>
          <p:cNvSpPr/>
          <p:nvPr/>
        </p:nvSpPr>
        <p:spPr>
          <a:xfrm>
            <a:off x="3817255" y="3189387"/>
            <a:ext cx="1676177" cy="223614"/>
          </a:xfrm>
          <a:prstGeom prst="roundRect">
            <a:avLst>
              <a:gd name="adj" fmla="val 17038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905362" y="3229868"/>
            <a:ext cx="1576164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2A2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rag_step_duration_seconds</a:t>
            </a:r>
            <a:endParaRPr lang="en-US" sz="788" dirty="0"/>
          </a:p>
        </p:txBody>
      </p:sp>
      <p:sp>
        <p:nvSpPr>
          <p:cNvPr id="25" name="Shape 22"/>
          <p:cNvSpPr/>
          <p:nvPr/>
        </p:nvSpPr>
        <p:spPr>
          <a:xfrm>
            <a:off x="838088" y="3662846"/>
            <a:ext cx="2710160" cy="1681758"/>
          </a:xfrm>
          <a:prstGeom prst="roundRect">
            <a:avLst>
              <a:gd name="adj" fmla="val 3398"/>
            </a:avLst>
          </a:prstGeom>
          <a:solidFill>
            <a:srgbClr val="F4F4F4"/>
          </a:solidFill>
          <a:ln/>
        </p:spPr>
      </p:sp>
      <p:sp>
        <p:nvSpPr>
          <p:cNvPr id="26" name="Shape 23"/>
          <p:cNvSpPr/>
          <p:nvPr/>
        </p:nvSpPr>
        <p:spPr>
          <a:xfrm>
            <a:off x="838088" y="5332698"/>
            <a:ext cx="271016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7" name="Shape 24"/>
          <p:cNvSpPr/>
          <p:nvPr/>
        </p:nvSpPr>
        <p:spPr>
          <a:xfrm>
            <a:off x="838088" y="3662846"/>
            <a:ext cx="2710160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8" name="Shape 25"/>
          <p:cNvSpPr/>
          <p:nvPr/>
        </p:nvSpPr>
        <p:spPr>
          <a:xfrm>
            <a:off x="838088" y="3662846"/>
            <a:ext cx="11906" cy="1681758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9" name="Shape 26"/>
          <p:cNvSpPr/>
          <p:nvPr/>
        </p:nvSpPr>
        <p:spPr>
          <a:xfrm>
            <a:off x="3536342" y="3662846"/>
            <a:ext cx="11906" cy="1681758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0" name="Text 27"/>
          <p:cNvSpPr/>
          <p:nvPr/>
        </p:nvSpPr>
        <p:spPr>
          <a:xfrm>
            <a:off x="992870" y="3810372"/>
            <a:ext cx="264065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ERREURS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992870" y="4019848"/>
            <a:ext cx="24767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38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5xx · quality gate · timeouts LLM · retrievals vides</a:t>
            </a:r>
            <a:endParaRPr lang="en-US" sz="938" dirty="0"/>
          </a:p>
        </p:txBody>
      </p:sp>
      <p:sp>
        <p:nvSpPr>
          <p:cNvPr id="32" name="Shape 29"/>
          <p:cNvSpPr/>
          <p:nvPr/>
        </p:nvSpPr>
        <p:spPr>
          <a:xfrm>
            <a:off x="992870" y="4985370"/>
            <a:ext cx="1676177" cy="223614"/>
          </a:xfrm>
          <a:prstGeom prst="roundRect">
            <a:avLst>
              <a:gd name="adj" fmla="val 17038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80976" y="5025851"/>
            <a:ext cx="1576164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2A2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rag_empty_retrieval_total</a:t>
            </a:r>
            <a:endParaRPr lang="en-US" sz="788" dirty="0"/>
          </a:p>
        </p:txBody>
      </p:sp>
      <p:sp>
        <p:nvSpPr>
          <p:cNvPr id="34" name="Shape 31"/>
          <p:cNvSpPr/>
          <p:nvPr/>
        </p:nvSpPr>
        <p:spPr>
          <a:xfrm>
            <a:off x="3662474" y="3662846"/>
            <a:ext cx="2710346" cy="1681758"/>
          </a:xfrm>
          <a:prstGeom prst="roundRect">
            <a:avLst>
              <a:gd name="adj" fmla="val 3398"/>
            </a:avLst>
          </a:prstGeom>
          <a:solidFill>
            <a:srgbClr val="F4F4F4"/>
          </a:solidFill>
          <a:ln/>
        </p:spPr>
      </p:sp>
      <p:sp>
        <p:nvSpPr>
          <p:cNvPr id="35" name="Shape 32"/>
          <p:cNvSpPr/>
          <p:nvPr/>
        </p:nvSpPr>
        <p:spPr>
          <a:xfrm>
            <a:off x="3662474" y="5332698"/>
            <a:ext cx="2710346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6" name="Shape 33"/>
          <p:cNvSpPr/>
          <p:nvPr/>
        </p:nvSpPr>
        <p:spPr>
          <a:xfrm>
            <a:off x="3662474" y="3662846"/>
            <a:ext cx="2710346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7" name="Shape 34"/>
          <p:cNvSpPr/>
          <p:nvPr/>
        </p:nvSpPr>
        <p:spPr>
          <a:xfrm>
            <a:off x="3662474" y="3662846"/>
            <a:ext cx="11906" cy="1681758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8" name="Shape 35"/>
          <p:cNvSpPr/>
          <p:nvPr/>
        </p:nvSpPr>
        <p:spPr>
          <a:xfrm>
            <a:off x="6360914" y="3662846"/>
            <a:ext cx="11906" cy="1681758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9" name="Text 36"/>
          <p:cNvSpPr/>
          <p:nvPr/>
        </p:nvSpPr>
        <p:spPr>
          <a:xfrm>
            <a:off x="3817255" y="3810372"/>
            <a:ext cx="264086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SATURATION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3817255" y="4019848"/>
            <a:ext cx="264086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38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CPU / RAM · file d'attente · tokens</a:t>
            </a:r>
            <a:endParaRPr lang="en-US" sz="938" dirty="0"/>
          </a:p>
        </p:txBody>
      </p:sp>
      <p:sp>
        <p:nvSpPr>
          <p:cNvPr id="41" name="Shape 38"/>
          <p:cNvSpPr/>
          <p:nvPr/>
        </p:nvSpPr>
        <p:spPr>
          <a:xfrm>
            <a:off x="3817255" y="4985370"/>
            <a:ext cx="1136117" cy="223614"/>
          </a:xfrm>
          <a:prstGeom prst="roundRect">
            <a:avLst>
              <a:gd name="adj" fmla="val 17038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905362" y="5025851"/>
            <a:ext cx="1036104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2A2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rag_tokens_total</a:t>
            </a:r>
            <a:endParaRPr lang="en-US" sz="788" dirty="0"/>
          </a:p>
        </p:txBody>
      </p:sp>
      <p:sp>
        <p:nvSpPr>
          <p:cNvPr id="43" name="Shape 40"/>
          <p:cNvSpPr/>
          <p:nvPr/>
        </p:nvSpPr>
        <p:spPr>
          <a:xfrm>
            <a:off x="838088" y="5468317"/>
            <a:ext cx="5534732" cy="780231"/>
          </a:xfrm>
          <a:prstGeom prst="roundRect">
            <a:avLst>
              <a:gd name="adj" fmla="val 7325"/>
            </a:avLst>
          </a:prstGeom>
          <a:solidFill>
            <a:srgbClr val="2A2A2A"/>
          </a:solidFill>
          <a:ln/>
        </p:spPr>
      </p:sp>
      <p:sp>
        <p:nvSpPr>
          <p:cNvPr id="44" name="Text 41"/>
          <p:cNvSpPr/>
          <p:nvPr/>
        </p:nvSpPr>
        <p:spPr>
          <a:xfrm>
            <a:off x="990451" y="5698815"/>
            <a:ext cx="1012701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105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ALERTES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990451" y="5827365"/>
            <a:ext cx="101270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8 · Prometheus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2060153" y="5582543"/>
            <a:ext cx="953430" cy="242590"/>
          </a:xfrm>
          <a:prstGeom prst="roundRect">
            <a:avLst>
              <a:gd name="adj" fmla="val 50000"/>
            </a:avLst>
          </a:prstGeom>
          <a:solidFill>
            <a:srgbClr val="23272F"/>
          </a:solidFill>
          <a:ln w="11906">
            <a:solidFill>
              <a:srgbClr val="BDD248">
                <a:alpha val="2500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176835" y="5632549"/>
            <a:ext cx="796268" cy="18067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6E9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Critique API</a:t>
            </a:r>
            <a:endParaRPr lang="en-US" sz="788" dirty="0"/>
          </a:p>
        </p:txBody>
      </p:sp>
      <p:sp>
        <p:nvSpPr>
          <p:cNvPr id="48" name="Shape 45"/>
          <p:cNvSpPr/>
          <p:nvPr/>
        </p:nvSpPr>
        <p:spPr>
          <a:xfrm>
            <a:off x="3080184" y="5582543"/>
            <a:ext cx="653355" cy="242590"/>
          </a:xfrm>
          <a:prstGeom prst="roundRect">
            <a:avLst>
              <a:gd name="adj" fmla="val 50000"/>
            </a:avLst>
          </a:prstGeom>
          <a:solidFill>
            <a:srgbClr val="23272F"/>
          </a:solidFill>
          <a:ln w="11906">
            <a:solidFill>
              <a:srgbClr val="BDD248">
                <a:alpha val="2500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196865" y="5632549"/>
            <a:ext cx="496193" cy="18067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6E9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Qualité</a:t>
            </a:r>
            <a:endParaRPr lang="en-US" sz="788" dirty="0"/>
          </a:p>
        </p:txBody>
      </p:sp>
      <p:sp>
        <p:nvSpPr>
          <p:cNvPr id="50" name="Shape 47"/>
          <p:cNvSpPr/>
          <p:nvPr/>
        </p:nvSpPr>
        <p:spPr>
          <a:xfrm>
            <a:off x="3800140" y="5582543"/>
            <a:ext cx="1073423" cy="242590"/>
          </a:xfrm>
          <a:prstGeom prst="roundRect">
            <a:avLst>
              <a:gd name="adj" fmla="val 50000"/>
            </a:avLst>
          </a:prstGeom>
          <a:solidFill>
            <a:srgbClr val="23272F"/>
          </a:solidFill>
          <a:ln w="11906">
            <a:solidFill>
              <a:srgbClr val="BDD248">
                <a:alpha val="2500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916821" y="5632549"/>
            <a:ext cx="916260" cy="18067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6E9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Infrastructure</a:t>
            </a:r>
            <a:endParaRPr lang="en-US" sz="788" dirty="0"/>
          </a:p>
        </p:txBody>
      </p:sp>
      <p:sp>
        <p:nvSpPr>
          <p:cNvPr id="52" name="Text 49"/>
          <p:cNvSpPr/>
          <p:nvPr/>
        </p:nvSpPr>
        <p:spPr>
          <a:xfrm>
            <a:off x="2176835" y="5941740"/>
            <a:ext cx="1576313" cy="18067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i="1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déclenchement automatique</a:t>
            </a:r>
            <a:endParaRPr lang="en-US" sz="788" dirty="0"/>
          </a:p>
        </p:txBody>
      </p:sp>
      <p:sp>
        <p:nvSpPr>
          <p:cNvPr id="53" name="Shape 50"/>
          <p:cNvSpPr/>
          <p:nvPr/>
        </p:nvSpPr>
        <p:spPr>
          <a:xfrm>
            <a:off x="6582296" y="1867049"/>
            <a:ext cx="4771616" cy="3510669"/>
          </a:xfrm>
          <a:prstGeom prst="roundRect">
            <a:avLst>
              <a:gd name="adj" fmla="val 1628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dash"/>
          </a:ln>
        </p:spPr>
      </p:sp>
      <p:sp>
        <p:nvSpPr>
          <p:cNvPr id="54" name="Shape 51"/>
          <p:cNvSpPr/>
          <p:nvPr/>
        </p:nvSpPr>
        <p:spPr>
          <a:xfrm>
            <a:off x="7977560" y="3281660"/>
            <a:ext cx="1980902" cy="681261"/>
          </a:xfrm>
          <a:prstGeom prst="roundRect">
            <a:avLst>
              <a:gd name="adj" fmla="val 5593"/>
            </a:avLst>
          </a:prstGeom>
          <a:solidFill>
            <a:srgbClr val="F4F4F4"/>
          </a:solidFill>
          <a:ln/>
        </p:spPr>
      </p:sp>
      <p:sp>
        <p:nvSpPr>
          <p:cNvPr id="55" name="Text 52"/>
          <p:cNvSpPr/>
          <p:nvPr/>
        </p:nvSpPr>
        <p:spPr>
          <a:xfrm>
            <a:off x="8072810" y="3348335"/>
            <a:ext cx="1790402" cy="586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900" dirty="0">
                <a:solidFill>
                  <a:srgbClr val="909090"/>
                </a:solidFill>
                <a:highlight>
                  <a:srgbClr val="F4F4F4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Capture dashboard Grafana 8 rangées · 23 panels glisser-déposer ici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6582296" y="5501432"/>
            <a:ext cx="4771616" cy="747117"/>
          </a:xfrm>
          <a:prstGeom prst="roundRect">
            <a:avLst>
              <a:gd name="adj" fmla="val 7649"/>
            </a:avLst>
          </a:prstGeom>
          <a:solidFill>
            <a:srgbClr val="EFF4D8"/>
          </a:solidFill>
          <a:ln/>
        </p:spPr>
      </p:sp>
      <p:sp>
        <p:nvSpPr>
          <p:cNvPr id="57" name="Shape 54"/>
          <p:cNvSpPr/>
          <p:nvPr/>
        </p:nvSpPr>
        <p:spPr>
          <a:xfrm>
            <a:off x="6582296" y="6236643"/>
            <a:ext cx="4771616" cy="1190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58" name="Shape 55"/>
          <p:cNvSpPr/>
          <p:nvPr/>
        </p:nvSpPr>
        <p:spPr>
          <a:xfrm>
            <a:off x="6582296" y="5501432"/>
            <a:ext cx="4771616" cy="1190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59" name="Shape 56"/>
          <p:cNvSpPr/>
          <p:nvPr/>
        </p:nvSpPr>
        <p:spPr>
          <a:xfrm>
            <a:off x="6582296" y="5501432"/>
            <a:ext cx="23813" cy="747117"/>
          </a:xfrm>
          <a:prstGeom prst="rect">
            <a:avLst/>
          </a:prstGeom>
          <a:solidFill>
            <a:srgbClr val="8FA82E"/>
          </a:solidFill>
          <a:ln/>
        </p:spPr>
      </p:sp>
      <p:sp>
        <p:nvSpPr>
          <p:cNvPr id="60" name="Shape 57"/>
          <p:cNvSpPr/>
          <p:nvPr/>
        </p:nvSpPr>
        <p:spPr>
          <a:xfrm>
            <a:off x="11342005" y="5501432"/>
            <a:ext cx="11906" cy="747117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61" name="Text 58"/>
          <p:cNvSpPr/>
          <p:nvPr/>
        </p:nvSpPr>
        <p:spPr>
          <a:xfrm>
            <a:off x="6758471" y="5627563"/>
            <a:ext cx="4874289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kern="0" spc="105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 CONTRIBUTION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6758471" y="5784577"/>
            <a:ext cx="4564107" cy="375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938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Métriques système/HTTP : </a:t>
            </a:r>
            <a:r>
              <a:rPr lang="en-US" sz="938" b="1" dirty="0">
                <a:solidFill>
                  <a:srgbClr val="8FA82E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lib standard</a:t>
            </a:r>
            <a:r>
              <a:rPr lang="en-US" sz="938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. Les </a:t>
            </a:r>
            <a:r>
              <a:rPr lang="en-US" sz="938" b="1" dirty="0">
                <a:solidFill>
                  <a:srgbClr val="8FA82E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12 métriques métier RAG </a:t>
            </a:r>
            <a:r>
              <a:rPr lang="en-US" sz="938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: conçues et implémentées par moi.</a:t>
            </a:r>
            <a:endParaRPr lang="en-US" sz="938" dirty="0"/>
          </a:p>
        </p:txBody>
      </p:sp>
      <p:sp>
        <p:nvSpPr>
          <p:cNvPr id="63" name="Text 60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64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65" name="Text 61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13</a:t>
            </a:r>
            <a:endParaRPr lang="en-US" sz="9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95226" y="237939"/>
            <a:ext cx="85576" cy="1237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" name="Text 2"/>
          <p:cNvSpPr/>
          <p:nvPr/>
        </p:nvSpPr>
        <p:spPr>
          <a:xfrm>
            <a:off x="666378" y="228451"/>
            <a:ext cx="21837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3" kern="0" spc="121" dirty="0">
                <a:solidFill>
                  <a:srgbClr val="54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 04 · OPS · MONITORING</a:t>
            </a:r>
            <a:endParaRPr lang="en-US" sz="863" dirty="0"/>
          </a:p>
        </p:txBody>
      </p:sp>
      <p:sp>
        <p:nvSpPr>
          <p:cNvPr id="5" name="Text 3"/>
          <p:cNvSpPr/>
          <p:nvPr/>
        </p:nvSpPr>
        <p:spPr>
          <a:xfrm>
            <a:off x="495226" y="447415"/>
            <a:ext cx="5977905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Observabilité </a:t>
            </a:r>
            <a:r>
              <a:rPr lang="en-US" sz="3000" b="1" kern="0" spc="-60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production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95226" y="925897"/>
            <a:ext cx="5977905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sait en temps réel si le service va bien — et on est alerté </a:t>
            </a:r>
            <a:r>
              <a:rPr lang="en-US" sz="1200" b="1" dirty="0">
                <a:solidFill>
                  <a:srgbClr val="8FA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</a:t>
            </a:r>
            <a:r>
              <a:rPr lang="en-US" sz="120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l'utilisateur.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280666"/>
            <a:ext cx="3962549" cy="2216051"/>
          </a:xfrm>
          <a:prstGeom prst="roundRect">
            <a:avLst>
              <a:gd name="adj" fmla="val 3439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0" y="3484811"/>
            <a:ext cx="3962549" cy="11906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280666"/>
            <a:ext cx="3962549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280666"/>
            <a:ext cx="11906" cy="2216051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522643" y="1280666"/>
            <a:ext cx="11906" cy="2216051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736269" y="1437680"/>
            <a:ext cx="3997412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90" dirty="0">
                <a:solidFill>
                  <a:srgbClr val="8FA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TRAFIC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736269" y="1601949"/>
            <a:ext cx="39974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Requêtes/s · requêtes actives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36269" y="1851980"/>
            <a:ext cx="1307641" cy="211708"/>
          </a:xfrm>
          <a:prstGeom prst="roundRect">
            <a:avLst>
              <a:gd name="adj" fmla="val 17996"/>
            </a:avLst>
          </a:prstGeom>
          <a:solidFill>
            <a:srgbClr val="BDD248">
              <a:alpha val="10000"/>
            </a:srgbClr>
          </a:solidFill>
          <a:ln w="11906">
            <a:solidFill>
              <a:srgbClr val="BDD248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4375" y="1892461"/>
            <a:ext cx="1207629" cy="168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1C1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rag_active_queries</a:t>
            </a:r>
            <a:endParaRPr lang="en-US" sz="825" dirty="0"/>
          </a:p>
        </p:txBody>
      </p:sp>
      <p:sp>
        <p:nvSpPr>
          <p:cNvPr id="16" name="Shape 14"/>
          <p:cNvSpPr/>
          <p:nvPr/>
        </p:nvSpPr>
        <p:spPr>
          <a:xfrm>
            <a:off x="8648774" y="1280666"/>
            <a:ext cx="3048000" cy="2216051"/>
          </a:xfrm>
          <a:prstGeom prst="roundRect">
            <a:avLst>
              <a:gd name="adj" fmla="val 3439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648774" y="3484811"/>
            <a:ext cx="3048000" cy="11906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648774" y="1280666"/>
            <a:ext cx="3048000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648774" y="1280666"/>
            <a:ext cx="11906" cy="2216051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684868" y="1280666"/>
            <a:ext cx="11906" cy="2216051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813043" y="1437680"/>
            <a:ext cx="2991408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90" dirty="0">
                <a:solidFill>
                  <a:srgbClr val="8FA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813043" y="1601949"/>
            <a:ext cx="280104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~250 ms · génération ~25–30 s (P95)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13043" y="2018667"/>
            <a:ext cx="1747614" cy="211708"/>
          </a:xfrm>
          <a:prstGeom prst="roundRect">
            <a:avLst>
              <a:gd name="adj" fmla="val 17996"/>
            </a:avLst>
          </a:prstGeom>
          <a:solidFill>
            <a:srgbClr val="BDD248">
              <a:alpha val="10000"/>
            </a:srgbClr>
          </a:solidFill>
          <a:ln w="11906">
            <a:solidFill>
              <a:srgbClr val="BDD248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01150" y="2059149"/>
            <a:ext cx="1647602" cy="168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1C1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rag_step_duration_seconds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495226" y="1280666"/>
            <a:ext cx="3962549" cy="4546513"/>
          </a:xfrm>
          <a:prstGeom prst="roundRect">
            <a:avLst>
              <a:gd name="adj" fmla="val 1923"/>
            </a:avLst>
          </a:prstGeom>
          <a:solidFill>
            <a:srgbClr val="F9FAF5"/>
          </a:solidFill>
          <a:ln w="11906">
            <a:solidFill>
              <a:srgbClr val="546472">
                <a:alpha val="18000"/>
              </a:srgbClr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2171774" y="2509614"/>
            <a:ext cx="609451" cy="457088"/>
          </a:xfrm>
          <a:prstGeom prst="roundRect">
            <a:avLst>
              <a:gd name="adj" fmla="val 10419"/>
            </a:avLst>
          </a:prstGeom>
          <a:solidFill>
            <a:srgbClr val="546472">
              <a:alpha val="1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238375" y="2576215"/>
            <a:ext cx="476250" cy="76088"/>
          </a:xfrm>
          <a:prstGeom prst="roundRect">
            <a:avLst>
              <a:gd name="adj" fmla="val 25037"/>
            </a:avLst>
          </a:prstGeom>
          <a:solidFill>
            <a:srgbClr val="546472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474143" y="3080928"/>
            <a:ext cx="2004715" cy="724049"/>
          </a:xfrm>
          <a:prstGeom prst="roundRect">
            <a:avLst>
              <a:gd name="adj" fmla="val 7893"/>
            </a:avLst>
          </a:prstGeom>
          <a:solidFill>
            <a:srgbClr val="FFFFFF"/>
          </a:solidFill>
          <a:ln w="11906">
            <a:solidFill>
              <a:srgbClr val="546472">
                <a:alpha val="12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81299" y="3169034"/>
            <a:ext cx="1790402" cy="585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900" dirty="0">
                <a:solidFill>
                  <a:srgbClr val="9AA5B8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 dashboard Grafana 8 rangées · 23 panels glisser-déposer ici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7632" y="3919203"/>
            <a:ext cx="3557736" cy="679028"/>
          </a:xfrm>
          <a:prstGeom prst="roundRect">
            <a:avLst>
              <a:gd name="adj" fmla="val 8416"/>
            </a:avLst>
          </a:prstGeom>
          <a:solidFill>
            <a:srgbClr val="BDD248">
              <a:alpha val="10000"/>
            </a:srgbClr>
          </a:solidFill>
          <a:ln w="11906">
            <a:solidFill>
              <a:srgbClr val="BDD248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2739" y="4026359"/>
            <a:ext cx="3594274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kern="0" spc="81" dirty="0">
                <a:solidFill>
                  <a:srgbClr val="8FA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 CONTRIBUTION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842739" y="4171466"/>
            <a:ext cx="3365547" cy="357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Métriques système : </a:t>
            </a:r>
            <a:r>
              <a:rPr lang="en-US" sz="900" b="1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 standard </a:t>
            </a:r>
            <a:r>
              <a:rPr lang="en-US" sz="90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Les </a:t>
            </a:r>
            <a:r>
              <a:rPr lang="en-US" sz="900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métriques métier RAG </a:t>
            </a:r>
            <a:r>
              <a:rPr lang="en-US" sz="90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conçues par moi.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0" y="3610942"/>
            <a:ext cx="3962549" cy="2216237"/>
          </a:xfrm>
          <a:prstGeom prst="roundRect">
            <a:avLst>
              <a:gd name="adj" fmla="val 3438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0" y="5815273"/>
            <a:ext cx="3962549" cy="11906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0" y="3610942"/>
            <a:ext cx="3962549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0" y="3610942"/>
            <a:ext cx="11906" cy="2216237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522643" y="3610942"/>
            <a:ext cx="11906" cy="2216237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736269" y="3767956"/>
            <a:ext cx="3997412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90" dirty="0">
                <a:solidFill>
                  <a:srgbClr val="8FA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ERREURS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736269" y="3932225"/>
            <a:ext cx="39974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5xx · quality gate · timeouts LLM · retrievals vides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36269" y="4182256"/>
            <a:ext cx="1747614" cy="211708"/>
          </a:xfrm>
          <a:prstGeom prst="roundRect">
            <a:avLst>
              <a:gd name="adj" fmla="val 17996"/>
            </a:avLst>
          </a:prstGeom>
          <a:solidFill>
            <a:srgbClr val="BDD248">
              <a:alpha val="10000"/>
            </a:srgbClr>
          </a:solidFill>
          <a:ln w="11906">
            <a:solidFill>
              <a:srgbClr val="BDD248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4375" y="4222738"/>
            <a:ext cx="1647602" cy="168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1C1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rag_empty_retrieval_total</a:t>
            </a:r>
            <a:endParaRPr lang="en-US" sz="825" dirty="0"/>
          </a:p>
        </p:txBody>
      </p:sp>
      <p:sp>
        <p:nvSpPr>
          <p:cNvPr id="42" name="Shape 40"/>
          <p:cNvSpPr/>
          <p:nvPr/>
        </p:nvSpPr>
        <p:spPr>
          <a:xfrm>
            <a:off x="8648774" y="3610942"/>
            <a:ext cx="3048000" cy="2216237"/>
          </a:xfrm>
          <a:prstGeom prst="roundRect">
            <a:avLst>
              <a:gd name="adj" fmla="val 3438"/>
            </a:avLst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8648774" y="5815273"/>
            <a:ext cx="3048000" cy="11906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648774" y="3610942"/>
            <a:ext cx="3048000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5" name="Shape 43"/>
          <p:cNvSpPr/>
          <p:nvPr/>
        </p:nvSpPr>
        <p:spPr>
          <a:xfrm>
            <a:off x="8648774" y="3610942"/>
            <a:ext cx="11906" cy="2216237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1684868" y="3610942"/>
            <a:ext cx="11906" cy="2216237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813043" y="3767956"/>
            <a:ext cx="2991408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90" dirty="0">
                <a:solidFill>
                  <a:srgbClr val="8FA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SATURATION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813043" y="3932225"/>
            <a:ext cx="2991408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/ RAM · file d'attente · tokens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813043" y="4182256"/>
            <a:ext cx="1181881" cy="211708"/>
          </a:xfrm>
          <a:prstGeom prst="roundRect">
            <a:avLst>
              <a:gd name="adj" fmla="val 17996"/>
            </a:avLst>
          </a:prstGeom>
          <a:solidFill>
            <a:srgbClr val="BDD248">
              <a:alpha val="10000"/>
            </a:srgbClr>
          </a:solidFill>
          <a:ln w="11906">
            <a:solidFill>
              <a:srgbClr val="BDD248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901150" y="4222738"/>
            <a:ext cx="1081869" cy="168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1C1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rag_tokens_total</a:t>
            </a:r>
            <a:endParaRPr lang="en-US" sz="825" dirty="0"/>
          </a:p>
        </p:txBody>
      </p:sp>
      <p:sp>
        <p:nvSpPr>
          <p:cNvPr id="51" name="Shape 49"/>
          <p:cNvSpPr/>
          <p:nvPr/>
        </p:nvSpPr>
        <p:spPr>
          <a:xfrm>
            <a:off x="495226" y="5922429"/>
            <a:ext cx="11201549" cy="495226"/>
          </a:xfrm>
          <a:prstGeom prst="roundRect">
            <a:avLst>
              <a:gd name="adj" fmla="val 15387"/>
            </a:avLst>
          </a:prstGeom>
          <a:solidFill>
            <a:srgbClr val="1C1C24"/>
          </a:solidFill>
          <a:ln/>
        </p:spPr>
      </p:sp>
      <p:sp>
        <p:nvSpPr>
          <p:cNvPr id="52" name="Text 50"/>
          <p:cNvSpPr/>
          <p:nvPr/>
        </p:nvSpPr>
        <p:spPr>
          <a:xfrm>
            <a:off x="685726" y="6045026"/>
            <a:ext cx="987958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90" dirty="0">
                <a:solidFill>
                  <a:srgbClr val="BDD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ALERTES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85726" y="6152183"/>
            <a:ext cx="98795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Prometheus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1749847" y="6017679"/>
            <a:ext cx="9525" cy="304726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911697" y="6054700"/>
            <a:ext cx="1006822" cy="230684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11906">
            <a:solidFill>
              <a:srgbClr val="BDD248">
                <a:alpha val="2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37904" y="6104706"/>
            <a:ext cx="830610" cy="168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Critique API</a:t>
            </a:r>
            <a:endParaRPr lang="en-US" sz="825" dirty="0"/>
          </a:p>
        </p:txBody>
      </p:sp>
      <p:sp>
        <p:nvSpPr>
          <p:cNvPr id="57" name="Shape 55"/>
          <p:cNvSpPr/>
          <p:nvPr/>
        </p:nvSpPr>
        <p:spPr>
          <a:xfrm>
            <a:off x="2994608" y="6054700"/>
            <a:ext cx="692423" cy="230684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11906">
            <a:solidFill>
              <a:srgbClr val="BDD248">
                <a:alpha val="2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20814" y="6104706"/>
            <a:ext cx="516210" cy="168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Qualité</a:t>
            </a:r>
            <a:endParaRPr lang="en-US" sz="825" dirty="0"/>
          </a:p>
        </p:txBody>
      </p:sp>
      <p:sp>
        <p:nvSpPr>
          <p:cNvPr id="59" name="Shape 57"/>
          <p:cNvSpPr/>
          <p:nvPr/>
        </p:nvSpPr>
        <p:spPr>
          <a:xfrm>
            <a:off x="3763119" y="6054700"/>
            <a:ext cx="1132396" cy="230684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11906">
            <a:solidFill>
              <a:srgbClr val="BDD248">
                <a:alpha val="2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89325" y="6104706"/>
            <a:ext cx="956183" cy="168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</a:t>
            </a:r>
            <a:endParaRPr lang="en-US" sz="825" dirty="0"/>
          </a:p>
        </p:txBody>
      </p:sp>
      <p:sp>
        <p:nvSpPr>
          <p:cNvPr id="61" name="Text 59"/>
          <p:cNvSpPr/>
          <p:nvPr/>
        </p:nvSpPr>
        <p:spPr>
          <a:xfrm>
            <a:off x="4971604" y="6054700"/>
            <a:ext cx="1648197" cy="268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i="1" dirty="0">
                <a:solidFill>
                  <a:srgbClr val="FFFFFF">
                    <a:alpha val="3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déclenchement automatique</a:t>
            </a:r>
            <a:endParaRPr lang="en-US" sz="825" dirty="0"/>
          </a:p>
        </p:txBody>
      </p:sp>
      <p:pic>
        <p:nvPicPr>
          <p:cNvPr id="62" name="Image 0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1311124" y="6060467"/>
            <a:ext cx="195151" cy="171338"/>
          </a:xfrm>
          <a:prstGeom prst="rect">
            <a:avLst/>
          </a:prstGeom>
        </p:spPr>
      </p:pic>
      <p:sp>
        <p:nvSpPr>
          <p:cNvPr id="63" name="Shape 60"/>
          <p:cNvSpPr/>
          <p:nvPr/>
        </p:nvSpPr>
        <p:spPr>
          <a:xfrm>
            <a:off x="495226" y="6493743"/>
            <a:ext cx="11201549" cy="11906"/>
          </a:xfrm>
          <a:prstGeom prst="rect">
            <a:avLst/>
          </a:prstGeom>
          <a:solidFill>
            <a:srgbClr val="546472">
              <a:alpha val="14000"/>
            </a:srgbClr>
          </a:solidFill>
          <a:ln/>
        </p:spPr>
      </p:sp>
      <p:sp>
        <p:nvSpPr>
          <p:cNvPr id="64" name="Text 61"/>
          <p:cNvSpPr/>
          <p:nvPr/>
        </p:nvSpPr>
        <p:spPr>
          <a:xfrm>
            <a:off x="990451" y="6610387"/>
            <a:ext cx="35425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546472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 de Fin d'Études · Pipeline MLOps générique</a:t>
            </a:r>
            <a:endParaRPr lang="en-US" sz="863" dirty="0"/>
          </a:p>
        </p:txBody>
      </p:sp>
      <p:sp>
        <p:nvSpPr>
          <p:cNvPr id="65" name="Text 62"/>
          <p:cNvSpPr/>
          <p:nvPr/>
        </p:nvSpPr>
        <p:spPr>
          <a:xfrm>
            <a:off x="11063697" y="6616340"/>
            <a:ext cx="214052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75" dirty="0"/>
          </a:p>
        </p:txBody>
      </p:sp>
    </p:spTree>
    <p:extLst>
      <p:ext uri="{BB962C8B-B14F-4D97-AF65-F5344CB8AC3E}">
        <p14:creationId xmlns:p14="http://schemas.microsoft.com/office/powerpoint/2010/main" val="12938002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444952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OPS · MONITORING · QUALITÉ EN PRODUCTION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4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700" b="1" kern="0" spc="-54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Surveiller non seulement que ça répond, mais </a:t>
            </a:r>
            <a:r>
              <a:rPr lang="en-US" sz="2700" b="1" kern="0" spc="-54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que ça répond bien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38088" y="1456655"/>
            <a:ext cx="11567406" cy="251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La qualité d’un RAG ne se voit pas dans les métriques système. On l’évalue en continu — sans ralentir l’utilisateur.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38088" y="1822214"/>
            <a:ext cx="807207" cy="482389"/>
          </a:xfrm>
          <a:prstGeom prst="roundRect">
            <a:avLst>
              <a:gd name="adj" fmla="val 15796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3196" y="1919697"/>
            <a:ext cx="593192" cy="187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Requête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83196" y="2088059"/>
            <a:ext cx="59319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22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 RAG</a:t>
            </a:r>
            <a:endParaRPr lang="en-US" sz="7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545" y="1974205"/>
            <a:ext cx="285750" cy="18082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121545" y="1822214"/>
            <a:ext cx="2570634" cy="482389"/>
          </a:xfrm>
          <a:prstGeom prst="roundRect">
            <a:avLst>
              <a:gd name="adj" fmla="val 15796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266652" y="1919697"/>
            <a:ext cx="2508461" cy="187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Réponse renvoyée immédiatement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266652" y="2088059"/>
            <a:ext cx="2508461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22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à l’utilisateur · sans attendre l’éval</a:t>
            </a:r>
            <a:endParaRPr lang="en-US" sz="7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540" y="2352229"/>
            <a:ext cx="190500" cy="30472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61591" y="2445060"/>
            <a:ext cx="197654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13" kern="0" spc="71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FORK — SANS BLOQUER LA RÉPONSE</a:t>
            </a:r>
            <a:endParaRPr lang="en-US" sz="713" dirty="0"/>
          </a:p>
        </p:txBody>
      </p:sp>
      <p:sp>
        <p:nvSpPr>
          <p:cNvPr id="16" name="Shape 11"/>
          <p:cNvSpPr/>
          <p:nvPr/>
        </p:nvSpPr>
        <p:spPr>
          <a:xfrm>
            <a:off x="838088" y="2704579"/>
            <a:ext cx="10515823" cy="890922"/>
          </a:xfrm>
          <a:prstGeom prst="roundRect">
            <a:avLst>
              <a:gd name="adj" fmla="val 12829"/>
            </a:avLst>
          </a:prstGeom>
          <a:solidFill>
            <a:srgbClr val="2A2A2A"/>
          </a:solidFill>
          <a:ln/>
        </p:spPr>
      </p:sp>
      <p:sp>
        <p:nvSpPr>
          <p:cNvPr id="17" name="Text 12"/>
          <p:cNvSpPr/>
          <p:nvPr/>
        </p:nvSpPr>
        <p:spPr>
          <a:xfrm>
            <a:off x="990451" y="2809317"/>
            <a:ext cx="11232207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105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ARRIÈRE-PLAN · BACKGROUNDTASK</a:t>
            </a:r>
            <a:endParaRPr lang="en-US" sz="750" dirty="0"/>
          </a:p>
        </p:txBody>
      </p:sp>
      <p:sp>
        <p:nvSpPr>
          <p:cNvPr id="18" name="Shape 13"/>
          <p:cNvSpPr/>
          <p:nvPr/>
        </p:nvSpPr>
        <p:spPr>
          <a:xfrm>
            <a:off x="990451" y="3013956"/>
            <a:ext cx="1699989" cy="457833"/>
          </a:xfrm>
          <a:prstGeom prst="roundRect">
            <a:avLst>
              <a:gd name="adj" fmla="val 16644"/>
            </a:avLst>
          </a:prstGeom>
          <a:solidFill>
            <a:srgbClr val="23272F"/>
          </a:solidFill>
          <a:ln w="11906">
            <a:solidFill>
              <a:srgbClr val="BDD248">
                <a:alpha val="2200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126071" y="3101950"/>
            <a:ext cx="1571625" cy="181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Échantillonnage</a:t>
            </a:r>
            <a:endParaRPr lang="en-US" sz="1013" dirty="0"/>
          </a:p>
        </p:txBody>
      </p:sp>
      <p:sp>
        <p:nvSpPr>
          <p:cNvPr id="20" name="Text 15"/>
          <p:cNvSpPr/>
          <p:nvPr/>
        </p:nvSpPr>
        <p:spPr>
          <a:xfrm>
            <a:off x="1126071" y="3264731"/>
            <a:ext cx="157162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requête / 10 · hash MD5</a:t>
            </a:r>
            <a:endParaRPr lang="en-US" sz="7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6017" y="3153668"/>
            <a:ext cx="285750" cy="180826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3147343" y="3013956"/>
            <a:ext cx="1151930" cy="457833"/>
          </a:xfrm>
          <a:prstGeom prst="roundRect">
            <a:avLst>
              <a:gd name="adj" fmla="val 16644"/>
            </a:avLst>
          </a:prstGeom>
          <a:solidFill>
            <a:srgbClr val="23272F"/>
          </a:solidFill>
          <a:ln w="11906">
            <a:solidFill>
              <a:srgbClr val="BDD248">
                <a:alpha val="22000"/>
              </a:srgbClr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282962" y="3101950"/>
            <a:ext cx="956890" cy="181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RAGAS évalue</a:t>
            </a:r>
            <a:endParaRPr lang="en-US" sz="1013" dirty="0"/>
          </a:p>
        </p:txBody>
      </p:sp>
      <p:sp>
        <p:nvSpPr>
          <p:cNvPr id="24" name="Text 18"/>
          <p:cNvSpPr/>
          <p:nvPr/>
        </p:nvSpPr>
        <p:spPr>
          <a:xfrm>
            <a:off x="3282962" y="3264731"/>
            <a:ext cx="95689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juge qwen2:0.5b</a:t>
            </a:r>
            <a:endParaRPr lang="en-US" sz="75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849" y="3153668"/>
            <a:ext cx="285750" cy="180826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4756175" y="3013956"/>
            <a:ext cx="1300014" cy="457833"/>
          </a:xfrm>
          <a:prstGeom prst="roundRect">
            <a:avLst>
              <a:gd name="adj" fmla="val 16644"/>
            </a:avLst>
          </a:prstGeom>
          <a:solidFill>
            <a:srgbClr val="23272F"/>
          </a:solidFill>
          <a:ln w="11906">
            <a:solidFill>
              <a:srgbClr val="BDD248">
                <a:alpha val="22000"/>
              </a:srgbClr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4891794" y="3101950"/>
            <a:ext cx="1104974" cy="181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Prometheus</a:t>
            </a:r>
            <a:endParaRPr lang="en-US" sz="1013" dirty="0"/>
          </a:p>
        </p:txBody>
      </p:sp>
      <p:sp>
        <p:nvSpPr>
          <p:cNvPr id="28" name="Text 21"/>
          <p:cNvSpPr/>
          <p:nvPr/>
        </p:nvSpPr>
        <p:spPr>
          <a:xfrm>
            <a:off x="4891794" y="3264731"/>
            <a:ext cx="110497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métriques publiées</a:t>
            </a:r>
            <a:endParaRPr lang="en-US" sz="75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765" y="3153668"/>
            <a:ext cx="285750" cy="180826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6513091" y="3013956"/>
            <a:ext cx="754931" cy="457833"/>
          </a:xfrm>
          <a:prstGeom prst="roundRect">
            <a:avLst>
              <a:gd name="adj" fmla="val 16644"/>
            </a:avLst>
          </a:prstGeom>
          <a:solidFill>
            <a:srgbClr val="23272F"/>
          </a:solidFill>
          <a:ln w="11906">
            <a:solidFill>
              <a:srgbClr val="BDD248">
                <a:alpha val="22000"/>
              </a:srgbClr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6648710" y="3101950"/>
            <a:ext cx="559891" cy="181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Grafana</a:t>
            </a:r>
            <a:endParaRPr lang="en-US" sz="1013" dirty="0"/>
          </a:p>
        </p:txBody>
      </p:sp>
      <p:sp>
        <p:nvSpPr>
          <p:cNvPr id="32" name="Text 24"/>
          <p:cNvSpPr/>
          <p:nvPr/>
        </p:nvSpPr>
        <p:spPr>
          <a:xfrm>
            <a:off x="6648710" y="3264731"/>
            <a:ext cx="559891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visibles</a:t>
            </a:r>
            <a:endParaRPr lang="en-US" sz="750" dirty="0"/>
          </a:p>
        </p:txBody>
      </p:sp>
      <p:sp>
        <p:nvSpPr>
          <p:cNvPr id="33" name="Shape 25"/>
          <p:cNvSpPr/>
          <p:nvPr/>
        </p:nvSpPr>
        <p:spPr>
          <a:xfrm>
            <a:off x="838088" y="3738376"/>
            <a:ext cx="5191311" cy="431788"/>
          </a:xfrm>
          <a:prstGeom prst="roundRect">
            <a:avLst>
              <a:gd name="adj" fmla="val 13236"/>
            </a:avLst>
          </a:prstGeom>
          <a:solidFill>
            <a:srgbClr val="F4F4F4"/>
          </a:solidFill>
          <a:ln/>
        </p:spPr>
      </p:sp>
      <p:sp>
        <p:nvSpPr>
          <p:cNvPr id="34" name="Shape 26"/>
          <p:cNvSpPr/>
          <p:nvPr/>
        </p:nvSpPr>
        <p:spPr>
          <a:xfrm>
            <a:off x="838088" y="4158258"/>
            <a:ext cx="5191311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5" name="Shape 27"/>
          <p:cNvSpPr/>
          <p:nvPr/>
        </p:nvSpPr>
        <p:spPr>
          <a:xfrm>
            <a:off x="838088" y="3738376"/>
            <a:ext cx="5191311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6" name="Shape 28"/>
          <p:cNvSpPr/>
          <p:nvPr/>
        </p:nvSpPr>
        <p:spPr>
          <a:xfrm>
            <a:off x="838088" y="3738376"/>
            <a:ext cx="23813" cy="43178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7" name="Shape 29"/>
          <p:cNvSpPr/>
          <p:nvPr/>
        </p:nvSpPr>
        <p:spPr>
          <a:xfrm>
            <a:off x="6017493" y="3738376"/>
            <a:ext cx="11906" cy="431788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8" name="Text 30"/>
          <p:cNvSpPr/>
          <p:nvPr/>
        </p:nvSpPr>
        <p:spPr>
          <a:xfrm>
            <a:off x="1014301" y="3864583"/>
            <a:ext cx="5006532" cy="217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Éval en arrière-plan : </a:t>
            </a:r>
            <a:r>
              <a:rPr lang="en-US" sz="975" dirty="0">
                <a:solidFill>
                  <a:srgbClr val="525252"/>
                </a:solidFill>
                <a:highlight>
                  <a:srgbClr val="F4F4F4"/>
                </a:highlight>
                <a:latin typeface="Mulish" pitchFamily="34" charset="0"/>
                <a:ea typeface="Mulish" pitchFamily="34" charset="-122"/>
                <a:cs typeface="Mulish" pitchFamily="34" charset="-120"/>
              </a:rPr>
              <a:t>la latence utilisateur n’est </a:t>
            </a:r>
            <a:r>
              <a:rPr lang="en-US" sz="975" b="1" dirty="0">
                <a:solidFill>
                  <a:srgbClr val="8FA82E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jamais </a:t>
            </a:r>
            <a:r>
              <a:rPr lang="en-US" sz="975" dirty="0">
                <a:solidFill>
                  <a:srgbClr val="525252"/>
                </a:solidFill>
                <a:highlight>
                  <a:srgbClr val="F4F4F4"/>
                </a:highlight>
                <a:latin typeface="Mulish" pitchFamily="34" charset="0"/>
                <a:ea typeface="Mulish" pitchFamily="34" charset="-122"/>
                <a:cs typeface="Mulish" pitchFamily="34" charset="-120"/>
              </a:rPr>
              <a:t>impactée.</a:t>
            </a:r>
            <a:endParaRPr lang="en-US" sz="975" dirty="0"/>
          </a:p>
        </p:txBody>
      </p:sp>
      <p:sp>
        <p:nvSpPr>
          <p:cNvPr id="39" name="Shape 31"/>
          <p:cNvSpPr/>
          <p:nvPr/>
        </p:nvSpPr>
        <p:spPr>
          <a:xfrm>
            <a:off x="6162601" y="3738376"/>
            <a:ext cx="5191311" cy="431788"/>
          </a:xfrm>
          <a:prstGeom prst="roundRect">
            <a:avLst>
              <a:gd name="adj" fmla="val 13236"/>
            </a:avLst>
          </a:prstGeom>
          <a:solidFill>
            <a:srgbClr val="F4F4F4"/>
          </a:solidFill>
          <a:ln/>
        </p:spPr>
      </p:sp>
      <p:sp>
        <p:nvSpPr>
          <p:cNvPr id="40" name="Shape 32"/>
          <p:cNvSpPr/>
          <p:nvPr/>
        </p:nvSpPr>
        <p:spPr>
          <a:xfrm>
            <a:off x="6162601" y="4158258"/>
            <a:ext cx="5191311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1" name="Shape 33"/>
          <p:cNvSpPr/>
          <p:nvPr/>
        </p:nvSpPr>
        <p:spPr>
          <a:xfrm>
            <a:off x="6162601" y="3738376"/>
            <a:ext cx="5191311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2" name="Shape 34"/>
          <p:cNvSpPr/>
          <p:nvPr/>
        </p:nvSpPr>
        <p:spPr>
          <a:xfrm>
            <a:off x="6162601" y="3738376"/>
            <a:ext cx="23813" cy="43178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3" name="Shape 35"/>
          <p:cNvSpPr/>
          <p:nvPr/>
        </p:nvSpPr>
        <p:spPr>
          <a:xfrm>
            <a:off x="11342005" y="3738376"/>
            <a:ext cx="11906" cy="431788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4" name="Text 36"/>
          <p:cNvSpPr/>
          <p:nvPr/>
        </p:nvSpPr>
        <p:spPr>
          <a:xfrm>
            <a:off x="6338813" y="3864583"/>
            <a:ext cx="5006532" cy="217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Échantillonnage déterministe (hash MD5) : </a:t>
            </a:r>
            <a:r>
              <a:rPr lang="en-US" sz="975" dirty="0">
                <a:solidFill>
                  <a:srgbClr val="525252"/>
                </a:solidFill>
                <a:highlight>
                  <a:srgbClr val="F4F4F4"/>
                </a:highlight>
                <a:latin typeface="Mulish" pitchFamily="34" charset="0"/>
                <a:ea typeface="Mulish" pitchFamily="34" charset="-122"/>
                <a:cs typeface="Mulish" pitchFamily="34" charset="-120"/>
              </a:rPr>
              <a:t>reproductible, même en multi-instances.</a:t>
            </a:r>
            <a:endParaRPr lang="en-US" sz="975" dirty="0"/>
          </a:p>
        </p:txBody>
      </p:sp>
      <p:sp>
        <p:nvSpPr>
          <p:cNvPr id="45" name="Shape 37"/>
          <p:cNvSpPr/>
          <p:nvPr/>
        </p:nvSpPr>
        <p:spPr>
          <a:xfrm>
            <a:off x="838088" y="4313039"/>
            <a:ext cx="5191311" cy="841251"/>
          </a:xfrm>
          <a:prstGeom prst="roundRect">
            <a:avLst>
              <a:gd name="adj" fmla="val 6793"/>
            </a:avLst>
          </a:prstGeom>
          <a:solidFill>
            <a:srgbClr val="2A2A2A"/>
          </a:solidFill>
          <a:ln/>
        </p:spPr>
      </p:sp>
      <p:sp>
        <p:nvSpPr>
          <p:cNvPr id="46" name="Text 38"/>
          <p:cNvSpPr/>
          <p:nvPr/>
        </p:nvSpPr>
        <p:spPr>
          <a:xfrm>
            <a:off x="1009427" y="4436752"/>
            <a:ext cx="5333498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105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PREUVE</a:t>
            </a:r>
            <a:endParaRPr lang="en-US" sz="750" dirty="0"/>
          </a:p>
        </p:txBody>
      </p:sp>
      <p:sp>
        <p:nvSpPr>
          <p:cNvPr id="47" name="Text 39"/>
          <p:cNvSpPr/>
          <p:nvPr/>
        </p:nvSpPr>
        <p:spPr>
          <a:xfrm>
            <a:off x="1009427" y="4603440"/>
            <a:ext cx="5333498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faithfulness = </a:t>
            </a:r>
            <a:r>
              <a:rPr lang="en-US" sz="1200" b="1" dirty="0">
                <a:solidFill>
                  <a:srgbClr val="BDD24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1.0 </a:t>
            </a:r>
            <a:r>
              <a:rPr lang="en-US" sz="975" b="1" dirty="0">
                <a:solidFill>
                  <a:srgbClr val="9AA5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— premier run validé sur le jeu d'évaluation</a:t>
            </a:r>
            <a:endParaRPr lang="en-US" sz="1200" dirty="0"/>
          </a:p>
        </p:txBody>
      </p:sp>
      <p:sp>
        <p:nvSpPr>
          <p:cNvPr id="48" name="Text 40"/>
          <p:cNvSpPr/>
          <p:nvPr/>
        </p:nvSpPr>
        <p:spPr>
          <a:xfrm>
            <a:off x="1009427" y="4877284"/>
            <a:ext cx="5333498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63" i="1" dirty="0">
                <a:solidFill>
                  <a:srgbClr val="9AA5B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answer_relevancy plus fragile avec un juge léger (slide suivante).</a:t>
            </a:r>
            <a:endParaRPr lang="en-US" sz="863" dirty="0"/>
          </a:p>
        </p:txBody>
      </p:sp>
      <p:sp>
        <p:nvSpPr>
          <p:cNvPr id="49" name="Shape 41"/>
          <p:cNvSpPr/>
          <p:nvPr/>
        </p:nvSpPr>
        <p:spPr>
          <a:xfrm>
            <a:off x="6162601" y="4313039"/>
            <a:ext cx="5191311" cy="841251"/>
          </a:xfrm>
          <a:prstGeom prst="roundRect">
            <a:avLst>
              <a:gd name="adj" fmla="val 6793"/>
            </a:avLst>
          </a:prstGeom>
          <a:solidFill>
            <a:srgbClr val="EFF4D8"/>
          </a:solidFill>
          <a:ln/>
        </p:spPr>
      </p:sp>
      <p:sp>
        <p:nvSpPr>
          <p:cNvPr id="50" name="Shape 42"/>
          <p:cNvSpPr/>
          <p:nvPr/>
        </p:nvSpPr>
        <p:spPr>
          <a:xfrm>
            <a:off x="6162601" y="5142384"/>
            <a:ext cx="5191311" cy="1190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51" name="Shape 43"/>
          <p:cNvSpPr/>
          <p:nvPr/>
        </p:nvSpPr>
        <p:spPr>
          <a:xfrm>
            <a:off x="6162601" y="4313039"/>
            <a:ext cx="5191311" cy="1190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52" name="Shape 44"/>
          <p:cNvSpPr/>
          <p:nvPr/>
        </p:nvSpPr>
        <p:spPr>
          <a:xfrm>
            <a:off x="6162601" y="4313039"/>
            <a:ext cx="23813" cy="841251"/>
          </a:xfrm>
          <a:prstGeom prst="rect">
            <a:avLst/>
          </a:prstGeom>
          <a:solidFill>
            <a:srgbClr val="8FA82E"/>
          </a:solidFill>
          <a:ln/>
        </p:spPr>
      </p:sp>
      <p:sp>
        <p:nvSpPr>
          <p:cNvPr id="53" name="Shape 45"/>
          <p:cNvSpPr/>
          <p:nvPr/>
        </p:nvSpPr>
        <p:spPr>
          <a:xfrm>
            <a:off x="11342005" y="4313039"/>
            <a:ext cx="11906" cy="84125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54" name="Text 46"/>
          <p:cNvSpPr/>
          <p:nvPr/>
        </p:nvSpPr>
        <p:spPr>
          <a:xfrm>
            <a:off x="6357751" y="4448659"/>
            <a:ext cx="5294207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kern="0" spc="105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 CONTRIBUTION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6357751" y="4615346"/>
            <a:ext cx="5294207" cy="217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Éval async, échantillonnage et métriques de qualité conçus et implémentés par moi.</a:t>
            </a:r>
            <a:endParaRPr lang="en-US" sz="975" dirty="0"/>
          </a:p>
        </p:txBody>
      </p:sp>
      <p:sp>
        <p:nvSpPr>
          <p:cNvPr id="56" name="Text 48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57" name="Image 6" descr="preencoded.png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11099416" y="6418585"/>
            <a:ext cx="254496" cy="15236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5"/>
          </a:solidFill>
          <a:ln/>
        </p:spPr>
      </p:sp>
      <p:sp>
        <p:nvSpPr>
          <p:cNvPr id="3" name="Shape 1"/>
          <p:cNvSpPr/>
          <p:nvPr/>
        </p:nvSpPr>
        <p:spPr>
          <a:xfrm>
            <a:off x="495226" y="237939"/>
            <a:ext cx="85576" cy="1237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" name="Text 2"/>
          <p:cNvSpPr/>
          <p:nvPr/>
        </p:nvSpPr>
        <p:spPr>
          <a:xfrm>
            <a:off x="666378" y="228451"/>
            <a:ext cx="33396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3" kern="0" spc="121" dirty="0">
                <a:solidFill>
                  <a:srgbClr val="54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 · MONITORING · QUALITÉ EN PRODUCTION</a:t>
            </a:r>
            <a:endParaRPr lang="en-US" sz="863" dirty="0"/>
          </a:p>
        </p:txBody>
      </p:sp>
      <p:sp>
        <p:nvSpPr>
          <p:cNvPr id="5" name="Text 3"/>
          <p:cNvSpPr/>
          <p:nvPr/>
        </p:nvSpPr>
        <p:spPr>
          <a:xfrm>
            <a:off x="495226" y="447415"/>
            <a:ext cx="12321704" cy="43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54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Surveiller non seulement que ça répond, mais </a:t>
            </a:r>
            <a:r>
              <a:rPr lang="en-US" sz="2700" b="1" kern="0" spc="-54" dirty="0">
                <a:solidFill>
                  <a:srgbClr val="8FA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ça répond bien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95226" y="878272"/>
            <a:ext cx="12321704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qualité d'un RAG ne se voit pas dans les métriques système. On l'évalue en continu — sans ralentir l'utilisateur.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5226" y="1213879"/>
            <a:ext cx="11201549" cy="956965"/>
          </a:xfrm>
          <a:prstGeom prst="roundRect">
            <a:avLst>
              <a:gd name="adj" fmla="val 9953"/>
            </a:avLst>
          </a:prstGeom>
          <a:solidFill>
            <a:srgbClr val="1C1C24"/>
          </a:solidFill>
          <a:ln/>
        </p:spPr>
      </p:sp>
      <p:sp>
        <p:nvSpPr>
          <p:cNvPr id="8" name="Text 6"/>
          <p:cNvSpPr/>
          <p:nvPr/>
        </p:nvSpPr>
        <p:spPr>
          <a:xfrm>
            <a:off x="685726" y="1366242"/>
            <a:ext cx="1190260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BDD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FLUX ASYNCHRONE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85726" y="1580555"/>
            <a:ext cx="794556" cy="437927"/>
          </a:xfrm>
          <a:prstGeom prst="roundRect">
            <a:avLst>
              <a:gd name="adj" fmla="val 13050"/>
            </a:avLst>
          </a:prstGeom>
          <a:solidFill>
            <a:srgbClr val="BDD248">
              <a:alpha val="10000"/>
            </a:srgbClr>
          </a:solidFill>
          <a:ln w="11906">
            <a:solidFill>
              <a:srgbClr val="BDD248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0833" y="1668549"/>
            <a:ext cx="58054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30833" y="1811424"/>
            <a:ext cx="580541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RAG</a:t>
            </a:r>
            <a:endParaRPr lang="en-US" sz="7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6370" y="1713756"/>
            <a:ext cx="266588" cy="17133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899047" y="1580555"/>
            <a:ext cx="1476189" cy="437927"/>
          </a:xfrm>
          <a:prstGeom prst="roundRect">
            <a:avLst>
              <a:gd name="adj" fmla="val 13050"/>
            </a:avLst>
          </a:prstGeom>
          <a:solidFill>
            <a:srgbClr val="BDD248">
              <a:alpha val="10000"/>
            </a:srgbClr>
          </a:solidFill>
          <a:ln w="11906">
            <a:solidFill>
              <a:srgbClr val="BDD248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44154" y="1668549"/>
            <a:ext cx="126217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Réponse immédiate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067411" y="2007367"/>
            <a:ext cx="126217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sans attendre l'éval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489424" y="1734034"/>
            <a:ext cx="422300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 ↓</a:t>
            </a:r>
            <a:endParaRPr lang="en-US" sz="825" dirty="0"/>
          </a:p>
        </p:txBody>
      </p:sp>
      <p:sp>
        <p:nvSpPr>
          <p:cNvPr id="17" name="Shape 14"/>
          <p:cNvSpPr/>
          <p:nvPr/>
        </p:nvSpPr>
        <p:spPr>
          <a:xfrm>
            <a:off x="3980594" y="1586508"/>
            <a:ext cx="1547626" cy="426021"/>
          </a:xfrm>
          <a:prstGeom prst="roundRect">
            <a:avLst>
              <a:gd name="adj" fmla="val 13415"/>
            </a:avLst>
          </a:prstGeom>
          <a:solidFill>
            <a:srgbClr val="23272F"/>
          </a:solidFill>
          <a:ln w="11906">
            <a:solidFill>
              <a:srgbClr val="BDD248">
                <a:alpha val="1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25702" y="1674502"/>
            <a:ext cx="1383153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Échantillonnage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4125702" y="1805471"/>
            <a:ext cx="1383153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req. / 10 · hash MD5</a:t>
            </a:r>
            <a:endParaRPr lang="en-US" sz="7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04309" y="1713756"/>
            <a:ext cx="266588" cy="17133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946986" y="1586508"/>
            <a:ext cx="1147465" cy="426021"/>
          </a:xfrm>
          <a:prstGeom prst="roundRect">
            <a:avLst>
              <a:gd name="adj" fmla="val 13415"/>
            </a:avLst>
          </a:prstGeom>
          <a:solidFill>
            <a:srgbClr val="23272F"/>
          </a:solidFill>
          <a:ln w="11906">
            <a:solidFill>
              <a:srgbClr val="BDD248">
                <a:alpha val="15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092093" y="1674502"/>
            <a:ext cx="933450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RAGAS évalue</a:t>
            </a:r>
            <a:endParaRPr lang="en-US" sz="975" dirty="0"/>
          </a:p>
        </p:txBody>
      </p:sp>
      <p:sp>
        <p:nvSpPr>
          <p:cNvPr id="23" name="Text 19"/>
          <p:cNvSpPr/>
          <p:nvPr/>
        </p:nvSpPr>
        <p:spPr>
          <a:xfrm>
            <a:off x="6092093" y="1805471"/>
            <a:ext cx="93345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juge qwen2:0.5b</a:t>
            </a:r>
            <a:endParaRPr lang="en-US" sz="75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70539" y="1713756"/>
            <a:ext cx="266588" cy="171338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7513216" y="1586508"/>
            <a:ext cx="1318989" cy="426021"/>
          </a:xfrm>
          <a:prstGeom prst="roundRect">
            <a:avLst>
              <a:gd name="adj" fmla="val 13415"/>
            </a:avLst>
          </a:prstGeom>
          <a:solidFill>
            <a:srgbClr val="23272F"/>
          </a:solidFill>
          <a:ln w="11906">
            <a:solidFill>
              <a:srgbClr val="BDD248">
                <a:alpha val="15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658323" y="1674502"/>
            <a:ext cx="1104974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en-US" sz="975" dirty="0"/>
          </a:p>
        </p:txBody>
      </p:sp>
      <p:sp>
        <p:nvSpPr>
          <p:cNvPr id="27" name="Text 22"/>
          <p:cNvSpPr/>
          <p:nvPr/>
        </p:nvSpPr>
        <p:spPr>
          <a:xfrm>
            <a:off x="7658323" y="1805471"/>
            <a:ext cx="110497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métriques publiées</a:t>
            </a:r>
            <a:endParaRPr lang="en-US" sz="75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08293" y="1713756"/>
            <a:ext cx="266588" cy="171338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9250970" y="1586508"/>
            <a:ext cx="747489" cy="426021"/>
          </a:xfrm>
          <a:prstGeom prst="roundRect">
            <a:avLst>
              <a:gd name="adj" fmla="val 13415"/>
            </a:avLst>
          </a:prstGeom>
          <a:solidFill>
            <a:srgbClr val="23272F"/>
          </a:solidFill>
          <a:ln w="11906">
            <a:solidFill>
              <a:srgbClr val="BDD248">
                <a:alpha val="15000"/>
              </a:srgbClr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9396078" y="1674502"/>
            <a:ext cx="533474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en-US" sz="975" dirty="0"/>
          </a:p>
        </p:txBody>
      </p:sp>
      <p:sp>
        <p:nvSpPr>
          <p:cNvPr id="31" name="Text 25"/>
          <p:cNvSpPr/>
          <p:nvPr/>
        </p:nvSpPr>
        <p:spPr>
          <a:xfrm>
            <a:off x="9396078" y="1805471"/>
            <a:ext cx="53347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visibles</a:t>
            </a:r>
            <a:endParaRPr lang="en-US" sz="750" dirty="0"/>
          </a:p>
        </p:txBody>
      </p:sp>
      <p:sp>
        <p:nvSpPr>
          <p:cNvPr id="32" name="Shape 26"/>
          <p:cNvSpPr/>
          <p:nvPr/>
        </p:nvSpPr>
        <p:spPr>
          <a:xfrm>
            <a:off x="495226" y="2285070"/>
            <a:ext cx="3657637" cy="4056311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</p:spPr>
      </p:sp>
      <p:sp>
        <p:nvSpPr>
          <p:cNvPr id="33" name="Shape 27"/>
          <p:cNvSpPr/>
          <p:nvPr/>
        </p:nvSpPr>
        <p:spPr>
          <a:xfrm>
            <a:off x="495226" y="6329474"/>
            <a:ext cx="3657637" cy="11906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</p:sp>
      <p:sp>
        <p:nvSpPr>
          <p:cNvPr id="34" name="Shape 28"/>
          <p:cNvSpPr/>
          <p:nvPr/>
        </p:nvSpPr>
        <p:spPr>
          <a:xfrm>
            <a:off x="495226" y="2285070"/>
            <a:ext cx="3657637" cy="11906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</p:sp>
      <p:sp>
        <p:nvSpPr>
          <p:cNvPr id="35" name="Shape 29"/>
          <p:cNvSpPr/>
          <p:nvPr/>
        </p:nvSpPr>
        <p:spPr>
          <a:xfrm>
            <a:off x="495226" y="2285070"/>
            <a:ext cx="23813" cy="405631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6" name="Shape 30"/>
          <p:cNvSpPr/>
          <p:nvPr/>
        </p:nvSpPr>
        <p:spPr>
          <a:xfrm>
            <a:off x="4140957" y="2285070"/>
            <a:ext cx="11906" cy="4056311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</p:sp>
      <p:sp>
        <p:nvSpPr>
          <p:cNvPr id="37" name="Text 31"/>
          <p:cNvSpPr/>
          <p:nvPr/>
        </p:nvSpPr>
        <p:spPr>
          <a:xfrm>
            <a:off x="671401" y="2430177"/>
            <a:ext cx="364891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Éval en arrière-plan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671401" y="2620677"/>
            <a:ext cx="3648912" cy="2246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latence utilisateur n'est </a:t>
            </a:r>
            <a:r>
              <a:rPr lang="en-US" sz="1050" dirty="0">
                <a:solidFill>
                  <a:srgbClr val="8FA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jamais </a:t>
            </a:r>
            <a:r>
              <a:rPr lang="en-US" sz="105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impactée.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4267088" y="2285070"/>
            <a:ext cx="3657637" cy="4056311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</p:spPr>
      </p:sp>
      <p:sp>
        <p:nvSpPr>
          <p:cNvPr id="40" name="Shape 34"/>
          <p:cNvSpPr/>
          <p:nvPr/>
        </p:nvSpPr>
        <p:spPr>
          <a:xfrm>
            <a:off x="4267088" y="6329474"/>
            <a:ext cx="3657637" cy="11906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</p:sp>
      <p:sp>
        <p:nvSpPr>
          <p:cNvPr id="41" name="Shape 35"/>
          <p:cNvSpPr/>
          <p:nvPr/>
        </p:nvSpPr>
        <p:spPr>
          <a:xfrm>
            <a:off x="4267088" y="2285070"/>
            <a:ext cx="3657637" cy="11906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</p:sp>
      <p:sp>
        <p:nvSpPr>
          <p:cNvPr id="42" name="Shape 36"/>
          <p:cNvSpPr/>
          <p:nvPr/>
        </p:nvSpPr>
        <p:spPr>
          <a:xfrm>
            <a:off x="4267088" y="2285070"/>
            <a:ext cx="23813" cy="405631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3" name="Shape 37"/>
          <p:cNvSpPr/>
          <p:nvPr/>
        </p:nvSpPr>
        <p:spPr>
          <a:xfrm>
            <a:off x="7912819" y="2285070"/>
            <a:ext cx="11906" cy="4056311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</p:sp>
      <p:sp>
        <p:nvSpPr>
          <p:cNvPr id="44" name="Text 38"/>
          <p:cNvSpPr/>
          <p:nvPr/>
        </p:nvSpPr>
        <p:spPr>
          <a:xfrm>
            <a:off x="4443264" y="2430177"/>
            <a:ext cx="364891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Échantillonnage déterministe</a:t>
            </a:r>
            <a:endParaRPr lang="en-US" sz="1050" dirty="0"/>
          </a:p>
        </p:txBody>
      </p:sp>
      <p:sp>
        <p:nvSpPr>
          <p:cNvPr id="45" name="Text 39"/>
          <p:cNvSpPr/>
          <p:nvPr/>
        </p:nvSpPr>
        <p:spPr>
          <a:xfrm>
            <a:off x="4443264" y="2620677"/>
            <a:ext cx="3648912" cy="2246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MD5 — reproductible, même en multi-instances.</a:t>
            </a:r>
            <a:endParaRPr lang="en-US" sz="1050" dirty="0"/>
          </a:p>
        </p:txBody>
      </p:sp>
      <p:sp>
        <p:nvSpPr>
          <p:cNvPr id="46" name="Shape 40"/>
          <p:cNvSpPr/>
          <p:nvPr/>
        </p:nvSpPr>
        <p:spPr>
          <a:xfrm>
            <a:off x="8038951" y="2285070"/>
            <a:ext cx="3657823" cy="683121"/>
          </a:xfrm>
          <a:prstGeom prst="roundRect">
            <a:avLst>
              <a:gd name="adj" fmla="val 11155"/>
            </a:avLst>
          </a:prstGeom>
          <a:solidFill>
            <a:srgbClr val="1C1C24"/>
          </a:solidFill>
          <a:ln/>
        </p:spPr>
      </p:sp>
      <p:sp>
        <p:nvSpPr>
          <p:cNvPr id="47" name="Text 41"/>
          <p:cNvSpPr/>
          <p:nvPr/>
        </p:nvSpPr>
        <p:spPr>
          <a:xfrm>
            <a:off x="8172152" y="2399295"/>
            <a:ext cx="3730563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kern="0" spc="81" dirty="0">
                <a:solidFill>
                  <a:srgbClr val="BDD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PREUVE</a:t>
            </a:r>
            <a:endParaRPr lang="en-US" sz="675" dirty="0"/>
          </a:p>
        </p:txBody>
      </p:sp>
      <p:sp>
        <p:nvSpPr>
          <p:cNvPr id="48" name="Text 42"/>
          <p:cNvSpPr/>
          <p:nvPr/>
        </p:nvSpPr>
        <p:spPr>
          <a:xfrm>
            <a:off x="8172152" y="2544403"/>
            <a:ext cx="3730563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faithfulness = </a:t>
            </a:r>
            <a:r>
              <a:rPr lang="en-US" sz="1200" b="1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200" dirty="0"/>
          </a:p>
        </p:txBody>
      </p:sp>
      <p:sp>
        <p:nvSpPr>
          <p:cNvPr id="49" name="Text 43"/>
          <p:cNvSpPr/>
          <p:nvPr/>
        </p:nvSpPr>
        <p:spPr>
          <a:xfrm>
            <a:off x="8172152" y="2722997"/>
            <a:ext cx="3730563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run validé sur le jeu d'évaluation</a:t>
            </a:r>
            <a:endParaRPr lang="en-US" sz="900" dirty="0"/>
          </a:p>
        </p:txBody>
      </p:sp>
      <p:sp>
        <p:nvSpPr>
          <p:cNvPr id="50" name="Shape 44"/>
          <p:cNvSpPr/>
          <p:nvPr/>
        </p:nvSpPr>
        <p:spPr>
          <a:xfrm>
            <a:off x="8038951" y="3044279"/>
            <a:ext cx="3657823" cy="730746"/>
          </a:xfrm>
          <a:prstGeom prst="roundRect">
            <a:avLst>
              <a:gd name="adj" fmla="val 10428"/>
            </a:avLst>
          </a:prstGeom>
          <a:solidFill>
            <a:srgbClr val="BDD248">
              <a:alpha val="10000"/>
            </a:srgbClr>
          </a:solidFill>
          <a:ln w="11906">
            <a:solidFill>
              <a:srgbClr val="BDD248">
                <a:alpha val="40000"/>
              </a:srgbClr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8184059" y="3170411"/>
            <a:ext cx="3704369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kern="0" spc="81" dirty="0">
                <a:solidFill>
                  <a:srgbClr val="8FA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 CONTRIBUTION</a:t>
            </a:r>
            <a:endParaRPr lang="en-US" sz="675" dirty="0"/>
          </a:p>
        </p:txBody>
      </p:sp>
      <p:sp>
        <p:nvSpPr>
          <p:cNvPr id="52" name="Text 46"/>
          <p:cNvSpPr/>
          <p:nvPr/>
        </p:nvSpPr>
        <p:spPr>
          <a:xfrm>
            <a:off x="8184059" y="3315519"/>
            <a:ext cx="346863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38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Éval async, échantillonnage et métriques de qualité conçus et implémentés par moi.</a:t>
            </a:r>
            <a:endParaRPr lang="en-US" sz="938" dirty="0"/>
          </a:p>
        </p:txBody>
      </p:sp>
      <p:sp>
        <p:nvSpPr>
          <p:cNvPr id="53" name="Shape 47"/>
          <p:cNvSpPr/>
          <p:nvPr/>
        </p:nvSpPr>
        <p:spPr>
          <a:xfrm>
            <a:off x="495226" y="6436630"/>
            <a:ext cx="11201549" cy="11906"/>
          </a:xfrm>
          <a:prstGeom prst="rect">
            <a:avLst/>
          </a:prstGeom>
          <a:solidFill>
            <a:srgbClr val="546472">
              <a:alpha val="14000"/>
            </a:srgbClr>
          </a:solidFill>
          <a:ln/>
        </p:spPr>
      </p:sp>
      <p:sp>
        <p:nvSpPr>
          <p:cNvPr id="54" name="Text 48"/>
          <p:cNvSpPr/>
          <p:nvPr/>
        </p:nvSpPr>
        <p:spPr>
          <a:xfrm>
            <a:off x="990451" y="6581738"/>
            <a:ext cx="35425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546472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 de Fin d'Études · Pipeline MLOps générique</a:t>
            </a:r>
            <a:endParaRPr lang="en-US" sz="863" dirty="0"/>
          </a:p>
        </p:txBody>
      </p:sp>
      <p:pic>
        <p:nvPicPr>
          <p:cNvPr id="55" name="Image 4" descr="preencoded.png"/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10867616" y="6553274"/>
            <a:ext cx="333933" cy="19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1917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359472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PROBLÈME LE PLUS DUR · ENQUÊTE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09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475" b="1" kern="0" spc="-49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 NaN silencieux qui cachait une </a:t>
            </a:r>
            <a:r>
              <a:rPr lang="en-US" sz="2475" b="1" kern="0" spc="-49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saturation mémoire</a:t>
            </a:r>
            <a:endParaRPr lang="en-US" sz="2475" dirty="0"/>
          </a:p>
        </p:txBody>
      </p:sp>
      <p:sp>
        <p:nvSpPr>
          <p:cNvPr id="6" name="Text 3"/>
          <p:cNvSpPr/>
          <p:nvPr/>
        </p:nvSpPr>
        <p:spPr>
          <a:xfrm>
            <a:off x="838088" y="1404007"/>
            <a:ext cx="11567406" cy="2312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NaN en production, sans crash ni erreur visible — alors que la même éval marchait dans la pipeline.</a:t>
            </a:r>
            <a:endParaRPr lang="en-US" sz="1088" dirty="0"/>
          </a:p>
        </p:txBody>
      </p:sp>
      <p:sp>
        <p:nvSpPr>
          <p:cNvPr id="7" name="Shape 4"/>
          <p:cNvSpPr/>
          <p:nvPr/>
        </p:nvSpPr>
        <p:spPr>
          <a:xfrm>
            <a:off x="838088" y="1711151"/>
            <a:ext cx="238125" cy="238125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5"/>
          <p:cNvSpPr/>
          <p:nvPr/>
        </p:nvSpPr>
        <p:spPr>
          <a:xfrm>
            <a:off x="799988" y="1711151"/>
            <a:ext cx="3143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✗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1190439" y="1720639"/>
            <a:ext cx="2392226" cy="200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25" b="1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H1 </a:t>
            </a:r>
            <a:r>
              <a:rPr lang="en-US" sz="10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Bug dans notre code de parsing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190439" y="1902209"/>
            <a:ext cx="2392226" cy="191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réel mais partiel, corrigé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38088" y="2169356"/>
            <a:ext cx="238125" cy="238125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9"/>
          <p:cNvSpPr/>
          <p:nvPr/>
        </p:nvSpPr>
        <p:spPr>
          <a:xfrm>
            <a:off x="799988" y="2169356"/>
            <a:ext cx="3143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✗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1190439" y="2178844"/>
            <a:ext cx="3119512" cy="200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25" b="1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H2 </a:t>
            </a:r>
            <a:r>
              <a:rPr lang="en-US" sz="10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Modèle juge trop petit pour du JSON strict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90439" y="2360414"/>
            <a:ext cx="3119512" cy="191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testé 1B, 3B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38088" y="2627561"/>
            <a:ext cx="238125" cy="238125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3"/>
          <p:cNvSpPr/>
          <p:nvPr/>
        </p:nvSpPr>
        <p:spPr>
          <a:xfrm>
            <a:off x="799988" y="2627561"/>
            <a:ext cx="3143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✗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1190439" y="2637048"/>
            <a:ext cx="2541408" cy="200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25" b="1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H3 </a:t>
            </a:r>
            <a:r>
              <a:rPr lang="en-US" sz="10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Timeout RAGAS trop court (180 s)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90439" y="2818619"/>
            <a:ext cx="2541408" cy="191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passé à 900 s, toujours NaN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38088" y="3095253"/>
            <a:ext cx="5204147" cy="558292"/>
          </a:xfrm>
          <a:prstGeom prst="roundRect">
            <a:avLst>
              <a:gd name="adj" fmla="val 17061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64220" y="3202409"/>
            <a:ext cx="238125" cy="238125"/>
          </a:xfrm>
          <a:prstGeom prst="ellipse">
            <a:avLst/>
          </a:prstGeom>
          <a:solidFill>
            <a:srgbClr val="6E8523"/>
          </a:solidFill>
          <a:ln/>
        </p:spPr>
      </p:sp>
      <p:sp>
        <p:nvSpPr>
          <p:cNvPr id="21" name="Text 18"/>
          <p:cNvSpPr/>
          <p:nvPr/>
        </p:nvSpPr>
        <p:spPr>
          <a:xfrm>
            <a:off x="926120" y="3202409"/>
            <a:ext cx="3143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✓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1316571" y="3211897"/>
            <a:ext cx="3160235" cy="200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25" b="1" dirty="0">
                <a:solidFill>
                  <a:srgbClr val="6E852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H4 </a:t>
            </a:r>
            <a:r>
              <a:rPr lang="en-US" sz="1050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VRAIE CAUSE : OOM Killer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316571" y="3393467"/>
            <a:ext cx="3160235" cy="191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le noyau tue Ollama (mistral 7B ~4,4 Go), RAM saturée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251711" y="1711151"/>
            <a:ext cx="5102014" cy="1141140"/>
          </a:xfrm>
          <a:prstGeom prst="roundRect">
            <a:avLst>
              <a:gd name="adj" fmla="val 8347"/>
            </a:avLst>
          </a:prstGeom>
          <a:solidFill>
            <a:srgbClr val="16181D"/>
          </a:solidFill>
          <a:ln w="11906">
            <a:solidFill>
              <a:srgbClr val="2C2F3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96819" y="1827795"/>
            <a:ext cx="5292979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kern="0" spc="105" dirty="0">
                <a:solidFill>
                  <a:srgbClr val="E74C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SMOKING GUN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396819" y="2013458"/>
            <a:ext cx="4956153" cy="547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63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docker logs ollama </a:t>
            </a:r>
            <a:r>
              <a:rPr lang="en-US" sz="863" dirty="0">
                <a:solidFill>
                  <a:srgbClr val="E6E9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mistral exited — </a:t>
            </a:r>
            <a:r>
              <a:rPr lang="en-US" sz="863" b="1" dirty="0">
                <a:solidFill>
                  <a:srgbClr val="E74C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signal: killed </a:t>
            </a:r>
            <a:r>
              <a:rPr lang="en-US" sz="863" dirty="0">
                <a:solidFill>
                  <a:srgbClr val="E6E9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</a:t>
            </a:r>
            <a:r>
              <a:rPr lang="en-US" sz="863" b="1" dirty="0">
                <a:solidFill>
                  <a:srgbClr val="E74C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SIGKILL (signal 9)</a:t>
            </a:r>
            <a:r>
              <a:rPr lang="en-US" sz="863" dirty="0">
                <a:solidFill>
                  <a:srgbClr val="E6E9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= OOM Killer</a:t>
            </a:r>
            <a:endParaRPr lang="en-US" sz="863" dirty="0"/>
          </a:p>
        </p:txBody>
      </p:sp>
      <p:sp>
        <p:nvSpPr>
          <p:cNvPr id="27" name="Text 24"/>
          <p:cNvSpPr/>
          <p:nvPr/>
        </p:nvSpPr>
        <p:spPr>
          <a:xfrm>
            <a:off x="6396819" y="2589051"/>
            <a:ext cx="5292979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5" dirty="0">
                <a:solidFill>
                  <a:srgbClr val="9AA5B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Trouvé dans les logs du conteneur </a:t>
            </a:r>
            <a:r>
              <a:rPr lang="en-US" sz="825" b="1" dirty="0">
                <a:solidFill>
                  <a:srgbClr val="E6E9E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Ollama</a:t>
            </a:r>
            <a:r>
              <a:rPr lang="en-US" sz="825" dirty="0">
                <a:solidFill>
                  <a:srgbClr val="9AA5B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, PAS dans ceux de l’API.</a:t>
            </a:r>
            <a:endParaRPr lang="en-US" sz="825" dirty="0"/>
          </a:p>
        </p:txBody>
      </p:sp>
      <p:sp>
        <p:nvSpPr>
          <p:cNvPr id="28" name="Shape 25"/>
          <p:cNvSpPr/>
          <p:nvPr/>
        </p:nvSpPr>
        <p:spPr>
          <a:xfrm>
            <a:off x="6251711" y="2966517"/>
            <a:ext cx="5102014" cy="1113420"/>
          </a:xfrm>
          <a:prstGeom prst="roundRect">
            <a:avLst>
              <a:gd name="adj" fmla="val 8555"/>
            </a:avLst>
          </a:prstGeom>
          <a:solidFill>
            <a:srgbClr val="F4F4F4"/>
          </a:solidFill>
          <a:ln/>
        </p:spPr>
      </p:sp>
      <p:sp>
        <p:nvSpPr>
          <p:cNvPr id="29" name="Shape 26"/>
          <p:cNvSpPr/>
          <p:nvPr/>
        </p:nvSpPr>
        <p:spPr>
          <a:xfrm>
            <a:off x="6251711" y="4068031"/>
            <a:ext cx="5102014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0" name="Shape 27"/>
          <p:cNvSpPr/>
          <p:nvPr/>
        </p:nvSpPr>
        <p:spPr>
          <a:xfrm>
            <a:off x="6251711" y="2966517"/>
            <a:ext cx="5102014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1" name="Shape 28"/>
          <p:cNvSpPr/>
          <p:nvPr/>
        </p:nvSpPr>
        <p:spPr>
          <a:xfrm>
            <a:off x="6251711" y="2966517"/>
            <a:ext cx="23813" cy="111342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2" name="Shape 29"/>
          <p:cNvSpPr/>
          <p:nvPr/>
        </p:nvSpPr>
        <p:spPr>
          <a:xfrm>
            <a:off x="11341819" y="2966517"/>
            <a:ext cx="11906" cy="111342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3" name="Text 30"/>
          <p:cNvSpPr/>
          <p:nvPr/>
        </p:nvSpPr>
        <p:spPr>
          <a:xfrm>
            <a:off x="6418399" y="3083161"/>
            <a:ext cx="525860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Pourquoi la pipeline marchait et pas l’API ?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6418399" y="3314067"/>
            <a:ext cx="590401" cy="177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713" b="1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</a:t>
            </a:r>
            <a:endParaRPr lang="en-US" sz="713" dirty="0"/>
          </a:p>
        </p:txBody>
      </p:sp>
      <p:sp>
        <p:nvSpPr>
          <p:cNvPr id="35" name="Text 32"/>
          <p:cNvSpPr/>
          <p:nvPr/>
        </p:nvSpPr>
        <p:spPr>
          <a:xfrm>
            <a:off x="7018176" y="3304542"/>
            <a:ext cx="3463510" cy="187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86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juge léger (qwen2:0.5b) + éval en </a:t>
            </a:r>
            <a:r>
              <a:rPr lang="en-US" sz="863" b="1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BATCH </a:t>
            </a:r>
            <a:r>
              <a:rPr lang="en-US" sz="86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→ la moyenne survit.</a:t>
            </a:r>
            <a:endParaRPr lang="en-US" sz="863" dirty="0"/>
          </a:p>
        </p:txBody>
      </p:sp>
      <p:sp>
        <p:nvSpPr>
          <p:cNvPr id="36" name="Text 33"/>
          <p:cNvSpPr/>
          <p:nvPr/>
        </p:nvSpPr>
        <p:spPr>
          <a:xfrm>
            <a:off x="6418399" y="3529682"/>
            <a:ext cx="590401" cy="177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713" b="1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</a:t>
            </a:r>
            <a:endParaRPr lang="en-US" sz="713" dirty="0"/>
          </a:p>
        </p:txBody>
      </p:sp>
      <p:sp>
        <p:nvSpPr>
          <p:cNvPr id="37" name="Text 34"/>
          <p:cNvSpPr/>
          <p:nvPr/>
        </p:nvSpPr>
        <p:spPr>
          <a:xfrm>
            <a:off x="7018176" y="3520157"/>
            <a:ext cx="3625993" cy="187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86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juge lourd testé + </a:t>
            </a:r>
            <a:r>
              <a:rPr lang="en-US" sz="863" b="1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1 question à la fois </a:t>
            </a:r>
            <a:r>
              <a:rPr lang="en-US" sz="86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→ 1 seul échec = NaN total.</a:t>
            </a:r>
            <a:endParaRPr lang="en-US" sz="863" dirty="0"/>
          </a:p>
        </p:txBody>
      </p:sp>
      <p:sp>
        <p:nvSpPr>
          <p:cNvPr id="38" name="Shape 35"/>
          <p:cNvSpPr/>
          <p:nvPr/>
        </p:nvSpPr>
        <p:spPr>
          <a:xfrm>
            <a:off x="6418399" y="3735772"/>
            <a:ext cx="4780545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9" name="Text 36"/>
          <p:cNvSpPr/>
          <p:nvPr/>
        </p:nvSpPr>
        <p:spPr>
          <a:xfrm>
            <a:off x="6418399" y="3814353"/>
            <a:ext cx="4923962" cy="187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863" i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→ La fragilité était dans le paradigme par-requête, jamais dans le framework.</a:t>
            </a:r>
            <a:endParaRPr lang="en-US" sz="863" dirty="0"/>
          </a:p>
        </p:txBody>
      </p:sp>
      <p:sp>
        <p:nvSpPr>
          <p:cNvPr id="40" name="Shape 37"/>
          <p:cNvSpPr/>
          <p:nvPr/>
        </p:nvSpPr>
        <p:spPr>
          <a:xfrm>
            <a:off x="838088" y="4194163"/>
            <a:ext cx="10515823" cy="406673"/>
          </a:xfrm>
          <a:prstGeom prst="roundRect">
            <a:avLst>
              <a:gd name="adj" fmla="val 14053"/>
            </a:avLst>
          </a:prstGeom>
          <a:solidFill>
            <a:srgbClr val="EFF4D8"/>
          </a:solidFill>
          <a:ln/>
        </p:spPr>
      </p:sp>
      <p:sp>
        <p:nvSpPr>
          <p:cNvPr id="41" name="Shape 38"/>
          <p:cNvSpPr/>
          <p:nvPr/>
        </p:nvSpPr>
        <p:spPr>
          <a:xfrm>
            <a:off x="838088" y="4588929"/>
            <a:ext cx="10515823" cy="1190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2" name="Shape 39"/>
          <p:cNvSpPr/>
          <p:nvPr/>
        </p:nvSpPr>
        <p:spPr>
          <a:xfrm>
            <a:off x="838088" y="4194163"/>
            <a:ext cx="10515823" cy="1190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3" name="Shape 40"/>
          <p:cNvSpPr/>
          <p:nvPr/>
        </p:nvSpPr>
        <p:spPr>
          <a:xfrm>
            <a:off x="838088" y="4194163"/>
            <a:ext cx="23813" cy="406673"/>
          </a:xfrm>
          <a:prstGeom prst="rect">
            <a:avLst/>
          </a:prstGeom>
          <a:solidFill>
            <a:srgbClr val="8FA82E"/>
          </a:solidFill>
          <a:ln/>
        </p:spPr>
      </p:sp>
      <p:sp>
        <p:nvSpPr>
          <p:cNvPr id="44" name="Shape 41"/>
          <p:cNvSpPr/>
          <p:nvPr/>
        </p:nvSpPr>
        <p:spPr>
          <a:xfrm>
            <a:off x="11342005" y="4194163"/>
            <a:ext cx="11906" cy="40667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5" name="Shape 42"/>
          <p:cNvSpPr/>
          <p:nvPr/>
        </p:nvSpPr>
        <p:spPr>
          <a:xfrm>
            <a:off x="1033239" y="4335549"/>
            <a:ext cx="104738" cy="123713"/>
          </a:xfrm>
          <a:prstGeom prst="rect">
            <a:avLst/>
          </a:prstGeom>
          <a:solidFill>
            <a:srgbClr val="8FA82E"/>
          </a:solidFill>
          <a:ln/>
        </p:spPr>
      </p:sp>
      <p:sp>
        <p:nvSpPr>
          <p:cNvPr id="46" name="Text 43"/>
          <p:cNvSpPr/>
          <p:nvPr/>
        </p:nvSpPr>
        <p:spPr>
          <a:xfrm>
            <a:off x="1261690" y="4310807"/>
            <a:ext cx="5945367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13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Fix = revenir à qwen2:0.5b — ce que la pipeline utilisait déjà. faithfulness = 1.0, zéro OOM.</a:t>
            </a:r>
            <a:endParaRPr lang="en-US" sz="1013" dirty="0"/>
          </a:p>
        </p:txBody>
      </p:sp>
      <p:sp>
        <p:nvSpPr>
          <p:cNvPr id="47" name="Text 44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48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1099416" y="6418585"/>
            <a:ext cx="254496" cy="15236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351213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BLOC 04 · OPS · CONTENEURISATION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19014"/>
            <a:ext cx="11567406" cy="44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700" b="1" kern="0" spc="-54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Build once, </a:t>
            </a:r>
            <a:r>
              <a:rPr lang="en-US" sz="2700" b="1" kern="0" spc="-54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run anywhere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38088" y="1428192"/>
            <a:ext cx="11567406" cy="251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Le même environnement </a:t>
            </a:r>
            <a:r>
              <a:rPr lang="en-US" sz="1200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du dev à la prod </a:t>
            </a:r>
            <a:r>
              <a:rPr lang="en-US" sz="1200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— zéro « ça marche chez moi » — et toute la stack démarre </a:t>
            </a:r>
            <a:r>
              <a:rPr lang="en-US" sz="1200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en une commande</a:t>
            </a:r>
            <a:r>
              <a:rPr lang="en-US" sz="1200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38088" y="1850864"/>
            <a:ext cx="8005056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HÉRITAGE DES IMAGES · FROM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838088" y="2055502"/>
            <a:ext cx="7277323" cy="611684"/>
          </a:xfrm>
          <a:prstGeom prst="roundRect">
            <a:avLst>
              <a:gd name="adj" fmla="val 9343"/>
            </a:avLst>
          </a:prstGeom>
          <a:solidFill>
            <a:srgbClr val="2A2A2A"/>
          </a:solidFill>
          <a:ln/>
          <a:effectLst>
            <a:outerShdw blurRad="228600" dist="76200" dir="5400000" algn="bl" rotWithShape="0">
              <a:srgbClr val="2A2A2A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38088" y="2055502"/>
            <a:ext cx="7277323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0" name="Shape 7"/>
          <p:cNvSpPr/>
          <p:nvPr/>
        </p:nvSpPr>
        <p:spPr>
          <a:xfrm>
            <a:off x="1009427" y="2214190"/>
            <a:ext cx="520898" cy="317934"/>
          </a:xfrm>
          <a:prstGeom prst="roundRect">
            <a:avLst>
              <a:gd name="adj" fmla="val 8988"/>
            </a:avLst>
          </a:prstGeom>
          <a:solidFill>
            <a:srgbClr val="BDD248"/>
          </a:solidFill>
          <a:ln/>
        </p:spPr>
      </p:sp>
      <p:sp>
        <p:nvSpPr>
          <p:cNvPr id="11" name="Text 8"/>
          <p:cNvSpPr/>
          <p:nvPr/>
        </p:nvSpPr>
        <p:spPr>
          <a:xfrm>
            <a:off x="1133512" y="2249909"/>
            <a:ext cx="3487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25" b="1" kern="0" spc="41" dirty="0">
                <a:solidFill>
                  <a:srgbClr val="2A2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BASE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1066577" y="2387389"/>
            <a:ext cx="406598" cy="135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38" kern="0" spc="51" dirty="0">
                <a:solidFill>
                  <a:srgbClr val="2A2A2A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cachée</a:t>
            </a:r>
            <a:endParaRPr lang="en-US" sz="638" dirty="0"/>
          </a:p>
        </p:txBody>
      </p:sp>
      <p:sp>
        <p:nvSpPr>
          <p:cNvPr id="13" name="Text 10"/>
          <p:cNvSpPr/>
          <p:nvPr/>
        </p:nvSpPr>
        <p:spPr>
          <a:xfrm>
            <a:off x="1682688" y="2193541"/>
            <a:ext cx="296419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python:3.11-slim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682688" y="2388691"/>
            <a:ext cx="2964191" cy="2023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63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torch · faiss · numpy + src/core + config</a:t>
            </a:r>
            <a:endParaRPr lang="en-US" sz="863" dirty="0"/>
          </a:p>
        </p:txBody>
      </p:sp>
      <p:sp>
        <p:nvSpPr>
          <p:cNvPr id="15" name="Shape 12"/>
          <p:cNvSpPr/>
          <p:nvPr/>
        </p:nvSpPr>
        <p:spPr>
          <a:xfrm rot="5400000">
            <a:off x="876021" y="2755143"/>
            <a:ext cx="104775" cy="161925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6" name="Shape 13"/>
          <p:cNvSpPr/>
          <p:nvPr/>
        </p:nvSpPr>
        <p:spPr>
          <a:xfrm>
            <a:off x="1085515" y="2724299"/>
            <a:ext cx="789161" cy="223614"/>
          </a:xfrm>
          <a:prstGeom prst="roundRect">
            <a:avLst>
              <a:gd name="adj" fmla="val 12779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83146" y="2764780"/>
            <a:ext cx="670099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25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base</a:t>
            </a:r>
            <a:endParaRPr lang="en-US" sz="825" dirty="0"/>
          </a:p>
        </p:txBody>
      </p:sp>
      <p:sp>
        <p:nvSpPr>
          <p:cNvPr id="18" name="Shape 15"/>
          <p:cNvSpPr/>
          <p:nvPr/>
        </p:nvSpPr>
        <p:spPr>
          <a:xfrm>
            <a:off x="1979414" y="2830153"/>
            <a:ext cx="3993059" cy="11906"/>
          </a:xfrm>
          <a:prstGeom prst="rect">
            <a:avLst/>
          </a:prstGeom>
          <a:solidFill>
            <a:srgbClr val="CFCFCF"/>
          </a:solidFill>
          <a:ln/>
        </p:spPr>
      </p:sp>
      <p:sp>
        <p:nvSpPr>
          <p:cNvPr id="19" name="Text 16"/>
          <p:cNvSpPr/>
          <p:nvPr/>
        </p:nvSpPr>
        <p:spPr>
          <a:xfrm>
            <a:off x="6077210" y="2776575"/>
            <a:ext cx="220027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chaque image hérite de la fondation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838088" y="3005026"/>
            <a:ext cx="3918626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13" b="1" kern="0" spc="71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IMAGES USE-CASE</a:t>
            </a:r>
            <a:endParaRPr lang="en-US" sz="713" dirty="0"/>
          </a:p>
        </p:txBody>
      </p:sp>
      <p:sp>
        <p:nvSpPr>
          <p:cNvPr id="21" name="Shape 18"/>
          <p:cNvSpPr/>
          <p:nvPr/>
        </p:nvSpPr>
        <p:spPr>
          <a:xfrm>
            <a:off x="838088" y="3190689"/>
            <a:ext cx="3562387" cy="512341"/>
          </a:xfrm>
          <a:prstGeom prst="roundRect">
            <a:avLst>
              <a:gd name="adj" fmla="val 5577"/>
            </a:avLst>
          </a:prstGeom>
          <a:solidFill>
            <a:srgbClr val="F4F4F4"/>
          </a:solidFill>
          <a:ln/>
        </p:spPr>
      </p:sp>
      <p:sp>
        <p:nvSpPr>
          <p:cNvPr id="22" name="Shape 19"/>
          <p:cNvSpPr/>
          <p:nvPr/>
        </p:nvSpPr>
        <p:spPr>
          <a:xfrm>
            <a:off x="838088" y="3691124"/>
            <a:ext cx="356238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3" name="Shape 20"/>
          <p:cNvSpPr/>
          <p:nvPr/>
        </p:nvSpPr>
        <p:spPr>
          <a:xfrm>
            <a:off x="838088" y="3190689"/>
            <a:ext cx="356238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4" name="Shape 21"/>
          <p:cNvSpPr/>
          <p:nvPr/>
        </p:nvSpPr>
        <p:spPr>
          <a:xfrm>
            <a:off x="838088" y="3190689"/>
            <a:ext cx="23813" cy="51234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5" name="Shape 22"/>
          <p:cNvSpPr/>
          <p:nvPr/>
        </p:nvSpPr>
        <p:spPr>
          <a:xfrm>
            <a:off x="4388569" y="3190689"/>
            <a:ext cx="11906" cy="512341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6" name="Text 23"/>
          <p:cNvSpPr/>
          <p:nvPr/>
        </p:nvSpPr>
        <p:spPr>
          <a:xfrm>
            <a:off x="985614" y="3254871"/>
            <a:ext cx="817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pipeline-rag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803053" y="3314402"/>
            <a:ext cx="581285" cy="137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13" kern="0" spc="14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base</a:t>
            </a:r>
            <a:endParaRPr lang="en-US" sz="713" dirty="0"/>
          </a:p>
        </p:txBody>
      </p:sp>
      <p:sp>
        <p:nvSpPr>
          <p:cNvPr id="28" name="Text 25"/>
          <p:cNvSpPr/>
          <p:nvPr/>
        </p:nvSpPr>
        <p:spPr>
          <a:xfrm>
            <a:off x="985614" y="3463230"/>
            <a:ext cx="3607166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825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langchain · ragas · sentence-transformers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838088" y="3779118"/>
            <a:ext cx="3918626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image par use case (ml_classic, …)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552838" y="3005026"/>
            <a:ext cx="3918831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13" b="1" kern="0" spc="71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IMAGES SERVICES</a:t>
            </a:r>
            <a:endParaRPr lang="en-US" sz="713" dirty="0"/>
          </a:p>
        </p:txBody>
      </p:sp>
      <p:sp>
        <p:nvSpPr>
          <p:cNvPr id="31" name="Shape 28"/>
          <p:cNvSpPr/>
          <p:nvPr/>
        </p:nvSpPr>
        <p:spPr>
          <a:xfrm>
            <a:off x="4552838" y="3190689"/>
            <a:ext cx="3562573" cy="512341"/>
          </a:xfrm>
          <a:prstGeom prst="roundRect">
            <a:avLst>
              <a:gd name="adj" fmla="val 5577"/>
            </a:avLst>
          </a:prstGeom>
          <a:solidFill>
            <a:srgbClr val="F4F4F4"/>
          </a:solidFill>
          <a:ln/>
        </p:spPr>
      </p:sp>
      <p:sp>
        <p:nvSpPr>
          <p:cNvPr id="32" name="Shape 29"/>
          <p:cNvSpPr/>
          <p:nvPr/>
        </p:nvSpPr>
        <p:spPr>
          <a:xfrm>
            <a:off x="4552838" y="3691124"/>
            <a:ext cx="356257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3" name="Shape 30"/>
          <p:cNvSpPr/>
          <p:nvPr/>
        </p:nvSpPr>
        <p:spPr>
          <a:xfrm>
            <a:off x="4552838" y="3190689"/>
            <a:ext cx="356257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4" name="Shape 31"/>
          <p:cNvSpPr/>
          <p:nvPr/>
        </p:nvSpPr>
        <p:spPr>
          <a:xfrm>
            <a:off x="4552838" y="3190689"/>
            <a:ext cx="23813" cy="512341"/>
          </a:xfrm>
          <a:prstGeom prst="rect">
            <a:avLst/>
          </a:prstGeom>
          <a:solidFill>
            <a:srgbClr val="525252"/>
          </a:solidFill>
          <a:ln/>
        </p:spPr>
      </p:sp>
      <p:sp>
        <p:nvSpPr>
          <p:cNvPr id="35" name="Shape 32"/>
          <p:cNvSpPr/>
          <p:nvPr/>
        </p:nvSpPr>
        <p:spPr>
          <a:xfrm>
            <a:off x="8103505" y="3190689"/>
            <a:ext cx="11906" cy="512341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6" name="Text 33"/>
          <p:cNvSpPr/>
          <p:nvPr/>
        </p:nvSpPr>
        <p:spPr>
          <a:xfrm>
            <a:off x="4700364" y="3254871"/>
            <a:ext cx="267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api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967511" y="3314402"/>
            <a:ext cx="468920" cy="137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13" kern="0" spc="14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FastAPI</a:t>
            </a:r>
            <a:endParaRPr lang="en-US" sz="713" dirty="0"/>
          </a:p>
        </p:txBody>
      </p:sp>
      <p:sp>
        <p:nvSpPr>
          <p:cNvPr id="38" name="Text 35"/>
          <p:cNvSpPr/>
          <p:nvPr/>
        </p:nvSpPr>
        <p:spPr>
          <a:xfrm>
            <a:off x="4700364" y="3463230"/>
            <a:ext cx="3607371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82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expose les pipelines en REST</a:t>
            </a:r>
            <a:endParaRPr lang="en-US" sz="825" dirty="0"/>
          </a:p>
        </p:txBody>
      </p:sp>
      <p:sp>
        <p:nvSpPr>
          <p:cNvPr id="39" name="Shape 36"/>
          <p:cNvSpPr/>
          <p:nvPr/>
        </p:nvSpPr>
        <p:spPr>
          <a:xfrm>
            <a:off x="4552838" y="3769630"/>
            <a:ext cx="3562573" cy="512341"/>
          </a:xfrm>
          <a:prstGeom prst="roundRect">
            <a:avLst>
              <a:gd name="adj" fmla="val 5577"/>
            </a:avLst>
          </a:prstGeom>
          <a:solidFill>
            <a:srgbClr val="F4F4F4"/>
          </a:solidFill>
          <a:ln/>
        </p:spPr>
      </p:sp>
      <p:sp>
        <p:nvSpPr>
          <p:cNvPr id="40" name="Shape 37"/>
          <p:cNvSpPr/>
          <p:nvPr/>
        </p:nvSpPr>
        <p:spPr>
          <a:xfrm>
            <a:off x="4552838" y="4270065"/>
            <a:ext cx="356257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1" name="Shape 38"/>
          <p:cNvSpPr/>
          <p:nvPr/>
        </p:nvSpPr>
        <p:spPr>
          <a:xfrm>
            <a:off x="4552838" y="3769630"/>
            <a:ext cx="356257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2" name="Shape 39"/>
          <p:cNvSpPr/>
          <p:nvPr/>
        </p:nvSpPr>
        <p:spPr>
          <a:xfrm>
            <a:off x="4552838" y="3769630"/>
            <a:ext cx="23813" cy="512341"/>
          </a:xfrm>
          <a:prstGeom prst="rect">
            <a:avLst/>
          </a:prstGeom>
          <a:solidFill>
            <a:srgbClr val="525252"/>
          </a:solidFill>
          <a:ln/>
        </p:spPr>
      </p:sp>
      <p:sp>
        <p:nvSpPr>
          <p:cNvPr id="43" name="Shape 40"/>
          <p:cNvSpPr/>
          <p:nvPr/>
        </p:nvSpPr>
        <p:spPr>
          <a:xfrm>
            <a:off x="8103505" y="3769630"/>
            <a:ext cx="11906" cy="512341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4" name="Text 41"/>
          <p:cNvSpPr/>
          <p:nvPr/>
        </p:nvSpPr>
        <p:spPr>
          <a:xfrm>
            <a:off x="4700364" y="3833812"/>
            <a:ext cx="58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tracking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5283212" y="3893344"/>
            <a:ext cx="412924" cy="137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13" kern="0" spc="14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MLflow</a:t>
            </a:r>
            <a:endParaRPr lang="en-US" sz="713" dirty="0"/>
          </a:p>
        </p:txBody>
      </p:sp>
      <p:sp>
        <p:nvSpPr>
          <p:cNvPr id="46" name="Text 43"/>
          <p:cNvSpPr/>
          <p:nvPr/>
        </p:nvSpPr>
        <p:spPr>
          <a:xfrm>
            <a:off x="4700364" y="4042172"/>
            <a:ext cx="3607371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82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serveur d'expériences &amp; modèles</a:t>
            </a:r>
            <a:endParaRPr lang="en-US" sz="825" dirty="0"/>
          </a:p>
        </p:txBody>
      </p:sp>
      <p:sp>
        <p:nvSpPr>
          <p:cNvPr id="47" name="Shape 44"/>
          <p:cNvSpPr/>
          <p:nvPr/>
        </p:nvSpPr>
        <p:spPr>
          <a:xfrm>
            <a:off x="8305912" y="1850864"/>
            <a:ext cx="3048000" cy="2431107"/>
          </a:xfrm>
          <a:prstGeom prst="roundRect">
            <a:avLst>
              <a:gd name="adj" fmla="val 2351"/>
            </a:avLst>
          </a:prstGeom>
          <a:solidFill>
            <a:srgbClr val="1A1A1A"/>
          </a:solidFill>
          <a:ln/>
          <a:effectLst>
            <a:outerShdw blurRad="342900" dist="114300" dir="5400000" algn="bl" rotWithShape="0">
              <a:srgbClr val="1A1A1A">
                <a:alpha val="22000"/>
              </a:srgbClr>
            </a:outerShdw>
          </a:effectLst>
        </p:spPr>
      </p:sp>
      <p:sp>
        <p:nvSpPr>
          <p:cNvPr id="48" name="Text 45"/>
          <p:cNvSpPr/>
          <p:nvPr/>
        </p:nvSpPr>
        <p:spPr>
          <a:xfrm>
            <a:off x="8458274" y="1984065"/>
            <a:ext cx="301760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 CACHING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8458274" y="2361158"/>
            <a:ext cx="85576" cy="85576"/>
          </a:xfrm>
          <a:prstGeom prst="roundRect">
            <a:avLst>
              <a:gd name="adj" fmla="val 22261"/>
            </a:avLst>
          </a:prstGeom>
          <a:solidFill>
            <a:srgbClr val="5CC2D8"/>
          </a:solidFill>
          <a:ln/>
        </p:spPr>
      </p:sp>
      <p:sp>
        <p:nvSpPr>
          <p:cNvPr id="50" name="Text 47"/>
          <p:cNvSpPr/>
          <p:nvPr/>
        </p:nvSpPr>
        <p:spPr>
          <a:xfrm>
            <a:off x="8639101" y="2255490"/>
            <a:ext cx="1914599" cy="335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couche BASE </a:t>
            </a:r>
            <a:r>
              <a:rPr lang="en-US" sz="900" dirty="0">
                <a:solidFill>
                  <a:srgbClr val="6068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torch faiss numpy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10572750" y="2309999"/>
            <a:ext cx="628799" cy="187896"/>
          </a:xfrm>
          <a:prstGeom prst="roundRect">
            <a:avLst>
              <a:gd name="adj" fmla="val 50000"/>
            </a:avLst>
          </a:prstGeom>
          <a:solidFill>
            <a:srgbClr val="5CC2D8">
              <a:alpha val="10000"/>
            </a:srgbClr>
          </a:solidFill>
          <a:ln w="11906">
            <a:solidFill>
              <a:srgbClr val="5CC2D8">
                <a:alpha val="4000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0660856" y="2350480"/>
            <a:ext cx="528786" cy="145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b="1" kern="0" spc="41" dirty="0">
                <a:solidFill>
                  <a:srgbClr val="5CC2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CACHE</a:t>
            </a:r>
            <a:endParaRPr lang="en-US" sz="675" dirty="0"/>
          </a:p>
        </p:txBody>
      </p:sp>
      <p:sp>
        <p:nvSpPr>
          <p:cNvPr id="53" name="Shape 50"/>
          <p:cNvSpPr/>
          <p:nvPr/>
        </p:nvSpPr>
        <p:spPr>
          <a:xfrm>
            <a:off x="8458274" y="2686906"/>
            <a:ext cx="85576" cy="85576"/>
          </a:xfrm>
          <a:prstGeom prst="roundRect">
            <a:avLst>
              <a:gd name="adj" fmla="val 22261"/>
            </a:avLst>
          </a:prstGeom>
          <a:solidFill>
            <a:srgbClr val="BDD248"/>
          </a:solidFill>
          <a:ln/>
        </p:spPr>
      </p:sp>
      <p:sp>
        <p:nvSpPr>
          <p:cNvPr id="54" name="Text 51"/>
          <p:cNvSpPr/>
          <p:nvPr/>
        </p:nvSpPr>
        <p:spPr>
          <a:xfrm>
            <a:off x="8639101" y="2655466"/>
            <a:ext cx="2110848" cy="186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couche CODE </a:t>
            </a:r>
            <a:r>
              <a:rPr lang="en-US" sz="900" dirty="0">
                <a:solidFill>
                  <a:srgbClr val="6068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src/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10653303" y="2647652"/>
            <a:ext cx="548246" cy="164083"/>
          </a:xfrm>
          <a:prstGeom prst="roundRect">
            <a:avLst>
              <a:gd name="adj" fmla="val 50000"/>
            </a:avLst>
          </a:prstGeom>
          <a:solidFill>
            <a:srgbClr val="BDD248"/>
          </a:solidFill>
          <a:ln/>
        </p:spPr>
      </p:sp>
      <p:sp>
        <p:nvSpPr>
          <p:cNvPr id="56" name="Text 53"/>
          <p:cNvSpPr/>
          <p:nvPr/>
        </p:nvSpPr>
        <p:spPr>
          <a:xfrm>
            <a:off x="10729503" y="2676227"/>
            <a:ext cx="472046" cy="145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b="1" kern="0" spc="41" dirty="0">
                <a:solidFill>
                  <a:srgbClr val="2A2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REBUILD</a:t>
            </a:r>
            <a:endParaRPr lang="en-US" sz="675" dirty="0"/>
          </a:p>
        </p:txBody>
      </p:sp>
      <p:sp>
        <p:nvSpPr>
          <p:cNvPr id="57" name="Shape 54"/>
          <p:cNvSpPr/>
          <p:nvPr/>
        </p:nvSpPr>
        <p:spPr>
          <a:xfrm>
            <a:off x="8458274" y="3632895"/>
            <a:ext cx="2743274" cy="11906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58" name="Text 55"/>
          <p:cNvSpPr/>
          <p:nvPr/>
        </p:nvSpPr>
        <p:spPr>
          <a:xfrm>
            <a:off x="8458274" y="3749539"/>
            <a:ext cx="882662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75" b="1" kern="0" spc="-22" dirty="0">
                <a:solidFill>
                  <a:srgbClr val="BDD24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&lt; 30 s</a:t>
            </a:r>
            <a:endParaRPr lang="en-US" sz="2175" dirty="0"/>
          </a:p>
        </p:txBody>
      </p:sp>
      <p:sp>
        <p:nvSpPr>
          <p:cNvPr id="59" name="Text 56"/>
          <p:cNvSpPr/>
          <p:nvPr/>
        </p:nvSpPr>
        <p:spPr>
          <a:xfrm>
            <a:off x="9369475" y="3868601"/>
            <a:ext cx="1908274" cy="318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88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 </a:t>
            </a:r>
            <a:r>
              <a:rPr lang="en-US" sz="788" b="1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Δ code </a:t>
            </a:r>
            <a:r>
              <a:rPr lang="en-US" sz="788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 rebuild que sa couche</a:t>
            </a:r>
            <a:endParaRPr lang="en-US" sz="788" dirty="0"/>
          </a:p>
        </p:txBody>
      </p:sp>
      <p:sp>
        <p:nvSpPr>
          <p:cNvPr id="60" name="Shape 57"/>
          <p:cNvSpPr/>
          <p:nvPr/>
        </p:nvSpPr>
        <p:spPr>
          <a:xfrm>
            <a:off x="838088" y="4405685"/>
            <a:ext cx="10515823" cy="728700"/>
          </a:xfrm>
          <a:prstGeom prst="roundRect">
            <a:avLst>
              <a:gd name="adj" fmla="val 7843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002357" y="4601766"/>
            <a:ext cx="94312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 kern="0" spc="7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ORCHESTRATION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1002357" y="4758779"/>
            <a:ext cx="1257151" cy="217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docker‑compose</a:t>
            </a:r>
            <a:endParaRPr lang="en-US" sz="975" dirty="0"/>
          </a:p>
        </p:txBody>
      </p:sp>
      <p:sp>
        <p:nvSpPr>
          <p:cNvPr id="63" name="Shape 60"/>
          <p:cNvSpPr/>
          <p:nvPr/>
        </p:nvSpPr>
        <p:spPr>
          <a:xfrm>
            <a:off x="2335671" y="4655716"/>
            <a:ext cx="646658" cy="2286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06">
            <a:solidFill>
              <a:srgbClr val="CFCFCF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2461878" y="4715247"/>
            <a:ext cx="470446" cy="1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3" dirty="0">
                <a:solidFill>
                  <a:srgbClr val="3F3F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mlflow</a:t>
            </a:r>
            <a:endParaRPr lang="en-US" sz="863" dirty="0"/>
          </a:p>
        </p:txBody>
      </p:sp>
      <p:sp>
        <p:nvSpPr>
          <p:cNvPr id="65" name="Shape 62"/>
          <p:cNvSpPr/>
          <p:nvPr/>
        </p:nvSpPr>
        <p:spPr>
          <a:xfrm>
            <a:off x="3048930" y="4655716"/>
            <a:ext cx="449461" cy="2286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06">
            <a:solidFill>
              <a:srgbClr val="CFCFCF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3175136" y="4715247"/>
            <a:ext cx="273248" cy="1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3" dirty="0">
                <a:solidFill>
                  <a:srgbClr val="3F3F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</a:t>
            </a:r>
            <a:endParaRPr lang="en-US" sz="863" dirty="0"/>
          </a:p>
        </p:txBody>
      </p:sp>
      <p:sp>
        <p:nvSpPr>
          <p:cNvPr id="67" name="Shape 64"/>
          <p:cNvSpPr/>
          <p:nvPr/>
        </p:nvSpPr>
        <p:spPr>
          <a:xfrm>
            <a:off x="3564992" y="4655716"/>
            <a:ext cx="646658" cy="2286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06">
            <a:solidFill>
              <a:srgbClr val="CFCFC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3691198" y="4715247"/>
            <a:ext cx="470446" cy="1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3" dirty="0">
                <a:solidFill>
                  <a:srgbClr val="3F3F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ollama</a:t>
            </a:r>
            <a:endParaRPr lang="en-US" sz="863" dirty="0"/>
          </a:p>
        </p:txBody>
      </p:sp>
      <p:sp>
        <p:nvSpPr>
          <p:cNvPr id="69" name="Shape 66"/>
          <p:cNvSpPr/>
          <p:nvPr/>
        </p:nvSpPr>
        <p:spPr>
          <a:xfrm>
            <a:off x="4278250" y="4655716"/>
            <a:ext cx="646658" cy="2286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06">
            <a:solidFill>
              <a:srgbClr val="CFCFCF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4404457" y="4715247"/>
            <a:ext cx="470446" cy="1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3" dirty="0">
                <a:solidFill>
                  <a:srgbClr val="3F3F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qdrant</a:t>
            </a:r>
            <a:endParaRPr lang="en-US" sz="863" dirty="0"/>
          </a:p>
        </p:txBody>
      </p:sp>
      <p:sp>
        <p:nvSpPr>
          <p:cNvPr id="71" name="Shape 68"/>
          <p:cNvSpPr/>
          <p:nvPr/>
        </p:nvSpPr>
        <p:spPr>
          <a:xfrm>
            <a:off x="4991509" y="4655716"/>
            <a:ext cx="909526" cy="2286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06">
            <a:solidFill>
              <a:srgbClr val="CFCFCF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117716" y="4715247"/>
            <a:ext cx="733313" cy="1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3" dirty="0">
                <a:solidFill>
                  <a:srgbClr val="3F3F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prometheus</a:t>
            </a:r>
            <a:endParaRPr lang="en-US" sz="863" dirty="0"/>
          </a:p>
        </p:txBody>
      </p:sp>
      <p:sp>
        <p:nvSpPr>
          <p:cNvPr id="73" name="Shape 70"/>
          <p:cNvSpPr/>
          <p:nvPr/>
        </p:nvSpPr>
        <p:spPr>
          <a:xfrm>
            <a:off x="5967636" y="4655716"/>
            <a:ext cx="712329" cy="2286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06">
            <a:solidFill>
              <a:srgbClr val="CFCFCF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6093842" y="4715247"/>
            <a:ext cx="536116" cy="1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3" dirty="0">
                <a:solidFill>
                  <a:srgbClr val="3F3F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grafana</a:t>
            </a:r>
            <a:endParaRPr lang="en-US" sz="863" dirty="0"/>
          </a:p>
        </p:txBody>
      </p:sp>
      <p:sp>
        <p:nvSpPr>
          <p:cNvPr id="75" name="Shape 72"/>
          <p:cNvSpPr/>
          <p:nvPr/>
        </p:nvSpPr>
        <p:spPr>
          <a:xfrm>
            <a:off x="9351429" y="4522329"/>
            <a:ext cx="9525" cy="495412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76" name="Shape 73"/>
          <p:cNvSpPr/>
          <p:nvPr/>
        </p:nvSpPr>
        <p:spPr>
          <a:xfrm>
            <a:off x="9513280" y="4522329"/>
            <a:ext cx="1050541" cy="204453"/>
          </a:xfrm>
          <a:prstGeom prst="roundRect">
            <a:avLst>
              <a:gd name="adj" fmla="val 50000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9629961" y="4572335"/>
            <a:ext cx="893378" cy="14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--profile rag</a:t>
            </a:r>
            <a:endParaRPr lang="en-US" sz="825" dirty="0"/>
          </a:p>
        </p:txBody>
      </p:sp>
      <p:sp>
        <p:nvSpPr>
          <p:cNvPr id="78" name="Text 75"/>
          <p:cNvSpPr/>
          <p:nvPr/>
        </p:nvSpPr>
        <p:spPr>
          <a:xfrm>
            <a:off x="9513280" y="4764732"/>
            <a:ext cx="1752563" cy="291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13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 lancé à la demande — tourne puis sort</a:t>
            </a:r>
            <a:endParaRPr lang="en-US" sz="713" dirty="0"/>
          </a:p>
        </p:txBody>
      </p:sp>
      <p:sp>
        <p:nvSpPr>
          <p:cNvPr id="79" name="Shape 76"/>
          <p:cNvSpPr/>
          <p:nvPr/>
        </p:nvSpPr>
        <p:spPr>
          <a:xfrm>
            <a:off x="838088" y="5258098"/>
            <a:ext cx="10515823" cy="426393"/>
          </a:xfrm>
          <a:prstGeom prst="roundRect">
            <a:avLst>
              <a:gd name="adj" fmla="val 13403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1021333" y="5374742"/>
            <a:ext cx="37951" cy="193104"/>
          </a:xfrm>
          <a:prstGeom prst="roundRect">
            <a:avLst>
              <a:gd name="adj" fmla="val 50000"/>
            </a:avLst>
          </a:prstGeom>
          <a:solidFill>
            <a:srgbClr val="6E8523"/>
          </a:solidFill>
          <a:ln/>
        </p:spPr>
      </p:sp>
      <p:sp>
        <p:nvSpPr>
          <p:cNvPr id="81" name="Text 78"/>
          <p:cNvSpPr/>
          <p:nvPr/>
        </p:nvSpPr>
        <p:spPr>
          <a:xfrm>
            <a:off x="1192485" y="5374742"/>
            <a:ext cx="9566039" cy="2312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design Docker reflète l'architecture du code : </a:t>
            </a:r>
            <a:r>
              <a:rPr lang="en-US" sz="1088" b="1" dirty="0">
                <a:solidFill>
                  <a:srgbClr val="4B5A1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une base générique + des extensions par use case</a:t>
            </a:r>
            <a:r>
              <a:rPr lang="en-US" sz="1088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. Même philosophie, du code à l'infra.</a:t>
            </a:r>
            <a:endParaRPr lang="en-US" sz="1088" dirty="0"/>
          </a:p>
        </p:txBody>
      </p:sp>
      <p:sp>
        <p:nvSpPr>
          <p:cNvPr id="82" name="Text 79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83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84" name="Text 80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14</a:t>
            </a:r>
            <a:endParaRPr lang="en-US" sz="97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216091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BLOC 04 · OPS · CI/CT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19014"/>
            <a:ext cx="11567406" cy="44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700" b="1" kern="0" spc="-54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Intègre &amp; ré-entraîne en continu, </a:t>
            </a:r>
            <a:r>
              <a:rPr lang="en-US" sz="2700" b="1" kern="0" spc="-54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déploie sur décision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38088" y="1428192"/>
            <a:ext cx="11567406" cy="251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L'intégration et l'entraînement sont automatisés et validés ; </a:t>
            </a:r>
            <a:r>
              <a:rPr lang="en-US" sz="1200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le déploiement reste manuel, conditionné à la qualité.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38088" y="1984251"/>
            <a:ext cx="1894582" cy="1416286"/>
          </a:xfrm>
          <a:prstGeom prst="roundRect">
            <a:avLst>
              <a:gd name="adj" fmla="val 4035"/>
            </a:avLst>
          </a:prstGeom>
          <a:solidFill>
            <a:srgbClr val="F4F4F4"/>
          </a:solidFill>
          <a:ln/>
        </p:spPr>
      </p:sp>
      <p:sp>
        <p:nvSpPr>
          <p:cNvPr id="8" name="Shape 5"/>
          <p:cNvSpPr/>
          <p:nvPr/>
        </p:nvSpPr>
        <p:spPr>
          <a:xfrm>
            <a:off x="838088" y="3388630"/>
            <a:ext cx="1894582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9" name="Shape 6"/>
          <p:cNvSpPr/>
          <p:nvPr/>
        </p:nvSpPr>
        <p:spPr>
          <a:xfrm>
            <a:off x="838088" y="1984251"/>
            <a:ext cx="1894582" cy="23813"/>
          </a:xfrm>
          <a:prstGeom prst="rect">
            <a:avLst/>
          </a:prstGeom>
          <a:solidFill>
            <a:srgbClr val="525252"/>
          </a:solidFill>
          <a:ln/>
        </p:spPr>
      </p:sp>
      <p:sp>
        <p:nvSpPr>
          <p:cNvPr id="10" name="Shape 7"/>
          <p:cNvSpPr/>
          <p:nvPr/>
        </p:nvSpPr>
        <p:spPr>
          <a:xfrm>
            <a:off x="838088" y="1984251"/>
            <a:ext cx="11906" cy="141628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1" name="Shape 8"/>
          <p:cNvSpPr/>
          <p:nvPr/>
        </p:nvSpPr>
        <p:spPr>
          <a:xfrm>
            <a:off x="2720764" y="1984251"/>
            <a:ext cx="11906" cy="141628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2" name="Shape 9"/>
          <p:cNvSpPr/>
          <p:nvPr/>
        </p:nvSpPr>
        <p:spPr>
          <a:xfrm>
            <a:off x="849995" y="2008063"/>
            <a:ext cx="1870770" cy="241660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13" name="Text 10"/>
          <p:cNvSpPr/>
          <p:nvPr/>
        </p:nvSpPr>
        <p:spPr>
          <a:xfrm>
            <a:off x="992870" y="2074738"/>
            <a:ext cx="1661220" cy="146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13" b="1" kern="0" spc="64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DÉCLENCHEUR</a:t>
            </a:r>
            <a:endParaRPr lang="en-US" sz="713" dirty="0"/>
          </a:p>
        </p:txBody>
      </p:sp>
      <p:sp>
        <p:nvSpPr>
          <p:cNvPr id="14" name="Text 11"/>
          <p:cNvSpPr/>
          <p:nvPr/>
        </p:nvSpPr>
        <p:spPr>
          <a:xfrm>
            <a:off x="1011845" y="2402086"/>
            <a:ext cx="17017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1011845" y="2582912"/>
            <a:ext cx="1701775" cy="2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Commit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011845" y="2857128"/>
            <a:ext cx="1623268" cy="380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push feature branch</a:t>
            </a:r>
            <a:endParaRPr lang="en-US" sz="9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2670" y="2578075"/>
            <a:ext cx="361838" cy="228451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999259" y="1984251"/>
            <a:ext cx="1894768" cy="1416286"/>
          </a:xfrm>
          <a:prstGeom prst="roundRect">
            <a:avLst>
              <a:gd name="adj" fmla="val 4035"/>
            </a:avLst>
          </a:prstGeom>
          <a:solidFill>
            <a:srgbClr val="F4F4F4"/>
          </a:solidFill>
          <a:ln/>
        </p:spPr>
      </p:sp>
      <p:sp>
        <p:nvSpPr>
          <p:cNvPr id="19" name="Shape 15"/>
          <p:cNvSpPr/>
          <p:nvPr/>
        </p:nvSpPr>
        <p:spPr>
          <a:xfrm>
            <a:off x="2999259" y="3388630"/>
            <a:ext cx="1894768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0" name="Shape 16"/>
          <p:cNvSpPr/>
          <p:nvPr/>
        </p:nvSpPr>
        <p:spPr>
          <a:xfrm>
            <a:off x="2999259" y="1984251"/>
            <a:ext cx="1894768" cy="23813"/>
          </a:xfrm>
          <a:prstGeom prst="rect">
            <a:avLst/>
          </a:prstGeom>
          <a:solidFill>
            <a:srgbClr val="CFCFCF"/>
          </a:solidFill>
          <a:ln/>
        </p:spPr>
      </p:sp>
      <p:sp>
        <p:nvSpPr>
          <p:cNvPr id="21" name="Shape 17"/>
          <p:cNvSpPr/>
          <p:nvPr/>
        </p:nvSpPr>
        <p:spPr>
          <a:xfrm>
            <a:off x="2999259" y="1984251"/>
            <a:ext cx="11906" cy="141628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2" name="Shape 18"/>
          <p:cNvSpPr/>
          <p:nvPr/>
        </p:nvSpPr>
        <p:spPr>
          <a:xfrm>
            <a:off x="4882121" y="1984251"/>
            <a:ext cx="11906" cy="141628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3" name="Shape 19"/>
          <p:cNvSpPr/>
          <p:nvPr/>
        </p:nvSpPr>
        <p:spPr>
          <a:xfrm>
            <a:off x="3011165" y="2008063"/>
            <a:ext cx="1870956" cy="24166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24" name="Text 20"/>
          <p:cNvSpPr/>
          <p:nvPr/>
        </p:nvSpPr>
        <p:spPr>
          <a:xfrm>
            <a:off x="3154040" y="2074738"/>
            <a:ext cx="1661406" cy="146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13" b="1" kern="0" spc="64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ROADMAP</a:t>
            </a:r>
            <a:endParaRPr lang="en-US" sz="713" dirty="0"/>
          </a:p>
        </p:txBody>
      </p:sp>
      <p:sp>
        <p:nvSpPr>
          <p:cNvPr id="25" name="Text 21"/>
          <p:cNvSpPr/>
          <p:nvPr/>
        </p:nvSpPr>
        <p:spPr>
          <a:xfrm>
            <a:off x="3173016" y="2402086"/>
            <a:ext cx="17019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825" dirty="0"/>
          </a:p>
        </p:txBody>
      </p:sp>
      <p:sp>
        <p:nvSpPr>
          <p:cNvPr id="26" name="Text 22"/>
          <p:cNvSpPr/>
          <p:nvPr/>
        </p:nvSpPr>
        <p:spPr>
          <a:xfrm>
            <a:off x="3173016" y="2582912"/>
            <a:ext cx="1701980" cy="2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52525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Lint · Tests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3173016" y="2857128"/>
            <a:ext cx="1623454" cy="380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ruff · pytest tests à écrire</a:t>
            </a:r>
            <a:endParaRPr lang="en-US" sz="9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4027" y="2578075"/>
            <a:ext cx="361838" cy="228451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5160615" y="1984251"/>
            <a:ext cx="1894582" cy="1416286"/>
          </a:xfrm>
          <a:prstGeom prst="roundRect">
            <a:avLst>
              <a:gd name="adj" fmla="val 4035"/>
            </a:avLst>
          </a:prstGeom>
          <a:solidFill>
            <a:srgbClr val="F4F4F4"/>
          </a:solidFill>
          <a:ln/>
        </p:spPr>
      </p:sp>
      <p:sp>
        <p:nvSpPr>
          <p:cNvPr id="30" name="Shape 25"/>
          <p:cNvSpPr/>
          <p:nvPr/>
        </p:nvSpPr>
        <p:spPr>
          <a:xfrm>
            <a:off x="5160615" y="3388630"/>
            <a:ext cx="1894582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1" name="Shape 26"/>
          <p:cNvSpPr/>
          <p:nvPr/>
        </p:nvSpPr>
        <p:spPr>
          <a:xfrm>
            <a:off x="5160615" y="1984251"/>
            <a:ext cx="1894582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2" name="Shape 27"/>
          <p:cNvSpPr/>
          <p:nvPr/>
        </p:nvSpPr>
        <p:spPr>
          <a:xfrm>
            <a:off x="5160615" y="1984251"/>
            <a:ext cx="11906" cy="141628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3" name="Shape 28"/>
          <p:cNvSpPr/>
          <p:nvPr/>
        </p:nvSpPr>
        <p:spPr>
          <a:xfrm>
            <a:off x="7043291" y="1984251"/>
            <a:ext cx="11906" cy="141628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4" name="Shape 29"/>
          <p:cNvSpPr/>
          <p:nvPr/>
        </p:nvSpPr>
        <p:spPr>
          <a:xfrm>
            <a:off x="5172521" y="2008063"/>
            <a:ext cx="1870770" cy="241660"/>
          </a:xfrm>
          <a:prstGeom prst="rect">
            <a:avLst/>
          </a:prstGeom>
          <a:solidFill>
            <a:srgbClr val="EFF4D8"/>
          </a:solidFill>
          <a:ln/>
        </p:spPr>
      </p:sp>
      <p:sp>
        <p:nvSpPr>
          <p:cNvPr id="35" name="Text 30"/>
          <p:cNvSpPr/>
          <p:nvPr/>
        </p:nvSpPr>
        <p:spPr>
          <a:xfrm>
            <a:off x="5315396" y="2074738"/>
            <a:ext cx="1661220" cy="146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13" b="1" kern="0" spc="64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FAIT</a:t>
            </a:r>
            <a:endParaRPr lang="en-US" sz="713" dirty="0"/>
          </a:p>
        </p:txBody>
      </p:sp>
      <p:sp>
        <p:nvSpPr>
          <p:cNvPr id="36" name="Text 31"/>
          <p:cNvSpPr/>
          <p:nvPr/>
        </p:nvSpPr>
        <p:spPr>
          <a:xfrm>
            <a:off x="5334372" y="2402086"/>
            <a:ext cx="17017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25" dirty="0"/>
          </a:p>
        </p:txBody>
      </p:sp>
      <p:sp>
        <p:nvSpPr>
          <p:cNvPr id="37" name="Text 32"/>
          <p:cNvSpPr/>
          <p:nvPr/>
        </p:nvSpPr>
        <p:spPr>
          <a:xfrm>
            <a:off x="5334372" y="2582912"/>
            <a:ext cx="1701775" cy="2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Pipeline ML</a:t>
            </a:r>
            <a:endParaRPr lang="en-US" sz="1350" dirty="0"/>
          </a:p>
        </p:txBody>
      </p:sp>
      <p:sp>
        <p:nvSpPr>
          <p:cNvPr id="38" name="Text 33"/>
          <p:cNvSpPr/>
          <p:nvPr/>
        </p:nvSpPr>
        <p:spPr>
          <a:xfrm>
            <a:off x="5334372" y="2857128"/>
            <a:ext cx="1623268" cy="380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 complet 5 phases (RAG)</a:t>
            </a:r>
            <a:endParaRPr lang="en-US" sz="900" dirty="0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197" y="2578075"/>
            <a:ext cx="361838" cy="228451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7321786" y="1984251"/>
            <a:ext cx="1894768" cy="1416286"/>
          </a:xfrm>
          <a:prstGeom prst="roundRect">
            <a:avLst>
              <a:gd name="adj" fmla="val 4035"/>
            </a:avLst>
          </a:prstGeom>
          <a:solidFill>
            <a:srgbClr val="F4F4F4"/>
          </a:solidFill>
          <a:ln/>
        </p:spPr>
      </p:sp>
      <p:sp>
        <p:nvSpPr>
          <p:cNvPr id="41" name="Shape 35"/>
          <p:cNvSpPr/>
          <p:nvPr/>
        </p:nvSpPr>
        <p:spPr>
          <a:xfrm>
            <a:off x="7321786" y="3388630"/>
            <a:ext cx="1894768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2" name="Shape 36"/>
          <p:cNvSpPr/>
          <p:nvPr/>
        </p:nvSpPr>
        <p:spPr>
          <a:xfrm>
            <a:off x="7321786" y="1984251"/>
            <a:ext cx="1894768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3" name="Shape 37"/>
          <p:cNvSpPr/>
          <p:nvPr/>
        </p:nvSpPr>
        <p:spPr>
          <a:xfrm>
            <a:off x="7321786" y="1984251"/>
            <a:ext cx="11906" cy="141628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4" name="Shape 38"/>
          <p:cNvSpPr/>
          <p:nvPr/>
        </p:nvSpPr>
        <p:spPr>
          <a:xfrm>
            <a:off x="9204647" y="1984251"/>
            <a:ext cx="11906" cy="141628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5" name="Shape 39"/>
          <p:cNvSpPr/>
          <p:nvPr/>
        </p:nvSpPr>
        <p:spPr>
          <a:xfrm>
            <a:off x="7333692" y="2008063"/>
            <a:ext cx="1870956" cy="241660"/>
          </a:xfrm>
          <a:prstGeom prst="rect">
            <a:avLst/>
          </a:prstGeom>
          <a:solidFill>
            <a:srgbClr val="EFF4D8"/>
          </a:solidFill>
          <a:ln/>
        </p:spPr>
      </p:sp>
      <p:sp>
        <p:nvSpPr>
          <p:cNvPr id="46" name="Text 40"/>
          <p:cNvSpPr/>
          <p:nvPr/>
        </p:nvSpPr>
        <p:spPr>
          <a:xfrm>
            <a:off x="7476567" y="2074738"/>
            <a:ext cx="1661406" cy="146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13" b="1" kern="0" spc="64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FAIT</a:t>
            </a:r>
            <a:endParaRPr lang="en-US" sz="713" dirty="0"/>
          </a:p>
        </p:txBody>
      </p:sp>
      <p:sp>
        <p:nvSpPr>
          <p:cNvPr id="47" name="Shape 41"/>
          <p:cNvSpPr/>
          <p:nvPr/>
        </p:nvSpPr>
        <p:spPr>
          <a:xfrm>
            <a:off x="7333692" y="2249723"/>
            <a:ext cx="1870956" cy="1138907"/>
          </a:xfrm>
          <a:prstGeom prst="rect">
            <a:avLst/>
          </a:prstGeom>
          <a:solidFill>
            <a:srgbClr val="EFF4D8"/>
          </a:solidFill>
          <a:ln/>
        </p:spPr>
      </p:sp>
      <p:sp>
        <p:nvSpPr>
          <p:cNvPr id="48" name="Text 42"/>
          <p:cNvSpPr/>
          <p:nvPr/>
        </p:nvSpPr>
        <p:spPr>
          <a:xfrm>
            <a:off x="7495542" y="2402086"/>
            <a:ext cx="17019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825" dirty="0"/>
          </a:p>
        </p:txBody>
      </p:sp>
      <p:sp>
        <p:nvSpPr>
          <p:cNvPr id="49" name="Text 43"/>
          <p:cNvSpPr/>
          <p:nvPr/>
        </p:nvSpPr>
        <p:spPr>
          <a:xfrm>
            <a:off x="7495542" y="2582912"/>
            <a:ext cx="1701980" cy="2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Quality Gate</a:t>
            </a:r>
            <a:endParaRPr lang="en-US" sz="1350" dirty="0"/>
          </a:p>
        </p:txBody>
      </p:sp>
      <p:sp>
        <p:nvSpPr>
          <p:cNvPr id="50" name="Text 44"/>
          <p:cNvSpPr/>
          <p:nvPr/>
        </p:nvSpPr>
        <p:spPr>
          <a:xfrm>
            <a:off x="7495542" y="2857128"/>
            <a:ext cx="1623454" cy="380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score ≥ seuil ? exit 0 / exit 1</a:t>
            </a:r>
            <a:endParaRPr lang="en-US" sz="900" dirty="0"/>
          </a:p>
        </p:txBody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6554" y="2578075"/>
            <a:ext cx="361838" cy="228451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9389604" y="1984251"/>
            <a:ext cx="2057846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675" kern="0" spc="68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DÉCISION DU GATE</a:t>
            </a:r>
            <a:endParaRPr lang="en-US" sz="675" dirty="0"/>
          </a:p>
        </p:txBody>
      </p:sp>
      <p:sp>
        <p:nvSpPr>
          <p:cNvPr id="53" name="Shape 46"/>
          <p:cNvSpPr/>
          <p:nvPr/>
        </p:nvSpPr>
        <p:spPr>
          <a:xfrm>
            <a:off x="9483142" y="2186471"/>
            <a:ext cx="1870770" cy="638101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</p:spPr>
      </p:sp>
      <p:sp>
        <p:nvSpPr>
          <p:cNvPr id="54" name="Shape 47"/>
          <p:cNvSpPr/>
          <p:nvPr/>
        </p:nvSpPr>
        <p:spPr>
          <a:xfrm>
            <a:off x="9483142" y="2812666"/>
            <a:ext cx="187077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5" name="Shape 48"/>
          <p:cNvSpPr/>
          <p:nvPr/>
        </p:nvSpPr>
        <p:spPr>
          <a:xfrm>
            <a:off x="9483142" y="2186471"/>
            <a:ext cx="187077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6" name="Shape 49"/>
          <p:cNvSpPr/>
          <p:nvPr/>
        </p:nvSpPr>
        <p:spPr>
          <a:xfrm>
            <a:off x="9483142" y="2186471"/>
            <a:ext cx="23813" cy="63810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57" name="Shape 50"/>
          <p:cNvSpPr/>
          <p:nvPr/>
        </p:nvSpPr>
        <p:spPr>
          <a:xfrm>
            <a:off x="11342005" y="2186471"/>
            <a:ext cx="11906" cy="638101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8" name="Shape 51"/>
          <p:cNvSpPr/>
          <p:nvPr/>
        </p:nvSpPr>
        <p:spPr>
          <a:xfrm>
            <a:off x="9630668" y="2405621"/>
            <a:ext cx="564059" cy="199802"/>
          </a:xfrm>
          <a:prstGeom prst="roundRect">
            <a:avLst>
              <a:gd name="adj" fmla="val 50000"/>
            </a:avLst>
          </a:prstGeom>
          <a:solidFill>
            <a:srgbClr val="EFF4D8"/>
          </a:solidFill>
          <a:ln/>
        </p:spPr>
      </p:sp>
      <p:sp>
        <p:nvSpPr>
          <p:cNvPr id="59" name="Text 52"/>
          <p:cNvSpPr/>
          <p:nvPr/>
        </p:nvSpPr>
        <p:spPr>
          <a:xfrm>
            <a:off x="9716393" y="2434196"/>
            <a:ext cx="468809" cy="18075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PASS</a:t>
            </a:r>
            <a:endParaRPr lang="en-US" sz="825" dirty="0"/>
          </a:p>
        </p:txBody>
      </p:sp>
      <p:sp>
        <p:nvSpPr>
          <p:cNvPr id="60" name="Text 53"/>
          <p:cNvSpPr/>
          <p:nvPr/>
        </p:nvSpPr>
        <p:spPr>
          <a:xfrm>
            <a:off x="10280303" y="2283954"/>
            <a:ext cx="1014189" cy="481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13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Déploiement autorisé </a:t>
            </a:r>
            <a:r>
              <a:rPr lang="en-US" sz="1013" dirty="0">
                <a:solidFill>
                  <a:srgbClr val="909090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(manuel)</a:t>
            </a:r>
            <a:endParaRPr lang="en-US" sz="1013" dirty="0"/>
          </a:p>
        </p:txBody>
      </p:sp>
      <p:sp>
        <p:nvSpPr>
          <p:cNvPr id="61" name="Shape 54"/>
          <p:cNvSpPr/>
          <p:nvPr/>
        </p:nvSpPr>
        <p:spPr>
          <a:xfrm>
            <a:off x="9483142" y="2910148"/>
            <a:ext cx="1870770" cy="490389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/>
        </p:spPr>
      </p:sp>
      <p:sp>
        <p:nvSpPr>
          <p:cNvPr id="62" name="Shape 55"/>
          <p:cNvSpPr/>
          <p:nvPr/>
        </p:nvSpPr>
        <p:spPr>
          <a:xfrm>
            <a:off x="9483142" y="3388630"/>
            <a:ext cx="187077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63" name="Shape 56"/>
          <p:cNvSpPr/>
          <p:nvPr/>
        </p:nvSpPr>
        <p:spPr>
          <a:xfrm>
            <a:off x="9483142" y="2910148"/>
            <a:ext cx="187077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64" name="Shape 57"/>
          <p:cNvSpPr/>
          <p:nvPr/>
        </p:nvSpPr>
        <p:spPr>
          <a:xfrm>
            <a:off x="9483142" y="2910148"/>
            <a:ext cx="23813" cy="490389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5" name="Shape 58"/>
          <p:cNvSpPr/>
          <p:nvPr/>
        </p:nvSpPr>
        <p:spPr>
          <a:xfrm>
            <a:off x="11342005" y="2910148"/>
            <a:ext cx="11906" cy="490389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66" name="Shape 59"/>
          <p:cNvSpPr/>
          <p:nvPr/>
        </p:nvSpPr>
        <p:spPr>
          <a:xfrm>
            <a:off x="9630668" y="3055441"/>
            <a:ext cx="571128" cy="199802"/>
          </a:xfrm>
          <a:prstGeom prst="roundRect">
            <a:avLst>
              <a:gd name="adj" fmla="val 50000"/>
            </a:avLst>
          </a:prstGeom>
          <a:solidFill>
            <a:srgbClr val="FBE7E9"/>
          </a:solidFill>
          <a:ln/>
        </p:spPr>
      </p:sp>
      <p:sp>
        <p:nvSpPr>
          <p:cNvPr id="67" name="Text 60"/>
          <p:cNvSpPr/>
          <p:nvPr/>
        </p:nvSpPr>
        <p:spPr>
          <a:xfrm>
            <a:off x="9716393" y="3084016"/>
            <a:ext cx="475878" cy="18075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DC35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✗ FAIL</a:t>
            </a:r>
            <a:endParaRPr lang="en-US" sz="825" dirty="0"/>
          </a:p>
        </p:txBody>
      </p:sp>
      <p:sp>
        <p:nvSpPr>
          <p:cNvPr id="68" name="Text 61"/>
          <p:cNvSpPr/>
          <p:nvPr/>
        </p:nvSpPr>
        <p:spPr>
          <a:xfrm>
            <a:off x="10287372" y="3007630"/>
            <a:ext cx="1007120" cy="333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13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Bloqué — alerte</a:t>
            </a:r>
            <a:endParaRPr lang="en-US" sz="1013" dirty="0"/>
          </a:p>
        </p:txBody>
      </p:sp>
      <p:sp>
        <p:nvSpPr>
          <p:cNvPr id="69" name="Shape 62"/>
          <p:cNvSpPr/>
          <p:nvPr/>
        </p:nvSpPr>
        <p:spPr>
          <a:xfrm>
            <a:off x="838088" y="3571875"/>
            <a:ext cx="5181637" cy="1686223"/>
          </a:xfrm>
          <a:prstGeom prst="roundRect">
            <a:avLst>
              <a:gd name="adj" fmla="val 3389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70" name="Shape 63"/>
          <p:cNvSpPr/>
          <p:nvPr/>
        </p:nvSpPr>
        <p:spPr>
          <a:xfrm>
            <a:off x="1040495" y="3739679"/>
            <a:ext cx="133201" cy="133201"/>
          </a:xfrm>
          <a:prstGeom prst="ellipse">
            <a:avLst/>
          </a:prstGeom>
          <a:solidFill>
            <a:srgbClr val="BDD248"/>
          </a:solidFill>
          <a:ln/>
        </p:spPr>
      </p:sp>
      <p:sp>
        <p:nvSpPr>
          <p:cNvPr id="71" name="Text 64"/>
          <p:cNvSpPr/>
          <p:nvPr/>
        </p:nvSpPr>
        <p:spPr>
          <a:xfrm>
            <a:off x="1002395" y="3739679"/>
            <a:ext cx="209401" cy="171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78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✓</a:t>
            </a:r>
            <a:endParaRPr lang="en-US" sz="750" dirty="0"/>
          </a:p>
        </p:txBody>
      </p:sp>
      <p:sp>
        <p:nvSpPr>
          <p:cNvPr id="72" name="Text 65"/>
          <p:cNvSpPr/>
          <p:nvPr/>
        </p:nvSpPr>
        <p:spPr>
          <a:xfrm>
            <a:off x="1259272" y="3716982"/>
            <a:ext cx="375903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78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FAIT</a:t>
            </a:r>
            <a:endParaRPr lang="en-US" sz="975" dirty="0"/>
          </a:p>
        </p:txBody>
      </p:sp>
      <p:sp>
        <p:nvSpPr>
          <p:cNvPr id="73" name="Text 66"/>
          <p:cNvSpPr/>
          <p:nvPr/>
        </p:nvSpPr>
        <p:spPr>
          <a:xfrm>
            <a:off x="5104061" y="3752701"/>
            <a:ext cx="789459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b="1" kern="0" spc="27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déjà en place</a:t>
            </a:r>
            <a:endParaRPr lang="en-US" sz="675" dirty="0"/>
          </a:p>
        </p:txBody>
      </p:sp>
      <p:sp>
        <p:nvSpPr>
          <p:cNvPr id="74" name="Shape 67"/>
          <p:cNvSpPr/>
          <p:nvPr/>
        </p:nvSpPr>
        <p:spPr>
          <a:xfrm>
            <a:off x="1040495" y="4009802"/>
            <a:ext cx="123713" cy="19998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75" name="Text 68"/>
          <p:cNvSpPr/>
          <p:nvPr/>
        </p:nvSpPr>
        <p:spPr>
          <a:xfrm>
            <a:off x="1278620" y="4000314"/>
            <a:ext cx="4674861" cy="403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013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Quality gate opérationnel </a:t>
            </a:r>
            <a:r>
              <a:rPr lang="en-US" sz="101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dans l'orchestrateur — </a:t>
            </a:r>
            <a:r>
              <a:rPr lang="en-US" sz="900" dirty="0">
                <a:solidFill>
                  <a:srgbClr val="3F3F3F"/>
                </a:solidFill>
                <a:highlight>
                  <a:srgbClr val="F2F2F2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exit 1 </a:t>
            </a:r>
            <a:r>
              <a:rPr lang="en-US" sz="101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si score &lt; seuil → déploiement bloqué.</a:t>
            </a:r>
            <a:endParaRPr lang="en-US" sz="1013" dirty="0"/>
          </a:p>
        </p:txBody>
      </p:sp>
      <p:sp>
        <p:nvSpPr>
          <p:cNvPr id="76" name="Shape 69"/>
          <p:cNvSpPr/>
          <p:nvPr/>
        </p:nvSpPr>
        <p:spPr>
          <a:xfrm>
            <a:off x="1040495" y="4470053"/>
            <a:ext cx="123713" cy="19998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77" name="Text 70"/>
          <p:cNvSpPr/>
          <p:nvPr/>
        </p:nvSpPr>
        <p:spPr>
          <a:xfrm>
            <a:off x="1278620" y="4460565"/>
            <a:ext cx="4674861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013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Structure </a:t>
            </a:r>
            <a:r>
              <a:rPr lang="en-US" sz="900" b="1" dirty="0">
                <a:solidFill>
                  <a:srgbClr val="3F3F3F"/>
                </a:solidFill>
                <a:highlight>
                  <a:srgbClr val="F2F2F2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.gitlab-ci.yml </a:t>
            </a:r>
            <a:r>
              <a:rPr lang="en-US" sz="1013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écrite </a:t>
            </a:r>
            <a:r>
              <a:rPr lang="en-US" sz="101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— 2 pipelines : code rapide + ML complet.</a:t>
            </a:r>
            <a:endParaRPr lang="en-US" sz="1013" dirty="0"/>
          </a:p>
        </p:txBody>
      </p:sp>
      <p:sp>
        <p:nvSpPr>
          <p:cNvPr id="78" name="Shape 71"/>
          <p:cNvSpPr/>
          <p:nvPr/>
        </p:nvSpPr>
        <p:spPr>
          <a:xfrm>
            <a:off x="6172088" y="3571875"/>
            <a:ext cx="5181823" cy="1686223"/>
          </a:xfrm>
          <a:prstGeom prst="roundRect">
            <a:avLst>
              <a:gd name="adj" fmla="val 3389"/>
            </a:avLst>
          </a:prstGeom>
          <a:solidFill>
            <a:srgbClr val="F4F4F4"/>
          </a:solidFill>
          <a:ln/>
        </p:spPr>
      </p:sp>
      <p:sp>
        <p:nvSpPr>
          <p:cNvPr id="79" name="Shape 72"/>
          <p:cNvSpPr/>
          <p:nvPr/>
        </p:nvSpPr>
        <p:spPr>
          <a:xfrm>
            <a:off x="6172088" y="5246191"/>
            <a:ext cx="518182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80" name="Shape 73"/>
          <p:cNvSpPr/>
          <p:nvPr/>
        </p:nvSpPr>
        <p:spPr>
          <a:xfrm>
            <a:off x="6172088" y="3571875"/>
            <a:ext cx="518182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81" name="Shape 74"/>
          <p:cNvSpPr/>
          <p:nvPr/>
        </p:nvSpPr>
        <p:spPr>
          <a:xfrm>
            <a:off x="6172088" y="3571875"/>
            <a:ext cx="23813" cy="1686223"/>
          </a:xfrm>
          <a:prstGeom prst="rect">
            <a:avLst/>
          </a:prstGeom>
          <a:solidFill>
            <a:srgbClr val="CFCFCF"/>
          </a:solidFill>
          <a:ln/>
        </p:spPr>
      </p:sp>
      <p:sp>
        <p:nvSpPr>
          <p:cNvPr id="82" name="Shape 75"/>
          <p:cNvSpPr/>
          <p:nvPr/>
        </p:nvSpPr>
        <p:spPr>
          <a:xfrm>
            <a:off x="11342005" y="3571875"/>
            <a:ext cx="11906" cy="1686223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83" name="Shape 76"/>
          <p:cNvSpPr/>
          <p:nvPr/>
        </p:nvSpPr>
        <p:spPr>
          <a:xfrm>
            <a:off x="6386401" y="3744330"/>
            <a:ext cx="123713" cy="123713"/>
          </a:xfrm>
          <a:prstGeom prst="ellipse">
            <a:avLst/>
          </a:prstGeom>
          <a:ln w="11906">
            <a:solidFill>
              <a:srgbClr val="525252"/>
            </a:solidFill>
            <a:prstDash val="dash"/>
          </a:ln>
        </p:spPr>
      </p:sp>
      <p:sp>
        <p:nvSpPr>
          <p:cNvPr id="84" name="Text 77"/>
          <p:cNvSpPr/>
          <p:nvPr/>
        </p:nvSpPr>
        <p:spPr>
          <a:xfrm>
            <a:off x="6595690" y="3716982"/>
            <a:ext cx="783878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78" dirty="0">
                <a:solidFill>
                  <a:srgbClr val="52525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ROADMAP</a:t>
            </a:r>
            <a:endParaRPr lang="en-US" sz="975" dirty="0"/>
          </a:p>
        </p:txBody>
      </p:sp>
      <p:sp>
        <p:nvSpPr>
          <p:cNvPr id="85" name="Text 78"/>
          <p:cNvSpPr/>
          <p:nvPr/>
        </p:nvSpPr>
        <p:spPr>
          <a:xfrm>
            <a:off x="10438247" y="3752701"/>
            <a:ext cx="789459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b="1" kern="0" spc="27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à automatiser</a:t>
            </a:r>
            <a:endParaRPr lang="en-US" sz="675" dirty="0"/>
          </a:p>
        </p:txBody>
      </p:sp>
      <p:sp>
        <p:nvSpPr>
          <p:cNvPr id="86" name="Shape 79"/>
          <p:cNvSpPr/>
          <p:nvPr/>
        </p:nvSpPr>
        <p:spPr>
          <a:xfrm>
            <a:off x="6386401" y="4038265"/>
            <a:ext cx="104738" cy="104738"/>
          </a:xfrm>
          <a:prstGeom prst="ellipse">
            <a:avLst/>
          </a:prstGeom>
          <a:ln w="11906">
            <a:solidFill>
              <a:srgbClr val="525252"/>
            </a:solidFill>
            <a:prstDash val="dash"/>
          </a:ln>
        </p:spPr>
      </p:sp>
      <p:sp>
        <p:nvSpPr>
          <p:cNvPr id="87" name="Text 80"/>
          <p:cNvSpPr/>
          <p:nvPr/>
        </p:nvSpPr>
        <p:spPr>
          <a:xfrm>
            <a:off x="6624526" y="4000314"/>
            <a:ext cx="4979677" cy="22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013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Écrire les tests </a:t>
            </a:r>
            <a:r>
              <a:rPr lang="en-US" sz="101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unitaires &amp; intégration (</a:t>
            </a:r>
            <a:r>
              <a:rPr lang="en-US" sz="900" dirty="0">
                <a:solidFill>
                  <a:srgbClr val="3F3F3F"/>
                </a:solidFill>
                <a:highlight>
                  <a:srgbClr val="F2F2F2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pytest</a:t>
            </a:r>
            <a:r>
              <a:rPr lang="en-US" sz="101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).</a:t>
            </a:r>
            <a:endParaRPr lang="en-US" sz="1013" dirty="0"/>
          </a:p>
        </p:txBody>
      </p:sp>
      <p:sp>
        <p:nvSpPr>
          <p:cNvPr id="88" name="Shape 81"/>
          <p:cNvSpPr/>
          <p:nvPr/>
        </p:nvSpPr>
        <p:spPr>
          <a:xfrm>
            <a:off x="6386401" y="4316016"/>
            <a:ext cx="104738" cy="104738"/>
          </a:xfrm>
          <a:prstGeom prst="ellipse">
            <a:avLst/>
          </a:prstGeom>
          <a:ln w="11906">
            <a:solidFill>
              <a:srgbClr val="525252"/>
            </a:solidFill>
            <a:prstDash val="dash"/>
          </a:ln>
        </p:spPr>
      </p:sp>
      <p:sp>
        <p:nvSpPr>
          <p:cNvPr id="89" name="Text 82"/>
          <p:cNvSpPr/>
          <p:nvPr/>
        </p:nvSpPr>
        <p:spPr>
          <a:xfrm>
            <a:off x="6624526" y="4278064"/>
            <a:ext cx="4662789" cy="403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013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Valider sur un runner CI </a:t>
            </a:r>
            <a:r>
              <a:rPr lang="en-US" sz="101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— contrainte : temps de run du pipeline ML en environnement isolé.</a:t>
            </a:r>
            <a:endParaRPr lang="en-US" sz="1013" dirty="0"/>
          </a:p>
        </p:txBody>
      </p:sp>
      <p:sp>
        <p:nvSpPr>
          <p:cNvPr id="90" name="Shape 83"/>
          <p:cNvSpPr/>
          <p:nvPr/>
        </p:nvSpPr>
        <p:spPr>
          <a:xfrm>
            <a:off x="6386401" y="4776267"/>
            <a:ext cx="104738" cy="104738"/>
          </a:xfrm>
          <a:prstGeom prst="ellipse">
            <a:avLst/>
          </a:prstGeom>
          <a:ln w="11906">
            <a:solidFill>
              <a:srgbClr val="525252"/>
            </a:solidFill>
            <a:prstDash val="dash"/>
          </a:ln>
        </p:spPr>
      </p:sp>
      <p:sp>
        <p:nvSpPr>
          <p:cNvPr id="91" name="Text 84"/>
          <p:cNvSpPr/>
          <p:nvPr/>
        </p:nvSpPr>
        <p:spPr>
          <a:xfrm>
            <a:off x="6624526" y="4738315"/>
            <a:ext cx="4662789" cy="403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013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Le déploiement (CD) reste manuel </a:t>
            </a:r>
            <a:r>
              <a:rPr lang="en-US" sz="101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— conçu comme perspective, non automatisé.</a:t>
            </a:r>
            <a:endParaRPr lang="en-US" sz="1013" dirty="0"/>
          </a:p>
        </p:txBody>
      </p:sp>
      <p:sp>
        <p:nvSpPr>
          <p:cNvPr id="92" name="Shape 85"/>
          <p:cNvSpPr/>
          <p:nvPr/>
        </p:nvSpPr>
        <p:spPr>
          <a:xfrm>
            <a:off x="838088" y="5391299"/>
            <a:ext cx="10515823" cy="689074"/>
          </a:xfrm>
          <a:prstGeom prst="roundRect">
            <a:avLst>
              <a:gd name="adj" fmla="val 8294"/>
            </a:avLst>
          </a:prstGeom>
          <a:solidFill>
            <a:srgbClr val="2A2A2A"/>
          </a:solidFill>
          <a:ln/>
        </p:spPr>
      </p:sp>
      <p:sp>
        <p:nvSpPr>
          <p:cNvPr id="93" name="Shape 86"/>
          <p:cNvSpPr/>
          <p:nvPr/>
        </p:nvSpPr>
        <p:spPr>
          <a:xfrm>
            <a:off x="1047564" y="5515012"/>
            <a:ext cx="37951" cy="441647"/>
          </a:xfrm>
          <a:prstGeom prst="roundRect">
            <a:avLst>
              <a:gd name="adj" fmla="val 50000"/>
            </a:avLst>
          </a:prstGeom>
          <a:solidFill>
            <a:srgbClr val="BDD248"/>
          </a:solidFill>
          <a:ln/>
        </p:spPr>
      </p:sp>
      <p:sp>
        <p:nvSpPr>
          <p:cNvPr id="94" name="Text 87"/>
          <p:cNvSpPr/>
          <p:nvPr/>
        </p:nvSpPr>
        <p:spPr>
          <a:xfrm>
            <a:off x="1237878" y="5515012"/>
            <a:ext cx="10203755" cy="479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BDD24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Automatiser la CI/CT = priorité n°1 de la roadmap. </a:t>
            </a:r>
            <a:r>
              <a:rPr lang="en-US" sz="1200" b="1" dirty="0">
                <a:solidFill>
                  <a:srgbClr val="E6E9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La mécanique de qualité existe déjà ; il reste à la lancer sur un runner. Le déploiement, lui, reste une décision manuelle.</a:t>
            </a:r>
            <a:endParaRPr lang="en-US" sz="1200" dirty="0"/>
          </a:p>
        </p:txBody>
      </p:sp>
      <p:sp>
        <p:nvSpPr>
          <p:cNvPr id="95" name="Text 88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96" name="Image 5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97" name="Text 89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15</a:t>
            </a:r>
            <a:endParaRPr lang="en-US" sz="97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103949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RÉSULTATS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19014"/>
            <a:ext cx="11567406" cy="44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700" b="1" kern="0" spc="-54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La plateforme </a:t>
            </a:r>
            <a:r>
              <a:rPr lang="en-US" sz="2700" b="1" kern="0" spc="-54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 chiffres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38088" y="1428192"/>
            <a:ext cx="11567406" cy="251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Ce n'est pas une promesse : </a:t>
            </a:r>
            <a:r>
              <a:rPr lang="en-US" sz="1200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voici ce que la plateforme fait, mesuré.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38088" y="1860352"/>
            <a:ext cx="5210287" cy="2082664"/>
          </a:xfrm>
          <a:prstGeom prst="roundRect">
            <a:avLst>
              <a:gd name="adj" fmla="val 2744"/>
            </a:avLst>
          </a:prstGeom>
          <a:solidFill>
            <a:srgbClr val="F4F4F4"/>
          </a:solidFill>
          <a:ln/>
        </p:spPr>
      </p:sp>
      <p:sp>
        <p:nvSpPr>
          <p:cNvPr id="8" name="Shape 5"/>
          <p:cNvSpPr/>
          <p:nvPr/>
        </p:nvSpPr>
        <p:spPr>
          <a:xfrm>
            <a:off x="838088" y="3931109"/>
            <a:ext cx="521028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9" name="Shape 6"/>
          <p:cNvSpPr/>
          <p:nvPr/>
        </p:nvSpPr>
        <p:spPr>
          <a:xfrm>
            <a:off x="838088" y="1860352"/>
            <a:ext cx="5210287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0" name="Shape 7"/>
          <p:cNvSpPr/>
          <p:nvPr/>
        </p:nvSpPr>
        <p:spPr>
          <a:xfrm>
            <a:off x="838088" y="1860352"/>
            <a:ext cx="11906" cy="2082664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1" name="Shape 8"/>
          <p:cNvSpPr/>
          <p:nvPr/>
        </p:nvSpPr>
        <p:spPr>
          <a:xfrm>
            <a:off x="6036469" y="1860352"/>
            <a:ext cx="11906" cy="2082664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2" name="Shape 9"/>
          <p:cNvSpPr/>
          <p:nvPr/>
        </p:nvSpPr>
        <p:spPr>
          <a:xfrm>
            <a:off x="1021333" y="2035225"/>
            <a:ext cx="76088" cy="1237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3" name="Text 10"/>
          <p:cNvSpPr/>
          <p:nvPr/>
        </p:nvSpPr>
        <p:spPr>
          <a:xfrm>
            <a:off x="1182998" y="2007877"/>
            <a:ext cx="2037197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49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GÉNÉRICITÉ &amp; EXTENSIBILITÉ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1021333" y="2291209"/>
            <a:ext cx="1172877" cy="3809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0" spc="-75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5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1021333" y="2681697"/>
            <a:ext cx="1172877" cy="318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88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phases </a:t>
            </a:r>
            <a:r>
              <a:rPr lang="en-US" sz="788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(contrat universel)</a:t>
            </a:r>
            <a:endParaRPr lang="en-US" sz="788" dirty="0"/>
          </a:p>
        </p:txBody>
      </p:sp>
      <p:sp>
        <p:nvSpPr>
          <p:cNvPr id="16" name="Text 13"/>
          <p:cNvSpPr/>
          <p:nvPr/>
        </p:nvSpPr>
        <p:spPr>
          <a:xfrm>
            <a:off x="2270373" y="2291209"/>
            <a:ext cx="1172877" cy="3809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0" spc="-75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8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2270373" y="2681697"/>
            <a:ext cx="1172877" cy="318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88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catégories de composants</a:t>
            </a:r>
            <a:endParaRPr lang="en-US" sz="788" dirty="0"/>
          </a:p>
        </p:txBody>
      </p:sp>
      <p:sp>
        <p:nvSpPr>
          <p:cNvPr id="18" name="Text 15"/>
          <p:cNvSpPr/>
          <p:nvPr/>
        </p:nvSpPr>
        <p:spPr>
          <a:xfrm>
            <a:off x="3519413" y="2291209"/>
            <a:ext cx="1172877" cy="3809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0" spc="-75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3519413" y="2681697"/>
            <a:ext cx="1172877" cy="318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88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vector stores intégrés</a:t>
            </a:r>
            <a:endParaRPr lang="en-US" sz="788" dirty="0"/>
          </a:p>
        </p:txBody>
      </p:sp>
      <p:sp>
        <p:nvSpPr>
          <p:cNvPr id="20" name="Text 17"/>
          <p:cNvSpPr/>
          <p:nvPr/>
        </p:nvSpPr>
        <p:spPr>
          <a:xfrm>
            <a:off x="4768453" y="2291209"/>
            <a:ext cx="1172877" cy="3809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800" b="1" kern="0" spc="-75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+</a:t>
            </a:r>
            <a:r>
              <a:rPr lang="en-US" sz="3000" b="1" kern="0" spc="-75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4768453" y="2681697"/>
            <a:ext cx="1172877" cy="318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88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ligne pour ajouter un composant</a:t>
            </a:r>
            <a:endParaRPr lang="en-US" sz="788" dirty="0"/>
          </a:p>
        </p:txBody>
      </p:sp>
      <p:sp>
        <p:nvSpPr>
          <p:cNvPr id="22" name="Shape 19"/>
          <p:cNvSpPr/>
          <p:nvPr/>
        </p:nvSpPr>
        <p:spPr>
          <a:xfrm>
            <a:off x="6143625" y="1860352"/>
            <a:ext cx="5210287" cy="2082664"/>
          </a:xfrm>
          <a:prstGeom prst="roundRect">
            <a:avLst>
              <a:gd name="adj" fmla="val 2744"/>
            </a:avLst>
          </a:prstGeom>
          <a:solidFill>
            <a:srgbClr val="F4F4F4"/>
          </a:solidFill>
          <a:ln/>
        </p:spPr>
      </p:sp>
      <p:sp>
        <p:nvSpPr>
          <p:cNvPr id="23" name="Shape 20"/>
          <p:cNvSpPr/>
          <p:nvPr/>
        </p:nvSpPr>
        <p:spPr>
          <a:xfrm>
            <a:off x="6143625" y="3931109"/>
            <a:ext cx="521028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4" name="Shape 21"/>
          <p:cNvSpPr/>
          <p:nvPr/>
        </p:nvSpPr>
        <p:spPr>
          <a:xfrm>
            <a:off x="6143625" y="1860352"/>
            <a:ext cx="5210287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5" name="Shape 22"/>
          <p:cNvSpPr/>
          <p:nvPr/>
        </p:nvSpPr>
        <p:spPr>
          <a:xfrm>
            <a:off x="6143625" y="1860352"/>
            <a:ext cx="11906" cy="2082664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6" name="Shape 23"/>
          <p:cNvSpPr/>
          <p:nvPr/>
        </p:nvSpPr>
        <p:spPr>
          <a:xfrm>
            <a:off x="11342005" y="1860352"/>
            <a:ext cx="11906" cy="2082664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7" name="Shape 24"/>
          <p:cNvSpPr/>
          <p:nvPr/>
        </p:nvSpPr>
        <p:spPr>
          <a:xfrm>
            <a:off x="6326870" y="2035225"/>
            <a:ext cx="76088" cy="1237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8" name="Text 25"/>
          <p:cNvSpPr/>
          <p:nvPr/>
        </p:nvSpPr>
        <p:spPr>
          <a:xfrm>
            <a:off x="6488534" y="2007877"/>
            <a:ext cx="1329705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49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REPRODUCTIBILITÉ</a:t>
            </a:r>
            <a:endParaRPr lang="en-US" sz="975" dirty="0"/>
          </a:p>
        </p:txBody>
      </p:sp>
      <p:sp>
        <p:nvSpPr>
          <p:cNvPr id="29" name="Text 26"/>
          <p:cNvSpPr/>
          <p:nvPr/>
        </p:nvSpPr>
        <p:spPr>
          <a:xfrm>
            <a:off x="7827615" y="2037643"/>
            <a:ext cx="56398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MLflow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6326870" y="2291209"/>
            <a:ext cx="1664326" cy="3809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0" spc="-75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17</a:t>
            </a:r>
            <a:endParaRPr lang="en-US" sz="3000" dirty="0"/>
          </a:p>
        </p:txBody>
      </p:sp>
      <p:sp>
        <p:nvSpPr>
          <p:cNvPr id="31" name="Text 28"/>
          <p:cNvSpPr/>
          <p:nvPr/>
        </p:nvSpPr>
        <p:spPr>
          <a:xfrm>
            <a:off x="6326870" y="2681697"/>
            <a:ext cx="1589224" cy="318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88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params trackés </a:t>
            </a:r>
            <a:r>
              <a:rPr lang="en-US" sz="788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(vs 80 avant)</a:t>
            </a:r>
            <a:endParaRPr lang="en-US" sz="788" dirty="0"/>
          </a:p>
        </p:txBody>
      </p:sp>
      <p:sp>
        <p:nvSpPr>
          <p:cNvPr id="32" name="Text 29"/>
          <p:cNvSpPr/>
          <p:nvPr/>
        </p:nvSpPr>
        <p:spPr>
          <a:xfrm>
            <a:off x="7992256" y="2291209"/>
            <a:ext cx="1664326" cy="3809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0" spc="-75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215</a:t>
            </a:r>
            <a:endParaRPr lang="en-US" sz="3000" dirty="0"/>
          </a:p>
        </p:txBody>
      </p:sp>
      <p:sp>
        <p:nvSpPr>
          <p:cNvPr id="33" name="Text 30"/>
          <p:cNvSpPr/>
          <p:nvPr/>
        </p:nvSpPr>
        <p:spPr>
          <a:xfrm>
            <a:off x="7992256" y="2681697"/>
            <a:ext cx="1589224" cy="318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88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packages capturés </a:t>
            </a:r>
            <a:r>
              <a:rPr lang="en-US" sz="788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(env déterministe)</a:t>
            </a:r>
            <a:endParaRPr lang="en-US" sz="788" dirty="0"/>
          </a:p>
        </p:txBody>
      </p:sp>
      <p:sp>
        <p:nvSpPr>
          <p:cNvPr id="34" name="Text 31"/>
          <p:cNvSpPr/>
          <p:nvPr/>
        </p:nvSpPr>
        <p:spPr>
          <a:xfrm>
            <a:off x="9657643" y="2291209"/>
            <a:ext cx="1664326" cy="3809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0" spc="-75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2</a:t>
            </a:r>
            <a:endParaRPr lang="en-US" sz="3000" dirty="0"/>
          </a:p>
        </p:txBody>
      </p:sp>
      <p:sp>
        <p:nvSpPr>
          <p:cNvPr id="35" name="Text 32"/>
          <p:cNvSpPr/>
          <p:nvPr/>
        </p:nvSpPr>
        <p:spPr>
          <a:xfrm>
            <a:off x="9657643" y="2681697"/>
            <a:ext cx="1589224" cy="318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88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expériences séparées </a:t>
            </a:r>
            <a:r>
              <a:rPr lang="en-US" sz="788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(pipeline · prod)</a:t>
            </a:r>
            <a:endParaRPr lang="en-US" sz="788" dirty="0"/>
          </a:p>
        </p:txBody>
      </p:sp>
      <p:sp>
        <p:nvSpPr>
          <p:cNvPr id="36" name="Shape 33"/>
          <p:cNvSpPr/>
          <p:nvPr/>
        </p:nvSpPr>
        <p:spPr>
          <a:xfrm>
            <a:off x="838088" y="4038265"/>
            <a:ext cx="5210287" cy="2082664"/>
          </a:xfrm>
          <a:prstGeom prst="roundRect">
            <a:avLst>
              <a:gd name="adj" fmla="val 2744"/>
            </a:avLst>
          </a:prstGeom>
          <a:solidFill>
            <a:srgbClr val="F4F4F4"/>
          </a:solidFill>
          <a:ln/>
        </p:spPr>
      </p:sp>
      <p:sp>
        <p:nvSpPr>
          <p:cNvPr id="37" name="Shape 34"/>
          <p:cNvSpPr/>
          <p:nvPr/>
        </p:nvSpPr>
        <p:spPr>
          <a:xfrm>
            <a:off x="838088" y="6109022"/>
            <a:ext cx="521028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8" name="Shape 35"/>
          <p:cNvSpPr/>
          <p:nvPr/>
        </p:nvSpPr>
        <p:spPr>
          <a:xfrm>
            <a:off x="838088" y="4038265"/>
            <a:ext cx="5210287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9" name="Shape 36"/>
          <p:cNvSpPr/>
          <p:nvPr/>
        </p:nvSpPr>
        <p:spPr>
          <a:xfrm>
            <a:off x="838088" y="4038265"/>
            <a:ext cx="11906" cy="2082664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0" name="Shape 37"/>
          <p:cNvSpPr/>
          <p:nvPr/>
        </p:nvSpPr>
        <p:spPr>
          <a:xfrm>
            <a:off x="6036469" y="4038265"/>
            <a:ext cx="11906" cy="2082664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1" name="Shape 38"/>
          <p:cNvSpPr/>
          <p:nvPr/>
        </p:nvSpPr>
        <p:spPr>
          <a:xfrm>
            <a:off x="1021333" y="4213138"/>
            <a:ext cx="76088" cy="1237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2" name="Text 39"/>
          <p:cNvSpPr/>
          <p:nvPr/>
        </p:nvSpPr>
        <p:spPr>
          <a:xfrm>
            <a:off x="1182998" y="4185791"/>
            <a:ext cx="1113532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49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OBSERVABILITÉ</a:t>
            </a:r>
            <a:endParaRPr lang="en-US" sz="975" dirty="0"/>
          </a:p>
        </p:txBody>
      </p:sp>
      <p:sp>
        <p:nvSpPr>
          <p:cNvPr id="43" name="Text 40"/>
          <p:cNvSpPr/>
          <p:nvPr/>
        </p:nvSpPr>
        <p:spPr>
          <a:xfrm>
            <a:off x="2305906" y="4215557"/>
            <a:ext cx="807876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monitoring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1021333" y="4469123"/>
            <a:ext cx="1664326" cy="3809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0" spc="-75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12</a:t>
            </a:r>
            <a:endParaRPr lang="en-US" sz="3000" dirty="0"/>
          </a:p>
        </p:txBody>
      </p:sp>
      <p:sp>
        <p:nvSpPr>
          <p:cNvPr id="45" name="Text 42"/>
          <p:cNvSpPr/>
          <p:nvPr/>
        </p:nvSpPr>
        <p:spPr>
          <a:xfrm>
            <a:off x="1021333" y="4859610"/>
            <a:ext cx="1664326" cy="178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88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métriques métier RAG</a:t>
            </a:r>
            <a:endParaRPr lang="en-US" sz="788" dirty="0"/>
          </a:p>
        </p:txBody>
      </p:sp>
      <p:sp>
        <p:nvSpPr>
          <p:cNvPr id="46" name="Text 43"/>
          <p:cNvSpPr/>
          <p:nvPr/>
        </p:nvSpPr>
        <p:spPr>
          <a:xfrm>
            <a:off x="2686720" y="4469123"/>
            <a:ext cx="1664326" cy="3809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0" spc="-75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23</a:t>
            </a:r>
            <a:endParaRPr lang="en-US" sz="3000" dirty="0"/>
          </a:p>
        </p:txBody>
      </p:sp>
      <p:sp>
        <p:nvSpPr>
          <p:cNvPr id="47" name="Text 44"/>
          <p:cNvSpPr/>
          <p:nvPr/>
        </p:nvSpPr>
        <p:spPr>
          <a:xfrm>
            <a:off x="2686720" y="4859610"/>
            <a:ext cx="1589224" cy="318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88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panels Grafana </a:t>
            </a:r>
            <a:r>
              <a:rPr lang="en-US" sz="788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(8 rangées)</a:t>
            </a:r>
            <a:endParaRPr lang="en-US" sz="788" dirty="0"/>
          </a:p>
        </p:txBody>
      </p:sp>
      <p:sp>
        <p:nvSpPr>
          <p:cNvPr id="48" name="Text 45"/>
          <p:cNvSpPr/>
          <p:nvPr/>
        </p:nvSpPr>
        <p:spPr>
          <a:xfrm>
            <a:off x="4352106" y="4469123"/>
            <a:ext cx="1664326" cy="3809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0" spc="-75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8</a:t>
            </a:r>
            <a:endParaRPr lang="en-US" sz="3000" dirty="0"/>
          </a:p>
        </p:txBody>
      </p:sp>
      <p:sp>
        <p:nvSpPr>
          <p:cNvPr id="49" name="Text 46"/>
          <p:cNvSpPr/>
          <p:nvPr/>
        </p:nvSpPr>
        <p:spPr>
          <a:xfrm>
            <a:off x="4352106" y="4859610"/>
            <a:ext cx="1664326" cy="178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88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alertes automatiques</a:t>
            </a:r>
            <a:endParaRPr lang="en-US" sz="788" dirty="0"/>
          </a:p>
        </p:txBody>
      </p:sp>
      <p:sp>
        <p:nvSpPr>
          <p:cNvPr id="50" name="Shape 47"/>
          <p:cNvSpPr/>
          <p:nvPr/>
        </p:nvSpPr>
        <p:spPr>
          <a:xfrm>
            <a:off x="6143625" y="4038265"/>
            <a:ext cx="5210287" cy="2082664"/>
          </a:xfrm>
          <a:prstGeom prst="roundRect">
            <a:avLst>
              <a:gd name="adj" fmla="val 2744"/>
            </a:avLst>
          </a:prstGeom>
          <a:solidFill>
            <a:srgbClr val="F4F4F4"/>
          </a:solidFill>
          <a:ln/>
        </p:spPr>
      </p:sp>
      <p:sp>
        <p:nvSpPr>
          <p:cNvPr id="51" name="Shape 48"/>
          <p:cNvSpPr/>
          <p:nvPr/>
        </p:nvSpPr>
        <p:spPr>
          <a:xfrm>
            <a:off x="6143625" y="6109022"/>
            <a:ext cx="521028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2" name="Shape 49"/>
          <p:cNvSpPr/>
          <p:nvPr/>
        </p:nvSpPr>
        <p:spPr>
          <a:xfrm>
            <a:off x="6143625" y="4038265"/>
            <a:ext cx="5210287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53" name="Shape 50"/>
          <p:cNvSpPr/>
          <p:nvPr/>
        </p:nvSpPr>
        <p:spPr>
          <a:xfrm>
            <a:off x="6143625" y="4038265"/>
            <a:ext cx="11906" cy="2082664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4" name="Shape 51"/>
          <p:cNvSpPr/>
          <p:nvPr/>
        </p:nvSpPr>
        <p:spPr>
          <a:xfrm>
            <a:off x="11342005" y="4038265"/>
            <a:ext cx="11906" cy="2082664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5" name="Shape 52"/>
          <p:cNvSpPr/>
          <p:nvPr/>
        </p:nvSpPr>
        <p:spPr>
          <a:xfrm>
            <a:off x="6326870" y="4213138"/>
            <a:ext cx="76088" cy="1237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56" name="Text 53"/>
          <p:cNvSpPr/>
          <p:nvPr/>
        </p:nvSpPr>
        <p:spPr>
          <a:xfrm>
            <a:off x="6488534" y="4185791"/>
            <a:ext cx="1850789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49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PERFORMANCE &amp; QUALITÉ</a:t>
            </a:r>
            <a:endParaRPr lang="en-US" sz="975" dirty="0"/>
          </a:p>
        </p:txBody>
      </p:sp>
      <p:sp>
        <p:nvSpPr>
          <p:cNvPr id="57" name="Text 54"/>
          <p:cNvSpPr/>
          <p:nvPr/>
        </p:nvSpPr>
        <p:spPr>
          <a:xfrm>
            <a:off x="6326870" y="4469123"/>
            <a:ext cx="1664326" cy="32105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00" b="1" kern="0" spc="-62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~</a:t>
            </a:r>
            <a:r>
              <a:rPr lang="en-US" sz="2475" b="1" kern="0" spc="-62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250</a:t>
            </a:r>
            <a:r>
              <a:rPr lang="en-US" sz="1125" b="1" kern="0" spc="-62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ms</a:t>
            </a:r>
            <a:endParaRPr lang="en-US" sz="2475" dirty="0"/>
          </a:p>
        </p:txBody>
      </p:sp>
      <p:sp>
        <p:nvSpPr>
          <p:cNvPr id="58" name="Text 55"/>
          <p:cNvSpPr/>
          <p:nvPr/>
        </p:nvSpPr>
        <p:spPr>
          <a:xfrm>
            <a:off x="6326870" y="4799707"/>
            <a:ext cx="1664326" cy="178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88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latence retrieval </a:t>
            </a:r>
            <a:r>
              <a:rPr lang="en-US" sz="788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(P95)</a:t>
            </a:r>
            <a:endParaRPr lang="en-US" sz="788" dirty="0"/>
          </a:p>
        </p:txBody>
      </p:sp>
      <p:sp>
        <p:nvSpPr>
          <p:cNvPr id="59" name="Text 56"/>
          <p:cNvSpPr/>
          <p:nvPr/>
        </p:nvSpPr>
        <p:spPr>
          <a:xfrm>
            <a:off x="7992256" y="4469123"/>
            <a:ext cx="1664326" cy="32105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00" b="1" kern="0" spc="-62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~</a:t>
            </a:r>
            <a:r>
              <a:rPr lang="en-US" sz="2475" b="1" kern="0" spc="-62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25-30</a:t>
            </a:r>
            <a:r>
              <a:rPr lang="en-US" sz="1125" b="1" kern="0" spc="-62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</a:t>
            </a:r>
            <a:endParaRPr lang="en-US" sz="2475" dirty="0"/>
          </a:p>
        </p:txBody>
      </p:sp>
      <p:sp>
        <p:nvSpPr>
          <p:cNvPr id="60" name="Text 57"/>
          <p:cNvSpPr/>
          <p:nvPr/>
        </p:nvSpPr>
        <p:spPr>
          <a:xfrm>
            <a:off x="7992256" y="4799707"/>
            <a:ext cx="1664326" cy="178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88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latence génération </a:t>
            </a:r>
            <a:r>
              <a:rPr lang="en-US" sz="788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(CPU)</a:t>
            </a:r>
            <a:endParaRPr lang="en-US" sz="788" dirty="0"/>
          </a:p>
        </p:txBody>
      </p:sp>
      <p:sp>
        <p:nvSpPr>
          <p:cNvPr id="61" name="Text 58"/>
          <p:cNvSpPr/>
          <p:nvPr/>
        </p:nvSpPr>
        <p:spPr>
          <a:xfrm>
            <a:off x="9657643" y="4469123"/>
            <a:ext cx="1664326" cy="32105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75" b="1" kern="0" spc="-62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1.0</a:t>
            </a:r>
            <a:endParaRPr lang="en-US" sz="2475" dirty="0"/>
          </a:p>
        </p:txBody>
      </p:sp>
      <p:sp>
        <p:nvSpPr>
          <p:cNvPr id="62" name="Text 59"/>
          <p:cNvSpPr/>
          <p:nvPr/>
        </p:nvSpPr>
        <p:spPr>
          <a:xfrm>
            <a:off x="9657643" y="4799707"/>
            <a:ext cx="1589224" cy="318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88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faithfulness </a:t>
            </a:r>
            <a:r>
              <a:rPr lang="en-US" sz="788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(1er run, jeu d'éval)</a:t>
            </a:r>
            <a:endParaRPr lang="en-US" sz="788" dirty="0"/>
          </a:p>
        </p:txBody>
      </p:sp>
      <p:sp>
        <p:nvSpPr>
          <p:cNvPr id="63" name="Shape 60"/>
          <p:cNvSpPr/>
          <p:nvPr/>
        </p:nvSpPr>
        <p:spPr>
          <a:xfrm>
            <a:off x="6326870" y="5682444"/>
            <a:ext cx="484379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64" name="Shape 61"/>
          <p:cNvSpPr/>
          <p:nvPr/>
        </p:nvSpPr>
        <p:spPr>
          <a:xfrm>
            <a:off x="6326870" y="5830342"/>
            <a:ext cx="123713" cy="123713"/>
          </a:xfrm>
          <a:prstGeom prst="ellipse">
            <a:avLst/>
          </a:prstGeom>
          <a:solidFill>
            <a:srgbClr val="BDD248"/>
          </a:solidFill>
          <a:ln/>
        </p:spPr>
      </p:sp>
      <p:sp>
        <p:nvSpPr>
          <p:cNvPr id="65" name="Text 62"/>
          <p:cNvSpPr/>
          <p:nvPr/>
        </p:nvSpPr>
        <p:spPr>
          <a:xfrm>
            <a:off x="6288770" y="5830342"/>
            <a:ext cx="199913" cy="161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675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✓</a:t>
            </a:r>
            <a:endParaRPr lang="en-US" sz="675" dirty="0"/>
          </a:p>
        </p:txBody>
      </p:sp>
      <p:sp>
        <p:nvSpPr>
          <p:cNvPr id="66" name="Text 63"/>
          <p:cNvSpPr/>
          <p:nvPr/>
        </p:nvSpPr>
        <p:spPr>
          <a:xfrm>
            <a:off x="6545833" y="5808576"/>
            <a:ext cx="4135952" cy="205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8FA82E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RAGAS </a:t>
            </a:r>
            <a:r>
              <a:rPr lang="en-US" sz="975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+ </a:t>
            </a:r>
            <a:r>
              <a:rPr lang="en-US" sz="975" b="1" dirty="0">
                <a:solidFill>
                  <a:srgbClr val="8FA82E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quality gate </a:t>
            </a:r>
            <a:r>
              <a:rPr lang="en-US" sz="975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· </a:t>
            </a:r>
            <a:r>
              <a:rPr lang="en-US" sz="975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answer_relevancy plus fragile (juge léger)</a:t>
            </a:r>
            <a:endParaRPr lang="en-US" sz="975" dirty="0"/>
          </a:p>
        </p:txBody>
      </p:sp>
      <p:sp>
        <p:nvSpPr>
          <p:cNvPr id="67" name="Text 64"/>
          <p:cNvSpPr/>
          <p:nvPr/>
        </p:nvSpPr>
        <p:spPr>
          <a:xfrm>
            <a:off x="838088" y="6168554"/>
            <a:ext cx="11567406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Chiffres mesurés sur la stack locale (CPU). RAG = use case de référence.</a:t>
            </a:r>
            <a:endParaRPr lang="en-US" sz="825" dirty="0"/>
          </a:p>
        </p:txBody>
      </p:sp>
      <p:sp>
        <p:nvSpPr>
          <p:cNvPr id="68" name="Text 65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69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70" name="Text 66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16</a:t>
            </a:r>
            <a:endParaRPr lang="en-US" sz="97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1333"/>
            <a:ext cx="12192000" cy="11906"/>
          </a:xfrm>
          <a:prstGeom prst="rect">
            <a:avLst/>
          </a:prstGeom>
          <a:solidFill>
            <a:srgbClr val="546472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95226" y="218963"/>
            <a:ext cx="85576" cy="1237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5" name="Text 3"/>
          <p:cNvSpPr/>
          <p:nvPr/>
        </p:nvSpPr>
        <p:spPr>
          <a:xfrm>
            <a:off x="666378" y="209476"/>
            <a:ext cx="80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3" kern="0" spc="121" dirty="0">
                <a:solidFill>
                  <a:srgbClr val="54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RÉSULTATS</a:t>
            </a:r>
            <a:endParaRPr lang="en-US" sz="863" dirty="0"/>
          </a:p>
        </p:txBody>
      </p:sp>
      <p:sp>
        <p:nvSpPr>
          <p:cNvPr id="6" name="Text 4"/>
          <p:cNvSpPr/>
          <p:nvPr/>
        </p:nvSpPr>
        <p:spPr>
          <a:xfrm>
            <a:off x="495226" y="428439"/>
            <a:ext cx="4343251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plateforme </a:t>
            </a:r>
            <a:r>
              <a:rPr lang="en-US" sz="3000" b="1" kern="0" spc="-75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chiffres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95999" y="618939"/>
            <a:ext cx="507401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n'est pas une promesse : </a:t>
            </a:r>
            <a:r>
              <a:rPr lang="en-US" sz="1200" b="1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voici ce que la plateforme fait, mesuré.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3933713"/>
            <a:ext cx="6096000" cy="11906"/>
          </a:xfrm>
          <a:prstGeom prst="rect">
            <a:avLst/>
          </a:prstGeom>
          <a:solidFill>
            <a:srgbClr val="546472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033239"/>
            <a:ext cx="6096000" cy="35719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0" name="Shape 8"/>
          <p:cNvSpPr/>
          <p:nvPr/>
        </p:nvSpPr>
        <p:spPr>
          <a:xfrm>
            <a:off x="6084094" y="1033239"/>
            <a:ext cx="11906" cy="2912380"/>
          </a:xfrm>
          <a:prstGeom prst="rect">
            <a:avLst/>
          </a:prstGeom>
          <a:solidFill>
            <a:srgbClr val="546472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42863" y="1297409"/>
            <a:ext cx="85576" cy="13320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2" name="Text 10"/>
          <p:cNvSpPr/>
          <p:nvPr/>
        </p:nvSpPr>
        <p:spPr>
          <a:xfrm>
            <a:off x="504527" y="1304479"/>
            <a:ext cx="185934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8FA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GÉNÉRICITÉ &amp; EXTENSIBILITÉ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42863" y="1563812"/>
            <a:ext cx="1797955" cy="556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800" b="1" kern="0" spc="-144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342863" y="2139032"/>
            <a:ext cx="1797955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phases (contrat universel)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2167868" y="1563812"/>
            <a:ext cx="1452321" cy="556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800" b="1" kern="0" spc="-144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2167868" y="2139032"/>
            <a:ext cx="145232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catégories composants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678659" y="1563812"/>
            <a:ext cx="1521489" cy="556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800" b="1" kern="0" spc="-144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3678659" y="2139032"/>
            <a:ext cx="1521489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 stores intégrés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42863" y="2460501"/>
            <a:ext cx="1728788" cy="556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800" b="1" kern="0" spc="-144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</a:t>
            </a:r>
            <a:r>
              <a:rPr lang="en-US" sz="2100" b="1" kern="0" spc="-144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342863" y="3035722"/>
            <a:ext cx="1728788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pour ajouter un composant</a:t>
            </a:r>
            <a:endParaRPr lang="en-US" sz="825" dirty="0"/>
          </a:p>
        </p:txBody>
      </p:sp>
      <p:sp>
        <p:nvSpPr>
          <p:cNvPr id="21" name="Shape 19"/>
          <p:cNvSpPr/>
          <p:nvPr/>
        </p:nvSpPr>
        <p:spPr>
          <a:xfrm>
            <a:off x="6096000" y="3933713"/>
            <a:ext cx="6096000" cy="11906"/>
          </a:xfrm>
          <a:prstGeom prst="rect">
            <a:avLst/>
          </a:prstGeom>
          <a:solidFill>
            <a:srgbClr val="546472">
              <a:alpha val="1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096000" y="1033239"/>
            <a:ext cx="6096000" cy="35719"/>
          </a:xfrm>
          <a:prstGeom prst="rect">
            <a:avLst/>
          </a:prstGeom>
          <a:solidFill>
            <a:srgbClr val="546472"/>
          </a:solidFill>
          <a:ln/>
        </p:spPr>
      </p:sp>
      <p:sp>
        <p:nvSpPr>
          <p:cNvPr id="23" name="Shape 21"/>
          <p:cNvSpPr/>
          <p:nvPr/>
        </p:nvSpPr>
        <p:spPr>
          <a:xfrm>
            <a:off x="6438863" y="1297409"/>
            <a:ext cx="85576" cy="133201"/>
          </a:xfrm>
          <a:prstGeom prst="rect">
            <a:avLst/>
          </a:prstGeom>
          <a:solidFill>
            <a:srgbClr val="546472"/>
          </a:solidFill>
          <a:ln/>
        </p:spPr>
      </p:sp>
      <p:sp>
        <p:nvSpPr>
          <p:cNvPr id="24" name="Text 22"/>
          <p:cNvSpPr/>
          <p:nvPr/>
        </p:nvSpPr>
        <p:spPr>
          <a:xfrm>
            <a:off x="6600527" y="1304479"/>
            <a:ext cx="17907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54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REPRODUCTIBILITÉ · MLFLOW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438863" y="1563812"/>
            <a:ext cx="1521489" cy="556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800" b="1" kern="0" spc="-144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4800" dirty="0"/>
          </a:p>
        </p:txBody>
      </p:sp>
      <p:sp>
        <p:nvSpPr>
          <p:cNvPr id="26" name="Text 24"/>
          <p:cNvSpPr/>
          <p:nvPr/>
        </p:nvSpPr>
        <p:spPr>
          <a:xfrm>
            <a:off x="6438863" y="2139032"/>
            <a:ext cx="1521489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params trackés (vs 80)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8012534" y="1563812"/>
            <a:ext cx="1144972" cy="556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800" b="1" kern="0" spc="-144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215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8012534" y="2139032"/>
            <a:ext cx="1144972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packages capturés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9271806" y="1563812"/>
            <a:ext cx="1383153" cy="556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800" b="1" kern="0" spc="-144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30" name="Text 28"/>
          <p:cNvSpPr/>
          <p:nvPr/>
        </p:nvSpPr>
        <p:spPr>
          <a:xfrm>
            <a:off x="9271806" y="2139032"/>
            <a:ext cx="1383153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expériences séparées</a:t>
            </a:r>
            <a:endParaRPr lang="en-US" sz="825" dirty="0"/>
          </a:p>
        </p:txBody>
      </p:sp>
      <p:sp>
        <p:nvSpPr>
          <p:cNvPr id="31" name="Shape 29"/>
          <p:cNvSpPr/>
          <p:nvPr/>
        </p:nvSpPr>
        <p:spPr>
          <a:xfrm>
            <a:off x="0" y="3945620"/>
            <a:ext cx="6096000" cy="35719"/>
          </a:xfrm>
          <a:prstGeom prst="rect">
            <a:avLst/>
          </a:prstGeom>
          <a:solidFill>
            <a:srgbClr val="00AE4E"/>
          </a:solidFill>
          <a:ln/>
        </p:spPr>
      </p:sp>
      <p:sp>
        <p:nvSpPr>
          <p:cNvPr id="32" name="Shape 30"/>
          <p:cNvSpPr/>
          <p:nvPr/>
        </p:nvSpPr>
        <p:spPr>
          <a:xfrm>
            <a:off x="6084094" y="3945620"/>
            <a:ext cx="11906" cy="2912380"/>
          </a:xfrm>
          <a:prstGeom prst="rect">
            <a:avLst/>
          </a:prstGeom>
          <a:solidFill>
            <a:srgbClr val="546472">
              <a:alpha val="1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42863" y="4209790"/>
            <a:ext cx="85576" cy="133201"/>
          </a:xfrm>
          <a:prstGeom prst="rect">
            <a:avLst/>
          </a:prstGeom>
          <a:solidFill>
            <a:srgbClr val="00AE4E"/>
          </a:solidFill>
          <a:ln/>
        </p:spPr>
      </p:sp>
      <p:sp>
        <p:nvSpPr>
          <p:cNvPr id="34" name="Text 32"/>
          <p:cNvSpPr/>
          <p:nvPr/>
        </p:nvSpPr>
        <p:spPr>
          <a:xfrm>
            <a:off x="504527" y="4216859"/>
            <a:ext cx="185934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00A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OBSERVABILITÉ · MONITORING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42863" y="4476192"/>
            <a:ext cx="1383153" cy="556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800" b="1" kern="0" spc="-144" dirty="0">
                <a:solidFill>
                  <a:srgbClr val="00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800" dirty="0"/>
          </a:p>
        </p:txBody>
      </p:sp>
      <p:sp>
        <p:nvSpPr>
          <p:cNvPr id="36" name="Text 34"/>
          <p:cNvSpPr/>
          <p:nvPr/>
        </p:nvSpPr>
        <p:spPr>
          <a:xfrm>
            <a:off x="342863" y="5051413"/>
            <a:ext cx="1383153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métriques métier RAG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1790774" y="4476192"/>
            <a:ext cx="956332" cy="556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800" b="1" kern="0" spc="-144" dirty="0">
                <a:solidFill>
                  <a:srgbClr val="00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4800" dirty="0"/>
          </a:p>
        </p:txBody>
      </p:sp>
      <p:sp>
        <p:nvSpPr>
          <p:cNvPr id="38" name="Text 36"/>
          <p:cNvSpPr/>
          <p:nvPr/>
        </p:nvSpPr>
        <p:spPr>
          <a:xfrm>
            <a:off x="1790774" y="5051413"/>
            <a:ext cx="956332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panels Grafana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2861407" y="4476192"/>
            <a:ext cx="1383153" cy="556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800" b="1" kern="0" spc="-144" dirty="0">
                <a:solidFill>
                  <a:srgbClr val="00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800" dirty="0"/>
          </a:p>
        </p:txBody>
      </p:sp>
      <p:sp>
        <p:nvSpPr>
          <p:cNvPr id="40" name="Text 38"/>
          <p:cNvSpPr/>
          <p:nvPr/>
        </p:nvSpPr>
        <p:spPr>
          <a:xfrm>
            <a:off x="2861407" y="5051413"/>
            <a:ext cx="1383153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alertes automatiques</a:t>
            </a:r>
            <a:endParaRPr lang="en-US" sz="825" dirty="0"/>
          </a:p>
        </p:txBody>
      </p:sp>
      <p:sp>
        <p:nvSpPr>
          <p:cNvPr id="41" name="Shape 39"/>
          <p:cNvSpPr/>
          <p:nvPr/>
        </p:nvSpPr>
        <p:spPr>
          <a:xfrm>
            <a:off x="6096000" y="3945620"/>
            <a:ext cx="6096000" cy="35719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42" name="Shape 40"/>
          <p:cNvSpPr/>
          <p:nvPr/>
        </p:nvSpPr>
        <p:spPr>
          <a:xfrm>
            <a:off x="6438863" y="4209790"/>
            <a:ext cx="85576" cy="133201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43" name="Text 41"/>
          <p:cNvSpPr/>
          <p:nvPr/>
        </p:nvSpPr>
        <p:spPr>
          <a:xfrm>
            <a:off x="6600527" y="4216859"/>
            <a:ext cx="151648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1C1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 &amp; QUALITÉ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438863" y="4476192"/>
            <a:ext cx="1590656" cy="426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600" b="1" kern="0" spc="-108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~250</a:t>
            </a:r>
            <a:r>
              <a:rPr lang="en-US" sz="1800" b="1" kern="0" spc="-108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</a:t>
            </a:r>
            <a:endParaRPr lang="en-US" sz="3600" dirty="0"/>
          </a:p>
        </p:txBody>
      </p:sp>
      <p:sp>
        <p:nvSpPr>
          <p:cNvPr id="45" name="Text 43"/>
          <p:cNvSpPr/>
          <p:nvPr/>
        </p:nvSpPr>
        <p:spPr>
          <a:xfrm>
            <a:off x="6438863" y="4921932"/>
            <a:ext cx="1590656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latence retrieval (P95)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8037277" y="4476192"/>
            <a:ext cx="1433903" cy="426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600" b="1" kern="0" spc="-108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25–30</a:t>
            </a:r>
            <a:r>
              <a:rPr lang="en-US" sz="1800" b="1" kern="0" spc="-108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3600" dirty="0"/>
          </a:p>
        </p:txBody>
      </p:sp>
      <p:sp>
        <p:nvSpPr>
          <p:cNvPr id="47" name="Text 45"/>
          <p:cNvSpPr/>
          <p:nvPr/>
        </p:nvSpPr>
        <p:spPr>
          <a:xfrm>
            <a:off x="8037277" y="4921932"/>
            <a:ext cx="1433903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génération (CPU)</a:t>
            </a:r>
            <a:endParaRPr lang="en-US" sz="825" dirty="0"/>
          </a:p>
        </p:txBody>
      </p:sp>
      <p:sp>
        <p:nvSpPr>
          <p:cNvPr id="48" name="Text 46"/>
          <p:cNvSpPr/>
          <p:nvPr/>
        </p:nvSpPr>
        <p:spPr>
          <a:xfrm>
            <a:off x="9493188" y="4476192"/>
            <a:ext cx="1521489" cy="556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800" b="1" kern="0" spc="-144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4800" dirty="0"/>
          </a:p>
        </p:txBody>
      </p:sp>
      <p:sp>
        <p:nvSpPr>
          <p:cNvPr id="49" name="Text 47"/>
          <p:cNvSpPr/>
          <p:nvPr/>
        </p:nvSpPr>
        <p:spPr>
          <a:xfrm>
            <a:off x="9493188" y="5051413"/>
            <a:ext cx="1521489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faithfulness (1er run)</a:t>
            </a:r>
            <a:endParaRPr lang="en-US" sz="825" dirty="0"/>
          </a:p>
        </p:txBody>
      </p:sp>
    </p:spTree>
    <p:extLst>
      <p:ext uri="{BB962C8B-B14F-4D97-AF65-F5344CB8AC3E}">
        <p14:creationId xmlns:p14="http://schemas.microsoft.com/office/powerpoint/2010/main" val="4747144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105790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INTERFACE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000" b="1" kern="0" spc="-6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Une interface, </a:t>
            </a:r>
            <a:r>
              <a:rPr lang="en-US" sz="3000" b="1" kern="0" spc="-6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deux audiences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809750" y="1577764"/>
            <a:ext cx="4076774" cy="2123777"/>
          </a:xfrm>
          <a:prstGeom prst="roundRect">
            <a:avLst>
              <a:gd name="adj" fmla="val 2691"/>
            </a:avLst>
          </a:prstGeom>
          <a:solidFill>
            <a:srgbClr val="F4F4F4"/>
          </a:solidFill>
          <a:ln/>
          <a:effectLst>
            <a:outerShdw blurRad="76200" dist="19050" dir="5400000" algn="bl" rotWithShape="0">
              <a:srgbClr val="2A2A2A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09750" y="3689635"/>
            <a:ext cx="4076774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8" name="Shape 5"/>
          <p:cNvSpPr/>
          <p:nvPr/>
        </p:nvSpPr>
        <p:spPr>
          <a:xfrm>
            <a:off x="1809750" y="1577764"/>
            <a:ext cx="4076774" cy="35719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9" name="Shape 6"/>
          <p:cNvSpPr/>
          <p:nvPr/>
        </p:nvSpPr>
        <p:spPr>
          <a:xfrm>
            <a:off x="1809750" y="1577764"/>
            <a:ext cx="11906" cy="212377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0" name="Shape 7"/>
          <p:cNvSpPr/>
          <p:nvPr/>
        </p:nvSpPr>
        <p:spPr>
          <a:xfrm>
            <a:off x="5874618" y="1577764"/>
            <a:ext cx="11906" cy="212377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1" name="Shape 8"/>
          <p:cNvSpPr/>
          <p:nvPr/>
        </p:nvSpPr>
        <p:spPr>
          <a:xfrm>
            <a:off x="2050107" y="1803983"/>
            <a:ext cx="457088" cy="457088"/>
          </a:xfrm>
          <a:prstGeom prst="roundRect">
            <a:avLst>
              <a:gd name="adj" fmla="val 25006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23914" y="1815889"/>
            <a:ext cx="509476" cy="4713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👤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2640397" y="1820540"/>
            <a:ext cx="1620106" cy="311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Non-développeur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640397" y="2107406"/>
            <a:ext cx="1698296" cy="139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13" kern="0" spc="86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UTILISATEUR MÉTIER</a:t>
            </a:r>
            <a:endParaRPr lang="en-US" sz="713" dirty="0"/>
          </a:p>
        </p:txBody>
      </p:sp>
      <p:sp>
        <p:nvSpPr>
          <p:cNvPr id="15" name="Shape 12"/>
          <p:cNvSpPr/>
          <p:nvPr/>
        </p:nvSpPr>
        <p:spPr>
          <a:xfrm>
            <a:off x="2309999" y="2413434"/>
            <a:ext cx="870831" cy="293191"/>
          </a:xfrm>
          <a:prstGeom prst="roundRect">
            <a:avLst>
              <a:gd name="adj" fmla="val 19492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398105" y="2492015"/>
            <a:ext cx="694618" cy="17412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Documents</a:t>
            </a:r>
            <a:endParaRPr lang="en-US" sz="975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7430" y="2470733"/>
            <a:ext cx="285750" cy="18082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599780" y="2413434"/>
            <a:ext cx="547688" cy="293191"/>
          </a:xfrm>
          <a:prstGeom prst="roundRect">
            <a:avLst>
              <a:gd name="adj" fmla="val 19492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87887" y="2492015"/>
            <a:ext cx="371475" cy="17412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Profil</a:t>
            </a:r>
            <a:endParaRPr lang="en-US" sz="975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068" y="2470733"/>
            <a:ext cx="285750" cy="18082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566419" y="2413434"/>
            <a:ext cx="467506" cy="293191"/>
          </a:xfrm>
          <a:prstGeom prst="roundRect">
            <a:avLst>
              <a:gd name="adj" fmla="val 19492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654525" y="2492015"/>
            <a:ext cx="291294" cy="17412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Run</a:t>
            </a:r>
            <a:endParaRPr lang="en-US" sz="975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0526" y="2470733"/>
            <a:ext cx="285750" cy="180826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3502856" y="2773226"/>
            <a:ext cx="690376" cy="293191"/>
          </a:xfrm>
          <a:prstGeom prst="roundRect">
            <a:avLst>
              <a:gd name="adj" fmla="val 19492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590962" y="2851807"/>
            <a:ext cx="514164" cy="17412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Chatbot</a:t>
            </a:r>
            <a:endParaRPr lang="en-US" sz="975" dirty="0"/>
          </a:p>
        </p:txBody>
      </p:sp>
      <p:sp>
        <p:nvSpPr>
          <p:cNvPr id="26" name="Shape 20"/>
          <p:cNvSpPr/>
          <p:nvPr/>
        </p:nvSpPr>
        <p:spPr>
          <a:xfrm>
            <a:off x="2050107" y="3209292"/>
            <a:ext cx="359606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7" name="Text 21"/>
          <p:cNvSpPr/>
          <p:nvPr/>
        </p:nvSpPr>
        <p:spPr>
          <a:xfrm>
            <a:off x="1996167" y="3345024"/>
            <a:ext cx="3703941" cy="211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75" i="1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Utilise la pipeline sans toucher au code.</a:t>
            </a:r>
            <a:endParaRPr lang="en-US" sz="975" dirty="0"/>
          </a:p>
        </p:txBody>
      </p:sp>
      <p:sp>
        <p:nvSpPr>
          <p:cNvPr id="28" name="Shape 22"/>
          <p:cNvSpPr/>
          <p:nvPr/>
        </p:nvSpPr>
        <p:spPr>
          <a:xfrm>
            <a:off x="6305476" y="1577764"/>
            <a:ext cx="4076774" cy="2123777"/>
          </a:xfrm>
          <a:prstGeom prst="roundRect">
            <a:avLst>
              <a:gd name="adj" fmla="val 2691"/>
            </a:avLst>
          </a:prstGeom>
          <a:solidFill>
            <a:srgbClr val="F4F4F4"/>
          </a:solidFill>
          <a:ln/>
          <a:effectLst>
            <a:outerShdw blurRad="76200" dist="19050" dir="5400000" algn="bl" rotWithShape="0">
              <a:srgbClr val="2A2A2A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305476" y="3689635"/>
            <a:ext cx="4076774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0" name="Shape 24"/>
          <p:cNvSpPr/>
          <p:nvPr/>
        </p:nvSpPr>
        <p:spPr>
          <a:xfrm>
            <a:off x="6305476" y="1577764"/>
            <a:ext cx="4076774" cy="35719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1" name="Shape 25"/>
          <p:cNvSpPr/>
          <p:nvPr/>
        </p:nvSpPr>
        <p:spPr>
          <a:xfrm>
            <a:off x="6305476" y="1577764"/>
            <a:ext cx="11906" cy="212377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2" name="Shape 26"/>
          <p:cNvSpPr/>
          <p:nvPr/>
        </p:nvSpPr>
        <p:spPr>
          <a:xfrm>
            <a:off x="10370344" y="1577764"/>
            <a:ext cx="11906" cy="212377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3" name="Shape 27"/>
          <p:cNvSpPr/>
          <p:nvPr/>
        </p:nvSpPr>
        <p:spPr>
          <a:xfrm>
            <a:off x="6545833" y="1803983"/>
            <a:ext cx="457088" cy="457088"/>
          </a:xfrm>
          <a:prstGeom prst="roundRect">
            <a:avLst>
              <a:gd name="adj" fmla="val 25006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519639" y="1815889"/>
            <a:ext cx="509476" cy="4713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🛠️</a:t>
            </a:r>
            <a:endParaRPr lang="en-US" sz="1875" dirty="0"/>
          </a:p>
        </p:txBody>
      </p:sp>
      <p:sp>
        <p:nvSpPr>
          <p:cNvPr id="35" name="Text 29"/>
          <p:cNvSpPr/>
          <p:nvPr/>
        </p:nvSpPr>
        <p:spPr>
          <a:xfrm>
            <a:off x="7136123" y="1820540"/>
            <a:ext cx="1554249" cy="311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Développeur ML</a:t>
            </a:r>
            <a:endParaRPr lang="en-US" sz="1500" dirty="0"/>
          </a:p>
        </p:txBody>
      </p:sp>
      <p:sp>
        <p:nvSpPr>
          <p:cNvPr id="36" name="Text 30"/>
          <p:cNvSpPr/>
          <p:nvPr/>
        </p:nvSpPr>
        <p:spPr>
          <a:xfrm>
            <a:off x="7136123" y="2107406"/>
            <a:ext cx="1625854" cy="139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13" kern="0" spc="86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BUILDER DE PIPELINE</a:t>
            </a:r>
            <a:endParaRPr lang="en-US" sz="713" dirty="0"/>
          </a:p>
        </p:txBody>
      </p:sp>
      <p:sp>
        <p:nvSpPr>
          <p:cNvPr id="37" name="Shape 31"/>
          <p:cNvSpPr/>
          <p:nvPr/>
        </p:nvSpPr>
        <p:spPr>
          <a:xfrm>
            <a:off x="7006270" y="2413434"/>
            <a:ext cx="934641" cy="293191"/>
          </a:xfrm>
          <a:prstGeom prst="roundRect">
            <a:avLst>
              <a:gd name="adj" fmla="val 19492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7094376" y="2492015"/>
            <a:ext cx="758428" cy="17412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Composants</a:t>
            </a:r>
            <a:endParaRPr lang="en-US" sz="975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7511" y="2470733"/>
            <a:ext cx="285750" cy="180826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8359862" y="2413434"/>
            <a:ext cx="969057" cy="293191"/>
          </a:xfrm>
          <a:prstGeom prst="roundRect">
            <a:avLst>
              <a:gd name="adj" fmla="val 19492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8447968" y="2492015"/>
            <a:ext cx="792845" cy="17412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YAML expert</a:t>
            </a:r>
            <a:endParaRPr lang="en-US" sz="975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5520" y="2470733"/>
            <a:ext cx="285750" cy="180826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7798036" y="2773226"/>
            <a:ext cx="1091468" cy="293191"/>
          </a:xfrm>
          <a:prstGeom prst="roundRect">
            <a:avLst>
              <a:gd name="adj" fmla="val 19492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7886142" y="2851807"/>
            <a:ext cx="915256" cy="17412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Documentation</a:t>
            </a:r>
            <a:endParaRPr lang="en-US" sz="975" dirty="0"/>
          </a:p>
        </p:txBody>
      </p:sp>
      <p:sp>
        <p:nvSpPr>
          <p:cNvPr id="45" name="Shape 37"/>
          <p:cNvSpPr/>
          <p:nvPr/>
        </p:nvSpPr>
        <p:spPr>
          <a:xfrm>
            <a:off x="6545833" y="3209292"/>
            <a:ext cx="359606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6" name="Text 38"/>
          <p:cNvSpPr/>
          <p:nvPr/>
        </p:nvSpPr>
        <p:spPr>
          <a:xfrm>
            <a:off x="6491892" y="3345024"/>
            <a:ext cx="3703941" cy="211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75" i="1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Étend la pipeline.</a:t>
            </a:r>
            <a:endParaRPr lang="en-US" sz="975" dirty="0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09750" y="3720517"/>
            <a:ext cx="8572500" cy="552338"/>
          </a:xfrm>
          <a:prstGeom prst="rect">
            <a:avLst/>
          </a:prstGeom>
        </p:spPr>
      </p:pic>
      <p:sp>
        <p:nvSpPr>
          <p:cNvPr id="48" name="Shape 39"/>
          <p:cNvSpPr/>
          <p:nvPr/>
        </p:nvSpPr>
        <p:spPr>
          <a:xfrm>
            <a:off x="3301008" y="4272855"/>
            <a:ext cx="5589984" cy="642751"/>
          </a:xfrm>
          <a:prstGeom prst="roundRect">
            <a:avLst>
              <a:gd name="adj" fmla="val 20747"/>
            </a:avLst>
          </a:prstGeom>
          <a:gradFill rotWithShape="1">
            <a:gsLst>
              <a:gs pos="0">
                <a:srgbClr val="BDD248">
                  <a:alpha val="100000"/>
                </a:srgbClr>
              </a:gs>
              <a:gs pos="100000">
                <a:srgbClr val="8FA82E">
                  <a:alpha val="100000"/>
                </a:srgbClr>
              </a:gs>
            </a:gsLst>
            <a:lin ang="2700000" scaled="0"/>
          </a:gradFill>
          <a:ln/>
          <a:effectLst>
            <a:outerShdw blurRad="209550" dist="76200" dir="5400000" algn="bl" rotWithShape="0">
              <a:srgbClr val="8FA82E">
                <a:alpha val="34000"/>
              </a:srgbClr>
            </a:outerShdw>
          </a:effectLst>
        </p:spPr>
      </p:sp>
      <p:sp>
        <p:nvSpPr>
          <p:cNvPr id="49" name="Text 40"/>
          <p:cNvSpPr/>
          <p:nvPr/>
        </p:nvSpPr>
        <p:spPr>
          <a:xfrm>
            <a:off x="4338777" y="4415730"/>
            <a:ext cx="351426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35" dirty="0">
                <a:solidFill>
                  <a:srgbClr val="2A2A2A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DEUX PORTES D’ENTRÉE · UNE SEULE PLATEFORME</a:t>
            </a:r>
            <a:endParaRPr lang="en-US" sz="750" dirty="0"/>
          </a:p>
        </p:txBody>
      </p:sp>
      <p:sp>
        <p:nvSpPr>
          <p:cNvPr id="50" name="Text 41"/>
          <p:cNvSpPr/>
          <p:nvPr/>
        </p:nvSpPr>
        <p:spPr>
          <a:xfrm>
            <a:off x="3440609" y="4563256"/>
            <a:ext cx="5310783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kern="0" spc="-15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MÊME PLATEFORME · MÊME CONTRAT </a:t>
            </a:r>
            <a:r>
              <a:rPr lang="en-US" sz="1200" b="1" kern="0" spc="-15" dirty="0">
                <a:solidFill>
                  <a:srgbClr val="2A2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(BasePipeline)</a:t>
            </a:r>
            <a:endParaRPr lang="en-US" sz="1500" dirty="0"/>
          </a:p>
        </p:txBody>
      </p:sp>
      <p:sp>
        <p:nvSpPr>
          <p:cNvPr id="51" name="Shape 42"/>
          <p:cNvSpPr/>
          <p:nvPr/>
        </p:nvSpPr>
        <p:spPr>
          <a:xfrm>
            <a:off x="838088" y="5067970"/>
            <a:ext cx="10515823" cy="693911"/>
          </a:xfrm>
          <a:prstGeom prst="roundRect">
            <a:avLst>
              <a:gd name="adj" fmla="val 8236"/>
            </a:avLst>
          </a:prstGeom>
          <a:solidFill>
            <a:srgbClr val="2A2A2A"/>
          </a:solidFill>
          <a:ln/>
        </p:spPr>
      </p:sp>
      <p:sp>
        <p:nvSpPr>
          <p:cNvPr id="52" name="Shape 43"/>
          <p:cNvSpPr/>
          <p:nvPr/>
        </p:nvSpPr>
        <p:spPr>
          <a:xfrm>
            <a:off x="1085701" y="5220333"/>
            <a:ext cx="1178533" cy="280913"/>
          </a:xfrm>
          <a:prstGeom prst="roundRect">
            <a:avLst>
              <a:gd name="adj" fmla="val 6781"/>
            </a:avLst>
          </a:prstGeom>
          <a:ln w="11906">
            <a:solidFill>
              <a:srgbClr val="BDD248">
                <a:alpha val="30000"/>
              </a:srgbClr>
            </a:solidFill>
            <a:prstDash val="solid"/>
          </a:ln>
        </p:spPr>
      </p:sp>
      <p:sp>
        <p:nvSpPr>
          <p:cNvPr id="53" name="Text 44"/>
          <p:cNvSpPr/>
          <p:nvPr/>
        </p:nvSpPr>
        <p:spPr>
          <a:xfrm>
            <a:off x="1211907" y="5289389"/>
            <a:ext cx="1002320" cy="1809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DOCUMENTATION</a:t>
            </a:r>
            <a:endParaRPr lang="en-US" sz="825" dirty="0"/>
          </a:p>
        </p:txBody>
      </p:sp>
      <p:sp>
        <p:nvSpPr>
          <p:cNvPr id="54" name="Text 45"/>
          <p:cNvSpPr/>
          <p:nvPr/>
        </p:nvSpPr>
        <p:spPr>
          <a:xfrm>
            <a:off x="2435572" y="5220333"/>
            <a:ext cx="8930848" cy="427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6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Une page </a:t>
            </a:r>
            <a:r>
              <a:rPr lang="en-US" sz="1050" b="1" dirty="0">
                <a:solidFill>
                  <a:srgbClr val="BDD24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Documentation </a:t>
            </a:r>
            <a:r>
              <a:rPr lang="en-US" sz="1050" dirty="0">
                <a:solidFill>
                  <a:srgbClr val="E6E9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détaillée guide le développeur ML, pas à pas, pour </a:t>
            </a:r>
            <a:r>
              <a:rPr lang="en-US" sz="1050" b="1" dirty="0">
                <a:solidFill>
                  <a:srgbClr val="BDD24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ajouter </a:t>
            </a:r>
            <a:r>
              <a:rPr lang="en-US" sz="1050" dirty="0">
                <a:solidFill>
                  <a:srgbClr val="E6E9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son propre use case ou son propre composant — hériter de </a:t>
            </a:r>
            <a:r>
              <a:rPr lang="en-US" sz="1050" b="1" dirty="0">
                <a:solidFill>
                  <a:srgbClr val="BDD24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BasePipeline</a:t>
            </a:r>
            <a:r>
              <a:rPr lang="en-US" sz="1050" dirty="0">
                <a:solidFill>
                  <a:srgbClr val="E6E9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, </a:t>
            </a:r>
            <a:r>
              <a:rPr lang="en-US" sz="1050" b="1" dirty="0">
                <a:solidFill>
                  <a:srgbClr val="BDD24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register</a:t>
            </a:r>
            <a:r>
              <a:rPr lang="en-US" sz="1050" dirty="0">
                <a:solidFill>
                  <a:srgbClr val="E6E9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, et hériter automatiquement de MLflow, monitoring, Docker et CI/CT.</a:t>
            </a:r>
            <a:endParaRPr lang="en-US" sz="1050" dirty="0"/>
          </a:p>
        </p:txBody>
      </p:sp>
      <p:sp>
        <p:nvSpPr>
          <p:cNvPr id="55" name="Text 46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56" name="Image 7" descr="preencoded.png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16</a:t>
            </a:r>
            <a:endParaRPr lang="en-US" sz="97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277862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DÉMONSTRATION · ÉTAPE 1/3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000" b="1" kern="0" spc="-6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Créer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38088" y="1530139"/>
            <a:ext cx="657076" cy="280913"/>
          </a:xfrm>
          <a:prstGeom prst="roundRect">
            <a:avLst>
              <a:gd name="adj" fmla="val 16954"/>
            </a:avLst>
          </a:prstGeom>
          <a:solidFill>
            <a:srgbClr val="8FA82E"/>
          </a:solidFill>
          <a:ln w="11906">
            <a:solidFill>
              <a:srgbClr val="8FA8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3345" y="1599195"/>
            <a:ext cx="442764" cy="1809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CRÉER</a:t>
            </a:r>
            <a:endParaRPr lang="en-US" sz="825" dirty="0"/>
          </a:p>
        </p:txBody>
      </p:sp>
      <p:sp>
        <p:nvSpPr>
          <p:cNvPr id="8" name="Shape 5"/>
          <p:cNvSpPr/>
          <p:nvPr/>
        </p:nvSpPr>
        <p:spPr>
          <a:xfrm>
            <a:off x="1580741" y="1613483"/>
            <a:ext cx="85576" cy="11422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9" name="Shape 6"/>
          <p:cNvSpPr/>
          <p:nvPr/>
        </p:nvSpPr>
        <p:spPr>
          <a:xfrm>
            <a:off x="1751893" y="1530139"/>
            <a:ext cx="876970" cy="280913"/>
          </a:xfrm>
          <a:prstGeom prst="roundRect">
            <a:avLst>
              <a:gd name="adj" fmla="val 16954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97149" y="1599195"/>
            <a:ext cx="662657" cy="1809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EXÉCUTER</a:t>
            </a:r>
            <a:endParaRPr lang="en-US" sz="825" dirty="0"/>
          </a:p>
        </p:txBody>
      </p:sp>
      <p:sp>
        <p:nvSpPr>
          <p:cNvPr id="11" name="Shape 8"/>
          <p:cNvSpPr/>
          <p:nvPr/>
        </p:nvSpPr>
        <p:spPr>
          <a:xfrm>
            <a:off x="2714439" y="1613483"/>
            <a:ext cx="85576" cy="11422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2" name="Shape 9"/>
          <p:cNvSpPr/>
          <p:nvPr/>
        </p:nvSpPr>
        <p:spPr>
          <a:xfrm>
            <a:off x="2885591" y="1530139"/>
            <a:ext cx="876970" cy="280913"/>
          </a:xfrm>
          <a:prstGeom prst="roundRect">
            <a:avLst>
              <a:gd name="adj" fmla="val 16954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30848" y="1599195"/>
            <a:ext cx="662657" cy="1809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OBSERVER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8498793" y="1581299"/>
            <a:ext cx="2855119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8" i="1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Uploader les documents, choisir la config</a:t>
            </a:r>
            <a:endParaRPr lang="en-US" sz="1088" dirty="0"/>
          </a:p>
        </p:txBody>
      </p:sp>
      <p:sp>
        <p:nvSpPr>
          <p:cNvPr id="15" name="Shape 12"/>
          <p:cNvSpPr/>
          <p:nvPr/>
        </p:nvSpPr>
        <p:spPr>
          <a:xfrm>
            <a:off x="838088" y="1925092"/>
            <a:ext cx="7563259" cy="4323457"/>
          </a:xfrm>
          <a:prstGeom prst="roundRect">
            <a:avLst>
              <a:gd name="adj" fmla="val 3525"/>
            </a:avLst>
          </a:prstGeom>
          <a:gradFill rotWithShape="1">
            <a:gsLst>
              <a:gs pos="0">
                <a:srgbClr val="FAFBF3">
                  <a:alpha val="100000"/>
                </a:srgbClr>
              </a:gs>
              <a:gs pos="100000">
                <a:srgbClr val="EEF1E2">
                  <a:alpha val="100000"/>
                </a:srgbClr>
              </a:gs>
            </a:gsLst>
            <a:lin ang="4200000" scaled="0"/>
          </a:gradFill>
          <a:ln w="11906">
            <a:solidFill>
              <a:srgbClr val="BDD248"/>
            </a:solidFill>
            <a:prstDash val="solid"/>
          </a:ln>
          <a:effectLst>
            <a:outerShdw blurRad="76200" dist="19050" dir="5400000" algn="bl" rotWithShape="0">
              <a:srgbClr val="2A2A2A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951329" y="2089361"/>
            <a:ext cx="34297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16:9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286250" y="3439232"/>
            <a:ext cx="666750" cy="666750"/>
          </a:xfrm>
          <a:prstGeom prst="ellipse">
            <a:avLst/>
          </a:prstGeom>
          <a:solidFill>
            <a:srgbClr val="8FA82E"/>
          </a:solidFill>
          <a:ln/>
          <a:effectLst>
            <a:outerShdw blurRad="190500" dist="76200" dir="5400000" algn="bl" rotWithShape="0">
              <a:srgbClr val="8FA82E">
                <a:alpha val="4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34979" y="3629732"/>
            <a:ext cx="226219" cy="28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3549365" y="4229695"/>
            <a:ext cx="2354573" cy="2762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Vidéo de la démo — Créer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3651498" y="4591534"/>
            <a:ext cx="21298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Glisser-déposer la vidéo ici</a:t>
            </a:r>
            <a:endParaRPr lang="en-US" sz="825" dirty="0"/>
          </a:p>
        </p:txBody>
      </p:sp>
      <p:sp>
        <p:nvSpPr>
          <p:cNvPr id="21" name="Shape 18"/>
          <p:cNvSpPr/>
          <p:nvPr/>
        </p:nvSpPr>
        <p:spPr>
          <a:xfrm>
            <a:off x="8610823" y="1925092"/>
            <a:ext cx="2743088" cy="4323457"/>
          </a:xfrm>
          <a:prstGeom prst="roundRect">
            <a:avLst>
              <a:gd name="adj" fmla="val 4861"/>
            </a:avLst>
          </a:prstGeom>
          <a:solidFill>
            <a:srgbClr val="2A2A2A"/>
          </a:solidFill>
          <a:ln/>
          <a:effectLst>
            <a:outerShdw blurRad="76200" dist="19050" dir="5400000" algn="bl" rotWithShape="0">
              <a:srgbClr val="2A2A2A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820299" y="2134567"/>
            <a:ext cx="243446" cy="190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116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👁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073121" y="2139218"/>
            <a:ext cx="8515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À REGARDER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8716953" y="2458269"/>
            <a:ext cx="2503683" cy="7753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63" b="1" dirty="0">
                <a:solidFill>
                  <a:srgbClr val="E6E9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Choix du use case + de la config YAML</a:t>
            </a:r>
            <a:endParaRPr lang="en-US" sz="1163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163" b="1" dirty="0">
                <a:solidFill>
                  <a:srgbClr val="E6E9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Zéro ligne de code</a:t>
            </a:r>
            <a:endParaRPr lang="en-US" sz="1163" dirty="0"/>
          </a:p>
        </p:txBody>
      </p:sp>
      <p:sp>
        <p:nvSpPr>
          <p:cNvPr id="25" name="Text 22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17</a:t>
            </a:r>
            <a:endParaRPr lang="en-US" sz="97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27989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DÉMONSTRATION · ÉTAPE 2/3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000" b="1" kern="0" spc="-6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Exécuter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38088" y="1530139"/>
            <a:ext cx="657076" cy="280913"/>
          </a:xfrm>
          <a:prstGeom prst="roundRect">
            <a:avLst>
              <a:gd name="adj" fmla="val 16954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3345" y="1599195"/>
            <a:ext cx="442764" cy="1809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CRÉER</a:t>
            </a:r>
            <a:endParaRPr lang="en-US" sz="825" dirty="0"/>
          </a:p>
        </p:txBody>
      </p:sp>
      <p:sp>
        <p:nvSpPr>
          <p:cNvPr id="8" name="Shape 5"/>
          <p:cNvSpPr/>
          <p:nvPr/>
        </p:nvSpPr>
        <p:spPr>
          <a:xfrm>
            <a:off x="1580741" y="1613483"/>
            <a:ext cx="85576" cy="11422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9" name="Shape 6"/>
          <p:cNvSpPr/>
          <p:nvPr/>
        </p:nvSpPr>
        <p:spPr>
          <a:xfrm>
            <a:off x="1751893" y="1530139"/>
            <a:ext cx="876970" cy="280913"/>
          </a:xfrm>
          <a:prstGeom prst="roundRect">
            <a:avLst>
              <a:gd name="adj" fmla="val 16954"/>
            </a:avLst>
          </a:prstGeom>
          <a:solidFill>
            <a:srgbClr val="8FA82E"/>
          </a:solidFill>
          <a:ln w="11906">
            <a:solidFill>
              <a:srgbClr val="8FA8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97149" y="1599195"/>
            <a:ext cx="662657" cy="1809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EXÉCUTER</a:t>
            </a:r>
            <a:endParaRPr lang="en-US" sz="825" dirty="0"/>
          </a:p>
        </p:txBody>
      </p:sp>
      <p:sp>
        <p:nvSpPr>
          <p:cNvPr id="11" name="Shape 8"/>
          <p:cNvSpPr/>
          <p:nvPr/>
        </p:nvSpPr>
        <p:spPr>
          <a:xfrm>
            <a:off x="2714439" y="1613483"/>
            <a:ext cx="85576" cy="11422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2" name="Shape 9"/>
          <p:cNvSpPr/>
          <p:nvPr/>
        </p:nvSpPr>
        <p:spPr>
          <a:xfrm>
            <a:off x="2885591" y="1530139"/>
            <a:ext cx="876970" cy="280913"/>
          </a:xfrm>
          <a:prstGeom prst="roundRect">
            <a:avLst>
              <a:gd name="adj" fmla="val 16954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30848" y="1599195"/>
            <a:ext cx="662657" cy="1809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OBSERVER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8831740" y="1581299"/>
            <a:ext cx="2522172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8" i="1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Lancer la pipeline, suivre le DAG live</a:t>
            </a:r>
            <a:endParaRPr lang="en-US" sz="1088" dirty="0"/>
          </a:p>
        </p:txBody>
      </p:sp>
      <p:sp>
        <p:nvSpPr>
          <p:cNvPr id="15" name="Shape 12"/>
          <p:cNvSpPr/>
          <p:nvPr/>
        </p:nvSpPr>
        <p:spPr>
          <a:xfrm>
            <a:off x="838088" y="1925092"/>
            <a:ext cx="7563259" cy="4323457"/>
          </a:xfrm>
          <a:prstGeom prst="roundRect">
            <a:avLst>
              <a:gd name="adj" fmla="val 3525"/>
            </a:avLst>
          </a:prstGeom>
          <a:gradFill rotWithShape="1">
            <a:gsLst>
              <a:gs pos="0">
                <a:srgbClr val="FAFBF3">
                  <a:alpha val="100000"/>
                </a:srgbClr>
              </a:gs>
              <a:gs pos="100000">
                <a:srgbClr val="EEF1E2">
                  <a:alpha val="100000"/>
                </a:srgbClr>
              </a:gs>
            </a:gsLst>
            <a:lin ang="4200000" scaled="0"/>
          </a:gradFill>
          <a:ln w="11906">
            <a:solidFill>
              <a:srgbClr val="BDD248"/>
            </a:solidFill>
            <a:prstDash val="solid"/>
          </a:ln>
          <a:effectLst>
            <a:outerShdw blurRad="76200" dist="19050" dir="5400000" algn="bl" rotWithShape="0">
              <a:srgbClr val="2A2A2A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951329" y="2089361"/>
            <a:ext cx="34297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16:9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286250" y="3439232"/>
            <a:ext cx="666750" cy="666750"/>
          </a:xfrm>
          <a:prstGeom prst="ellipse">
            <a:avLst/>
          </a:prstGeom>
          <a:solidFill>
            <a:srgbClr val="8FA82E"/>
          </a:solidFill>
          <a:ln/>
          <a:effectLst>
            <a:outerShdw blurRad="190500" dist="76200" dir="5400000" algn="bl" rotWithShape="0">
              <a:srgbClr val="8FA82E">
                <a:alpha val="4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34979" y="3629732"/>
            <a:ext cx="226219" cy="28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3428628" y="4229695"/>
            <a:ext cx="2620398" cy="2762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Vidéo de la démo — Exécuter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3651498" y="4591534"/>
            <a:ext cx="21298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Glisser-déposer la vidéo ici</a:t>
            </a:r>
            <a:endParaRPr lang="en-US" sz="825" dirty="0"/>
          </a:p>
        </p:txBody>
      </p:sp>
      <p:sp>
        <p:nvSpPr>
          <p:cNvPr id="21" name="Shape 18"/>
          <p:cNvSpPr/>
          <p:nvPr/>
        </p:nvSpPr>
        <p:spPr>
          <a:xfrm>
            <a:off x="8610823" y="1925092"/>
            <a:ext cx="2743088" cy="4323457"/>
          </a:xfrm>
          <a:prstGeom prst="roundRect">
            <a:avLst>
              <a:gd name="adj" fmla="val 4861"/>
            </a:avLst>
          </a:prstGeom>
          <a:solidFill>
            <a:srgbClr val="2A2A2A"/>
          </a:solidFill>
          <a:ln/>
          <a:effectLst>
            <a:outerShdw blurRad="76200" dist="19050" dir="5400000" algn="bl" rotWithShape="0">
              <a:srgbClr val="2A2A2A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820299" y="2134567"/>
            <a:ext cx="243446" cy="190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116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👁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073121" y="2139218"/>
            <a:ext cx="8515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À REGARDER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8716953" y="2458269"/>
            <a:ext cx="2503683" cy="7753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63" b="1" dirty="0">
                <a:solidFill>
                  <a:srgbClr val="E6E9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Les 5 phases s'enchaînent en direct</a:t>
            </a:r>
            <a:endParaRPr lang="en-US" sz="1163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163" b="1" dirty="0">
                <a:solidFill>
                  <a:srgbClr val="E6E9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quality gate</a:t>
            </a:r>
            <a:endParaRPr lang="en-US" sz="1163" dirty="0"/>
          </a:p>
        </p:txBody>
      </p:sp>
      <p:sp>
        <p:nvSpPr>
          <p:cNvPr id="25" name="Text 22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18</a:t>
            </a:r>
            <a:endParaRPr lang="en-US" sz="97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279204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DÉMONSTRATION · ÉTAPE 3/3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000" b="1" kern="0" spc="-6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Observer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38088" y="1530139"/>
            <a:ext cx="657076" cy="280913"/>
          </a:xfrm>
          <a:prstGeom prst="roundRect">
            <a:avLst>
              <a:gd name="adj" fmla="val 16954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3345" y="1599195"/>
            <a:ext cx="442764" cy="1809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CRÉER</a:t>
            </a:r>
            <a:endParaRPr lang="en-US" sz="825" dirty="0"/>
          </a:p>
        </p:txBody>
      </p:sp>
      <p:sp>
        <p:nvSpPr>
          <p:cNvPr id="8" name="Shape 5"/>
          <p:cNvSpPr/>
          <p:nvPr/>
        </p:nvSpPr>
        <p:spPr>
          <a:xfrm>
            <a:off x="1580741" y="1613483"/>
            <a:ext cx="85576" cy="11422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9" name="Shape 6"/>
          <p:cNvSpPr/>
          <p:nvPr/>
        </p:nvSpPr>
        <p:spPr>
          <a:xfrm>
            <a:off x="1751893" y="1530139"/>
            <a:ext cx="876970" cy="280913"/>
          </a:xfrm>
          <a:prstGeom prst="roundRect">
            <a:avLst>
              <a:gd name="adj" fmla="val 16954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97149" y="1599195"/>
            <a:ext cx="662657" cy="1809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EXÉCUTER</a:t>
            </a:r>
            <a:endParaRPr lang="en-US" sz="825" dirty="0"/>
          </a:p>
        </p:txBody>
      </p:sp>
      <p:sp>
        <p:nvSpPr>
          <p:cNvPr id="11" name="Shape 8"/>
          <p:cNvSpPr/>
          <p:nvPr/>
        </p:nvSpPr>
        <p:spPr>
          <a:xfrm>
            <a:off x="2714439" y="1613483"/>
            <a:ext cx="85576" cy="11422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2" name="Shape 9"/>
          <p:cNvSpPr/>
          <p:nvPr/>
        </p:nvSpPr>
        <p:spPr>
          <a:xfrm>
            <a:off x="2885591" y="1530139"/>
            <a:ext cx="876970" cy="280913"/>
          </a:xfrm>
          <a:prstGeom prst="roundRect">
            <a:avLst>
              <a:gd name="adj" fmla="val 16954"/>
            </a:avLst>
          </a:prstGeom>
          <a:solidFill>
            <a:srgbClr val="8FA82E"/>
          </a:solidFill>
          <a:ln w="11906">
            <a:solidFill>
              <a:srgbClr val="8FA8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30848" y="1599195"/>
            <a:ext cx="662657" cy="1809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OBSERVER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7707864" y="1581299"/>
            <a:ext cx="3646047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8" i="1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Métriques RAGAS, runs MLflow, dashboard Grafana</a:t>
            </a:r>
            <a:endParaRPr lang="en-US" sz="1088" dirty="0"/>
          </a:p>
        </p:txBody>
      </p:sp>
      <p:sp>
        <p:nvSpPr>
          <p:cNvPr id="15" name="Shape 12"/>
          <p:cNvSpPr/>
          <p:nvPr/>
        </p:nvSpPr>
        <p:spPr>
          <a:xfrm>
            <a:off x="838088" y="1925092"/>
            <a:ext cx="7563259" cy="3757166"/>
          </a:xfrm>
          <a:prstGeom prst="roundRect">
            <a:avLst>
              <a:gd name="adj" fmla="val 4056"/>
            </a:avLst>
          </a:prstGeom>
          <a:gradFill rotWithShape="1">
            <a:gsLst>
              <a:gs pos="0">
                <a:srgbClr val="FAFBF3">
                  <a:alpha val="100000"/>
                </a:srgbClr>
              </a:gs>
              <a:gs pos="100000">
                <a:srgbClr val="EEF1E2">
                  <a:alpha val="100000"/>
                </a:srgbClr>
              </a:gs>
            </a:gsLst>
            <a:lin ang="4200000" scaled="0"/>
          </a:gradFill>
          <a:ln w="11906">
            <a:solidFill>
              <a:srgbClr val="BDD248"/>
            </a:solidFill>
            <a:prstDash val="solid"/>
          </a:ln>
          <a:effectLst>
            <a:outerShdw blurRad="76200" dist="19050" dir="5400000" algn="bl" rotWithShape="0">
              <a:srgbClr val="2A2A2A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951329" y="2089361"/>
            <a:ext cx="34297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16:9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286250" y="3156086"/>
            <a:ext cx="666750" cy="666750"/>
          </a:xfrm>
          <a:prstGeom prst="ellipse">
            <a:avLst/>
          </a:prstGeom>
          <a:solidFill>
            <a:srgbClr val="8FA82E"/>
          </a:solidFill>
          <a:ln/>
          <a:effectLst>
            <a:outerShdw blurRad="190500" dist="76200" dir="5400000" algn="bl" rotWithShape="0">
              <a:srgbClr val="8FA82E">
                <a:alpha val="4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34979" y="3346586"/>
            <a:ext cx="226219" cy="28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3399420" y="3946550"/>
            <a:ext cx="2684655" cy="2762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Vidéo de la démo — Observer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3651498" y="4308388"/>
            <a:ext cx="21298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Glisser-déposer la vidéo ici</a:t>
            </a:r>
            <a:endParaRPr lang="en-US" sz="825" dirty="0"/>
          </a:p>
        </p:txBody>
      </p:sp>
      <p:sp>
        <p:nvSpPr>
          <p:cNvPr id="21" name="Shape 18"/>
          <p:cNvSpPr/>
          <p:nvPr/>
        </p:nvSpPr>
        <p:spPr>
          <a:xfrm>
            <a:off x="8610823" y="1925092"/>
            <a:ext cx="2743088" cy="3757166"/>
          </a:xfrm>
          <a:prstGeom prst="roundRect">
            <a:avLst>
              <a:gd name="adj" fmla="val 4861"/>
            </a:avLst>
          </a:prstGeom>
          <a:solidFill>
            <a:srgbClr val="2A2A2A"/>
          </a:solidFill>
          <a:ln/>
          <a:effectLst>
            <a:outerShdw blurRad="76200" dist="19050" dir="5400000" algn="bl" rotWithShape="0">
              <a:srgbClr val="2A2A2A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820299" y="2134567"/>
            <a:ext cx="243446" cy="190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116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👁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073121" y="2139218"/>
            <a:ext cx="8515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À REGARDER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8716953" y="2458269"/>
            <a:ext cx="2503683" cy="580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63" b="1" dirty="0">
                <a:solidFill>
                  <a:srgbClr val="E6E9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Faithfulness &amp; latences</a:t>
            </a:r>
            <a:endParaRPr lang="en-US" sz="1163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163" b="1" dirty="0">
                <a:solidFill>
                  <a:srgbClr val="E6E9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run rejouable</a:t>
            </a:r>
            <a:endParaRPr lang="en-US" sz="1163" dirty="0"/>
          </a:p>
        </p:txBody>
      </p:sp>
      <p:sp>
        <p:nvSpPr>
          <p:cNvPr id="25" name="Shape 22"/>
          <p:cNvSpPr/>
          <p:nvPr/>
        </p:nvSpPr>
        <p:spPr>
          <a:xfrm>
            <a:off x="838088" y="5815459"/>
            <a:ext cx="10515823" cy="433090"/>
          </a:xfrm>
          <a:prstGeom prst="roundRect">
            <a:avLst>
              <a:gd name="adj" fmla="val 6598"/>
            </a:avLst>
          </a:prstGeom>
          <a:solidFill>
            <a:srgbClr val="F4F4F4"/>
          </a:solidFill>
          <a:ln/>
        </p:spPr>
      </p:sp>
      <p:sp>
        <p:nvSpPr>
          <p:cNvPr id="26" name="Shape 23"/>
          <p:cNvSpPr/>
          <p:nvPr/>
        </p:nvSpPr>
        <p:spPr>
          <a:xfrm>
            <a:off x="838088" y="6236643"/>
            <a:ext cx="1051582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7" name="Shape 24"/>
          <p:cNvSpPr/>
          <p:nvPr/>
        </p:nvSpPr>
        <p:spPr>
          <a:xfrm>
            <a:off x="838088" y="5815459"/>
            <a:ext cx="1051582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8" name="Shape 25"/>
          <p:cNvSpPr/>
          <p:nvPr/>
        </p:nvSpPr>
        <p:spPr>
          <a:xfrm>
            <a:off x="838088" y="5815459"/>
            <a:ext cx="23813" cy="433090"/>
          </a:xfrm>
          <a:prstGeom prst="rect">
            <a:avLst/>
          </a:prstGeom>
          <a:solidFill>
            <a:srgbClr val="909090"/>
          </a:solidFill>
          <a:ln/>
        </p:spPr>
      </p:sp>
      <p:sp>
        <p:nvSpPr>
          <p:cNvPr id="29" name="Shape 26"/>
          <p:cNvSpPr/>
          <p:nvPr/>
        </p:nvSpPr>
        <p:spPr>
          <a:xfrm>
            <a:off x="11342005" y="5815459"/>
            <a:ext cx="11906" cy="43309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0" name="Shape 27"/>
          <p:cNvSpPr/>
          <p:nvPr/>
        </p:nvSpPr>
        <p:spPr>
          <a:xfrm>
            <a:off x="1033239" y="5932103"/>
            <a:ext cx="435136" cy="199802"/>
          </a:xfrm>
          <a:prstGeom prst="roundRect">
            <a:avLst>
              <a:gd name="adj" fmla="val 9534"/>
            </a:avLst>
          </a:prstGeom>
          <a:solidFill>
            <a:srgbClr val="F0F0F0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21346" y="5972584"/>
            <a:ext cx="335124" cy="15693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6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NOTE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1601577" y="5932103"/>
            <a:ext cx="8638822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i="1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L’output (runs MLflow, métriques, monitoring) est déjà détaillé dans les slides précédentes — la démo montre le </a:t>
            </a:r>
            <a:r>
              <a:rPr lang="en-US" sz="975" b="1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parcours de bout en bout</a:t>
            </a:r>
            <a:r>
              <a:rPr lang="en-US" sz="975" i="1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.</a:t>
            </a:r>
            <a:endParaRPr lang="en-US" sz="975" dirty="0"/>
          </a:p>
        </p:txBody>
      </p:sp>
      <p:sp>
        <p:nvSpPr>
          <p:cNvPr id="33" name="Text 30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19</a:t>
            </a:r>
            <a:endParaRPr lang="en-US" sz="97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2A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128617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CONCLUSION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000" b="1" kern="0" spc="-6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Bilan et </a:t>
            </a:r>
            <a:r>
              <a:rPr lang="en-US" sz="3000" b="1" kern="0" spc="-60" dirty="0">
                <a:solidFill>
                  <a:srgbClr val="BDD24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perspectives</a:t>
            </a:r>
            <a:endParaRPr lang="en-US" sz="3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1634877"/>
            <a:ext cx="104738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8402" y="1634877"/>
            <a:ext cx="209207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BILAN · CE QUI A ÉTÉ LIVRÉ</a:t>
            </a:r>
            <a:endParaRPr lang="en-US" sz="825" dirty="0"/>
          </a:p>
        </p:txBody>
      </p:sp>
      <p:sp>
        <p:nvSpPr>
          <p:cNvPr id="8" name="Shape 4"/>
          <p:cNvSpPr/>
          <p:nvPr/>
        </p:nvSpPr>
        <p:spPr>
          <a:xfrm>
            <a:off x="838088" y="1920627"/>
            <a:ext cx="1494979" cy="276076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1906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83345" y="1999208"/>
            <a:ext cx="1280666" cy="157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8" dirty="0">
                <a:solidFill>
                  <a:srgbClr val="E6E9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Socle générique</a:t>
            </a:r>
            <a:endParaRPr lang="en-US" sz="938" dirty="0"/>
          </a:p>
        </p:txBody>
      </p:sp>
      <p:sp>
        <p:nvSpPr>
          <p:cNvPr id="10" name="Shape 6"/>
          <p:cNvSpPr/>
          <p:nvPr/>
        </p:nvSpPr>
        <p:spPr>
          <a:xfrm>
            <a:off x="2418643" y="1920627"/>
            <a:ext cx="1209229" cy="276076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1906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563899" y="1999208"/>
            <a:ext cx="994916" cy="157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8" dirty="0">
                <a:solidFill>
                  <a:srgbClr val="E6E9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RAG complet</a:t>
            </a:r>
            <a:endParaRPr lang="en-US" sz="938" dirty="0"/>
          </a:p>
        </p:txBody>
      </p:sp>
      <p:sp>
        <p:nvSpPr>
          <p:cNvPr id="12" name="Shape 8"/>
          <p:cNvSpPr/>
          <p:nvPr/>
        </p:nvSpPr>
        <p:spPr>
          <a:xfrm>
            <a:off x="3713448" y="1920627"/>
            <a:ext cx="1494979" cy="276076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1906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58704" y="1999208"/>
            <a:ext cx="1280666" cy="157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8" dirty="0">
                <a:solidFill>
                  <a:srgbClr val="E6E9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Tracking MLflow</a:t>
            </a:r>
            <a:endParaRPr lang="en-US" sz="938" dirty="0"/>
          </a:p>
        </p:txBody>
      </p:sp>
      <p:sp>
        <p:nvSpPr>
          <p:cNvPr id="14" name="Shape 10"/>
          <p:cNvSpPr/>
          <p:nvPr/>
        </p:nvSpPr>
        <p:spPr>
          <a:xfrm>
            <a:off x="838088" y="2282279"/>
            <a:ext cx="1137791" cy="276076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1906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83345" y="2360861"/>
            <a:ext cx="923479" cy="157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8" dirty="0">
                <a:solidFill>
                  <a:srgbClr val="E6E9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Monitoring</a:t>
            </a:r>
            <a:endParaRPr lang="en-US" sz="938" dirty="0"/>
          </a:p>
        </p:txBody>
      </p:sp>
      <p:sp>
        <p:nvSpPr>
          <p:cNvPr id="16" name="Shape 12"/>
          <p:cNvSpPr/>
          <p:nvPr/>
        </p:nvSpPr>
        <p:spPr>
          <a:xfrm>
            <a:off x="2061456" y="2282279"/>
            <a:ext cx="1566416" cy="276076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1906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206712" y="2360861"/>
            <a:ext cx="1352104" cy="157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8" dirty="0">
                <a:solidFill>
                  <a:srgbClr val="E6E9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Conteneurisation</a:t>
            </a:r>
            <a:endParaRPr lang="en-US" sz="938" dirty="0"/>
          </a:p>
        </p:txBody>
      </p:sp>
      <p:sp>
        <p:nvSpPr>
          <p:cNvPr id="18" name="Shape 14"/>
          <p:cNvSpPr/>
          <p:nvPr/>
        </p:nvSpPr>
        <p:spPr>
          <a:xfrm>
            <a:off x="3713448" y="2282279"/>
            <a:ext cx="1566416" cy="276076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1906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858704" y="2360861"/>
            <a:ext cx="1352104" cy="157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8" dirty="0">
                <a:solidFill>
                  <a:srgbClr val="E6E9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CI/CT automatisé</a:t>
            </a:r>
            <a:endParaRPr lang="en-US" sz="938" dirty="0"/>
          </a:p>
        </p:txBody>
      </p:sp>
      <p:sp>
        <p:nvSpPr>
          <p:cNvPr id="20" name="Shape 16"/>
          <p:cNvSpPr/>
          <p:nvPr/>
        </p:nvSpPr>
        <p:spPr>
          <a:xfrm>
            <a:off x="838088" y="2643932"/>
            <a:ext cx="1280666" cy="276076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1906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83345" y="2722513"/>
            <a:ext cx="1066354" cy="157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8" dirty="0">
                <a:solidFill>
                  <a:srgbClr val="E6E9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Quality gate</a:t>
            </a:r>
            <a:endParaRPr lang="en-US" sz="938" dirty="0"/>
          </a:p>
        </p:txBody>
      </p:sp>
      <p:sp>
        <p:nvSpPr>
          <p:cNvPr id="22" name="Shape 18"/>
          <p:cNvSpPr/>
          <p:nvPr/>
        </p:nvSpPr>
        <p:spPr>
          <a:xfrm>
            <a:off x="838088" y="3091346"/>
            <a:ext cx="5504036" cy="735583"/>
          </a:xfrm>
          <a:prstGeom prst="roundRect">
            <a:avLst>
              <a:gd name="adj" fmla="val 7769"/>
            </a:avLst>
          </a:prstGeom>
          <a:solidFill>
            <a:srgbClr val="BDD248">
              <a:alpha val="10000"/>
            </a:srgbClr>
          </a:solidFill>
          <a:ln w="11906">
            <a:solidFill>
              <a:srgbClr val="BDD248">
                <a:alpha val="4200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040495" y="3246127"/>
            <a:ext cx="835298" cy="426021"/>
          </a:xfrm>
          <a:prstGeom prst="roundRect">
            <a:avLst>
              <a:gd name="adj" fmla="val 8943"/>
            </a:avLst>
          </a:prstGeom>
          <a:solidFill>
            <a:srgbClr val="BDD248"/>
          </a:solidFill>
          <a:ln/>
        </p:spPr>
      </p:sp>
      <p:sp>
        <p:nvSpPr>
          <p:cNvPr id="24" name="Text 20"/>
          <p:cNvSpPr/>
          <p:nvPr/>
        </p:nvSpPr>
        <p:spPr>
          <a:xfrm>
            <a:off x="1126220" y="3322327"/>
            <a:ext cx="663848" cy="311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38" b="1" kern="0" spc="28" dirty="0">
                <a:solidFill>
                  <a:srgbClr val="2A2A2A"/>
                </a:solidFill>
                <a:highlight>
                  <a:srgbClr val="BDD248"/>
                </a:highlight>
                <a:latin typeface="Jost" pitchFamily="34" charset="0"/>
                <a:ea typeface="Jost" pitchFamily="34" charset="-122"/>
                <a:cs typeface="Jost" pitchFamily="34" charset="-120"/>
              </a:rPr>
              <a:t>NIVEAU 1 ATTEINT</a:t>
            </a:r>
            <a:endParaRPr lang="en-US" sz="938" dirty="0"/>
          </a:p>
        </p:txBody>
      </p:sp>
      <p:sp>
        <p:nvSpPr>
          <p:cNvPr id="25" name="Text 21"/>
          <p:cNvSpPr/>
          <p:nvPr/>
        </p:nvSpPr>
        <p:spPr>
          <a:xfrm>
            <a:off x="2028155" y="3259150"/>
            <a:ext cx="4234910" cy="438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Automatisation de la chaîne ML &amp; entraînement continu </a:t>
            </a:r>
            <a:r>
              <a:rPr lang="en-US" sz="1125" b="1" dirty="0">
                <a:solidFill>
                  <a:srgbClr val="E6E9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— sur le modèle de maturité MLOps.</a:t>
            </a:r>
            <a:endParaRPr lang="en-US" sz="1125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713" y="1634877"/>
            <a:ext cx="104738" cy="14287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799027" y="1634877"/>
            <a:ext cx="10067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PERSPECTIVES</a:t>
            </a:r>
            <a:endParaRPr lang="en-US" sz="825" dirty="0"/>
          </a:p>
        </p:txBody>
      </p:sp>
      <p:sp>
        <p:nvSpPr>
          <p:cNvPr id="28" name="Shape 23"/>
          <p:cNvSpPr/>
          <p:nvPr/>
        </p:nvSpPr>
        <p:spPr>
          <a:xfrm>
            <a:off x="6608713" y="2374739"/>
            <a:ext cx="4745199" cy="1190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8713" y="2063316"/>
            <a:ext cx="104738" cy="152363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875301" y="2044340"/>
            <a:ext cx="4926471" cy="2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63" dirty="0">
                <a:solidFill>
                  <a:srgbClr val="E6E9E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Automatiser le </a:t>
            </a:r>
            <a:r>
              <a:rPr lang="en-US" sz="1163" b="1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déploiement continu (CD) </a:t>
            </a:r>
            <a:r>
              <a:rPr lang="en-US" sz="1163" dirty="0">
                <a:solidFill>
                  <a:srgbClr val="E6E9E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sur un runner.</a:t>
            </a:r>
            <a:endParaRPr lang="en-US" sz="1163" dirty="0"/>
          </a:p>
        </p:txBody>
      </p:sp>
      <p:sp>
        <p:nvSpPr>
          <p:cNvPr id="31" name="Shape 25"/>
          <p:cNvSpPr/>
          <p:nvPr/>
        </p:nvSpPr>
        <p:spPr>
          <a:xfrm>
            <a:off x="6608713" y="2866058"/>
            <a:ext cx="4745199" cy="1190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8713" y="2529334"/>
            <a:ext cx="104738" cy="152363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875301" y="2510358"/>
            <a:ext cx="4926471" cy="270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63" dirty="0">
                <a:solidFill>
                  <a:srgbClr val="E6E9E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Un </a:t>
            </a:r>
            <a:r>
              <a:rPr lang="en-US" sz="1163" b="1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2</a:t>
            </a:r>
            <a:r>
              <a:rPr lang="en-US" sz="969" b="1" baseline="30000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e </a:t>
            </a:r>
            <a:r>
              <a:rPr lang="en-US" sz="1163" b="1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use case </a:t>
            </a:r>
            <a:r>
              <a:rPr lang="en-US" sz="1163" dirty="0">
                <a:solidFill>
                  <a:srgbClr val="E6E9E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(</a:t>
            </a:r>
            <a:r>
              <a:rPr lang="en-US" sz="1163" b="1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ml_classic</a:t>
            </a:r>
            <a:r>
              <a:rPr lang="en-US" sz="1163" dirty="0">
                <a:solidFill>
                  <a:srgbClr val="E6E9E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) pour prouver la généricité.</a:t>
            </a:r>
            <a:endParaRPr lang="en-US" sz="1163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8713" y="3020653"/>
            <a:ext cx="104738" cy="152363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875301" y="3001677"/>
            <a:ext cx="4926471" cy="2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63" dirty="0">
                <a:solidFill>
                  <a:srgbClr val="E6E9E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Le </a:t>
            </a:r>
            <a:r>
              <a:rPr lang="en-US" sz="1163" b="1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passage à l'échelle</a:t>
            </a:r>
            <a:r>
              <a:rPr lang="en-US" sz="1163" dirty="0">
                <a:solidFill>
                  <a:srgbClr val="E6E9E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.</a:t>
            </a:r>
            <a:endParaRPr lang="en-US" sz="1163" dirty="0"/>
          </a:p>
        </p:txBody>
      </p:sp>
      <p:sp>
        <p:nvSpPr>
          <p:cNvPr id="36" name="Shape 28"/>
          <p:cNvSpPr/>
          <p:nvPr/>
        </p:nvSpPr>
        <p:spPr>
          <a:xfrm>
            <a:off x="838088" y="4017429"/>
            <a:ext cx="10515823" cy="529642"/>
          </a:xfrm>
          <a:prstGeom prst="roundRect">
            <a:avLst>
              <a:gd name="adj" fmla="val 10790"/>
            </a:avLst>
          </a:prstGeom>
          <a:solidFill>
            <a:srgbClr val="BDD248"/>
          </a:solidFill>
          <a:ln/>
        </p:spPr>
      </p:sp>
      <p:sp>
        <p:nvSpPr>
          <p:cNvPr id="37" name="Text 29"/>
          <p:cNvSpPr/>
          <p:nvPr/>
        </p:nvSpPr>
        <p:spPr>
          <a:xfrm>
            <a:off x="1066540" y="4210720"/>
            <a:ext cx="137169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2A2A2A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APPORT POUR ACTIA</a:t>
            </a:r>
            <a:endParaRPr lang="en-US" sz="825" dirty="0"/>
          </a:p>
        </p:txBody>
      </p:sp>
      <p:sp>
        <p:nvSpPr>
          <p:cNvPr id="38" name="Shape 30"/>
          <p:cNvSpPr/>
          <p:nvPr/>
        </p:nvSpPr>
        <p:spPr>
          <a:xfrm>
            <a:off x="2484872" y="4169792"/>
            <a:ext cx="9525" cy="224917"/>
          </a:xfrm>
          <a:prstGeom prst="rect">
            <a:avLst/>
          </a:prstGeom>
          <a:solidFill>
            <a:srgbClr val="2A2A2A">
              <a:alpha val="22000"/>
            </a:srgbClr>
          </a:solidFill>
          <a:ln/>
        </p:spPr>
      </p:sp>
      <p:sp>
        <p:nvSpPr>
          <p:cNvPr id="39" name="Text 31"/>
          <p:cNvSpPr/>
          <p:nvPr/>
        </p:nvSpPr>
        <p:spPr>
          <a:xfrm>
            <a:off x="2665698" y="4169792"/>
            <a:ext cx="4617876" cy="263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13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 socle réutilisable, local et souverain — documenté.</a:t>
            </a:r>
            <a:endParaRPr lang="en-US" sz="1313" dirty="0"/>
          </a:p>
        </p:txBody>
      </p:sp>
      <p:sp>
        <p:nvSpPr>
          <p:cNvPr id="40" name="Text 32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AA5B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0883615" y="6418585"/>
            <a:ext cx="173571" cy="152363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20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41</Slides>
  <Notes>41</Notes>
  <HiddenSlides>12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32</cp:revision>
  <dcterms:created xsi:type="dcterms:W3CDTF">2026-06-22T10:48:21Z</dcterms:created>
  <dcterms:modified xsi:type="dcterms:W3CDTF">2026-06-22T18:34:52Z</dcterms:modified>
</cp:coreProperties>
</file>